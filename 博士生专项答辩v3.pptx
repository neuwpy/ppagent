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5" r:id="rId3"/>
  </p:sldMasterIdLst>
  <p:notesMasterIdLst>
    <p:notesMasterId r:id="rId27"/>
  </p:notesMasterIdLst>
  <p:sldIdLst>
    <p:sldId id="256" r:id="rId4"/>
    <p:sldId id="1986" r:id="rId5"/>
    <p:sldId id="1995" r:id="rId6"/>
    <p:sldId id="1996" r:id="rId7"/>
    <p:sldId id="1997" r:id="rId8"/>
    <p:sldId id="1998" r:id="rId9"/>
    <p:sldId id="1999" r:id="rId10"/>
    <p:sldId id="2000" r:id="rId11"/>
    <p:sldId id="2003" r:id="rId12"/>
    <p:sldId id="2004" r:id="rId13"/>
    <p:sldId id="2002" r:id="rId14"/>
    <p:sldId id="2001" r:id="rId15"/>
    <p:sldId id="2005" r:id="rId16"/>
    <p:sldId id="2007" r:id="rId17"/>
    <p:sldId id="2006" r:id="rId18"/>
    <p:sldId id="1989" r:id="rId19"/>
    <p:sldId id="2147376240" r:id="rId20"/>
    <p:sldId id="2147376236" r:id="rId21"/>
    <p:sldId id="2147376241" r:id="rId22"/>
    <p:sldId id="2147376242" r:id="rId23"/>
    <p:sldId id="2147376237" r:id="rId24"/>
    <p:sldId id="2147376243" r:id="rId25"/>
    <p:sldId id="1993"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98A6"/>
    <a:srgbClr val="9D5666"/>
    <a:srgbClr val="304B93"/>
    <a:srgbClr val="7194D2"/>
    <a:srgbClr val="2C478F"/>
    <a:srgbClr val="2B458C"/>
    <a:srgbClr val="FFFFFF"/>
    <a:srgbClr val="EF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01" autoAdjust="0"/>
    <p:restoredTop sz="86353" autoAdjust="0"/>
  </p:normalViewPr>
  <p:slideViewPr>
    <p:cSldViewPr snapToGrid="0">
      <p:cViewPr>
        <p:scale>
          <a:sx n="76" d="100"/>
          <a:sy n="76" d="100"/>
        </p:scale>
        <p:origin x="624" y="27"/>
      </p:cViewPr>
      <p:guideLst/>
    </p:cSldViewPr>
  </p:slideViewPr>
  <p:notesTextViewPr>
    <p:cViewPr>
      <p:scale>
        <a:sx n="1" d="1"/>
        <a:sy n="1" d="1"/>
      </p:scale>
      <p:origin x="0" y="0"/>
    </p:cViewPr>
  </p:notesTextViewPr>
  <p:sorterViewPr>
    <p:cViewPr>
      <p:scale>
        <a:sx n="125" d="100"/>
        <a:sy n="125" d="100"/>
      </p:scale>
      <p:origin x="0" y="0"/>
    </p:cViewPr>
  </p:sorterViewPr>
  <p:notesViewPr>
    <p:cSldViewPr snapToGrid="0">
      <p:cViewPr varScale="1">
        <p:scale>
          <a:sx n="67" d="100"/>
          <a:sy n="67" d="100"/>
        </p:scale>
        <p:origin x="2829" y="2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EC3B4C-200A-4BA9-BC4F-95FB28A69822}" type="datetimeFigureOut">
              <a:rPr lang="zh-CN" altLang="en-US" smtClean="0"/>
              <a:t>2026/9/14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C85E87-095E-442E-B926-421E2993126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各位专家老师好！我是东北大学机械学院的</a:t>
            </a:r>
            <a:r>
              <a:rPr lang="en-US" altLang="zh-CN" dirty="0"/>
              <a:t>2025</a:t>
            </a:r>
            <a:r>
              <a:rPr lang="zh-CN" altLang="en-US" dirty="0"/>
              <a:t>级在读博士生魏鹏宇，博士研究方向是人工智能方法辅助参数估计</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a:t>
            </a:fld>
            <a:endParaRPr lang="zh-CN" altLang="en-US"/>
          </a:p>
        </p:txBody>
      </p:sp>
    </p:spTree>
    <p:extLst>
      <p:ext uri="{BB962C8B-B14F-4D97-AF65-F5344CB8AC3E}">
        <p14:creationId xmlns:p14="http://schemas.microsoft.com/office/powerpoint/2010/main" val="1471911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首先简要介绍一下我的学历背景，本科专业就读东大自动化做传感器，硕士专业是材料加工做焊接，博士专业机械做可靠性，学历背景比较复杂，后面希望我能说清原因。</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2</a:t>
            </a:fld>
            <a:endParaRPr lang="zh-CN" altLang="en-US"/>
          </a:p>
        </p:txBody>
      </p:sp>
    </p:spTree>
    <p:extLst>
      <p:ext uri="{BB962C8B-B14F-4D97-AF65-F5344CB8AC3E}">
        <p14:creationId xmlns:p14="http://schemas.microsoft.com/office/powerpoint/2010/main" val="745668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科课题是基于微波透射法的气固两相流检测传感器研究。面向钢铁冶金中的煤粉输送过程的在线监测问题，问题难点在于气固两相流在线测量困难。我的工作是通过微波的幅值和相位变化检测煤粉浓度，并利用两组传感器进行相关测速，完成了传感器设计与原型制作，课题带给我的认识是：检测与控制技术需要放在具体的工业场景中，这样能迸发出更多生命力。</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3</a:t>
            </a:fld>
            <a:endParaRPr lang="zh-CN" altLang="en-US"/>
          </a:p>
        </p:txBody>
      </p:sp>
    </p:spTree>
    <p:extLst>
      <p:ext uri="{BB962C8B-B14F-4D97-AF65-F5344CB8AC3E}">
        <p14:creationId xmlns:p14="http://schemas.microsoft.com/office/powerpoint/2010/main" val="3792906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硕士就读于机械总院哈焊所，研究方向是激光</a:t>
            </a:r>
            <a:r>
              <a:rPr lang="en-US" altLang="zh-CN" dirty="0"/>
              <a:t>—</a:t>
            </a:r>
            <a:r>
              <a:rPr lang="zh-CN" altLang="en-US" dirty="0"/>
              <a:t>电弧复合焊工艺与装备。一方面，我的毕业课题研究激光复合焊工艺缺陷的形成机理及控制方法；另一方面，由于研究所的培养特点，我也参与了许多项目，以横向居多，主要是面向造船和工程机械领域的自动化焊接工作站项目。其中在长沙三一项目是主导，其他是参与。</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4</a:t>
            </a:fld>
            <a:endParaRPr lang="zh-CN" altLang="en-US"/>
          </a:p>
        </p:txBody>
      </p:sp>
    </p:spTree>
    <p:extLst>
      <p:ext uri="{BB962C8B-B14F-4D97-AF65-F5344CB8AC3E}">
        <p14:creationId xmlns:p14="http://schemas.microsoft.com/office/powerpoint/2010/main" val="1150095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在硕士课题中，我围绕激光</a:t>
            </a:r>
            <a:r>
              <a:rPr lang="en-US" altLang="zh-CN" dirty="0"/>
              <a:t>—</a:t>
            </a:r>
            <a:r>
              <a:rPr lang="zh-CN" altLang="en-US" dirty="0"/>
              <a:t>电弧复合横焊咬边缺陷的形成机理及控制方法开展了研究。问题来源于三一的激光</a:t>
            </a:r>
            <a:r>
              <a:rPr lang="en-US" altLang="zh-CN" dirty="0"/>
              <a:t>—</a:t>
            </a:r>
            <a:r>
              <a:rPr lang="zh-CN" altLang="en-US" dirty="0"/>
              <a:t>电弧复合横焊生产线：起重机吊臂通常由上下盖板合拢后两条超长焊缝制造而成。由于是中厚板，传统采用开坡口＋多层多道焊，效率低且热输入大，变形控制困难。复合焊通过激光束与电弧热源协同作用，在提高熔深能力的同时，增强了对装配间隙和坡口状态的适应能力，能够实现单面焊双面成形，不仅大大提高了效率，还降低热输入减少焊接变形。但应用中容易出现咬边缺陷：该缺陷会造成应力集中，对起重机吊臂这类承载结构危害很大。激光</a:t>
            </a:r>
            <a:r>
              <a:rPr lang="en-US" altLang="zh-CN" dirty="0"/>
              <a:t>—</a:t>
            </a:r>
            <a:r>
              <a:rPr lang="zh-CN" altLang="en-US" dirty="0"/>
              <a:t>电弧复合焊机理复杂、工艺参数多且强耦合，缺陷难以解决应用出现困难。</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5</a:t>
            </a:fld>
            <a:endParaRPr lang="zh-CN" altLang="en-US"/>
          </a:p>
        </p:txBody>
      </p:sp>
    </p:spTree>
    <p:extLst>
      <p:ext uri="{BB962C8B-B14F-4D97-AF65-F5344CB8AC3E}">
        <p14:creationId xmlns:p14="http://schemas.microsoft.com/office/powerpoint/2010/main" val="468808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通过大量实验，分析了复合焊横焊位置下的焊缝成形窗口以及熔滴过渡与熔池流动，揭示了该情况下咬边缺陷的形成机理，提出了热源布置影响咬边缺陷产生的机制，并给出了相应的控制方法、改进了设备，最终项目圆满完成。相关成果整理后发表于 </a:t>
            </a:r>
            <a:r>
              <a:rPr lang="en-US" altLang="zh-CN" dirty="0"/>
              <a:t>Journal of Laser Applications</a:t>
            </a:r>
            <a:r>
              <a:rPr lang="zh-CN" altLang="en-US" dirty="0"/>
              <a:t>和焊接期刊；后来徐工生产线上出现类似问题时，我依据这套机制和实验经验，去现场解决了问题。</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6</a:t>
            </a:fld>
            <a:endParaRPr lang="zh-CN" altLang="en-US"/>
          </a:p>
        </p:txBody>
      </p:sp>
    </p:spTree>
    <p:extLst>
      <p:ext uri="{BB962C8B-B14F-4D97-AF65-F5344CB8AC3E}">
        <p14:creationId xmlns:p14="http://schemas.microsoft.com/office/powerpoint/2010/main" val="2362727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一项目也是我主要的工程实践项目，屏幕左侧为我为该项目设计放在灯塔工厂用于展示的展板。该项目实现了中起吊臂超长焊缝的单面焊双面成形，简化了开坡口、翻转等工序流程，提升了产线自动化和集成化水平。焊接效率提高</a:t>
            </a:r>
            <a:r>
              <a:rPr lang="en-US" altLang="zh-CN" dirty="0"/>
              <a:t>60%</a:t>
            </a:r>
            <a:r>
              <a:rPr lang="zh-CN" altLang="en-US" dirty="0"/>
              <a:t>以上，帮助吊臂制造提质增效。这个成果还获得了三一集团</a:t>
            </a:r>
            <a:r>
              <a:rPr lang="en-US" altLang="zh-CN" dirty="0"/>
              <a:t>2024</a:t>
            </a:r>
            <a:r>
              <a:rPr lang="zh-CN" altLang="en-US" dirty="0"/>
              <a:t>年三一创新奖。</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7</a:t>
            </a:fld>
            <a:endParaRPr lang="zh-CN" altLang="en-US"/>
          </a:p>
        </p:txBody>
      </p:sp>
    </p:spTree>
    <p:extLst>
      <p:ext uri="{BB962C8B-B14F-4D97-AF65-F5344CB8AC3E}">
        <p14:creationId xmlns:p14="http://schemas.microsoft.com/office/powerpoint/2010/main" val="4228629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此外，硕士期间我还参与了面向工业母机的质量与可靠性试验检测评价服务平台项目，主要涉及等材装备方向。在这个项目中，虽然仅仅是参与，但这段经历让我开始接触可靠性分析和评价。</a:t>
            </a:r>
          </a:p>
          <a:p>
            <a:endParaRPr lang="zh-CN" altLang="en-US" dirty="0"/>
          </a:p>
          <a:p>
            <a:r>
              <a:rPr lang="zh-CN" altLang="en-US" dirty="0"/>
              <a:t>与此同时，我也开始反过来思考之前做过的焊接装备项目：对于先进制造装备来说，可靠性究竟意味着什么？</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8</a:t>
            </a:fld>
            <a:endParaRPr lang="zh-CN" altLang="en-US"/>
          </a:p>
        </p:txBody>
      </p:sp>
    </p:spTree>
    <p:extLst>
      <p:ext uri="{BB962C8B-B14F-4D97-AF65-F5344CB8AC3E}">
        <p14:creationId xmlns:p14="http://schemas.microsoft.com/office/powerpoint/2010/main" val="3342290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以激光</a:t>
            </a:r>
            <a:r>
              <a:rPr lang="en-US" altLang="zh-CN" dirty="0"/>
              <a:t>—</a:t>
            </a:r>
            <a:r>
              <a:rPr lang="zh-CN" altLang="en-US" dirty="0"/>
              <a:t>电弧复合焊装备为例，设备没有停机，并不意味着生产过程就是可靠的。</a:t>
            </a:r>
          </a:p>
          <a:p>
            <a:endParaRPr lang="zh-CN" altLang="en-US" dirty="0"/>
          </a:p>
          <a:p>
            <a:r>
              <a:rPr lang="zh-CN" altLang="en-US" dirty="0"/>
              <a:t>激光器功率衰减、传感检测误差、运动系统状态变化，甚至多个子系统之间的小幅偏差，都可能使工艺输出能力逐渐偏离正常成形的工艺窗口，最终表现为焊接质量波动甚至缺陷。</a:t>
            </a:r>
          </a:p>
          <a:p>
            <a:endParaRPr lang="zh-CN" altLang="en-US" dirty="0"/>
          </a:p>
          <a:p>
            <a:r>
              <a:rPr lang="zh-CN" altLang="en-US" dirty="0"/>
              <a:t>因此我逐渐认识到，对于这类先进制造装备，可靠性不仅体现在设备能否正常运行，也体现在它能否长期、稳定地保持满足要求的工艺输出。</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9</a:t>
            </a:fld>
            <a:endParaRPr lang="zh-CN" altLang="en-US"/>
          </a:p>
        </p:txBody>
      </p:sp>
    </p:spTree>
    <p:extLst>
      <p:ext uri="{BB962C8B-B14F-4D97-AF65-F5344CB8AC3E}">
        <p14:creationId xmlns:p14="http://schemas.microsoft.com/office/powerpoint/2010/main" val="118380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这也让我对自己硕士阶段的工作有了新的认识。</a:t>
            </a:r>
          </a:p>
          <a:p>
            <a:endParaRPr lang="zh-CN" altLang="en-US" dirty="0"/>
          </a:p>
          <a:p>
            <a:r>
              <a:rPr lang="zh-CN" altLang="en-US" dirty="0"/>
              <a:t>过去做焊接工艺研究时，我们更多关注的是：通过试验找到一个能够满足成形和性能要求的工艺窗口。</a:t>
            </a:r>
          </a:p>
          <a:p>
            <a:endParaRPr lang="zh-CN" altLang="en-US" dirty="0"/>
          </a:p>
          <a:p>
            <a:r>
              <a:rPr lang="zh-CN" altLang="en-US" dirty="0"/>
              <a:t>但装备真正进入生产现场之后，问题还没有结束。还需要利用运行数据持续判断装备和工艺状态是否发生变化，保证系统长期稳定地工作在这个工艺窗口内，这是一个双向奔赴的过程。</a:t>
            </a:r>
          </a:p>
          <a:p>
            <a:endParaRPr lang="zh-CN" altLang="en-US" dirty="0"/>
          </a:p>
          <a:p>
            <a:r>
              <a:rPr lang="zh-CN" altLang="en-US" dirty="0"/>
              <a:t>从“工艺能不能做出来”，到“装备能不能长期稳定地做出来工艺”，我感觉对于可靠性方向的研究必不可少。</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10</a:t>
            </a:fld>
            <a:endParaRPr lang="zh-CN" altLang="en-US"/>
          </a:p>
        </p:txBody>
      </p:sp>
    </p:spTree>
    <p:extLst>
      <p:ext uri="{BB962C8B-B14F-4D97-AF65-F5344CB8AC3E}">
        <p14:creationId xmlns:p14="http://schemas.microsoft.com/office/powerpoint/2010/main" val="2122964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实验室里，工艺仍然在向着</a:t>
            </a:r>
            <a:r>
              <a:rPr lang="zh-CN" altLang="en-US" sz="1200" dirty="0">
                <a:solidFill>
                  <a:srgbClr val="2F5597"/>
                </a:solidFill>
                <a:latin typeface="微软雅黑" panose="020B0503020204020204" pitchFamily="34" charset="-122"/>
              </a:rPr>
              <a:t>更高效 </a:t>
            </a:r>
            <a:r>
              <a:rPr lang="en-US" altLang="zh-CN" sz="1200" dirty="0">
                <a:solidFill>
                  <a:srgbClr val="2F5597"/>
                </a:solidFill>
                <a:latin typeface="微软雅黑" panose="020B0503020204020204" pitchFamily="34" charset="-122"/>
              </a:rPr>
              <a:t>· </a:t>
            </a:r>
            <a:r>
              <a:rPr lang="zh-CN" altLang="en-US" sz="1200" dirty="0">
                <a:solidFill>
                  <a:srgbClr val="2F5597"/>
                </a:solidFill>
                <a:latin typeface="微软雅黑" panose="020B0503020204020204" pitchFamily="34" charset="-122"/>
              </a:rPr>
              <a:t>更优质 </a:t>
            </a:r>
            <a:r>
              <a:rPr lang="en-US" altLang="zh-CN" sz="1200" dirty="0">
                <a:solidFill>
                  <a:srgbClr val="2F5597"/>
                </a:solidFill>
                <a:latin typeface="微软雅黑" panose="020B0503020204020204" pitchFamily="34" charset="-122"/>
              </a:rPr>
              <a:t>· </a:t>
            </a:r>
            <a:r>
              <a:rPr lang="zh-CN" altLang="en-US" sz="1200" dirty="0">
                <a:solidFill>
                  <a:srgbClr val="2F5597"/>
                </a:solidFill>
                <a:latin typeface="微软雅黑" panose="020B0503020204020204" pitchFamily="34" charset="-122"/>
              </a:rPr>
              <a:t>更极端的方向发展，而从</a:t>
            </a:r>
            <a:r>
              <a:rPr lang="zh-CN" altLang="en-US" dirty="0"/>
              <a:t>先进制造工艺</a:t>
            </a:r>
            <a:r>
              <a:rPr lang="zh-CN" altLang="en-US" sz="1200" dirty="0">
                <a:solidFill>
                  <a:srgbClr val="2F5597"/>
                </a:solidFill>
                <a:latin typeface="微软雅黑" panose="020B0503020204020204" pitchFamily="34" charset="-122"/>
              </a:rPr>
              <a:t>实验室到工业现场，还需补足可靠性的短板。</a:t>
            </a:r>
            <a:endParaRPr lang="en-US" altLang="zh-CN" sz="1200" dirty="0">
              <a:solidFill>
                <a:srgbClr val="2F5597"/>
              </a:solidFill>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r>
              <a:rPr lang="zh-CN" altLang="en-US" dirty="0"/>
              <a:t>机械总院杜兵总说过一句话：“跳出焊接看焊接，跳出焊接干焊接。”对我来说，这意味着不能只从焊接工艺本身看问题，还要从装备、数据和可靠性的更大视角重新理解这些问题。</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11</a:t>
            </a:fld>
            <a:endParaRPr lang="zh-CN" altLang="en-US"/>
          </a:p>
        </p:txBody>
      </p:sp>
    </p:spTree>
    <p:extLst>
      <p:ext uri="{BB962C8B-B14F-4D97-AF65-F5344CB8AC3E}">
        <p14:creationId xmlns:p14="http://schemas.microsoft.com/office/powerpoint/2010/main" val="1551744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这也是我博士阶段选择可靠性研究的重要原因。</a:t>
            </a:r>
          </a:p>
          <a:p>
            <a:endParaRPr lang="zh-CN" altLang="en-US" dirty="0"/>
          </a:p>
          <a:p>
            <a:r>
              <a:rPr lang="zh-CN" altLang="en-US" dirty="0"/>
              <a:t>但我也逐渐认识到，可靠性是一个非常大的系统问题。复杂装备的可靠性涉及结构、材料、控制、传感、工艺以及运行维护等多个层面，不可能通过一个博士课题全部覆盖。</a:t>
            </a:r>
          </a:p>
          <a:p>
            <a:endParaRPr lang="zh-CN" altLang="en-US" dirty="0"/>
          </a:p>
          <a:p>
            <a:r>
              <a:rPr lang="zh-CN" altLang="en-US" dirty="0"/>
              <a:t>因此，我希望先从一个明确、基础、可以深入研究的问题切入。</a:t>
            </a:r>
          </a:p>
          <a:p>
            <a:endParaRPr lang="zh-CN" altLang="en-US" dirty="0"/>
          </a:p>
          <a:p>
            <a:r>
              <a:rPr lang="zh-CN" altLang="en-US" dirty="0"/>
              <a:t>无论是复杂系统的寿命分析，还是试件层面的疲劳可靠性研究，都经常面对一个共同困难：试验周期长、成本高，能够获得的数据往往有限。数据很少时，怎样仍然得到可信的统计估计，是可靠性分析中一个基础而又绕不开的问题。</a:t>
            </a:r>
          </a:p>
          <a:p>
            <a:endParaRPr lang="zh-CN" altLang="en-US" dirty="0"/>
          </a:p>
          <a:p>
            <a:r>
              <a:rPr lang="zh-CN" altLang="en-US" dirty="0"/>
              <a:t>因此，我把博士阶段首先聚焦的问题收敛为：小样本条件下，如何通过人工智能方法辅助三参数 </a:t>
            </a:r>
            <a:r>
              <a:rPr lang="en-US" altLang="zh-CN" dirty="0"/>
              <a:t>Weibull </a:t>
            </a:r>
            <a:r>
              <a:rPr lang="zh-CN" altLang="en-US" dirty="0"/>
              <a:t>分布参数估计</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12</a:t>
            </a:fld>
            <a:endParaRPr lang="zh-CN" altLang="en-US"/>
          </a:p>
        </p:txBody>
      </p:sp>
    </p:spTree>
    <p:extLst>
      <p:ext uri="{BB962C8B-B14F-4D97-AF65-F5344CB8AC3E}">
        <p14:creationId xmlns:p14="http://schemas.microsoft.com/office/powerpoint/2010/main" val="3778588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入博士阶段后，先说一下工程成果，除了自己的博士课题，我也参与了钢铁产线的故障诊断和装备状态监测工作。任务是：现场有七十多台电机，需要长期连续运行，但真实故障样本非常少，采样条件也受到现场生产条件限制。</a:t>
            </a:r>
          </a:p>
          <a:p>
            <a:endParaRPr lang="zh-CN" altLang="en-US" dirty="0"/>
          </a:p>
        </p:txBody>
      </p:sp>
      <p:sp>
        <p:nvSpPr>
          <p:cNvPr id="4" name="灯片编号占位符 3"/>
          <p:cNvSpPr>
            <a:spLocks noGrp="1"/>
          </p:cNvSpPr>
          <p:nvPr>
            <p:ph type="sldNum" sz="quarter" idx="5"/>
          </p:nvPr>
        </p:nvSpPr>
        <p:spPr/>
        <p:txBody>
          <a:bodyPr/>
          <a:lstStyle/>
          <a:p>
            <a:fld id="{A9C85E87-095E-442E-B926-421E2993126B}" type="slidenum">
              <a:rPr lang="zh-CN" altLang="en-US" smtClean="0"/>
              <a:t>13</a:t>
            </a:fld>
            <a:endParaRPr lang="zh-CN" altLang="en-US"/>
          </a:p>
        </p:txBody>
      </p:sp>
    </p:spTree>
    <p:extLst>
      <p:ext uri="{BB962C8B-B14F-4D97-AF65-F5344CB8AC3E}">
        <p14:creationId xmlns:p14="http://schemas.microsoft.com/office/powerpoint/2010/main" val="2998842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在这个项目中，我们利用电流、转速和工艺参数，结合时域和频域分析方法识别设备状态异常，并在一次真实故障中提前十几分钟给出了预警。</a:t>
            </a:r>
          </a:p>
          <a:p>
            <a:r>
              <a:rPr lang="zh-CN" altLang="en-US" dirty="0"/>
              <a:t>这个跟课题没有直接关系，但是也算是“有限信息条件下如何做出可靠判断”的情况，传统方法可能有些困难，那就利用大量的数据信息和物理约束，用神经网络等人工智能方法来做这件事。</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14</a:t>
            </a:fld>
            <a:endParaRPr lang="zh-CN" altLang="en-US"/>
          </a:p>
        </p:txBody>
      </p:sp>
    </p:spTree>
    <p:extLst>
      <p:ext uri="{BB962C8B-B14F-4D97-AF65-F5344CB8AC3E}">
        <p14:creationId xmlns:p14="http://schemas.microsoft.com/office/powerpoint/2010/main" val="3228590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我的第二个工程项目，是我现在正在做的 </a:t>
            </a:r>
            <a:r>
              <a:rPr lang="en-US" altLang="zh-CN" dirty="0"/>
              <a:t>Weibull </a:t>
            </a:r>
            <a:r>
              <a:rPr lang="zh-CN" altLang="en-US" dirty="0"/>
              <a:t>参数估计平台。这是一个专注于三参数 </a:t>
            </a:r>
            <a:r>
              <a:rPr lang="en-US" altLang="zh-CN" dirty="0"/>
              <a:t>Weibull </a:t>
            </a:r>
            <a:r>
              <a:rPr lang="zh-CN" altLang="en-US" dirty="0"/>
              <a:t>参数估计的研究与实践平台，目前已经部署上线测试中。</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15</a:t>
            </a:fld>
            <a:endParaRPr lang="zh-CN" altLang="en-US"/>
          </a:p>
        </p:txBody>
      </p:sp>
    </p:spTree>
    <p:extLst>
      <p:ext uri="{BB962C8B-B14F-4D97-AF65-F5344CB8AC3E}">
        <p14:creationId xmlns:p14="http://schemas.microsoft.com/office/powerpoint/2010/main" val="2905279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平台整体分为两块：一块是计算与研究，方法系统和 </a:t>
            </a:r>
            <a:r>
              <a:rPr lang="en-US" altLang="zh-CN" dirty="0"/>
              <a:t>AI </a:t>
            </a:r>
            <a:r>
              <a:rPr lang="zh-CN" altLang="en-US" dirty="0"/>
              <a:t>方法来提供成熟可复现的算法，计算器模块实现可信的用户服务；另一块是将论文资料整理为统一的文本格式，提取样本和案例信息便于将零散在不同文献中的样本案例收集起来便于调用。并且整理后的文本作为</a:t>
            </a:r>
            <a:r>
              <a:rPr lang="en-US" altLang="zh-CN" dirty="0"/>
              <a:t>rag</a:t>
            </a:r>
            <a:r>
              <a:rPr lang="zh-CN" altLang="en-US" dirty="0"/>
              <a:t>系统的底座，训练领域大语言模型，可以进行有依据的专业知识问答。架构上，平台是采取前后端分离的形式，方法以接口形式接入，适合进行调整。做这个平台的出发点很直接：这些方法原本分散、比较和复现的成本高，我希望有一个统一、透明的环境作为我后续研究的平台，也能把研究证据沉淀成可作为产品的工具。</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16</a:t>
            </a:fld>
            <a:endParaRPr lang="zh-CN" altLang="en-US"/>
          </a:p>
        </p:txBody>
      </p:sp>
    </p:spTree>
    <p:extLst>
      <p:ext uri="{BB962C8B-B14F-4D97-AF65-F5344CB8AC3E}">
        <p14:creationId xmlns:p14="http://schemas.microsoft.com/office/powerpoint/2010/main" val="170586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至于如何使用人工智能方法辅助参数估计，其实就是利用人工智能方法的学习能力，多做蒙特卡洛，按样本自身的信息，去调整原本人为固定的规则。优化落在原本参数估计的环节。例如估计器内部的过程量，比如最小差异法里的偏移量，可以按样本自适应；求解环节，可以优化初值、边界和失败处理；结果修正环节，也可以做有限样本下的偏差修正。甚至可以根据已知参数空间下样本和方法的表现，根据当前样本选择最优的方法并且给出估计范围；</a:t>
            </a:r>
          </a:p>
          <a:p>
            <a:endParaRPr lang="en-US" altLang="zh-CN" dirty="0"/>
          </a:p>
          <a:p>
            <a:r>
              <a:rPr lang="zh-CN" altLang="en-US" dirty="0"/>
              <a:t>我希望回答的问题是：样本自身是否携带能够被识别的信息？能否根据这些信息调整估计策略？这种调整在什么条件下有效，又在什么条件下需要受到约束？这里使用人工智能，并不是因为人工智能本身成为目的，而是希望借助它实现对传统统计估计过程的自适应改进。</a:t>
            </a:r>
            <a:endParaRPr lang="en-US" altLang="zh-CN" dirty="0"/>
          </a:p>
          <a:p>
            <a:endParaRPr lang="zh-CN" altLang="en-US" dirty="0"/>
          </a:p>
          <a:p>
            <a:r>
              <a:rPr lang="zh-CN" altLang="en-US" dirty="0"/>
              <a:t>平台就是在课题推进中积累数据。我希望在我完成毕业课题的同时，这个平台能做到方法覆盖广、积累数据全、易于使用、充分利用</a:t>
            </a:r>
            <a:r>
              <a:rPr lang="en-US" altLang="zh-CN" dirty="0"/>
              <a:t>ai</a:t>
            </a:r>
            <a:r>
              <a:rPr lang="zh-CN" altLang="en-US" dirty="0"/>
              <a:t>榨干样本蕴含的信息，使得相同样本估计的更准，相同精度需要的样本更少</a:t>
            </a:r>
            <a:endParaRPr lang="en-US" altLang="zh-CN" dirty="0"/>
          </a:p>
        </p:txBody>
      </p:sp>
      <p:sp>
        <p:nvSpPr>
          <p:cNvPr id="4" name="灯片编号占位符 3"/>
          <p:cNvSpPr>
            <a:spLocks noGrp="1"/>
          </p:cNvSpPr>
          <p:nvPr>
            <p:ph type="sldNum" sz="quarter" idx="5"/>
          </p:nvPr>
        </p:nvSpPr>
        <p:spPr/>
        <p:txBody>
          <a:bodyPr/>
          <a:lstStyle/>
          <a:p>
            <a:fld id="{A9C85E87-095E-442E-B926-421E2993126B}" type="slidenum">
              <a:rPr lang="zh-CN" altLang="en-US" smtClean="0"/>
              <a:t>17</a:t>
            </a:fld>
            <a:endParaRPr lang="zh-CN" altLang="en-US"/>
          </a:p>
        </p:txBody>
      </p:sp>
    </p:spTree>
    <p:extLst>
      <p:ext uri="{BB962C8B-B14F-4D97-AF65-F5344CB8AC3E}">
        <p14:creationId xmlns:p14="http://schemas.microsoft.com/office/powerpoint/2010/main" val="3749608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博士阶段目前形成了两项研究进展。</a:t>
            </a:r>
          </a:p>
          <a:p>
            <a:endParaRPr lang="zh-CN" altLang="en-US" dirty="0"/>
          </a:p>
          <a:p>
            <a:r>
              <a:rPr lang="zh-CN" altLang="en-US" dirty="0"/>
              <a:t>第一项是自适应最小差异法。最小差异法本身就是小样本三参数估计中很有优势的方法：它不依赖复杂的似然优化，而是利用各样本点给出的尺度估计应当彼此一致这一特点，通过最小化这些估计之间的差异来求解参数；已有研究表明，它在小样本下比极大似然法和最小二乘法更准确、更稳健。但它有一个关键的过程量</a:t>
            </a:r>
            <a:r>
              <a:rPr lang="en-US" altLang="zh-CN" dirty="0"/>
              <a:t>——</a:t>
            </a:r>
            <a:r>
              <a:rPr lang="zh-CN" altLang="en-US" dirty="0"/>
              <a:t>位置参数判据里的偏移量</a:t>
            </a:r>
            <a:r>
              <a:rPr lang="en-US" altLang="zh-CN" dirty="0"/>
              <a:t>——</a:t>
            </a:r>
            <a:r>
              <a:rPr lang="zh-CN" altLang="en-US" dirty="0"/>
              <a:t>一直按经验固定取值；我保留它的统计求解结构，用一个轻量网络从当前样本预测各候选偏移量的损失，再按样本选择偏移量。在当前仿真设计里，综合参数误差比固定偏移量降低约 </a:t>
            </a:r>
            <a:r>
              <a:rPr lang="en-US" altLang="zh-CN" dirty="0"/>
              <a:t>6% </a:t>
            </a:r>
            <a:r>
              <a:rPr lang="zh-CN" altLang="en-US" dirty="0"/>
              <a:t>到 </a:t>
            </a:r>
            <a:r>
              <a:rPr lang="en-US" altLang="zh-CN" dirty="0"/>
              <a:t>8%</a:t>
            </a:r>
            <a:r>
              <a:rPr lang="zh-CN" altLang="en-US" dirty="0"/>
              <a:t>，四个已测试的样本量上都有改善；换算到样本量上，原来 </a:t>
            </a:r>
            <a:r>
              <a:rPr lang="en-US" altLang="zh-CN" dirty="0"/>
              <a:t>10 </a:t>
            </a:r>
            <a:r>
              <a:rPr lang="zh-CN" altLang="en-US" dirty="0"/>
              <a:t>个样本的精度水平，现在约 </a:t>
            </a:r>
            <a:r>
              <a:rPr lang="en-US" altLang="zh-CN" dirty="0"/>
              <a:t>8 </a:t>
            </a:r>
            <a:r>
              <a:rPr lang="zh-CN" altLang="en-US" dirty="0"/>
              <a:t>个样本就能达到。冻结模型后的独立确认还在进行。</a:t>
            </a:r>
          </a:p>
          <a:p>
            <a:endParaRPr lang="zh-CN" altLang="en-US" dirty="0"/>
          </a:p>
          <a:p>
            <a:r>
              <a:rPr lang="zh-CN" altLang="en-US" dirty="0"/>
              <a:t>第二项是目标对齐的直接神经网络估计。工程上最终关心的是某个可靠度下的寿命点，而参数误差最小的估计器不一定让寿命点误差最小；我把训练目标从参数恢复对准到目标寿命点，并加入参数约束。带参数约束的目标点方法能让目标寿命点误差下降，其他寿命点误差也没有上升，甚至略有下降。</a:t>
            </a:r>
            <a:endParaRPr lang="en-US" altLang="zh-CN" dirty="0"/>
          </a:p>
          <a:p>
            <a:endParaRPr lang="zh-CN" altLang="en-US" dirty="0"/>
          </a:p>
          <a:p>
            <a:r>
              <a:rPr lang="zh-CN" altLang="en-US" dirty="0"/>
              <a:t>两项研究都已经形成论文稿，方法也沉淀到平台里。下一步的重点是补足独立验证，把结果整理成可复核、可发表的研究。</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对于培养展望，我想根据机械工程学会出版的技术路线图确定自己后续要走的路</a:t>
            </a:r>
            <a:r>
              <a:rPr lang="en-US" altLang="zh-CN" dirty="0"/>
              <a:t>——</a:t>
            </a:r>
            <a:r>
              <a:rPr lang="zh-CN" altLang="en-US" dirty="0"/>
              <a:t>提高可靠性评估的准确性并且从制造工艺与装备的实际出发，做出理论与实践并举的工作。</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19</a:t>
            </a:fld>
            <a:endParaRPr lang="zh-CN" altLang="en-US"/>
          </a:p>
        </p:txBody>
      </p:sp>
    </p:spTree>
    <p:extLst>
      <p:ext uri="{BB962C8B-B14F-4D97-AF65-F5344CB8AC3E}">
        <p14:creationId xmlns:p14="http://schemas.microsoft.com/office/powerpoint/2010/main" val="4253894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具体来说，在培育期里，我将进一步研究人工智能方法与参数估计方法，以 </a:t>
            </a:r>
            <a:r>
              <a:rPr lang="en-US" altLang="zh-CN" dirty="0"/>
              <a:t>Weibull </a:t>
            </a:r>
            <a:r>
              <a:rPr lang="zh-CN" altLang="en-US" dirty="0"/>
              <a:t>平台作为实验平台，继续推进人工智能方法辅助参数估计的研究；同时结合可靠性工程实践，把理论研究与实验检验结合起来，尽量结合自己比较熟悉的领域，例如焊接、增材、激光加工等等。</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借助这次培育的机会</a:t>
            </a:r>
            <a:r>
              <a:rPr lang="en-US" altLang="zh-CN" dirty="0"/>
              <a:t>——</a:t>
            </a:r>
            <a:r>
              <a:rPr lang="zh-CN" altLang="en-US" dirty="0"/>
              <a:t>尤其是学术交流、政治训练、专业锻炼和社会历练</a:t>
            </a:r>
            <a:r>
              <a:rPr lang="en-US" altLang="zh-CN" dirty="0"/>
              <a:t>——</a:t>
            </a:r>
            <a:r>
              <a:rPr lang="zh-CN" altLang="en-US" dirty="0"/>
              <a:t>为我的研究工作赋能。</a:t>
            </a:r>
          </a:p>
          <a:p>
            <a:endParaRPr lang="zh-CN" altLang="en-US" dirty="0"/>
          </a:p>
        </p:txBody>
      </p:sp>
      <p:sp>
        <p:nvSpPr>
          <p:cNvPr id="4" name="灯片编号占位符 3"/>
          <p:cNvSpPr>
            <a:spLocks noGrp="1"/>
          </p:cNvSpPr>
          <p:nvPr>
            <p:ph type="sldNum" sz="quarter" idx="5"/>
          </p:nvPr>
        </p:nvSpPr>
        <p:spPr/>
        <p:txBody>
          <a:bodyPr/>
          <a:lstStyle/>
          <a:p>
            <a:fld id="{A9C85E87-095E-442E-B926-421E2993126B}" type="slidenum">
              <a:rPr lang="zh-CN" altLang="en-US" smtClean="0"/>
              <a:t>20</a:t>
            </a:fld>
            <a:endParaRPr lang="zh-CN" altLang="en-US"/>
          </a:p>
        </p:txBody>
      </p:sp>
    </p:spTree>
    <p:extLst>
      <p:ext uri="{BB962C8B-B14F-4D97-AF65-F5344CB8AC3E}">
        <p14:creationId xmlns:p14="http://schemas.microsoft.com/office/powerpoint/2010/main" val="70042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我承诺：遵守科研诚信，保持对科研的热情；利用自己的所学所长，软硬结合、交叉复合，发挥优势</a:t>
            </a:r>
            <a:r>
              <a:rPr lang="en-US" altLang="zh-CN" dirty="0"/>
              <a:t>——</a:t>
            </a:r>
            <a:r>
              <a:rPr lang="zh-CN" altLang="en-US" dirty="0"/>
              <a:t>就像激光电弧复合焊一样，达到 </a:t>
            </a:r>
            <a:r>
              <a:rPr lang="en-US" altLang="zh-CN" dirty="0"/>
              <a:t>1+1&gt;2 </a:t>
            </a:r>
            <a:r>
              <a:rPr lang="zh-CN" altLang="en-US" dirty="0"/>
              <a:t>的效果。争取为工业母机“四性”提升贡献一份力量。</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21</a:t>
            </a:fld>
            <a:endParaRPr lang="zh-CN" altLang="en-US"/>
          </a:p>
        </p:txBody>
      </p:sp>
    </p:spTree>
    <p:extLst>
      <p:ext uri="{BB962C8B-B14F-4D97-AF65-F5344CB8AC3E}">
        <p14:creationId xmlns:p14="http://schemas.microsoft.com/office/powerpoint/2010/main" val="1448848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最后简单汇报一下曾获得的奖励。硕士期间，我获得了中国机械总院 </a:t>
            </a:r>
            <a:r>
              <a:rPr lang="en-US" altLang="zh-CN"/>
              <a:t>2025 </a:t>
            </a:r>
            <a:r>
              <a:rPr lang="zh-CN" altLang="en-US"/>
              <a:t>年优秀毕业研究生、优秀硕士毕业论文和科技创新成果奖学金；连续三年参加中国机械工程学会“云说新科技”科普大赛，分别获得 </a:t>
            </a:r>
            <a:r>
              <a:rPr lang="en-US" altLang="zh-CN"/>
              <a:t>2022 </a:t>
            </a:r>
            <a:r>
              <a:rPr lang="zh-CN" altLang="en-US"/>
              <a:t>年全国二等奖、</a:t>
            </a:r>
            <a:r>
              <a:rPr lang="en-US" altLang="zh-CN"/>
              <a:t>2023 </a:t>
            </a:r>
            <a:r>
              <a:rPr lang="zh-CN" altLang="en-US"/>
              <a:t>年和 </a:t>
            </a:r>
            <a:r>
              <a:rPr lang="en-US" altLang="zh-CN"/>
              <a:t>2024 </a:t>
            </a:r>
            <a:r>
              <a:rPr lang="zh-CN" altLang="en-US"/>
              <a:t>年全国一等奖；此外还获得中国机械总院 </a:t>
            </a:r>
            <a:r>
              <a:rPr lang="en-US" altLang="zh-CN"/>
              <a:t>2024 </a:t>
            </a:r>
            <a:r>
              <a:rPr lang="zh-CN" altLang="en-US"/>
              <a:t>年度宣传工作表彰。</a:t>
            </a:r>
          </a:p>
          <a:p>
            <a:endParaRPr lang="zh-CN" altLang="en-US"/>
          </a:p>
          <a:p>
            <a:r>
              <a:rPr lang="zh-CN" altLang="en-US"/>
              <a:t>科研之外，我也有一些制作科学演示视频和科普视频的爱好</a:t>
            </a:r>
            <a:r>
              <a:rPr lang="en-US" altLang="zh-CN"/>
              <a:t>——</a:t>
            </a:r>
            <a:r>
              <a:rPr lang="zh-CN" altLang="en-US"/>
              <a:t>这些科普作品就是其中的一部分。培育期间，我希望继续参与学会的科普和社会服务活动。</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22</a:t>
            </a:fld>
            <a:endParaRPr lang="zh-CN" altLang="en-US"/>
          </a:p>
        </p:txBody>
      </p:sp>
    </p:spTree>
    <p:extLst>
      <p:ext uri="{BB962C8B-B14F-4D97-AF65-F5344CB8AC3E}">
        <p14:creationId xmlns:p14="http://schemas.microsoft.com/office/powerpoint/2010/main" val="2934055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谢谢各位专家，恳请批评指正。</a:t>
            </a:r>
          </a:p>
        </p:txBody>
      </p:sp>
      <p:sp>
        <p:nvSpPr>
          <p:cNvPr id="4" name="灯片编号占位符 3"/>
          <p:cNvSpPr>
            <a:spLocks noGrp="1"/>
          </p:cNvSpPr>
          <p:nvPr>
            <p:ph type="sldNum" sz="quarter" idx="5"/>
          </p:nvPr>
        </p:nvSpPr>
        <p:spPr/>
        <p:txBody>
          <a:bodyPr/>
          <a:lstStyle/>
          <a:p>
            <a:fld id="{A9C85E87-095E-442E-B926-421E2993126B}" type="slidenum">
              <a:rPr lang="zh-CN" altLang="en-US" smtClean="0"/>
              <a:t>23</a:t>
            </a:fld>
            <a:endParaRPr lang="zh-CN" altLang="en-US"/>
          </a:p>
        </p:txBody>
      </p:sp>
    </p:spTree>
    <p:extLst>
      <p:ext uri="{BB962C8B-B14F-4D97-AF65-F5344CB8AC3E}">
        <p14:creationId xmlns:p14="http://schemas.microsoft.com/office/powerpoint/2010/main" val="23384324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2" name="图片 21"/>
          <p:cNvPicPr>
            <a:picLocks noChangeAspect="1"/>
          </p:cNvPicPr>
          <p:nvPr userDrawn="1"/>
        </p:nvPicPr>
        <p:blipFill>
          <a:blip r:embed="rId2">
            <a:alphaModFix amt="20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l="-375" t="36417" r="375" b="17715"/>
          <a:stretch>
            <a:fillRect/>
          </a:stretch>
        </p:blipFill>
        <p:spPr>
          <a:xfrm>
            <a:off x="-188953" y="3125718"/>
            <a:ext cx="12697941" cy="4114800"/>
          </a:xfrm>
          <a:prstGeom prst="rect">
            <a:avLst/>
          </a:prstGeom>
        </p:spPr>
      </p:pic>
      <p:pic>
        <p:nvPicPr>
          <p:cNvPr id="25" name="图片 24"/>
          <p:cNvPicPr>
            <a:picLocks noChangeAspect="1"/>
          </p:cNvPicPr>
          <p:nvPr userDrawn="1"/>
        </p:nvPicPr>
        <p:blipFill>
          <a:blip r:embed="rId3" cstate="print">
            <a:extLst>
              <a:ext uri="{28A0092B-C50C-407E-A947-70E740481C1C}">
                <a14:useLocalDpi xmlns:a14="http://schemas.microsoft.com/office/drawing/2010/main" val="0"/>
              </a:ext>
            </a:extLst>
          </a:blip>
          <a:srcRect b="60826"/>
          <a:stretch>
            <a:fillRect/>
          </a:stretch>
        </p:blipFill>
        <p:spPr>
          <a:xfrm>
            <a:off x="133584" y="72497"/>
            <a:ext cx="3337845" cy="708895"/>
          </a:xfrm>
          <a:prstGeom prst="rect">
            <a:avLst/>
          </a:prstGeom>
        </p:spPr>
      </p:pic>
      <p:pic>
        <p:nvPicPr>
          <p:cNvPr id="2" name="图片 1"/>
          <p:cNvPicPr>
            <a:picLocks noChangeAspect="1"/>
          </p:cNvPicPr>
          <p:nvPr userDrawn="1"/>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p:cNvSpPr/>
          <p:nvPr userDrawn="1"/>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rcRect b="59104"/>
          <a:stretch>
            <a:fillRect/>
          </a:stretch>
        </p:blipFill>
        <p:spPr>
          <a:xfrm>
            <a:off x="9374637" y="198304"/>
            <a:ext cx="2675956" cy="593304"/>
          </a:xfrm>
          <a:prstGeom prst="rect">
            <a:avLst/>
          </a:prstGeom>
        </p:spPr>
      </p:pic>
      <p:cxnSp>
        <p:nvCxnSpPr>
          <p:cNvPr id="11" name="直接连接符 10"/>
          <p:cNvCxnSpPr/>
          <p:nvPr userDrawn="1"/>
        </p:nvCxnSpPr>
        <p:spPr>
          <a:xfrm>
            <a:off x="334962" y="6564990"/>
            <a:ext cx="11522076" cy="0"/>
          </a:xfrm>
          <a:prstGeom prst="line">
            <a:avLst/>
          </a:prstGeom>
          <a:ln w="50800" cmpd="sng">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334963" y="1402294"/>
            <a:ext cx="11522075" cy="0"/>
          </a:xfrm>
          <a:prstGeom prst="line">
            <a:avLst/>
          </a:prstGeom>
          <a:noFill/>
          <a:ln w="25400">
            <a:gradFill flip="none"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p:cNvSpPr/>
          <p:nvPr userDrawn="1"/>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89" name="文本框 88"/>
          <p:cNvSpPr txBox="1"/>
          <p:nvPr userDrawn="1"/>
        </p:nvSpPr>
        <p:spPr>
          <a:xfrm>
            <a:off x="-79985" y="1085380"/>
            <a:ext cx="3262303" cy="830997"/>
          </a:xfrm>
          <a:prstGeom prst="rect">
            <a:avLst/>
          </a:prstGeom>
          <a:noFill/>
        </p:spPr>
        <p:txBody>
          <a:bodyPr wrap="none" rtlCol="0">
            <a:spAutoFit/>
          </a:bodyPr>
          <a:lstStyle/>
          <a:p>
            <a:r>
              <a:rPr lang="en-US" altLang="zh-CN" sz="4800" b="1" dirty="0">
                <a:solidFill>
                  <a:srgbClr val="FFFFFF"/>
                </a:solidFill>
                <a:latin typeface="微软雅黑" panose="020B0503020204020204" pitchFamily="34" charset="-122"/>
                <a:ea typeface="微软雅黑" panose="020B0503020204020204" pitchFamily="34" charset="-122"/>
              </a:rPr>
              <a:t>CONTENT</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pic>
        <p:nvPicPr>
          <p:cNvPr id="125" name="图片 124"/>
          <p:cNvPicPr>
            <a:picLocks noChangeAspect="1"/>
          </p:cNvPicPr>
          <p:nvPr userDrawn="1"/>
        </p:nvPicPr>
        <p:blipFill>
          <a:blip r:embed="rId2" cstate="print">
            <a:alphaModFix amt="70000"/>
            <a:extLst>
              <a:ext uri="{28A0092B-C50C-407E-A947-70E740481C1C}">
                <a14:useLocalDpi xmlns:a14="http://schemas.microsoft.com/office/drawing/2010/main" val="0"/>
              </a:ext>
            </a:extLst>
          </a:blip>
          <a:srcRect b="58808"/>
          <a:stretch>
            <a:fillRect/>
          </a:stretch>
        </p:blipFill>
        <p:spPr>
          <a:xfrm>
            <a:off x="662962" y="3707963"/>
            <a:ext cx="3024288" cy="2020666"/>
          </a:xfrm>
          <a:prstGeom prst="rect">
            <a:avLst/>
          </a:prstGeom>
        </p:spPr>
      </p:pic>
      <p:sp>
        <p:nvSpPr>
          <p:cNvPr id="88" name="文本框 87"/>
          <p:cNvSpPr txBox="1"/>
          <p:nvPr userDrawn="1"/>
        </p:nvSpPr>
        <p:spPr>
          <a:xfrm>
            <a:off x="851667" y="1479325"/>
            <a:ext cx="2646878" cy="830997"/>
          </a:xfrm>
          <a:prstGeom prst="rect">
            <a:avLst/>
          </a:prstGeom>
          <a:noFill/>
        </p:spPr>
        <p:txBody>
          <a:bodyPr wrap="none" rtlCol="0">
            <a:spAutoFit/>
          </a:bodyPr>
          <a:lstStyle>
            <a:defPPr>
              <a:defRPr lang="zh-CN"/>
            </a:defPPr>
            <a:lvl1pPr>
              <a:defRPr sz="7200">
                <a:gradFill flip="none" rotWithShape="1">
                  <a:gsLst>
                    <a:gs pos="0">
                      <a:schemeClr val="accent1">
                        <a:lumMod val="80000"/>
                        <a:lumOff val="20000"/>
                      </a:schemeClr>
                    </a:gs>
                    <a:gs pos="100000">
                      <a:schemeClr val="accent1"/>
                    </a:gs>
                  </a:gsLst>
                  <a:lin ang="5400000" scaled="1"/>
                  <a:tileRect/>
                </a:gradFill>
                <a:latin typeface="思源宋体 CN Heavy" panose="02020900000000000000" pitchFamily="18" charset="-122"/>
                <a:ea typeface="思源宋体 CN Heavy" panose="02020900000000000000" pitchFamily="18"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gradFill flip="none" rotWithShape="1">
                  <a:gsLst>
                    <a:gs pos="0">
                      <a:srgbClr val="0268FE">
                        <a:lumMod val="80000"/>
                        <a:lumOff val="20000"/>
                      </a:srgbClr>
                    </a:gs>
                    <a:gs pos="100000">
                      <a:srgbClr val="0268FE"/>
                    </a:gs>
                  </a:gsLst>
                  <a:lin ang="5400000" scaled="1"/>
                  <a:tileRect/>
                </a:gradFill>
                <a:effectLst/>
                <a:uLnTx/>
                <a:uFillTx/>
                <a:latin typeface="汉仪粗宋简" panose="02010600000101010101" pitchFamily="2" charset="-122"/>
                <a:ea typeface="汉仪粗宋简" panose="02010600000101010101" pitchFamily="2" charset="-122"/>
              </a:rPr>
              <a:t>汇报提纲</a:t>
            </a:r>
          </a:p>
        </p:txBody>
      </p:sp>
      <p:sp>
        <p:nvSpPr>
          <p:cNvPr id="131" name="任意多边形: 形状 130"/>
          <p:cNvSpPr/>
          <p:nvPr userDrawn="1"/>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F4852F6-D0EE-43FF-9758-4449F4064C7C}" type="datetimeFigureOut">
              <a:rPr lang="zh-CN" altLang="en-US" smtClean="0"/>
              <a:t>2026/9/14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DD7EF-E908-4723-98EB-3DEAFF871F3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b="14645"/>
          <a:stretch>
            <a:fillRect/>
          </a:stretch>
        </p:blipFill>
        <p:spPr bwMode="auto">
          <a:xfrm>
            <a:off x="0" y="584200"/>
            <a:ext cx="12192000" cy="8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p:nvPr userDrawn="1"/>
        </p:nvCxn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kumimoji="1" lang="zh-CN" altLang="en-US" sz="3200" b="1">
              <a:solidFill>
                <a:prstClr val="white"/>
              </a:solidFill>
            </a:endParaRPr>
          </a:p>
        </p:txBody>
      </p:sp>
      <p:grpSp>
        <p:nvGrpSpPr>
          <p:cNvPr id="8" name="组合 7"/>
          <p:cNvGrpSpPr/>
          <p:nvPr userDrawn="1"/>
        </p:nvGrpSpPr>
        <p:grpSpPr>
          <a:xfrm>
            <a:off x="-2539" y="1413933"/>
            <a:ext cx="12194540" cy="101600"/>
            <a:chOff x="31" y="2747"/>
            <a:chExt cx="14180" cy="126"/>
          </a:xfrm>
        </p:grpSpPr>
        <p:sp>
          <p:nvSpPr>
            <p:cNvPr id="11" name="任意多边形 10"/>
            <p:cNvSpPr/>
            <p:nvPr/>
          </p:nvSpPr>
          <p:spPr>
            <a:xfrm>
              <a:off x="2817" y="2747"/>
              <a:ext cx="11394" cy="126"/>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任意多边形 15"/>
            <p:cNvSpPr/>
            <p:nvPr/>
          </p:nvSpPr>
          <p:spPr>
            <a:xfrm>
              <a:off x="31" y="2748"/>
              <a:ext cx="2786" cy="125"/>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Tree>
  </p:cSld>
  <p:clrMapOvr>
    <a:masterClrMapping/>
  </p:clrMapOvr>
  <p:transition spd="slow" advTm="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ransition spd="slow" advTm="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b="14645"/>
          <a:stretch>
            <a:fillRect/>
          </a:stretch>
        </p:blipFill>
        <p:spPr bwMode="auto">
          <a:xfrm>
            <a:off x="0" y="584200"/>
            <a:ext cx="12192000" cy="8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p:nvPr userDrawn="1"/>
        </p:nvCxn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kumimoji="1" lang="zh-CN" altLang="en-US" sz="3200" b="1">
              <a:solidFill>
                <a:prstClr val="white"/>
              </a:solidFill>
            </a:endParaRPr>
          </a:p>
        </p:txBody>
      </p:sp>
      <p:grpSp>
        <p:nvGrpSpPr>
          <p:cNvPr id="8" name="组合 7"/>
          <p:cNvGrpSpPr/>
          <p:nvPr userDrawn="1"/>
        </p:nvGrpSpPr>
        <p:grpSpPr>
          <a:xfrm>
            <a:off x="-2539" y="1413933"/>
            <a:ext cx="12194540" cy="101600"/>
            <a:chOff x="31" y="2747"/>
            <a:chExt cx="14180" cy="126"/>
          </a:xfrm>
        </p:grpSpPr>
        <p:sp>
          <p:nvSpPr>
            <p:cNvPr id="11" name="任意多边形 10"/>
            <p:cNvSpPr/>
            <p:nvPr/>
          </p:nvSpPr>
          <p:spPr>
            <a:xfrm>
              <a:off x="2817" y="2747"/>
              <a:ext cx="11394" cy="126"/>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任意多边形 15"/>
            <p:cNvSpPr/>
            <p:nvPr/>
          </p:nvSpPr>
          <p:spPr>
            <a:xfrm>
              <a:off x="31" y="2748"/>
              <a:ext cx="2786" cy="125"/>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Tree>
    <p:extLst>
      <p:ext uri="{BB962C8B-B14F-4D97-AF65-F5344CB8AC3E}">
        <p14:creationId xmlns:p14="http://schemas.microsoft.com/office/powerpoint/2010/main" val="3879872421"/>
      </p:ext>
    </p:extLst>
  </p:cSld>
  <p:clrMapOvr>
    <a:masterClrMapping/>
  </p:clrMapOvr>
  <p:transition spd="slow" advTm="0">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041360"/>
      </p:ext>
    </p:extLst>
  </p:cSld>
  <p:clrMapOvr>
    <a:masterClrMapping/>
  </p:clrMapOvr>
  <p:transition spd="slow" advTm="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4852F6-D0EE-43FF-9758-4449F4064C7C}" type="datetimeFigureOut">
              <a:rPr lang="zh-CN" altLang="en-US" smtClean="0"/>
              <a:t>2026/9/14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0DD7EF-E908-4723-98EB-3DEAFF871F3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bwMode="auto">
          <a:xfrm>
            <a:off x="838200" y="366186"/>
            <a:ext cx="10515600" cy="132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5019" tIns="32509" rIns="65019" bIns="32509" numCol="1" anchor="ctr" anchorCtr="0" compatLnSpc="1"/>
          <a:lstStyle/>
          <a:p>
            <a:pPr lvl="0"/>
            <a:r>
              <a:rPr lang="zh-CN" altLang="en-US" dirty="0"/>
              <a:t>单击此处编辑母版标题样式</a:t>
            </a:r>
          </a:p>
        </p:txBody>
      </p:sp>
      <p:sp>
        <p:nvSpPr>
          <p:cNvPr id="4099" name="文本占位符 2"/>
          <p:cNvSpPr>
            <a:spLocks noGrp="1"/>
          </p:cNvSpPr>
          <p:nvPr>
            <p:ph type="body" idx="1"/>
          </p:nvPr>
        </p:nvSpPr>
        <p:spPr bwMode="auto">
          <a:xfrm>
            <a:off x="838200" y="1826685"/>
            <a:ext cx="10515600" cy="435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5019" tIns="32509" rIns="65019" bIns="32509"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3"/>
            <a:ext cx="2743200" cy="364067"/>
          </a:xfrm>
          <a:prstGeom prst="rect">
            <a:avLst/>
          </a:prstGeom>
        </p:spPr>
        <p:txBody>
          <a:bodyPr vert="horz" lIns="65019" tIns="32509" rIns="65019" bIns="32509" rtlCol="0" anchor="ctr"/>
          <a:lstStyle>
            <a:lvl1pPr algn="l" defTabSz="1218565" eaLnBrk="1" hangingPunct="1">
              <a:defRPr sz="1200">
                <a:solidFill>
                  <a:prstClr val="black">
                    <a:tint val="75000"/>
                  </a:prstClr>
                </a:solidFill>
                <a:latin typeface="+mn-lt"/>
                <a:ea typeface="+mn-ea"/>
              </a:defRPr>
            </a:lvl1pPr>
          </a:lstStyle>
          <a:p>
            <a:pPr>
              <a:defRPr/>
            </a:pPr>
            <a:fld id="{292F71EF-02F8-4FDD-93F8-D030AB7FC83F}" type="datetimeFigureOut">
              <a:rPr lang="zh-CN" altLang="en-US"/>
              <a:t>2026/9/14</a:t>
            </a:fld>
            <a:endParaRPr lang="zh-CN" altLang="en-US"/>
          </a:p>
        </p:txBody>
      </p:sp>
      <p:sp>
        <p:nvSpPr>
          <p:cNvPr id="5" name="页脚占位符 4"/>
          <p:cNvSpPr>
            <a:spLocks noGrp="1"/>
          </p:cNvSpPr>
          <p:nvPr>
            <p:ph type="ftr" sz="quarter" idx="3"/>
          </p:nvPr>
        </p:nvSpPr>
        <p:spPr>
          <a:xfrm>
            <a:off x="4038600" y="6356353"/>
            <a:ext cx="4114800" cy="364067"/>
          </a:xfrm>
          <a:prstGeom prst="rect">
            <a:avLst/>
          </a:prstGeom>
        </p:spPr>
        <p:txBody>
          <a:bodyPr vert="horz" lIns="65019" tIns="32509" rIns="65019" bIns="32509" rtlCol="0" anchor="ctr"/>
          <a:lstStyle>
            <a:lvl1pPr algn="ctr" defTabSz="1218565" eaLnBrk="1" hangingPunct="1">
              <a:defRPr sz="1200">
                <a:solidFill>
                  <a:prstClr val="black">
                    <a:tint val="75000"/>
                  </a:prst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3"/>
            <a:ext cx="2743200" cy="364067"/>
          </a:xfrm>
          <a:prstGeom prst="rect">
            <a:avLst/>
          </a:prstGeom>
        </p:spPr>
        <p:txBody>
          <a:bodyPr vert="horz" wrap="square" lIns="65019" tIns="32509" rIns="65019" bIns="32509" numCol="1" anchor="ctr" anchorCtr="0" compatLnSpc="1"/>
          <a:lstStyle>
            <a:lvl1pPr algn="r" defTabSz="1216660" eaLnBrk="1" hangingPunct="1">
              <a:defRPr sz="1200">
                <a:solidFill>
                  <a:srgbClr val="898989"/>
                </a:solidFill>
              </a:defRPr>
            </a:lvl1pPr>
          </a:lstStyle>
          <a:p>
            <a:pPr>
              <a:defRPr/>
            </a:pPr>
            <a:fld id="{D728AC88-674E-4151-AFDC-B7C47BAC839D}"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ransition spd="slow" advTm="0">
    <p:fade/>
  </p:transition>
  <p:txStyles>
    <p:titleStyle>
      <a:lvl1pPr algn="l" defTabSz="865505" rtl="0" eaLnBrk="0" fontAlgn="base" hangingPunct="0">
        <a:lnSpc>
          <a:spcPct val="90000"/>
        </a:lnSpc>
        <a:spcBef>
          <a:spcPct val="0"/>
        </a:spcBef>
        <a:spcAft>
          <a:spcPct val="0"/>
        </a:spcAft>
        <a:defRPr sz="4135" kern="1200">
          <a:solidFill>
            <a:schemeClr val="tx1"/>
          </a:solidFill>
          <a:latin typeface="Calibri" panose="020F0502020204030204" pitchFamily="34" charset="0"/>
          <a:ea typeface="+mj-ea"/>
          <a:cs typeface="+mj-cs"/>
        </a:defRPr>
      </a:lvl1pPr>
      <a:lvl2pPr algn="l" defTabSz="865505" rtl="0" eaLnBrk="0" fontAlgn="base" hangingPunct="0">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2pPr>
      <a:lvl3pPr algn="l" defTabSz="865505" rtl="0" eaLnBrk="0" fontAlgn="base" hangingPunct="0">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3pPr>
      <a:lvl4pPr algn="l" defTabSz="865505" rtl="0" eaLnBrk="0" fontAlgn="base" hangingPunct="0">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4pPr>
      <a:lvl5pPr algn="l" defTabSz="865505" rtl="0" eaLnBrk="0" fontAlgn="base" hangingPunct="0">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5pPr>
      <a:lvl6pPr marL="609600" algn="l" defTabSz="865505" rtl="0" fontAlgn="base">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6pPr>
      <a:lvl7pPr marL="1219200" algn="l" defTabSz="865505" rtl="0" fontAlgn="base">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7pPr>
      <a:lvl8pPr marL="1828800" algn="l" defTabSz="865505" rtl="0" fontAlgn="base">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8pPr>
      <a:lvl9pPr marL="2438400" algn="l" defTabSz="865505" rtl="0" fontAlgn="base">
        <a:lnSpc>
          <a:spcPct val="90000"/>
        </a:lnSpc>
        <a:spcBef>
          <a:spcPct val="0"/>
        </a:spcBef>
        <a:spcAft>
          <a:spcPct val="0"/>
        </a:spcAft>
        <a:defRPr sz="4135">
          <a:solidFill>
            <a:schemeClr val="tx1"/>
          </a:solidFill>
          <a:latin typeface="Calibri Light" panose="020F0302020204030204" pitchFamily="34" charset="0"/>
          <a:ea typeface="宋体" panose="02010600030101010101" pitchFamily="2" charset="-122"/>
        </a:defRPr>
      </a:lvl9pPr>
    </p:titleStyle>
    <p:bodyStyle>
      <a:lvl1pPr marL="215900" indent="-215900" algn="l" defTabSz="865505" rtl="0" eaLnBrk="0" fontAlgn="base" hangingPunct="0">
        <a:lnSpc>
          <a:spcPct val="90000"/>
        </a:lnSpc>
        <a:spcBef>
          <a:spcPts val="955"/>
        </a:spcBef>
        <a:spcAft>
          <a:spcPct val="0"/>
        </a:spcAft>
        <a:buFont typeface="Arial" panose="020B0604020202020204" pitchFamily="34" charset="0"/>
        <a:buChar char="•"/>
        <a:defRPr sz="2665" kern="1200">
          <a:solidFill>
            <a:schemeClr val="tx1"/>
          </a:solidFill>
          <a:latin typeface="+mn-lt"/>
          <a:ea typeface="+mn-ea"/>
          <a:cs typeface="+mn-cs"/>
        </a:defRPr>
      </a:lvl1pPr>
      <a:lvl2pPr marL="650240" indent="-215900" algn="l" defTabSz="865505" rtl="0" eaLnBrk="0" fontAlgn="base" hangingPunct="0">
        <a:lnSpc>
          <a:spcPct val="90000"/>
        </a:lnSpc>
        <a:spcBef>
          <a:spcPts val="465"/>
        </a:spcBef>
        <a:spcAft>
          <a:spcPct val="0"/>
        </a:spcAft>
        <a:buFont typeface="Arial" panose="020B0604020202020204" pitchFamily="34" charset="0"/>
        <a:buChar char="•"/>
        <a:defRPr sz="2265" kern="1200">
          <a:solidFill>
            <a:schemeClr val="tx1"/>
          </a:solidFill>
          <a:latin typeface="+mn-lt"/>
          <a:ea typeface="+mn-ea"/>
          <a:cs typeface="+mn-cs"/>
        </a:defRPr>
      </a:lvl2pPr>
      <a:lvl3pPr marL="1082040" indent="-215900" algn="l" defTabSz="865505" rtl="0" eaLnBrk="0" fontAlgn="base" hangingPunct="0">
        <a:lnSpc>
          <a:spcPct val="90000"/>
        </a:lnSpc>
        <a:spcBef>
          <a:spcPts val="465"/>
        </a:spcBef>
        <a:spcAft>
          <a:spcPct val="0"/>
        </a:spcAft>
        <a:buFont typeface="Arial" panose="020B0604020202020204" pitchFamily="34" charset="0"/>
        <a:buChar char="•"/>
        <a:defRPr sz="1865" kern="1200">
          <a:solidFill>
            <a:schemeClr val="tx1"/>
          </a:solidFill>
          <a:latin typeface="+mn-lt"/>
          <a:ea typeface="+mn-ea"/>
          <a:cs typeface="+mn-cs"/>
        </a:defRPr>
      </a:lvl3pPr>
      <a:lvl4pPr marL="1515745" indent="-215900" algn="l" defTabSz="865505" rtl="0" eaLnBrk="0" fontAlgn="base" hangingPunct="0">
        <a:lnSpc>
          <a:spcPct val="90000"/>
        </a:lnSpc>
        <a:spcBef>
          <a:spcPts val="465"/>
        </a:spcBef>
        <a:spcAft>
          <a:spcPct val="0"/>
        </a:spcAft>
        <a:buFont typeface="Arial" panose="020B0604020202020204" pitchFamily="34" charset="0"/>
        <a:buChar char="•"/>
        <a:defRPr sz="1735" kern="1200">
          <a:solidFill>
            <a:schemeClr val="tx1"/>
          </a:solidFill>
          <a:latin typeface="+mn-lt"/>
          <a:ea typeface="+mn-ea"/>
          <a:cs typeface="+mn-cs"/>
        </a:defRPr>
      </a:lvl4pPr>
      <a:lvl5pPr marL="1950085" indent="-215900" algn="l" defTabSz="865505" rtl="0" eaLnBrk="0" fontAlgn="base" hangingPunct="0">
        <a:lnSpc>
          <a:spcPct val="90000"/>
        </a:lnSpc>
        <a:spcBef>
          <a:spcPts val="465"/>
        </a:spcBef>
        <a:spcAft>
          <a:spcPct val="0"/>
        </a:spcAft>
        <a:buFont typeface="Arial" panose="020B0604020202020204" pitchFamily="34" charset="0"/>
        <a:buChar char="•"/>
        <a:defRPr sz="1735" kern="1200">
          <a:solidFill>
            <a:schemeClr val="tx1"/>
          </a:solidFill>
          <a:latin typeface="+mn-lt"/>
          <a:ea typeface="+mn-ea"/>
          <a:cs typeface="+mn-cs"/>
        </a:defRPr>
      </a:lvl5pPr>
      <a:lvl6pPr marL="2384425" indent="-216535" algn="l" defTabSz="866140" rtl="0" eaLnBrk="1" latinLnBrk="0" hangingPunct="1">
        <a:lnSpc>
          <a:spcPct val="90000"/>
        </a:lnSpc>
        <a:spcBef>
          <a:spcPts val="475"/>
        </a:spcBef>
        <a:buFont typeface="Arial" panose="020B0604020202020204" pitchFamily="34" charset="0"/>
        <a:buChar char="•"/>
        <a:defRPr sz="1735" kern="1200">
          <a:solidFill>
            <a:schemeClr val="tx1"/>
          </a:solidFill>
          <a:latin typeface="+mn-lt"/>
          <a:ea typeface="+mn-ea"/>
          <a:cs typeface="+mn-cs"/>
        </a:defRPr>
      </a:lvl6pPr>
      <a:lvl7pPr marL="2817495" indent="-216535" algn="l" defTabSz="866140" rtl="0" eaLnBrk="1" latinLnBrk="0" hangingPunct="1">
        <a:lnSpc>
          <a:spcPct val="90000"/>
        </a:lnSpc>
        <a:spcBef>
          <a:spcPts val="475"/>
        </a:spcBef>
        <a:buFont typeface="Arial" panose="020B0604020202020204" pitchFamily="34" charset="0"/>
        <a:buChar char="•"/>
        <a:defRPr sz="1735" kern="1200">
          <a:solidFill>
            <a:schemeClr val="tx1"/>
          </a:solidFill>
          <a:latin typeface="+mn-lt"/>
          <a:ea typeface="+mn-ea"/>
          <a:cs typeface="+mn-cs"/>
        </a:defRPr>
      </a:lvl7pPr>
      <a:lvl8pPr marL="3251200" indent="-216535" algn="l" defTabSz="866140" rtl="0" eaLnBrk="1" latinLnBrk="0" hangingPunct="1">
        <a:lnSpc>
          <a:spcPct val="90000"/>
        </a:lnSpc>
        <a:spcBef>
          <a:spcPts val="475"/>
        </a:spcBef>
        <a:buFont typeface="Arial" panose="020B0604020202020204" pitchFamily="34" charset="0"/>
        <a:buChar char="•"/>
        <a:defRPr sz="1735" kern="1200">
          <a:solidFill>
            <a:schemeClr val="tx1"/>
          </a:solidFill>
          <a:latin typeface="+mn-lt"/>
          <a:ea typeface="+mn-ea"/>
          <a:cs typeface="+mn-cs"/>
        </a:defRPr>
      </a:lvl8pPr>
      <a:lvl9pPr marL="3684905" indent="-216535" algn="l" defTabSz="866140" rtl="0" eaLnBrk="1" latinLnBrk="0" hangingPunct="1">
        <a:lnSpc>
          <a:spcPct val="90000"/>
        </a:lnSpc>
        <a:spcBef>
          <a:spcPts val="475"/>
        </a:spcBef>
        <a:buFont typeface="Arial" panose="020B0604020202020204" pitchFamily="34" charset="0"/>
        <a:buChar char="•"/>
        <a:defRPr sz="1735" kern="1200">
          <a:solidFill>
            <a:schemeClr val="tx1"/>
          </a:solidFill>
          <a:latin typeface="+mn-lt"/>
          <a:ea typeface="+mn-ea"/>
          <a:cs typeface="+mn-cs"/>
        </a:defRPr>
      </a:lvl9pPr>
    </p:bodyStyle>
    <p:otherStyle>
      <a:defPPr>
        <a:defRPr lang="zh-CN"/>
      </a:defPPr>
      <a:lvl1pPr marL="0" algn="l" defTabSz="866140" rtl="0" eaLnBrk="1" latinLnBrk="0" hangingPunct="1">
        <a:defRPr sz="1735" kern="1200">
          <a:solidFill>
            <a:schemeClr val="tx1"/>
          </a:solidFill>
          <a:latin typeface="+mn-lt"/>
          <a:ea typeface="+mn-ea"/>
          <a:cs typeface="+mn-cs"/>
        </a:defRPr>
      </a:lvl1pPr>
      <a:lvl2pPr marL="433705" algn="l" defTabSz="866140" rtl="0" eaLnBrk="1" latinLnBrk="0" hangingPunct="1">
        <a:defRPr sz="1735" kern="1200">
          <a:solidFill>
            <a:schemeClr val="tx1"/>
          </a:solidFill>
          <a:latin typeface="+mn-lt"/>
          <a:ea typeface="+mn-ea"/>
          <a:cs typeface="+mn-cs"/>
        </a:defRPr>
      </a:lvl2pPr>
      <a:lvl3pPr marL="866775" algn="l" defTabSz="866140" rtl="0" eaLnBrk="1" latinLnBrk="0" hangingPunct="1">
        <a:defRPr sz="1735" kern="1200">
          <a:solidFill>
            <a:schemeClr val="tx1"/>
          </a:solidFill>
          <a:latin typeface="+mn-lt"/>
          <a:ea typeface="+mn-ea"/>
          <a:cs typeface="+mn-cs"/>
        </a:defRPr>
      </a:lvl3pPr>
      <a:lvl4pPr marL="1300480" algn="l" defTabSz="866140" rtl="0" eaLnBrk="1" latinLnBrk="0" hangingPunct="1">
        <a:defRPr sz="1735" kern="1200">
          <a:solidFill>
            <a:schemeClr val="tx1"/>
          </a:solidFill>
          <a:latin typeface="+mn-lt"/>
          <a:ea typeface="+mn-ea"/>
          <a:cs typeface="+mn-cs"/>
        </a:defRPr>
      </a:lvl4pPr>
      <a:lvl5pPr marL="1734185" algn="l" defTabSz="866140" rtl="0" eaLnBrk="1" latinLnBrk="0" hangingPunct="1">
        <a:defRPr sz="1735" kern="1200">
          <a:solidFill>
            <a:schemeClr val="tx1"/>
          </a:solidFill>
          <a:latin typeface="+mn-lt"/>
          <a:ea typeface="+mn-ea"/>
          <a:cs typeface="+mn-cs"/>
        </a:defRPr>
      </a:lvl5pPr>
      <a:lvl6pPr marL="2167255" algn="l" defTabSz="866140" rtl="0" eaLnBrk="1" latinLnBrk="0" hangingPunct="1">
        <a:defRPr sz="1735" kern="1200">
          <a:solidFill>
            <a:schemeClr val="tx1"/>
          </a:solidFill>
          <a:latin typeface="+mn-lt"/>
          <a:ea typeface="+mn-ea"/>
          <a:cs typeface="+mn-cs"/>
        </a:defRPr>
      </a:lvl6pPr>
      <a:lvl7pPr marL="2600960" algn="l" defTabSz="866140" rtl="0" eaLnBrk="1" latinLnBrk="0" hangingPunct="1">
        <a:defRPr sz="1735" kern="1200">
          <a:solidFill>
            <a:schemeClr val="tx1"/>
          </a:solidFill>
          <a:latin typeface="+mn-lt"/>
          <a:ea typeface="+mn-ea"/>
          <a:cs typeface="+mn-cs"/>
        </a:defRPr>
      </a:lvl7pPr>
      <a:lvl8pPr marL="3034665" algn="l" defTabSz="866140" rtl="0" eaLnBrk="1" latinLnBrk="0" hangingPunct="1">
        <a:defRPr sz="1735" kern="1200">
          <a:solidFill>
            <a:schemeClr val="tx1"/>
          </a:solidFill>
          <a:latin typeface="+mn-lt"/>
          <a:ea typeface="+mn-ea"/>
          <a:cs typeface="+mn-cs"/>
        </a:defRPr>
      </a:lvl8pPr>
      <a:lvl9pPr marL="3467735" algn="l" defTabSz="866140" rtl="0" eaLnBrk="1" latinLnBrk="0" hangingPunct="1">
        <a:defRPr sz="17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bwMode="auto">
          <a:xfrm>
            <a:off x="838200" y="366186"/>
            <a:ext cx="10515600" cy="132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5019" tIns="32509" rIns="65019" bIns="32509" numCol="1" anchor="ctr" anchorCtr="0" compatLnSpc="1"/>
          <a:lstStyle/>
          <a:p>
            <a:pPr lvl="0"/>
            <a:r>
              <a:rPr lang="zh-CN" altLang="en-US" dirty="0"/>
              <a:t>单击此处编辑母版标题样式</a:t>
            </a:r>
          </a:p>
        </p:txBody>
      </p:sp>
      <p:sp>
        <p:nvSpPr>
          <p:cNvPr id="4099" name="文本占位符 2"/>
          <p:cNvSpPr>
            <a:spLocks noGrp="1"/>
          </p:cNvSpPr>
          <p:nvPr>
            <p:ph type="body" idx="1"/>
          </p:nvPr>
        </p:nvSpPr>
        <p:spPr bwMode="auto">
          <a:xfrm>
            <a:off x="838200" y="1826685"/>
            <a:ext cx="10515600" cy="435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5019" tIns="32509" rIns="65019" bIns="32509"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3"/>
            <a:ext cx="2743200" cy="364067"/>
          </a:xfrm>
          <a:prstGeom prst="rect">
            <a:avLst/>
          </a:prstGeom>
        </p:spPr>
        <p:txBody>
          <a:bodyPr vert="horz" lIns="65019" tIns="32509" rIns="65019" bIns="32509" rtlCol="0" anchor="ctr"/>
          <a:lstStyle>
            <a:lvl1pPr algn="l" defTabSz="1218323" eaLnBrk="1" hangingPunct="1">
              <a:defRPr sz="1200">
                <a:solidFill>
                  <a:prstClr val="black">
                    <a:tint val="75000"/>
                  </a:prstClr>
                </a:solidFill>
                <a:latin typeface="+mn-lt"/>
                <a:ea typeface="+mn-ea"/>
              </a:defRPr>
            </a:lvl1pPr>
          </a:lstStyle>
          <a:p>
            <a:pPr>
              <a:defRPr/>
            </a:pPr>
            <a:fld id="{292F71EF-02F8-4FDD-93F8-D030AB7FC83F}" type="datetimeFigureOut">
              <a:rPr lang="zh-CN" altLang="en-US"/>
              <a:t>2026/9/14</a:t>
            </a:fld>
            <a:endParaRPr lang="zh-CN" altLang="en-US"/>
          </a:p>
        </p:txBody>
      </p:sp>
      <p:sp>
        <p:nvSpPr>
          <p:cNvPr id="5" name="页脚占位符 4"/>
          <p:cNvSpPr>
            <a:spLocks noGrp="1"/>
          </p:cNvSpPr>
          <p:nvPr>
            <p:ph type="ftr" sz="quarter" idx="3"/>
          </p:nvPr>
        </p:nvSpPr>
        <p:spPr>
          <a:xfrm>
            <a:off x="4038600" y="6356353"/>
            <a:ext cx="4114800" cy="364067"/>
          </a:xfrm>
          <a:prstGeom prst="rect">
            <a:avLst/>
          </a:prstGeom>
        </p:spPr>
        <p:txBody>
          <a:bodyPr vert="horz" lIns="65019" tIns="32509" rIns="65019" bIns="32509" rtlCol="0" anchor="ctr"/>
          <a:lstStyle>
            <a:lvl1pPr algn="ctr" defTabSz="1218323" eaLnBrk="1" hangingPunct="1">
              <a:defRPr sz="1200">
                <a:solidFill>
                  <a:prstClr val="black">
                    <a:tint val="75000"/>
                  </a:prst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3"/>
            <a:ext cx="2743200" cy="364067"/>
          </a:xfrm>
          <a:prstGeom prst="rect">
            <a:avLst/>
          </a:prstGeom>
        </p:spPr>
        <p:txBody>
          <a:bodyPr vert="horz" wrap="square" lIns="65019" tIns="32509" rIns="65019" bIns="32509" numCol="1" anchor="ctr" anchorCtr="0" compatLnSpc="1"/>
          <a:lstStyle>
            <a:lvl1pPr algn="r" defTabSz="1216630" eaLnBrk="1" hangingPunct="1">
              <a:defRPr sz="1200">
                <a:solidFill>
                  <a:srgbClr val="898989"/>
                </a:solidFill>
              </a:defRPr>
            </a:lvl1pPr>
          </a:lstStyle>
          <a:p>
            <a:pPr>
              <a:defRPr/>
            </a:pPr>
            <a:fld id="{D728AC88-674E-4151-AFDC-B7C47BAC839D}" type="slidenum">
              <a:rPr lang="zh-CN" altLang="en-US"/>
              <a:t>‹#›</a:t>
            </a:fld>
            <a:endParaRPr lang="zh-CN" altLang="en-US"/>
          </a:p>
        </p:txBody>
      </p:sp>
    </p:spTree>
    <p:extLst>
      <p:ext uri="{BB962C8B-B14F-4D97-AF65-F5344CB8AC3E}">
        <p14:creationId xmlns:p14="http://schemas.microsoft.com/office/powerpoint/2010/main" val="2163734079"/>
      </p:ext>
    </p:extLst>
  </p:cSld>
  <p:clrMap bg1="lt1" tx1="dk1" bg2="lt2" tx2="dk2" accent1="accent1" accent2="accent2" accent3="accent3" accent4="accent4" accent5="accent5" accent6="accent6" hlink="hlink" folHlink="folHlink"/>
  <p:sldLayoutIdLst>
    <p:sldLayoutId id="2147483676" r:id="rId1"/>
    <p:sldLayoutId id="2147483677" r:id="rId2"/>
  </p:sldLayoutIdLst>
  <p:transition spd="slow" advTm="0">
    <p:fade/>
  </p:transition>
  <p:txStyles>
    <p:titleStyle>
      <a:lvl1pPr algn="l" defTabSz="865272" rtl="0" eaLnBrk="0" fontAlgn="base" hangingPunct="0">
        <a:lnSpc>
          <a:spcPct val="90000"/>
        </a:lnSpc>
        <a:spcBef>
          <a:spcPct val="0"/>
        </a:spcBef>
        <a:spcAft>
          <a:spcPct val="0"/>
        </a:spcAft>
        <a:defRPr sz="4133" kern="1200">
          <a:solidFill>
            <a:schemeClr val="tx1"/>
          </a:solidFill>
          <a:latin typeface="Calibri" panose="020F0502020204030204" pitchFamily="34" charset="0"/>
          <a:ea typeface="+mj-ea"/>
          <a:cs typeface="+mj-cs"/>
        </a:defRPr>
      </a:lvl1pPr>
      <a:lvl2pPr algn="l" defTabSz="865272" rtl="0" eaLnBrk="0" fontAlgn="base" hangingPunct="0">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2pPr>
      <a:lvl3pPr algn="l" defTabSz="865272" rtl="0" eaLnBrk="0" fontAlgn="base" hangingPunct="0">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3pPr>
      <a:lvl4pPr algn="l" defTabSz="865272" rtl="0" eaLnBrk="0" fontAlgn="base" hangingPunct="0">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4pPr>
      <a:lvl5pPr algn="l" defTabSz="865272" rtl="0" eaLnBrk="0" fontAlgn="base" hangingPunct="0">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5pPr>
      <a:lvl6pPr marL="609585" algn="l" defTabSz="865272" rtl="0" fontAlgn="base">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6pPr>
      <a:lvl7pPr marL="1219170" algn="l" defTabSz="865272" rtl="0" fontAlgn="base">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7pPr>
      <a:lvl8pPr marL="1828754" algn="l" defTabSz="865272" rtl="0" fontAlgn="base">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8pPr>
      <a:lvl9pPr marL="2438339" algn="l" defTabSz="865272" rtl="0" fontAlgn="base">
        <a:lnSpc>
          <a:spcPct val="90000"/>
        </a:lnSpc>
        <a:spcBef>
          <a:spcPct val="0"/>
        </a:spcBef>
        <a:spcAft>
          <a:spcPct val="0"/>
        </a:spcAft>
        <a:defRPr sz="4133">
          <a:solidFill>
            <a:schemeClr val="tx1"/>
          </a:solidFill>
          <a:latin typeface="Calibri Light" panose="020F0302020204030204" pitchFamily="34" charset="0"/>
          <a:ea typeface="宋体" panose="02010600030101010101" pitchFamily="2" charset="-122"/>
        </a:defRPr>
      </a:lvl9pPr>
    </p:titleStyle>
    <p:bodyStyle>
      <a:lvl1pPr marL="215895" indent="-215895" algn="l" defTabSz="865272" rtl="0" eaLnBrk="0" fontAlgn="base" hangingPunct="0">
        <a:lnSpc>
          <a:spcPct val="90000"/>
        </a:lnSpc>
        <a:spcBef>
          <a:spcPts val="953"/>
        </a:spcBef>
        <a:spcAft>
          <a:spcPct val="0"/>
        </a:spcAft>
        <a:buFont typeface="Arial" panose="020B0604020202020204" pitchFamily="34" charset="0"/>
        <a:buChar char="•"/>
        <a:defRPr sz="2667" kern="1200">
          <a:solidFill>
            <a:schemeClr val="tx1"/>
          </a:solidFill>
          <a:latin typeface="+mn-lt"/>
          <a:ea typeface="+mn-ea"/>
          <a:cs typeface="+mn-cs"/>
        </a:defRPr>
      </a:lvl1pPr>
      <a:lvl2pPr marL="650224" indent="-215895" algn="l" defTabSz="865272" rtl="0" eaLnBrk="0" fontAlgn="base" hangingPunct="0">
        <a:lnSpc>
          <a:spcPct val="90000"/>
        </a:lnSpc>
        <a:spcBef>
          <a:spcPts val="467"/>
        </a:spcBef>
        <a:spcAft>
          <a:spcPct val="0"/>
        </a:spcAft>
        <a:buFont typeface="Arial" panose="020B0604020202020204" pitchFamily="34" charset="0"/>
        <a:buChar char="•"/>
        <a:defRPr sz="2267" kern="1200">
          <a:solidFill>
            <a:schemeClr val="tx1"/>
          </a:solidFill>
          <a:latin typeface="+mn-lt"/>
          <a:ea typeface="+mn-ea"/>
          <a:cs typeface="+mn-cs"/>
        </a:defRPr>
      </a:lvl2pPr>
      <a:lvl3pPr marL="1082013" indent="-215895" algn="l" defTabSz="865272" rtl="0" eaLnBrk="0" fontAlgn="base" hangingPunct="0">
        <a:lnSpc>
          <a:spcPct val="90000"/>
        </a:lnSpc>
        <a:spcBef>
          <a:spcPts val="467"/>
        </a:spcBef>
        <a:spcAft>
          <a:spcPct val="0"/>
        </a:spcAft>
        <a:buFont typeface="Arial" panose="020B0604020202020204" pitchFamily="34" charset="0"/>
        <a:buChar char="•"/>
        <a:defRPr sz="1867" kern="1200">
          <a:solidFill>
            <a:schemeClr val="tx1"/>
          </a:solidFill>
          <a:latin typeface="+mn-lt"/>
          <a:ea typeface="+mn-ea"/>
          <a:cs typeface="+mn-cs"/>
        </a:defRPr>
      </a:lvl3pPr>
      <a:lvl4pPr marL="1515495" indent="-215895" algn="l" defTabSz="865272" rtl="0" eaLnBrk="0" fontAlgn="base" hangingPunct="0">
        <a:lnSpc>
          <a:spcPct val="90000"/>
        </a:lnSpc>
        <a:spcBef>
          <a:spcPts val="467"/>
        </a:spcBef>
        <a:spcAft>
          <a:spcPct val="0"/>
        </a:spcAft>
        <a:buFont typeface="Arial" panose="020B0604020202020204" pitchFamily="34" charset="0"/>
        <a:buChar char="•"/>
        <a:defRPr sz="1733" kern="1200">
          <a:solidFill>
            <a:schemeClr val="tx1"/>
          </a:solidFill>
          <a:latin typeface="+mn-lt"/>
          <a:ea typeface="+mn-ea"/>
          <a:cs typeface="+mn-cs"/>
        </a:defRPr>
      </a:lvl4pPr>
      <a:lvl5pPr marL="1949825" indent="-215895" algn="l" defTabSz="865272" rtl="0" eaLnBrk="0" fontAlgn="base" hangingPunct="0">
        <a:lnSpc>
          <a:spcPct val="90000"/>
        </a:lnSpc>
        <a:spcBef>
          <a:spcPts val="467"/>
        </a:spcBef>
        <a:spcAft>
          <a:spcPct val="0"/>
        </a:spcAft>
        <a:buFont typeface="Arial" panose="020B0604020202020204" pitchFamily="34" charset="0"/>
        <a:buChar char="•"/>
        <a:defRPr sz="1733" kern="1200">
          <a:solidFill>
            <a:schemeClr val="tx1"/>
          </a:solidFill>
          <a:latin typeface="+mn-lt"/>
          <a:ea typeface="+mn-ea"/>
          <a:cs typeface="+mn-cs"/>
        </a:defRPr>
      </a:lvl5pPr>
      <a:lvl6pPr marL="2384154" indent="-216741" algn="l" defTabSz="866118" rtl="0" eaLnBrk="1" latinLnBrk="0" hangingPunct="1">
        <a:lnSpc>
          <a:spcPct val="90000"/>
        </a:lnSpc>
        <a:spcBef>
          <a:spcPts val="473"/>
        </a:spcBef>
        <a:buFont typeface="Arial" panose="020B0604020202020204" pitchFamily="34" charset="0"/>
        <a:buChar char="•"/>
        <a:defRPr sz="1733" kern="1200">
          <a:solidFill>
            <a:schemeClr val="tx1"/>
          </a:solidFill>
          <a:latin typeface="+mn-lt"/>
          <a:ea typeface="+mn-ea"/>
          <a:cs typeface="+mn-cs"/>
        </a:defRPr>
      </a:lvl6pPr>
      <a:lvl7pPr marL="2817636" indent="-216741" algn="l" defTabSz="866118" rtl="0" eaLnBrk="1" latinLnBrk="0" hangingPunct="1">
        <a:lnSpc>
          <a:spcPct val="90000"/>
        </a:lnSpc>
        <a:spcBef>
          <a:spcPts val="473"/>
        </a:spcBef>
        <a:buFont typeface="Arial" panose="020B0604020202020204" pitchFamily="34" charset="0"/>
        <a:buChar char="•"/>
        <a:defRPr sz="1733" kern="1200">
          <a:solidFill>
            <a:schemeClr val="tx1"/>
          </a:solidFill>
          <a:latin typeface="+mn-lt"/>
          <a:ea typeface="+mn-ea"/>
          <a:cs typeface="+mn-cs"/>
        </a:defRPr>
      </a:lvl7pPr>
      <a:lvl8pPr marL="3251119" indent="-216741" algn="l" defTabSz="866118" rtl="0" eaLnBrk="1" latinLnBrk="0" hangingPunct="1">
        <a:lnSpc>
          <a:spcPct val="90000"/>
        </a:lnSpc>
        <a:spcBef>
          <a:spcPts val="473"/>
        </a:spcBef>
        <a:buFont typeface="Arial" panose="020B0604020202020204" pitchFamily="34" charset="0"/>
        <a:buChar char="•"/>
        <a:defRPr sz="1733" kern="1200">
          <a:solidFill>
            <a:schemeClr val="tx1"/>
          </a:solidFill>
          <a:latin typeface="+mn-lt"/>
          <a:ea typeface="+mn-ea"/>
          <a:cs typeface="+mn-cs"/>
        </a:defRPr>
      </a:lvl8pPr>
      <a:lvl9pPr marL="3684601" indent="-216741" algn="l" defTabSz="866118" rtl="0" eaLnBrk="1" latinLnBrk="0" hangingPunct="1">
        <a:lnSpc>
          <a:spcPct val="90000"/>
        </a:lnSpc>
        <a:spcBef>
          <a:spcPts val="473"/>
        </a:spcBef>
        <a:buFont typeface="Arial" panose="020B0604020202020204" pitchFamily="34" charset="0"/>
        <a:buChar char="•"/>
        <a:defRPr sz="1733" kern="1200">
          <a:solidFill>
            <a:schemeClr val="tx1"/>
          </a:solidFill>
          <a:latin typeface="+mn-lt"/>
          <a:ea typeface="+mn-ea"/>
          <a:cs typeface="+mn-cs"/>
        </a:defRPr>
      </a:lvl9pPr>
    </p:bodyStyle>
    <p:otherStyle>
      <a:defPPr>
        <a:defRPr lang="zh-CN"/>
      </a:defPPr>
      <a:lvl1pPr marL="0" algn="l" defTabSz="866118" rtl="0" eaLnBrk="1" latinLnBrk="0" hangingPunct="1">
        <a:defRPr sz="1733" kern="1200">
          <a:solidFill>
            <a:schemeClr val="tx1"/>
          </a:solidFill>
          <a:latin typeface="+mn-lt"/>
          <a:ea typeface="+mn-ea"/>
          <a:cs typeface="+mn-cs"/>
        </a:defRPr>
      </a:lvl1pPr>
      <a:lvl2pPr marL="433482" algn="l" defTabSz="866118" rtl="0" eaLnBrk="1" latinLnBrk="0" hangingPunct="1">
        <a:defRPr sz="1733" kern="1200">
          <a:solidFill>
            <a:schemeClr val="tx1"/>
          </a:solidFill>
          <a:latin typeface="+mn-lt"/>
          <a:ea typeface="+mn-ea"/>
          <a:cs typeface="+mn-cs"/>
        </a:defRPr>
      </a:lvl2pPr>
      <a:lvl3pPr marL="866965" algn="l" defTabSz="866118" rtl="0" eaLnBrk="1" latinLnBrk="0" hangingPunct="1">
        <a:defRPr sz="1733" kern="1200">
          <a:solidFill>
            <a:schemeClr val="tx1"/>
          </a:solidFill>
          <a:latin typeface="+mn-lt"/>
          <a:ea typeface="+mn-ea"/>
          <a:cs typeface="+mn-cs"/>
        </a:defRPr>
      </a:lvl3pPr>
      <a:lvl4pPr marL="1300447" algn="l" defTabSz="866118" rtl="0" eaLnBrk="1" latinLnBrk="0" hangingPunct="1">
        <a:defRPr sz="1733" kern="1200">
          <a:solidFill>
            <a:schemeClr val="tx1"/>
          </a:solidFill>
          <a:latin typeface="+mn-lt"/>
          <a:ea typeface="+mn-ea"/>
          <a:cs typeface="+mn-cs"/>
        </a:defRPr>
      </a:lvl4pPr>
      <a:lvl5pPr marL="1733930" algn="l" defTabSz="866118" rtl="0" eaLnBrk="1" latinLnBrk="0" hangingPunct="1">
        <a:defRPr sz="1733" kern="1200">
          <a:solidFill>
            <a:schemeClr val="tx1"/>
          </a:solidFill>
          <a:latin typeface="+mn-lt"/>
          <a:ea typeface="+mn-ea"/>
          <a:cs typeface="+mn-cs"/>
        </a:defRPr>
      </a:lvl5pPr>
      <a:lvl6pPr marL="2167412" algn="l" defTabSz="866118" rtl="0" eaLnBrk="1" latinLnBrk="0" hangingPunct="1">
        <a:defRPr sz="1733" kern="1200">
          <a:solidFill>
            <a:schemeClr val="tx1"/>
          </a:solidFill>
          <a:latin typeface="+mn-lt"/>
          <a:ea typeface="+mn-ea"/>
          <a:cs typeface="+mn-cs"/>
        </a:defRPr>
      </a:lvl6pPr>
      <a:lvl7pPr marL="2600895" algn="l" defTabSz="866118" rtl="0" eaLnBrk="1" latinLnBrk="0" hangingPunct="1">
        <a:defRPr sz="1733" kern="1200">
          <a:solidFill>
            <a:schemeClr val="tx1"/>
          </a:solidFill>
          <a:latin typeface="+mn-lt"/>
          <a:ea typeface="+mn-ea"/>
          <a:cs typeface="+mn-cs"/>
        </a:defRPr>
      </a:lvl7pPr>
      <a:lvl8pPr marL="3034377" algn="l" defTabSz="866118" rtl="0" eaLnBrk="1" latinLnBrk="0" hangingPunct="1">
        <a:defRPr sz="1733" kern="1200">
          <a:solidFill>
            <a:schemeClr val="tx1"/>
          </a:solidFill>
          <a:latin typeface="+mn-lt"/>
          <a:ea typeface="+mn-ea"/>
          <a:cs typeface="+mn-cs"/>
        </a:defRPr>
      </a:lvl8pPr>
      <a:lvl9pPr marL="3467860" algn="l" defTabSz="866118" rtl="0" eaLnBrk="1" latinLnBrk="0" hangingPunct="1">
        <a:defRPr sz="17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2.xml"/><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image" Target="../media/image21.png"/><Relationship Id="rId4" Type="http://schemas.openxmlformats.org/officeDocument/2006/relationships/tags" Target="../tags/tag8.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21.xml"/><Relationship Id="rId5" Type="http://schemas.openxmlformats.org/officeDocument/2006/relationships/slideLayout" Target="../slideLayouts/slideLayout3.xml"/><Relationship Id="rId4" Type="http://schemas.openxmlformats.org/officeDocument/2006/relationships/tags" Target="../tags/tag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0" y="1513114"/>
            <a:ext cx="12192000" cy="2376715"/>
          </a:xfrm>
          <a:prstGeom prst="rect">
            <a:avLst/>
          </a:prstGeom>
          <a:gradFill flip="none"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endParaRPr lang="zh-CN" altLang="en-US" kern="0">
              <a:solidFill>
                <a:srgbClr val="FFFFFF"/>
              </a:solidFill>
              <a:latin typeface="等线" panose="02010600030101010101" charset="-122"/>
            </a:endParaRPr>
          </a:p>
        </p:txBody>
      </p:sp>
      <p:sp>
        <p:nvSpPr>
          <p:cNvPr id="15" name="标题 8"/>
          <p:cNvSpPr txBox="1"/>
          <p:nvPr/>
        </p:nvSpPr>
        <p:spPr>
          <a:xfrm>
            <a:off x="4514780" y="4423381"/>
            <a:ext cx="3283986" cy="624044"/>
          </a:xfrm>
          <a:prstGeom prst="rect">
            <a:avLst/>
          </a:prstGeom>
        </p:spPr>
        <p:txBody>
          <a:bodyPr anchor="ctr">
            <a:noAutofit/>
          </a:bodyPr>
          <a:lstStyle>
            <a:lvl1pPr algn="ctr" defTabSz="914400" rtl="0" eaLnBrk="1" latinLnBrk="0" hangingPunct="1">
              <a:lnSpc>
                <a:spcPct val="90000"/>
              </a:lnSpc>
              <a:spcBef>
                <a:spcPct val="0"/>
              </a:spcBef>
              <a:buNone/>
              <a:defRPr sz="5400" b="1" kern="1200">
                <a:solidFill>
                  <a:schemeClr val="accent1"/>
                </a:solidFill>
                <a:latin typeface="+mj-lt"/>
                <a:ea typeface="+mj-ea"/>
                <a:cs typeface="+mj-cs"/>
              </a:defRPr>
            </a:lvl1pPr>
          </a:lstStyle>
          <a:p>
            <a:pPr lvl="0">
              <a:lnSpc>
                <a:spcPct val="110000"/>
              </a:lnSpc>
              <a:spcBef>
                <a:spcPts val="0"/>
              </a:spcBef>
            </a:pPr>
            <a:r>
              <a:rPr kumimoji="0" lang="zh-CN" altLang="en-US" sz="2800" i="0" u="none" strike="noStrike" kern="1200" cap="none" normalizeH="0" baseline="0" noProof="0" dirty="0">
                <a:ln>
                  <a:noFill/>
                </a:ln>
                <a:solidFill>
                  <a:schemeClr val="tx1"/>
                </a:solidFill>
                <a:effectLst/>
                <a:uLnTx/>
                <a:uFillTx/>
                <a:latin typeface="汉仪文润宋韵 U" pitchFamily="2" charset="-122"/>
                <a:ea typeface="汉仪文润宋韵 U" pitchFamily="2" charset="-122"/>
              </a:rPr>
              <a:t>导师：谢里阳 教授</a:t>
            </a:r>
          </a:p>
        </p:txBody>
      </p:sp>
      <p:sp>
        <p:nvSpPr>
          <p:cNvPr id="17" name="标题 8"/>
          <p:cNvSpPr txBox="1"/>
          <p:nvPr/>
        </p:nvSpPr>
        <p:spPr>
          <a:xfrm>
            <a:off x="4514780" y="5882312"/>
            <a:ext cx="3283986" cy="624044"/>
          </a:xfrm>
          <a:prstGeom prst="rect">
            <a:avLst/>
          </a:prstGeom>
        </p:spPr>
        <p:txBody>
          <a:bodyPr anchor="ctr">
            <a:noAutofit/>
          </a:bodyPr>
          <a:lstStyle>
            <a:lvl1pPr algn="ctr" defTabSz="914400" rtl="0" eaLnBrk="1" latinLnBrk="0" hangingPunct="1">
              <a:lnSpc>
                <a:spcPct val="90000"/>
              </a:lnSpc>
              <a:spcBef>
                <a:spcPct val="0"/>
              </a:spcBef>
              <a:buNone/>
              <a:defRPr sz="5400" b="1" kern="1200">
                <a:solidFill>
                  <a:schemeClr val="accent1"/>
                </a:solidFill>
                <a:latin typeface="+mj-lt"/>
                <a:ea typeface="+mj-ea"/>
                <a:cs typeface="+mj-cs"/>
              </a:defRPr>
            </a:lvl1pPr>
          </a:lstStyle>
          <a:p>
            <a:pPr>
              <a:lnSpc>
                <a:spcPct val="110000"/>
              </a:lnSpc>
              <a:spcBef>
                <a:spcPts val="0"/>
              </a:spcBef>
            </a:pPr>
            <a:r>
              <a:rPr lang="en-US" altLang="zh-CN" sz="2400" spc="300" dirty="0">
                <a:solidFill>
                  <a:schemeClr val="tx1"/>
                </a:solidFill>
                <a:latin typeface="汉仪文润宋韵 U" pitchFamily="2" charset="-122"/>
                <a:ea typeface="汉仪文润宋韵 U" pitchFamily="2" charset="-122"/>
              </a:rPr>
              <a:t>2026.09.14</a:t>
            </a:r>
            <a:endParaRPr lang="zh-CN" altLang="en-US" sz="2400" spc="300" dirty="0">
              <a:solidFill>
                <a:schemeClr val="tx1"/>
              </a:solidFill>
              <a:latin typeface="汉仪文润宋韵 U" pitchFamily="2" charset="-122"/>
              <a:ea typeface="汉仪文润宋韵 U" pitchFamily="2" charset="-122"/>
            </a:endParaRPr>
          </a:p>
        </p:txBody>
      </p:sp>
      <p:cxnSp>
        <p:nvCxnSpPr>
          <p:cNvPr id="64" name="直接连接符 63"/>
          <p:cNvCxnSpPr/>
          <p:nvPr/>
        </p:nvCxnSpPr>
        <p:spPr>
          <a:xfrm>
            <a:off x="0" y="4007608"/>
            <a:ext cx="12975771" cy="0"/>
          </a:xfrm>
          <a:prstGeom prst="line">
            <a:avLst/>
          </a:prstGeom>
          <a:noFill/>
          <a:ln w="25400">
            <a:gradFill flip="none"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2" name="标题 8"/>
          <p:cNvSpPr txBox="1"/>
          <p:nvPr/>
        </p:nvSpPr>
        <p:spPr>
          <a:xfrm>
            <a:off x="161706" y="1887437"/>
            <a:ext cx="11932078" cy="1613551"/>
          </a:xfrm>
          <a:prstGeom prst="rect">
            <a:avLst/>
          </a:prstGeom>
        </p:spPr>
        <p:txBody>
          <a:bodyPr anchor="ctr">
            <a:noAutofit/>
          </a:bodyPr>
          <a:lstStyle>
            <a:lvl1pPr algn="ctr" defTabSz="914400" rtl="0" eaLnBrk="1" latinLnBrk="0" hangingPunct="1">
              <a:lnSpc>
                <a:spcPct val="90000"/>
              </a:lnSpc>
              <a:spcBef>
                <a:spcPct val="0"/>
              </a:spcBef>
              <a:buNone/>
              <a:defRPr sz="5400" b="1" kern="1200">
                <a:solidFill>
                  <a:schemeClr val="accent1"/>
                </a:solidFill>
                <a:latin typeface="+mj-lt"/>
                <a:ea typeface="+mj-ea"/>
                <a:cs typeface="+mj-cs"/>
              </a:defRPr>
            </a:lvl1pPr>
          </a:lstStyle>
          <a:p>
            <a:pPr lvl="0">
              <a:lnSpc>
                <a:spcPct val="125000"/>
              </a:lnSpc>
              <a:spcBef>
                <a:spcPts val="0"/>
              </a:spcBef>
            </a:pPr>
            <a:r>
              <a:rPr lang="zh-CN" altLang="en-US" sz="4800" dirty="0">
                <a:solidFill>
                  <a:schemeClr val="bg1"/>
                </a:solidFill>
                <a:latin typeface="汉仪文润宋韵 U" pitchFamily="2" charset="-122"/>
                <a:ea typeface="汉仪文润宋韵 U" pitchFamily="2" charset="-122"/>
              </a:rPr>
              <a:t>科协</a:t>
            </a:r>
            <a:r>
              <a:rPr kumimoji="0" lang="zh-CN" altLang="en-US" sz="4800" i="0" u="none" strike="noStrike" kern="1200" cap="none" spc="0" normalizeH="0" baseline="0" noProof="0" dirty="0">
                <a:ln>
                  <a:noFill/>
                </a:ln>
                <a:solidFill>
                  <a:schemeClr val="bg1"/>
                </a:solidFill>
                <a:effectLst/>
                <a:uLnTx/>
                <a:uFillTx/>
                <a:latin typeface="汉仪文润宋韵 U" pitchFamily="2" charset="-122"/>
                <a:ea typeface="汉仪文润宋韵 U" pitchFamily="2" charset="-122"/>
              </a:rPr>
              <a:t>博士生专项计划答辩</a:t>
            </a:r>
          </a:p>
        </p:txBody>
      </p:sp>
      <p:sp>
        <p:nvSpPr>
          <p:cNvPr id="3" name="标题 8">
            <a:extLst>
              <a:ext uri="{FF2B5EF4-FFF2-40B4-BE49-F238E27FC236}">
                <a16:creationId xmlns:a16="http://schemas.microsoft.com/office/drawing/2014/main" id="{CEE01246-FDA5-2CF1-23DA-EC920C44D01D}"/>
              </a:ext>
            </a:extLst>
          </p:cNvPr>
          <p:cNvSpPr txBox="1"/>
          <p:nvPr/>
        </p:nvSpPr>
        <p:spPr>
          <a:xfrm>
            <a:off x="4514780" y="4945171"/>
            <a:ext cx="3283986" cy="624044"/>
          </a:xfrm>
          <a:prstGeom prst="rect">
            <a:avLst/>
          </a:prstGeom>
        </p:spPr>
        <p:txBody>
          <a:bodyPr anchor="ctr">
            <a:noAutofit/>
          </a:bodyPr>
          <a:lstStyle>
            <a:lvl1pPr algn="ctr" defTabSz="914400" rtl="0" eaLnBrk="1" latinLnBrk="0" hangingPunct="1">
              <a:lnSpc>
                <a:spcPct val="90000"/>
              </a:lnSpc>
              <a:spcBef>
                <a:spcPct val="0"/>
              </a:spcBef>
              <a:buNone/>
              <a:defRPr sz="5400" b="1" kern="1200">
                <a:solidFill>
                  <a:schemeClr val="accent1"/>
                </a:solidFill>
                <a:latin typeface="+mj-lt"/>
                <a:ea typeface="+mj-ea"/>
                <a:cs typeface="+mj-cs"/>
              </a:defRPr>
            </a:lvl1pPr>
          </a:lstStyle>
          <a:p>
            <a:pPr lvl="0">
              <a:lnSpc>
                <a:spcPct val="110000"/>
              </a:lnSpc>
              <a:spcBef>
                <a:spcPts val="0"/>
              </a:spcBef>
            </a:pPr>
            <a:r>
              <a:rPr kumimoji="0" lang="zh-CN" altLang="en-US" sz="2800" i="0" u="none" strike="noStrike" kern="1200" cap="none" normalizeH="0" baseline="0" noProof="0" dirty="0">
                <a:ln>
                  <a:noFill/>
                </a:ln>
                <a:solidFill>
                  <a:schemeClr val="tx1"/>
                </a:solidFill>
                <a:effectLst/>
                <a:uLnTx/>
                <a:uFillTx/>
                <a:latin typeface="汉仪文润宋韵 U" pitchFamily="2" charset="-122"/>
                <a:ea typeface="汉仪文润宋韵 U" pitchFamily="2" charset="-122"/>
              </a:rPr>
              <a:t>汇报人：魏鹏宇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A2DE-4BE6-B812-DC10-2B87CF347383}"/>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A542399B-F72C-D38B-F936-651F0527D7EE}"/>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学历背景同时覆盖控制、材料和机械</a:t>
            </a:r>
          </a:p>
        </p:txBody>
      </p:sp>
      <p:sp>
        <p:nvSpPr>
          <p:cNvPr id="12" name="文本框 11">
            <a:extLst>
              <a:ext uri="{FF2B5EF4-FFF2-40B4-BE49-F238E27FC236}">
                <a16:creationId xmlns:a16="http://schemas.microsoft.com/office/drawing/2014/main" id="{2783B346-1F31-B6F9-A52E-C5062E3A9446}"/>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13" name="直接连接符 12">
            <a:extLst>
              <a:ext uri="{FF2B5EF4-FFF2-40B4-BE49-F238E27FC236}">
                <a16:creationId xmlns:a16="http://schemas.microsoft.com/office/drawing/2014/main" id="{A02126AF-8720-6AB6-7A22-44DFAFA40C34}"/>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4E9377CF-96A0-AEF6-EA90-9093396BD3D9}"/>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
        <p:nvSpPr>
          <p:cNvPr id="6" name="矩形: 圆角 5">
            <a:extLst>
              <a:ext uri="{FF2B5EF4-FFF2-40B4-BE49-F238E27FC236}">
                <a16:creationId xmlns:a16="http://schemas.microsoft.com/office/drawing/2014/main" id="{DC93167D-7631-0FCE-D8A4-0C53636FA924}"/>
              </a:ext>
            </a:extLst>
          </p:cNvPr>
          <p:cNvSpPr/>
          <p:nvPr/>
        </p:nvSpPr>
        <p:spPr>
          <a:xfrm>
            <a:off x="339321" y="1789241"/>
            <a:ext cx="5807684" cy="4446306"/>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矩形 6">
            <a:extLst>
              <a:ext uri="{FF2B5EF4-FFF2-40B4-BE49-F238E27FC236}">
                <a16:creationId xmlns:a16="http://schemas.microsoft.com/office/drawing/2014/main" id="{28FA6E78-858C-3946-817D-049FBB02275F}"/>
              </a:ext>
            </a:extLst>
          </p:cNvPr>
          <p:cNvSpPr/>
          <p:nvPr/>
        </p:nvSpPr>
        <p:spPr>
          <a:xfrm>
            <a:off x="523852" y="1541493"/>
            <a:ext cx="1509431" cy="44192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35224CC5-9C1C-5789-72A1-36BE82ADFFCE}"/>
              </a:ext>
            </a:extLst>
          </p:cNvPr>
          <p:cNvSpPr txBox="1"/>
          <p:nvPr/>
        </p:nvSpPr>
        <p:spPr>
          <a:xfrm>
            <a:off x="4313683" y="2461074"/>
            <a:ext cx="827715" cy="276999"/>
          </a:xfrm>
          <a:prstGeom prst="rect">
            <a:avLst/>
          </a:prstGeom>
          <a:noFill/>
        </p:spPr>
        <p:txBody>
          <a:bodyPr wrap="square">
            <a:spAutoFit/>
          </a:bodyPr>
          <a:lstStyle/>
          <a:p>
            <a:pPr defTabSz="457200" fontAlgn="auto">
              <a:spcBef>
                <a:spcPts val="0"/>
              </a:spcBef>
              <a:spcAft>
                <a:spcPts val="0"/>
              </a:spcAft>
            </a:pPr>
            <a:r>
              <a:rPr kumimoji="0" lang="zh-CN" altLang="en-US" sz="1200" b="0" dirty="0">
                <a:solidFill>
                  <a:prstClr val="black"/>
                </a:solidFill>
                <a:latin typeface="汉仪粗宋简" panose="02010600000101010101" pitchFamily="2" charset="-122"/>
                <a:ea typeface="汉仪粗宋简" panose="02010600000101010101" pitchFamily="2" charset="-122"/>
                <a:cs typeface="Times New Roman" panose="02020603050405020304" pitchFamily="18" charset="0"/>
              </a:rPr>
              <a:t>本科</a:t>
            </a:r>
          </a:p>
        </p:txBody>
      </p:sp>
      <p:sp>
        <p:nvSpPr>
          <p:cNvPr id="29" name="文本框 28">
            <a:extLst>
              <a:ext uri="{FF2B5EF4-FFF2-40B4-BE49-F238E27FC236}">
                <a16:creationId xmlns:a16="http://schemas.microsoft.com/office/drawing/2014/main" id="{48155B6B-C312-4F76-C513-277011408326}"/>
              </a:ext>
            </a:extLst>
          </p:cNvPr>
          <p:cNvSpPr txBox="1"/>
          <p:nvPr/>
        </p:nvSpPr>
        <p:spPr>
          <a:xfrm>
            <a:off x="523852" y="1615831"/>
            <a:ext cx="1835810" cy="461665"/>
          </a:xfrm>
          <a:prstGeom prst="rect">
            <a:avLst/>
          </a:prstGeom>
          <a:noFill/>
        </p:spPr>
        <p:txBody>
          <a:bodyPr wrap="square" rtlCol="0">
            <a:spAutoFit/>
          </a:bodyPr>
          <a:lstStyle/>
          <a:p>
            <a:pPr defTabSz="457200" fontAlgn="auto">
              <a:spcBef>
                <a:spcPts val="0"/>
              </a:spcBef>
              <a:spcAft>
                <a:spcPts val="0"/>
              </a:spcAft>
            </a:pPr>
            <a:r>
              <a:rPr kumimoji="0" lang="en-US" altLang="zh-CN" dirty="0">
                <a:solidFill>
                  <a:srgbClr val="E7E6E6"/>
                </a:solidFill>
                <a:latin typeface="Times New Roman" panose="02020603050405020304" pitchFamily="18" charset="0"/>
                <a:ea typeface="等线" panose="02010600030101010101" pitchFamily="2" charset="-122"/>
                <a:cs typeface="Times New Roman" panose="02020603050405020304" pitchFamily="18" charset="0"/>
              </a:rPr>
              <a:t>E</a:t>
            </a:r>
            <a:r>
              <a:rPr kumimoji="0" lang="en-US" altLang="zh-CN" sz="1800" dirty="0">
                <a:solidFill>
                  <a:srgbClr val="E7E6E6"/>
                </a:solidFill>
                <a:latin typeface="Times New Roman" panose="02020603050405020304" pitchFamily="18" charset="0"/>
                <a:ea typeface="等线" panose="02010600030101010101" pitchFamily="2" charset="-122"/>
                <a:cs typeface="Times New Roman" panose="02020603050405020304" pitchFamily="18" charset="0"/>
              </a:rPr>
              <a:t>DUCATION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D50231F-2C46-0A36-00C6-8E4728775775}"/>
              </a:ext>
            </a:extLst>
          </p:cNvPr>
          <p:cNvSpPr txBox="1"/>
          <p:nvPr/>
        </p:nvSpPr>
        <p:spPr>
          <a:xfrm>
            <a:off x="646611" y="2406773"/>
            <a:ext cx="1634606" cy="338554"/>
          </a:xfrm>
          <a:prstGeom prst="rect">
            <a:avLst/>
          </a:prstGeom>
          <a:noFill/>
        </p:spPr>
        <p:txBody>
          <a:bodyPr wrap="square" rtlCol="0">
            <a:spAutoFit/>
          </a:bodyPr>
          <a:lstStyle/>
          <a:p>
            <a:pPr defTabSz="457200" fontAlgn="auto">
              <a:spcBef>
                <a:spcPts val="0"/>
              </a:spcBef>
              <a:spcAft>
                <a:spcPts val="0"/>
              </a:spcAft>
            </a:pPr>
            <a:r>
              <a:rPr kumimoji="0" lang="en-US" altLang="zh-CN"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东北大学</a:t>
            </a:r>
          </a:p>
        </p:txBody>
      </p:sp>
      <p:sp>
        <p:nvSpPr>
          <p:cNvPr id="31" name="文本框 30">
            <a:extLst>
              <a:ext uri="{FF2B5EF4-FFF2-40B4-BE49-F238E27FC236}">
                <a16:creationId xmlns:a16="http://schemas.microsoft.com/office/drawing/2014/main" id="{0F881E20-A507-AC94-CDD8-248550ADE69C}"/>
              </a:ext>
            </a:extLst>
          </p:cNvPr>
          <p:cNvSpPr txBox="1"/>
          <p:nvPr/>
        </p:nvSpPr>
        <p:spPr>
          <a:xfrm>
            <a:off x="765627" y="2807011"/>
            <a:ext cx="3204389" cy="276999"/>
          </a:xfrm>
          <a:prstGeom prst="rect">
            <a:avLst/>
          </a:prstGeom>
          <a:noFill/>
        </p:spPr>
        <p:txBody>
          <a:bodyPr wrap="square">
            <a:spAutoFit/>
          </a:bodyPr>
          <a:lstStyle/>
          <a:p>
            <a:pPr defTabSz="457200" fontAlgn="auto">
              <a:spcBef>
                <a:spcPts val="0"/>
              </a:spcBef>
              <a:spcAft>
                <a:spcPts val="0"/>
              </a:spcAft>
            </a:pP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信息科学与工程学院</a:t>
            </a:r>
            <a:r>
              <a:rPr kumimoji="0" lang="en-US" altLang="zh-CN" sz="1200" dirty="0">
                <a:solidFill>
                  <a:srgbClr val="4472C4">
                    <a:lumMod val="75000"/>
                  </a:srgbClr>
                </a:solidFill>
                <a:latin typeface="微软雅黑" panose="020B0503020204020204" pitchFamily="34" charset="-122"/>
                <a:ea typeface="微软雅黑" panose="020B0503020204020204" pitchFamily="34" charset="-122"/>
                <a:cs typeface="+mn-cs"/>
              </a:rPr>
              <a:t>--</a:t>
            </a: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测控技术与仪器</a:t>
            </a:r>
          </a:p>
        </p:txBody>
      </p:sp>
      <p:sp>
        <p:nvSpPr>
          <p:cNvPr id="32" name="文本框 31">
            <a:extLst>
              <a:ext uri="{FF2B5EF4-FFF2-40B4-BE49-F238E27FC236}">
                <a16:creationId xmlns:a16="http://schemas.microsoft.com/office/drawing/2014/main" id="{108B378B-B270-CA46-26D1-6608394679B2}"/>
              </a:ext>
            </a:extLst>
          </p:cNvPr>
          <p:cNvSpPr txBox="1"/>
          <p:nvPr/>
        </p:nvSpPr>
        <p:spPr>
          <a:xfrm>
            <a:off x="4313683" y="2818066"/>
            <a:ext cx="1732301" cy="276999"/>
          </a:xfrm>
          <a:prstGeom prst="rect">
            <a:avLst/>
          </a:prstGeom>
          <a:noFill/>
        </p:spPr>
        <p:txBody>
          <a:bodyPr wrap="square">
            <a:spAutoFit/>
          </a:bodyPr>
          <a:lstStyle/>
          <a:p>
            <a:pPr defTabSz="457200" fontAlgn="auto">
              <a:spcBef>
                <a:spcPts val="0"/>
              </a:spcBef>
              <a:spcAft>
                <a:spcPts val="0"/>
              </a:spcAft>
            </a:pPr>
            <a:r>
              <a:rPr kumimoji="0" lang="en-US" altLang="zh-CN" sz="1200" b="0" i="1" dirty="0">
                <a:solidFill>
                  <a:prstClr val="black"/>
                </a:solidFill>
                <a:latin typeface="Perpetua" panose="02020502060401020303" pitchFamily="18" charset="0"/>
                <a:ea typeface="等线" panose="02010600030101010101" pitchFamily="2" charset="-122"/>
                <a:cs typeface="+mn-cs"/>
              </a:rPr>
              <a:t>2017.9--2021.7</a:t>
            </a:r>
            <a:endParaRPr kumimoji="0" lang="zh-CN" altLang="en-US" sz="1200" b="0" i="1" dirty="0">
              <a:solidFill>
                <a:prstClr val="black"/>
              </a:solidFill>
              <a:latin typeface="Perpetua" panose="02020502060401020303" pitchFamily="18" charset="0"/>
              <a:ea typeface="等线" panose="02010600030101010101" pitchFamily="2" charset="-122"/>
              <a:cs typeface="+mn-cs"/>
            </a:endParaRPr>
          </a:p>
        </p:txBody>
      </p:sp>
      <p:sp>
        <p:nvSpPr>
          <p:cNvPr id="33" name="文本框 32">
            <a:extLst>
              <a:ext uri="{FF2B5EF4-FFF2-40B4-BE49-F238E27FC236}">
                <a16:creationId xmlns:a16="http://schemas.microsoft.com/office/drawing/2014/main" id="{C764BAC2-AC06-7C3A-3684-38E70460CA51}"/>
              </a:ext>
            </a:extLst>
          </p:cNvPr>
          <p:cNvSpPr txBox="1"/>
          <p:nvPr/>
        </p:nvSpPr>
        <p:spPr>
          <a:xfrm>
            <a:off x="4313683" y="3677693"/>
            <a:ext cx="1211117" cy="276999"/>
          </a:xfrm>
          <a:prstGeom prst="rect">
            <a:avLst/>
          </a:prstGeom>
          <a:noFill/>
        </p:spPr>
        <p:txBody>
          <a:bodyPr wrap="square">
            <a:spAutoFit/>
          </a:bodyPr>
          <a:lstStyle/>
          <a:p>
            <a:pPr defTabSz="457200" fontAlgn="auto">
              <a:spcBef>
                <a:spcPts val="0"/>
              </a:spcBef>
              <a:spcAft>
                <a:spcPts val="0"/>
              </a:spcAft>
            </a:pPr>
            <a:r>
              <a:rPr kumimoji="0" lang="zh-CN" altLang="en-US" sz="1200" b="0" dirty="0">
                <a:solidFill>
                  <a:prstClr val="black"/>
                </a:solidFill>
                <a:latin typeface="汉仪粗宋简" panose="02010600000101010101" pitchFamily="2" charset="-122"/>
                <a:ea typeface="汉仪粗宋简" panose="02010600000101010101" pitchFamily="2" charset="-122"/>
                <a:cs typeface="Times New Roman" panose="02020603050405020304" pitchFamily="18" charset="0"/>
              </a:rPr>
              <a:t>硕士</a:t>
            </a:r>
          </a:p>
        </p:txBody>
      </p:sp>
      <p:sp>
        <p:nvSpPr>
          <p:cNvPr id="34" name="文本框 33">
            <a:extLst>
              <a:ext uri="{FF2B5EF4-FFF2-40B4-BE49-F238E27FC236}">
                <a16:creationId xmlns:a16="http://schemas.microsoft.com/office/drawing/2014/main" id="{414884A5-1047-E0AF-FD03-3DE68328ED7A}"/>
              </a:ext>
            </a:extLst>
          </p:cNvPr>
          <p:cNvSpPr txBox="1"/>
          <p:nvPr/>
        </p:nvSpPr>
        <p:spPr>
          <a:xfrm>
            <a:off x="646611" y="3640911"/>
            <a:ext cx="2852721" cy="338554"/>
          </a:xfrm>
          <a:prstGeom prst="rect">
            <a:avLst/>
          </a:prstGeom>
          <a:noFill/>
        </p:spPr>
        <p:txBody>
          <a:bodyPr wrap="square" rtlCol="0">
            <a:spAutoFit/>
          </a:bodyPr>
          <a:lstStyle/>
          <a:p>
            <a:pPr defTabSz="457200" fontAlgn="auto">
              <a:spcBef>
                <a:spcPts val="0"/>
              </a:spcBef>
              <a:spcAft>
                <a:spcPts val="0"/>
              </a:spcAft>
            </a:pPr>
            <a:r>
              <a:rPr kumimoji="0" lang="en-US" altLang="zh-CN"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中国机械总院</a:t>
            </a:r>
          </a:p>
        </p:txBody>
      </p:sp>
      <p:sp>
        <p:nvSpPr>
          <p:cNvPr id="35" name="文本框 34">
            <a:extLst>
              <a:ext uri="{FF2B5EF4-FFF2-40B4-BE49-F238E27FC236}">
                <a16:creationId xmlns:a16="http://schemas.microsoft.com/office/drawing/2014/main" id="{66E7D192-7128-6BA4-61B4-B21287DBBC9E}"/>
              </a:ext>
            </a:extLst>
          </p:cNvPr>
          <p:cNvSpPr txBox="1"/>
          <p:nvPr/>
        </p:nvSpPr>
        <p:spPr>
          <a:xfrm>
            <a:off x="765627" y="4017764"/>
            <a:ext cx="3844151" cy="276999"/>
          </a:xfrm>
          <a:prstGeom prst="rect">
            <a:avLst/>
          </a:prstGeom>
          <a:noFill/>
        </p:spPr>
        <p:txBody>
          <a:bodyPr wrap="square">
            <a:spAutoFit/>
          </a:bodyPr>
          <a:lstStyle/>
          <a:p>
            <a:pPr defTabSz="457200" fontAlgn="auto">
              <a:spcBef>
                <a:spcPts val="0"/>
              </a:spcBef>
              <a:spcAft>
                <a:spcPts val="0"/>
              </a:spcAft>
            </a:pP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哈尔滨焊接研究所</a:t>
            </a:r>
            <a:r>
              <a:rPr kumimoji="0" lang="en-US" altLang="zh-CN" sz="1200" dirty="0">
                <a:solidFill>
                  <a:srgbClr val="4472C4">
                    <a:lumMod val="75000"/>
                  </a:srgbClr>
                </a:solidFill>
                <a:latin typeface="微软雅黑" panose="020B0503020204020204" pitchFamily="34" charset="-122"/>
                <a:ea typeface="微软雅黑" panose="020B0503020204020204" pitchFamily="34" charset="-122"/>
                <a:cs typeface="+mn-cs"/>
              </a:rPr>
              <a:t>--</a:t>
            </a: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材料加工工程</a:t>
            </a:r>
          </a:p>
        </p:txBody>
      </p:sp>
      <p:sp>
        <p:nvSpPr>
          <p:cNvPr id="36" name="文本框 35">
            <a:extLst>
              <a:ext uri="{FF2B5EF4-FFF2-40B4-BE49-F238E27FC236}">
                <a16:creationId xmlns:a16="http://schemas.microsoft.com/office/drawing/2014/main" id="{29F2AABC-9441-C442-4C5A-1269A417DB4F}"/>
              </a:ext>
            </a:extLst>
          </p:cNvPr>
          <p:cNvSpPr txBox="1"/>
          <p:nvPr/>
        </p:nvSpPr>
        <p:spPr>
          <a:xfrm>
            <a:off x="4295486" y="4021541"/>
            <a:ext cx="1732301" cy="276999"/>
          </a:xfrm>
          <a:prstGeom prst="rect">
            <a:avLst/>
          </a:prstGeom>
          <a:noFill/>
        </p:spPr>
        <p:txBody>
          <a:bodyPr wrap="square">
            <a:spAutoFit/>
          </a:bodyPr>
          <a:lstStyle/>
          <a:p>
            <a:pPr defTabSz="457200" fontAlgn="auto">
              <a:spcBef>
                <a:spcPts val="0"/>
              </a:spcBef>
              <a:spcAft>
                <a:spcPts val="0"/>
              </a:spcAft>
            </a:pPr>
            <a:r>
              <a:rPr kumimoji="0" lang="en-US" altLang="zh-CN" sz="1200" b="0" i="1" dirty="0">
                <a:solidFill>
                  <a:prstClr val="black"/>
                </a:solidFill>
                <a:latin typeface="Perpetua" panose="02020502060401020303" pitchFamily="18" charset="0"/>
                <a:ea typeface="等线" panose="02010600030101010101" pitchFamily="2" charset="-122"/>
                <a:cs typeface="+mn-cs"/>
              </a:rPr>
              <a:t>2022.9--2025.7</a:t>
            </a:r>
            <a:endParaRPr kumimoji="0" lang="zh-CN" altLang="en-US" sz="1200" b="0" i="1" dirty="0">
              <a:solidFill>
                <a:prstClr val="black"/>
              </a:solidFill>
              <a:latin typeface="Perpetua" panose="02020502060401020303" pitchFamily="18" charset="0"/>
              <a:ea typeface="等线" panose="02010600030101010101" pitchFamily="2" charset="-122"/>
              <a:cs typeface="+mn-cs"/>
            </a:endParaRPr>
          </a:p>
        </p:txBody>
      </p:sp>
      <p:cxnSp>
        <p:nvCxnSpPr>
          <p:cNvPr id="37" name="直接连接符 36">
            <a:extLst>
              <a:ext uri="{FF2B5EF4-FFF2-40B4-BE49-F238E27FC236}">
                <a16:creationId xmlns:a16="http://schemas.microsoft.com/office/drawing/2014/main" id="{63FCB70F-0191-D27D-BDB2-52F8BCCAFDE2}"/>
              </a:ext>
            </a:extLst>
          </p:cNvPr>
          <p:cNvCxnSpPr>
            <a:cxnSpLocks/>
          </p:cNvCxnSpPr>
          <p:nvPr/>
        </p:nvCxnSpPr>
        <p:spPr>
          <a:xfrm>
            <a:off x="781266" y="3301149"/>
            <a:ext cx="5040000" cy="0"/>
          </a:xfrm>
          <a:prstGeom prst="line">
            <a:avLst/>
          </a:prstGeom>
          <a:noFill/>
          <a:ln w="6350" cap="flat" cmpd="sng" algn="ctr">
            <a:solidFill>
              <a:sysClr val="windowText" lastClr="000000"/>
            </a:solidFill>
            <a:prstDash val="lgDashDotDot"/>
            <a:miter lim="800000"/>
          </a:ln>
          <a:effectLst/>
        </p:spPr>
      </p:cxnSp>
      <p:sp>
        <p:nvSpPr>
          <p:cNvPr id="38" name="文本框 37">
            <a:extLst>
              <a:ext uri="{FF2B5EF4-FFF2-40B4-BE49-F238E27FC236}">
                <a16:creationId xmlns:a16="http://schemas.microsoft.com/office/drawing/2014/main" id="{8C854187-D4EF-29A0-6336-B853DACEF546}"/>
              </a:ext>
            </a:extLst>
          </p:cNvPr>
          <p:cNvSpPr txBox="1"/>
          <p:nvPr/>
        </p:nvSpPr>
        <p:spPr>
          <a:xfrm>
            <a:off x="479240" y="1545525"/>
            <a:ext cx="1344652" cy="369332"/>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教育经历</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3" name="文本框 52">
            <a:extLst>
              <a:ext uri="{FF2B5EF4-FFF2-40B4-BE49-F238E27FC236}">
                <a16:creationId xmlns:a16="http://schemas.microsoft.com/office/drawing/2014/main" id="{1BA1B48C-FB35-4793-0D78-62C9D06DC513}"/>
              </a:ext>
            </a:extLst>
          </p:cNvPr>
          <p:cNvSpPr txBox="1"/>
          <p:nvPr/>
        </p:nvSpPr>
        <p:spPr>
          <a:xfrm>
            <a:off x="4313683" y="5006945"/>
            <a:ext cx="1211117" cy="276999"/>
          </a:xfrm>
          <a:prstGeom prst="rect">
            <a:avLst/>
          </a:prstGeom>
          <a:noFill/>
        </p:spPr>
        <p:txBody>
          <a:bodyPr wrap="square">
            <a:spAutoFit/>
          </a:bodyPr>
          <a:lstStyle/>
          <a:p>
            <a:pPr defTabSz="457200" fontAlgn="auto">
              <a:spcBef>
                <a:spcPts val="0"/>
              </a:spcBef>
              <a:spcAft>
                <a:spcPts val="0"/>
              </a:spcAft>
            </a:pPr>
            <a:r>
              <a:rPr lang="zh-CN" altLang="en-US" sz="1200" dirty="0">
                <a:solidFill>
                  <a:prstClr val="black"/>
                </a:solidFill>
                <a:latin typeface="汉仪粗宋简" panose="02010600000101010101" pitchFamily="2" charset="-122"/>
                <a:ea typeface="汉仪粗宋简" panose="02010600000101010101" pitchFamily="2" charset="-122"/>
                <a:cs typeface="Times New Roman" panose="02020603050405020304" pitchFamily="18" charset="0"/>
              </a:rPr>
              <a:t>博士</a:t>
            </a:r>
            <a:r>
              <a:rPr kumimoji="0" lang="zh-CN" altLang="en-US" sz="1200" b="0" dirty="0">
                <a:solidFill>
                  <a:prstClr val="black"/>
                </a:solidFill>
                <a:latin typeface="汉仪粗宋简" panose="02010600000101010101" pitchFamily="2" charset="-122"/>
                <a:ea typeface="汉仪粗宋简" panose="02010600000101010101" pitchFamily="2" charset="-122"/>
                <a:cs typeface="Times New Roman" panose="02020603050405020304" pitchFamily="18" charset="0"/>
              </a:rPr>
              <a:t>在读</a:t>
            </a:r>
          </a:p>
        </p:txBody>
      </p:sp>
      <p:sp>
        <p:nvSpPr>
          <p:cNvPr id="54" name="文本框 53">
            <a:extLst>
              <a:ext uri="{FF2B5EF4-FFF2-40B4-BE49-F238E27FC236}">
                <a16:creationId xmlns:a16="http://schemas.microsoft.com/office/drawing/2014/main" id="{02B7C074-EA00-AC65-BEF1-90E324C780AE}"/>
              </a:ext>
            </a:extLst>
          </p:cNvPr>
          <p:cNvSpPr txBox="1"/>
          <p:nvPr/>
        </p:nvSpPr>
        <p:spPr>
          <a:xfrm>
            <a:off x="646611" y="4970163"/>
            <a:ext cx="2852721" cy="338554"/>
          </a:xfrm>
          <a:prstGeom prst="rect">
            <a:avLst/>
          </a:prstGeom>
          <a:noFill/>
        </p:spPr>
        <p:txBody>
          <a:bodyPr wrap="square" rtlCol="0">
            <a:spAutoFit/>
          </a:bodyPr>
          <a:lstStyle/>
          <a:p>
            <a:pPr defTabSz="457200" fontAlgn="auto">
              <a:spcBef>
                <a:spcPts val="0"/>
              </a:spcBef>
              <a:spcAft>
                <a:spcPts val="0"/>
              </a:spcAft>
            </a:pPr>
            <a:r>
              <a:rPr kumimoji="0" lang="en-US" altLang="zh-CN"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东北大学</a:t>
            </a:r>
          </a:p>
        </p:txBody>
      </p:sp>
      <p:sp>
        <p:nvSpPr>
          <p:cNvPr id="55" name="文本框 54">
            <a:extLst>
              <a:ext uri="{FF2B5EF4-FFF2-40B4-BE49-F238E27FC236}">
                <a16:creationId xmlns:a16="http://schemas.microsoft.com/office/drawing/2014/main" id="{DCE25022-4DAE-2D4E-D41D-DFE21ECE8184}"/>
              </a:ext>
            </a:extLst>
          </p:cNvPr>
          <p:cNvSpPr txBox="1"/>
          <p:nvPr/>
        </p:nvSpPr>
        <p:spPr>
          <a:xfrm>
            <a:off x="765627" y="5347016"/>
            <a:ext cx="3844151" cy="276999"/>
          </a:xfrm>
          <a:prstGeom prst="rect">
            <a:avLst/>
          </a:prstGeom>
          <a:noFill/>
        </p:spPr>
        <p:txBody>
          <a:bodyPr wrap="square">
            <a:spAutoFit/>
          </a:bodyPr>
          <a:lstStyle/>
          <a:p>
            <a:pPr defTabSz="457200" fontAlgn="auto">
              <a:spcBef>
                <a:spcPts val="0"/>
              </a:spcBef>
              <a:spcAft>
                <a:spcPts val="0"/>
              </a:spcAft>
            </a:pP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机械工程与自动化学院</a:t>
            </a:r>
            <a:r>
              <a:rPr kumimoji="0" lang="en-US" altLang="zh-CN" sz="1200" dirty="0">
                <a:solidFill>
                  <a:srgbClr val="4472C4">
                    <a:lumMod val="75000"/>
                  </a:srgbClr>
                </a:solidFill>
                <a:latin typeface="微软雅黑" panose="020B0503020204020204" pitchFamily="34" charset="-122"/>
                <a:ea typeface="微软雅黑" panose="020B0503020204020204" pitchFamily="34" charset="-122"/>
                <a:cs typeface="+mn-cs"/>
              </a:rPr>
              <a:t>—</a:t>
            </a:r>
            <a:r>
              <a:rPr kumimoji="0" lang="zh-CN" altLang="en-US" sz="1200" dirty="0">
                <a:solidFill>
                  <a:srgbClr val="4472C4">
                    <a:lumMod val="75000"/>
                  </a:srgbClr>
                </a:solidFill>
                <a:latin typeface="微软雅黑" panose="020B0503020204020204" pitchFamily="34" charset="-122"/>
                <a:ea typeface="微软雅黑" panose="020B0503020204020204" pitchFamily="34" charset="-122"/>
                <a:cs typeface="+mn-cs"/>
              </a:rPr>
              <a:t>机械工程</a:t>
            </a:r>
          </a:p>
        </p:txBody>
      </p:sp>
      <p:sp>
        <p:nvSpPr>
          <p:cNvPr id="56" name="文本框 55">
            <a:extLst>
              <a:ext uri="{FF2B5EF4-FFF2-40B4-BE49-F238E27FC236}">
                <a16:creationId xmlns:a16="http://schemas.microsoft.com/office/drawing/2014/main" id="{922F2413-436E-9731-EBDD-F14D851DEFC3}"/>
              </a:ext>
            </a:extLst>
          </p:cNvPr>
          <p:cNvSpPr txBox="1"/>
          <p:nvPr/>
        </p:nvSpPr>
        <p:spPr>
          <a:xfrm>
            <a:off x="4295486" y="5350793"/>
            <a:ext cx="1732301" cy="276999"/>
          </a:xfrm>
          <a:prstGeom prst="rect">
            <a:avLst/>
          </a:prstGeom>
          <a:noFill/>
        </p:spPr>
        <p:txBody>
          <a:bodyPr wrap="square">
            <a:spAutoFit/>
          </a:bodyPr>
          <a:lstStyle/>
          <a:p>
            <a:pPr defTabSz="457200" fontAlgn="auto">
              <a:spcBef>
                <a:spcPts val="0"/>
              </a:spcBef>
              <a:spcAft>
                <a:spcPts val="0"/>
              </a:spcAft>
            </a:pPr>
            <a:r>
              <a:rPr kumimoji="0" lang="en-US" altLang="zh-CN" sz="1200" b="0" i="1" dirty="0">
                <a:solidFill>
                  <a:prstClr val="black"/>
                </a:solidFill>
                <a:latin typeface="Perpetua" panose="02020502060401020303" pitchFamily="18" charset="0"/>
                <a:ea typeface="等线" panose="02010600030101010101" pitchFamily="2" charset="-122"/>
                <a:cs typeface="+mn-cs"/>
              </a:rPr>
              <a:t>2025.9—2029.6</a:t>
            </a:r>
            <a:endParaRPr kumimoji="0" lang="zh-CN" altLang="en-US" sz="1200" b="0" i="1" dirty="0">
              <a:solidFill>
                <a:prstClr val="black"/>
              </a:solidFill>
              <a:latin typeface="Perpetua" panose="02020502060401020303" pitchFamily="18" charset="0"/>
              <a:ea typeface="等线" panose="02010600030101010101" pitchFamily="2" charset="-122"/>
              <a:cs typeface="+mn-cs"/>
            </a:endParaRPr>
          </a:p>
        </p:txBody>
      </p:sp>
      <p:cxnSp>
        <p:nvCxnSpPr>
          <p:cNvPr id="57" name="直接连接符 56">
            <a:extLst>
              <a:ext uri="{FF2B5EF4-FFF2-40B4-BE49-F238E27FC236}">
                <a16:creationId xmlns:a16="http://schemas.microsoft.com/office/drawing/2014/main" id="{E101266E-0300-9A9B-EA54-4997FAE217B5}"/>
              </a:ext>
            </a:extLst>
          </p:cNvPr>
          <p:cNvCxnSpPr>
            <a:cxnSpLocks/>
          </p:cNvCxnSpPr>
          <p:nvPr/>
        </p:nvCxnSpPr>
        <p:spPr>
          <a:xfrm>
            <a:off x="781266" y="4641417"/>
            <a:ext cx="5040000" cy="0"/>
          </a:xfrm>
          <a:prstGeom prst="line">
            <a:avLst/>
          </a:prstGeom>
          <a:noFill/>
          <a:ln w="6350" cap="flat" cmpd="sng" algn="ctr">
            <a:solidFill>
              <a:sysClr val="windowText" lastClr="000000"/>
            </a:solidFill>
            <a:prstDash val="lgDashDotDot"/>
            <a:miter lim="800000"/>
          </a:ln>
          <a:effectLst/>
        </p:spPr>
      </p:cxnSp>
      <p:grpSp>
        <p:nvGrpSpPr>
          <p:cNvPr id="58" name="组合 57">
            <a:extLst>
              <a:ext uri="{FF2B5EF4-FFF2-40B4-BE49-F238E27FC236}">
                <a16:creationId xmlns:a16="http://schemas.microsoft.com/office/drawing/2014/main" id="{E0B8EB98-BC3B-303C-5A6E-563552A32315}"/>
              </a:ext>
            </a:extLst>
          </p:cNvPr>
          <p:cNvGrpSpPr/>
          <p:nvPr/>
        </p:nvGrpSpPr>
        <p:grpSpPr>
          <a:xfrm>
            <a:off x="6466898" y="2075563"/>
            <a:ext cx="5429093" cy="3884401"/>
            <a:chOff x="2237761" y="786166"/>
            <a:chExt cx="7594468" cy="5433680"/>
          </a:xfrm>
        </p:grpSpPr>
        <p:sp>
          <p:nvSpPr>
            <p:cNvPr id="59" name="Block Arc 20++">
              <a:extLst>
                <a:ext uri="{FF2B5EF4-FFF2-40B4-BE49-F238E27FC236}">
                  <a16:creationId xmlns:a16="http://schemas.microsoft.com/office/drawing/2014/main" id="{BEBB8D56-2CA8-E6E8-9481-FCB061729F67}"/>
                </a:ext>
              </a:extLst>
            </p:cNvPr>
            <p:cNvSpPr/>
            <p:nvPr/>
          </p:nvSpPr>
          <p:spPr>
            <a:xfrm rot="7466991">
              <a:off x="7271918" y="3575716"/>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0" name="空心弧 59">
              <a:extLst>
                <a:ext uri="{FF2B5EF4-FFF2-40B4-BE49-F238E27FC236}">
                  <a16:creationId xmlns:a16="http://schemas.microsoft.com/office/drawing/2014/main" id="{06B44250-0936-5C6E-90FA-4552EDAC6273}"/>
                </a:ext>
              </a:extLst>
            </p:cNvPr>
            <p:cNvSpPr/>
            <p:nvPr/>
          </p:nvSpPr>
          <p:spPr>
            <a:xfrm>
              <a:off x="7171711" y="3544648"/>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1" name="Block Arc 20+">
              <a:extLst>
                <a:ext uri="{FF2B5EF4-FFF2-40B4-BE49-F238E27FC236}">
                  <a16:creationId xmlns:a16="http://schemas.microsoft.com/office/drawing/2014/main" id="{613A2A46-B357-E595-151D-888288D23A01}"/>
                </a:ext>
              </a:extLst>
            </p:cNvPr>
            <p:cNvSpPr/>
            <p:nvPr/>
          </p:nvSpPr>
          <p:spPr>
            <a:xfrm rot="3729735">
              <a:off x="7231126" y="3529919"/>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2" name="文本框 61">
              <a:extLst>
                <a:ext uri="{FF2B5EF4-FFF2-40B4-BE49-F238E27FC236}">
                  <a16:creationId xmlns:a16="http://schemas.microsoft.com/office/drawing/2014/main" id="{92AD8BAA-ECE2-E313-3580-6B6591ED68C8}"/>
                </a:ext>
              </a:extLst>
            </p:cNvPr>
            <p:cNvSpPr txBox="1"/>
            <p:nvPr/>
          </p:nvSpPr>
          <p:spPr>
            <a:xfrm>
              <a:off x="8032602" y="3587145"/>
              <a:ext cx="972022"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可靠性</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63" name="文本框 62">
              <a:extLst>
                <a:ext uri="{FF2B5EF4-FFF2-40B4-BE49-F238E27FC236}">
                  <a16:creationId xmlns:a16="http://schemas.microsoft.com/office/drawing/2014/main" id="{8B07B83A-8C97-A06B-1059-96D383CF339A}"/>
                </a:ext>
              </a:extLst>
            </p:cNvPr>
            <p:cNvSpPr txBox="1"/>
            <p:nvPr/>
          </p:nvSpPr>
          <p:spPr>
            <a:xfrm rot="18313295">
              <a:off x="7131549" y="4089308"/>
              <a:ext cx="953419"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lang="zh-CN" altLang="en-US" sz="1000" dirty="0"/>
                <a:t>复杂系统</a:t>
              </a:r>
            </a:p>
          </p:txBody>
        </p:sp>
        <p:sp>
          <p:nvSpPr>
            <p:cNvPr id="64" name="文本框 63">
              <a:extLst>
                <a:ext uri="{FF2B5EF4-FFF2-40B4-BE49-F238E27FC236}">
                  <a16:creationId xmlns:a16="http://schemas.microsoft.com/office/drawing/2014/main" id="{34291496-BA73-D5E0-78F2-9DFEB2175699}"/>
                </a:ext>
              </a:extLst>
            </p:cNvPr>
            <p:cNvSpPr txBox="1"/>
            <p:nvPr/>
          </p:nvSpPr>
          <p:spPr>
            <a:xfrm rot="3595969">
              <a:off x="8943729" y="4203823"/>
              <a:ext cx="1077429"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工业母机</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65" name="Block Arc 20++">
              <a:extLst>
                <a:ext uri="{FF2B5EF4-FFF2-40B4-BE49-F238E27FC236}">
                  <a16:creationId xmlns:a16="http://schemas.microsoft.com/office/drawing/2014/main" id="{2310FF55-0422-5A99-27BB-6495F944C1E8}"/>
                </a:ext>
              </a:extLst>
            </p:cNvPr>
            <p:cNvSpPr/>
            <p:nvPr/>
          </p:nvSpPr>
          <p:spPr>
            <a:xfrm rot="7466991" flipH="1" flipV="1">
              <a:off x="7171712" y="3613740"/>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6" name="空心弧 65">
              <a:extLst>
                <a:ext uri="{FF2B5EF4-FFF2-40B4-BE49-F238E27FC236}">
                  <a16:creationId xmlns:a16="http://schemas.microsoft.com/office/drawing/2014/main" id="{3C142EE5-578E-6F3E-0576-C7F66703B798}"/>
                </a:ext>
              </a:extLst>
            </p:cNvPr>
            <p:cNvSpPr/>
            <p:nvPr/>
          </p:nvSpPr>
          <p:spPr>
            <a:xfrm flipH="1" flipV="1">
              <a:off x="7271917" y="3644815"/>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7" name="Block Arc 20+">
              <a:extLst>
                <a:ext uri="{FF2B5EF4-FFF2-40B4-BE49-F238E27FC236}">
                  <a16:creationId xmlns:a16="http://schemas.microsoft.com/office/drawing/2014/main" id="{B368AE9B-B5EA-2121-5352-8164EA1E9A8F}"/>
                </a:ext>
              </a:extLst>
            </p:cNvPr>
            <p:cNvSpPr/>
            <p:nvPr/>
          </p:nvSpPr>
          <p:spPr>
            <a:xfrm rot="3729735" flipH="1" flipV="1">
              <a:off x="7212507" y="3659537"/>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68" name="文本框 67">
              <a:extLst>
                <a:ext uri="{FF2B5EF4-FFF2-40B4-BE49-F238E27FC236}">
                  <a16:creationId xmlns:a16="http://schemas.microsoft.com/office/drawing/2014/main" id="{DD7192AC-CDB1-B5D6-A788-D1A6B7DF6238}"/>
                </a:ext>
              </a:extLst>
            </p:cNvPr>
            <p:cNvSpPr txBox="1"/>
            <p:nvPr/>
          </p:nvSpPr>
          <p:spPr>
            <a:xfrm rot="10800000" flipH="1" flipV="1">
              <a:off x="8122785" y="5850495"/>
              <a:ext cx="734585"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lang="zh-CN" altLang="en-US" sz="1000" dirty="0"/>
                <a:t>疲劳</a:t>
              </a:r>
            </a:p>
          </p:txBody>
        </p:sp>
        <p:sp>
          <p:nvSpPr>
            <p:cNvPr id="69" name="文本框 68">
              <a:extLst>
                <a:ext uri="{FF2B5EF4-FFF2-40B4-BE49-F238E27FC236}">
                  <a16:creationId xmlns:a16="http://schemas.microsoft.com/office/drawing/2014/main" id="{43459ECF-41F1-F892-DB53-6CA16E737B80}"/>
                </a:ext>
              </a:extLst>
            </p:cNvPr>
            <p:cNvSpPr txBox="1"/>
            <p:nvPr/>
          </p:nvSpPr>
          <p:spPr>
            <a:xfrm rot="18565231" flipH="1" flipV="1">
              <a:off x="8930058" y="5350157"/>
              <a:ext cx="965250"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设计优化</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70" name="文本框 69">
              <a:extLst>
                <a:ext uri="{FF2B5EF4-FFF2-40B4-BE49-F238E27FC236}">
                  <a16:creationId xmlns:a16="http://schemas.microsoft.com/office/drawing/2014/main" id="{F2F659C2-B2D4-D7F1-FCDA-AF1E0753DA3A}"/>
                </a:ext>
              </a:extLst>
            </p:cNvPr>
            <p:cNvSpPr txBox="1"/>
            <p:nvPr/>
          </p:nvSpPr>
          <p:spPr>
            <a:xfrm rot="3481193" flipH="1" flipV="1">
              <a:off x="7159586" y="5246130"/>
              <a:ext cx="734585"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lang="zh-CN" altLang="en-US" sz="1000" dirty="0"/>
                <a:t>制造</a:t>
              </a:r>
            </a:p>
          </p:txBody>
        </p:sp>
        <p:grpSp>
          <p:nvGrpSpPr>
            <p:cNvPr id="71" name="组合 70">
              <a:extLst>
                <a:ext uri="{FF2B5EF4-FFF2-40B4-BE49-F238E27FC236}">
                  <a16:creationId xmlns:a16="http://schemas.microsoft.com/office/drawing/2014/main" id="{7634DBBC-BF61-BF8C-1F7D-56245575C032}"/>
                </a:ext>
              </a:extLst>
            </p:cNvPr>
            <p:cNvGrpSpPr/>
            <p:nvPr/>
          </p:nvGrpSpPr>
          <p:grpSpPr>
            <a:xfrm>
              <a:off x="4675254" y="786166"/>
              <a:ext cx="2660518" cy="2606106"/>
              <a:chOff x="2298721" y="3529366"/>
              <a:chExt cx="2660518" cy="2606106"/>
            </a:xfrm>
          </p:grpSpPr>
          <p:sp>
            <p:nvSpPr>
              <p:cNvPr id="114" name="Block Arc 20++">
                <a:extLst>
                  <a:ext uri="{FF2B5EF4-FFF2-40B4-BE49-F238E27FC236}">
                    <a16:creationId xmlns:a16="http://schemas.microsoft.com/office/drawing/2014/main" id="{F462002A-8EFF-2D40-F8D4-918E73DF44A0}"/>
                  </a:ext>
                </a:extLst>
              </p:cNvPr>
              <p:cNvSpPr/>
              <p:nvPr/>
            </p:nvSpPr>
            <p:spPr>
              <a:xfrm rot="7466991">
                <a:off x="2398928" y="3575161"/>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grpSp>
            <p:nvGrpSpPr>
              <p:cNvPr id="115" name="组合 114">
                <a:extLst>
                  <a:ext uri="{FF2B5EF4-FFF2-40B4-BE49-F238E27FC236}">
                    <a16:creationId xmlns:a16="http://schemas.microsoft.com/office/drawing/2014/main" id="{1A03DB47-40B3-9BC0-BD5D-153FDE42B053}"/>
                  </a:ext>
                </a:extLst>
              </p:cNvPr>
              <p:cNvGrpSpPr/>
              <p:nvPr/>
            </p:nvGrpSpPr>
            <p:grpSpPr>
              <a:xfrm>
                <a:off x="2298721" y="3529366"/>
                <a:ext cx="2619725" cy="2575032"/>
                <a:chOff x="2298721" y="3529366"/>
                <a:chExt cx="2619725" cy="2575032"/>
              </a:xfrm>
            </p:grpSpPr>
            <p:sp>
              <p:nvSpPr>
                <p:cNvPr id="116" name="空心弧 115">
                  <a:extLst>
                    <a:ext uri="{FF2B5EF4-FFF2-40B4-BE49-F238E27FC236}">
                      <a16:creationId xmlns:a16="http://schemas.microsoft.com/office/drawing/2014/main" id="{0B66D4BC-D5D9-CDFD-F040-816ED5B7363B}"/>
                    </a:ext>
                  </a:extLst>
                </p:cNvPr>
                <p:cNvSpPr/>
                <p:nvPr/>
              </p:nvSpPr>
              <p:spPr>
                <a:xfrm>
                  <a:off x="2298721" y="3544093"/>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17" name="Block Arc 20+">
                  <a:extLst>
                    <a:ext uri="{FF2B5EF4-FFF2-40B4-BE49-F238E27FC236}">
                      <a16:creationId xmlns:a16="http://schemas.microsoft.com/office/drawing/2014/main" id="{21F7B138-D270-3196-8DCD-F4BD7473138E}"/>
                    </a:ext>
                  </a:extLst>
                </p:cNvPr>
                <p:cNvSpPr/>
                <p:nvPr/>
              </p:nvSpPr>
              <p:spPr>
                <a:xfrm rot="3729735">
                  <a:off x="2358136" y="3529364"/>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18" name="文本框 117">
                  <a:extLst>
                    <a:ext uri="{FF2B5EF4-FFF2-40B4-BE49-F238E27FC236}">
                      <a16:creationId xmlns:a16="http://schemas.microsoft.com/office/drawing/2014/main" id="{5BE53017-603F-07AA-68D7-8638597B9ED4}"/>
                    </a:ext>
                  </a:extLst>
                </p:cNvPr>
                <p:cNvSpPr txBox="1"/>
                <p:nvPr/>
              </p:nvSpPr>
              <p:spPr>
                <a:xfrm>
                  <a:off x="3165681" y="3610267"/>
                  <a:ext cx="1007710"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传感器</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19" name="文本框 118">
                  <a:extLst>
                    <a:ext uri="{FF2B5EF4-FFF2-40B4-BE49-F238E27FC236}">
                      <a16:creationId xmlns:a16="http://schemas.microsoft.com/office/drawing/2014/main" id="{951A444B-D9B0-5F80-AA07-2A8FBF9CD069}"/>
                    </a:ext>
                  </a:extLst>
                </p:cNvPr>
                <p:cNvSpPr txBox="1"/>
                <p:nvPr/>
              </p:nvSpPr>
              <p:spPr>
                <a:xfrm rot="17804600">
                  <a:off x="2318739" y="4186467"/>
                  <a:ext cx="734584"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控制</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20" name="文本框 119">
                  <a:extLst>
                    <a:ext uri="{FF2B5EF4-FFF2-40B4-BE49-F238E27FC236}">
                      <a16:creationId xmlns:a16="http://schemas.microsoft.com/office/drawing/2014/main" id="{D658E30B-B298-CDD9-E82C-A72E02B893E8}"/>
                    </a:ext>
                  </a:extLst>
                </p:cNvPr>
                <p:cNvSpPr txBox="1"/>
                <p:nvPr/>
              </p:nvSpPr>
              <p:spPr>
                <a:xfrm rot="3481193">
                  <a:off x="4047957" y="4137352"/>
                  <a:ext cx="1017763"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天线</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grpSp>
        </p:grpSp>
        <p:grpSp>
          <p:nvGrpSpPr>
            <p:cNvPr id="72" name="组合 71">
              <a:extLst>
                <a:ext uri="{FF2B5EF4-FFF2-40B4-BE49-F238E27FC236}">
                  <a16:creationId xmlns:a16="http://schemas.microsoft.com/office/drawing/2014/main" id="{9A9EE1B9-C1CF-D01E-AB93-78BE89F51258}"/>
                </a:ext>
              </a:extLst>
            </p:cNvPr>
            <p:cNvGrpSpPr/>
            <p:nvPr/>
          </p:nvGrpSpPr>
          <p:grpSpPr>
            <a:xfrm flipH="1" flipV="1">
              <a:off x="4675254" y="869986"/>
              <a:ext cx="2660518" cy="2606106"/>
              <a:chOff x="2298721" y="3529366"/>
              <a:chExt cx="2660518" cy="2606106"/>
            </a:xfrm>
          </p:grpSpPr>
          <p:sp>
            <p:nvSpPr>
              <p:cNvPr id="107" name="Block Arc 20++">
                <a:extLst>
                  <a:ext uri="{FF2B5EF4-FFF2-40B4-BE49-F238E27FC236}">
                    <a16:creationId xmlns:a16="http://schemas.microsoft.com/office/drawing/2014/main" id="{826BC4D5-3C8F-DCED-2527-A38FAD71465E}"/>
                  </a:ext>
                </a:extLst>
              </p:cNvPr>
              <p:cNvSpPr/>
              <p:nvPr/>
            </p:nvSpPr>
            <p:spPr>
              <a:xfrm rot="7466991">
                <a:off x="2398928" y="3575161"/>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grpSp>
            <p:nvGrpSpPr>
              <p:cNvPr id="108" name="组合 107">
                <a:extLst>
                  <a:ext uri="{FF2B5EF4-FFF2-40B4-BE49-F238E27FC236}">
                    <a16:creationId xmlns:a16="http://schemas.microsoft.com/office/drawing/2014/main" id="{95C3FE59-36D3-1EB3-E633-64345980F5EA}"/>
                  </a:ext>
                </a:extLst>
              </p:cNvPr>
              <p:cNvGrpSpPr/>
              <p:nvPr/>
            </p:nvGrpSpPr>
            <p:grpSpPr>
              <a:xfrm>
                <a:off x="2298721" y="3529366"/>
                <a:ext cx="2619725" cy="2575032"/>
                <a:chOff x="2298721" y="3529366"/>
                <a:chExt cx="2619725" cy="2575032"/>
              </a:xfrm>
            </p:grpSpPr>
            <p:sp>
              <p:nvSpPr>
                <p:cNvPr id="109" name="空心弧 108">
                  <a:extLst>
                    <a:ext uri="{FF2B5EF4-FFF2-40B4-BE49-F238E27FC236}">
                      <a16:creationId xmlns:a16="http://schemas.microsoft.com/office/drawing/2014/main" id="{92853583-5D44-19BE-00C0-F5D5A34587C0}"/>
                    </a:ext>
                  </a:extLst>
                </p:cNvPr>
                <p:cNvSpPr/>
                <p:nvPr/>
              </p:nvSpPr>
              <p:spPr>
                <a:xfrm>
                  <a:off x="2298721" y="3544093"/>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10" name="Block Arc 20+">
                  <a:extLst>
                    <a:ext uri="{FF2B5EF4-FFF2-40B4-BE49-F238E27FC236}">
                      <a16:creationId xmlns:a16="http://schemas.microsoft.com/office/drawing/2014/main" id="{CD42E5B7-0B2D-DB24-5D2D-458E0942B894}"/>
                    </a:ext>
                  </a:extLst>
                </p:cNvPr>
                <p:cNvSpPr/>
                <p:nvPr/>
              </p:nvSpPr>
              <p:spPr>
                <a:xfrm rot="3729735">
                  <a:off x="2358136" y="3529364"/>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11" name="文本框 110">
                  <a:extLst>
                    <a:ext uri="{FF2B5EF4-FFF2-40B4-BE49-F238E27FC236}">
                      <a16:creationId xmlns:a16="http://schemas.microsoft.com/office/drawing/2014/main" id="{82B21D48-2018-DFC3-A43B-467CF69DDED1}"/>
                    </a:ext>
                  </a:extLst>
                </p:cNvPr>
                <p:cNvSpPr txBox="1"/>
                <p:nvPr/>
              </p:nvSpPr>
              <p:spPr>
                <a:xfrm rot="10800000">
                  <a:off x="3148095" y="3584951"/>
                  <a:ext cx="956717"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数据采集 </a:t>
                  </a:r>
                  <a:endParaRPr kumimoji="0" lang="zh-CN" altLang="en-US" sz="105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12" name="文本框 111">
                  <a:extLst>
                    <a:ext uri="{FF2B5EF4-FFF2-40B4-BE49-F238E27FC236}">
                      <a16:creationId xmlns:a16="http://schemas.microsoft.com/office/drawing/2014/main" id="{F5A61C3D-0C7A-C357-4D75-7D7867F2DD87}"/>
                    </a:ext>
                  </a:extLst>
                </p:cNvPr>
                <p:cNvSpPr txBox="1"/>
                <p:nvPr/>
              </p:nvSpPr>
              <p:spPr>
                <a:xfrm rot="17804600">
                  <a:off x="2269579" y="4166803"/>
                  <a:ext cx="734584"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视觉</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13" name="文本框 112">
                  <a:extLst>
                    <a:ext uri="{FF2B5EF4-FFF2-40B4-BE49-F238E27FC236}">
                      <a16:creationId xmlns:a16="http://schemas.microsoft.com/office/drawing/2014/main" id="{E31C3864-6961-0ABA-8E85-0CFB5DD78EEA}"/>
                    </a:ext>
                  </a:extLst>
                </p:cNvPr>
                <p:cNvSpPr txBox="1"/>
                <p:nvPr/>
              </p:nvSpPr>
              <p:spPr>
                <a:xfrm rot="3481193">
                  <a:off x="4209210" y="4157016"/>
                  <a:ext cx="734584"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检测</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grpSp>
        </p:grpSp>
        <p:sp>
          <p:nvSpPr>
            <p:cNvPr id="73" name="Block Arc 20++">
              <a:extLst>
                <a:ext uri="{FF2B5EF4-FFF2-40B4-BE49-F238E27FC236}">
                  <a16:creationId xmlns:a16="http://schemas.microsoft.com/office/drawing/2014/main" id="{8181D1B8-8B34-708A-66C2-6F6832F93E53}"/>
                </a:ext>
              </a:extLst>
            </p:cNvPr>
            <p:cNvSpPr/>
            <p:nvPr/>
          </p:nvSpPr>
          <p:spPr>
            <a:xfrm rot="7466991">
              <a:off x="2337968" y="3575161"/>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grpSp>
          <p:nvGrpSpPr>
            <p:cNvPr id="74" name="组合 73">
              <a:extLst>
                <a:ext uri="{FF2B5EF4-FFF2-40B4-BE49-F238E27FC236}">
                  <a16:creationId xmlns:a16="http://schemas.microsoft.com/office/drawing/2014/main" id="{ABD3652A-7A3F-2D5A-CF71-41944F86451E}"/>
                </a:ext>
              </a:extLst>
            </p:cNvPr>
            <p:cNvGrpSpPr/>
            <p:nvPr/>
          </p:nvGrpSpPr>
          <p:grpSpPr>
            <a:xfrm>
              <a:off x="2237761" y="3529366"/>
              <a:ext cx="2619725" cy="2575032"/>
              <a:chOff x="2298721" y="3529366"/>
              <a:chExt cx="2619725" cy="2575032"/>
            </a:xfrm>
          </p:grpSpPr>
          <p:sp>
            <p:nvSpPr>
              <p:cNvPr id="102" name="空心弧 101">
                <a:extLst>
                  <a:ext uri="{FF2B5EF4-FFF2-40B4-BE49-F238E27FC236}">
                    <a16:creationId xmlns:a16="http://schemas.microsoft.com/office/drawing/2014/main" id="{3535F5F5-623F-EE0D-0033-D25785AE6F2B}"/>
                  </a:ext>
                </a:extLst>
              </p:cNvPr>
              <p:cNvSpPr/>
              <p:nvPr/>
            </p:nvSpPr>
            <p:spPr>
              <a:xfrm>
                <a:off x="2298721" y="3544093"/>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03" name="Block Arc 20+">
                <a:extLst>
                  <a:ext uri="{FF2B5EF4-FFF2-40B4-BE49-F238E27FC236}">
                    <a16:creationId xmlns:a16="http://schemas.microsoft.com/office/drawing/2014/main" id="{1E40D37D-C620-E833-3263-AA21EE768E34}"/>
                  </a:ext>
                </a:extLst>
              </p:cNvPr>
              <p:cNvSpPr/>
              <p:nvPr/>
            </p:nvSpPr>
            <p:spPr>
              <a:xfrm rot="3729735">
                <a:off x="2358136" y="3529364"/>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104" name="文本框 103">
                <a:extLst>
                  <a:ext uri="{FF2B5EF4-FFF2-40B4-BE49-F238E27FC236}">
                    <a16:creationId xmlns:a16="http://schemas.microsoft.com/office/drawing/2014/main" id="{F5960C0F-1DA5-DBE5-45D8-A29777468F63}"/>
                  </a:ext>
                </a:extLst>
              </p:cNvPr>
              <p:cNvSpPr txBox="1"/>
              <p:nvPr/>
            </p:nvSpPr>
            <p:spPr>
              <a:xfrm>
                <a:off x="3295829" y="3592525"/>
                <a:ext cx="734585"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焊接</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05" name="文本框 104">
                <a:extLst>
                  <a:ext uri="{FF2B5EF4-FFF2-40B4-BE49-F238E27FC236}">
                    <a16:creationId xmlns:a16="http://schemas.microsoft.com/office/drawing/2014/main" id="{D20147CB-BC94-684C-80B2-A9774911A70A}"/>
                  </a:ext>
                </a:extLst>
              </p:cNvPr>
              <p:cNvSpPr txBox="1"/>
              <p:nvPr/>
            </p:nvSpPr>
            <p:spPr>
              <a:xfrm rot="17804600">
                <a:off x="2318739" y="4186465"/>
                <a:ext cx="734584"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工艺</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106" name="文本框 105">
                <a:extLst>
                  <a:ext uri="{FF2B5EF4-FFF2-40B4-BE49-F238E27FC236}">
                    <a16:creationId xmlns:a16="http://schemas.microsoft.com/office/drawing/2014/main" id="{30350DEA-1A81-C5EC-BAC9-BC2A58BCDF1A}"/>
                  </a:ext>
                </a:extLst>
              </p:cNvPr>
              <p:cNvSpPr txBox="1"/>
              <p:nvPr/>
            </p:nvSpPr>
            <p:spPr>
              <a:xfrm rot="3481193">
                <a:off x="4263915" y="4199887"/>
                <a:ext cx="734584"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激光</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grpSp>
        <p:sp>
          <p:nvSpPr>
            <p:cNvPr id="75" name="Block Arc 20++">
              <a:extLst>
                <a:ext uri="{FF2B5EF4-FFF2-40B4-BE49-F238E27FC236}">
                  <a16:creationId xmlns:a16="http://schemas.microsoft.com/office/drawing/2014/main" id="{A9E2DB15-8253-A3C5-228D-747C52EED3AE}"/>
                </a:ext>
              </a:extLst>
            </p:cNvPr>
            <p:cNvSpPr/>
            <p:nvPr/>
          </p:nvSpPr>
          <p:spPr>
            <a:xfrm rot="7466991" flipH="1" flipV="1">
              <a:off x="2237762" y="3613185"/>
              <a:ext cx="2560310" cy="2560312"/>
            </a:xfrm>
            <a:prstGeom prst="blockArc">
              <a:avLst>
                <a:gd name="adj1" fmla="val 10630575"/>
                <a:gd name="adj2" fmla="val 14162273"/>
                <a:gd name="adj3" fmla="val 25336"/>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76" name="空心弧 75">
              <a:extLst>
                <a:ext uri="{FF2B5EF4-FFF2-40B4-BE49-F238E27FC236}">
                  <a16:creationId xmlns:a16="http://schemas.microsoft.com/office/drawing/2014/main" id="{A3CAD38D-DC4D-4838-F984-DB781431C8A6}"/>
                </a:ext>
              </a:extLst>
            </p:cNvPr>
            <p:cNvSpPr/>
            <p:nvPr/>
          </p:nvSpPr>
          <p:spPr>
            <a:xfrm flipH="1" flipV="1">
              <a:off x="2337967" y="3644260"/>
              <a:ext cx="2560312" cy="2560305"/>
            </a:xfrm>
            <a:prstGeom prst="blockArc">
              <a:avLst>
                <a:gd name="adj1" fmla="val 10800000"/>
                <a:gd name="adj2" fmla="val 14287631"/>
                <a:gd name="adj3" fmla="val 25055"/>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77" name="Block Arc 20+">
              <a:extLst>
                <a:ext uri="{FF2B5EF4-FFF2-40B4-BE49-F238E27FC236}">
                  <a16:creationId xmlns:a16="http://schemas.microsoft.com/office/drawing/2014/main" id="{8DD081CD-53A8-784B-B114-16FE2387671B}"/>
                </a:ext>
              </a:extLst>
            </p:cNvPr>
            <p:cNvSpPr/>
            <p:nvPr/>
          </p:nvSpPr>
          <p:spPr>
            <a:xfrm rot="3729735" flipH="1" flipV="1">
              <a:off x="2278557" y="3658982"/>
              <a:ext cx="2560307" cy="2560312"/>
            </a:xfrm>
            <a:prstGeom prst="blockArc">
              <a:avLst>
                <a:gd name="adj1" fmla="val 10685179"/>
                <a:gd name="adj2" fmla="val 14221313"/>
                <a:gd name="adj3" fmla="val 25103"/>
              </a:avLst>
            </a:prstGeom>
            <a:solidFill>
              <a:srgbClr val="FFFFFF"/>
            </a:solidFill>
            <a:ln w="8796" cap="flat" cmpd="sng" algn="ctr">
              <a:solidFill>
                <a:srgbClr val="FFFFFF">
                  <a:lumMod val="75000"/>
                </a:srgbClr>
              </a:solidFill>
              <a:prstDash val="dash"/>
              <a:miter lim="800000"/>
            </a:ln>
            <a:effectLst/>
          </p:spPr>
          <p:txBody>
            <a:bodyPr lIns="70363" tIns="35182" rIns="70363" bIns="351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78" name="文本框 77">
              <a:extLst>
                <a:ext uri="{FF2B5EF4-FFF2-40B4-BE49-F238E27FC236}">
                  <a16:creationId xmlns:a16="http://schemas.microsoft.com/office/drawing/2014/main" id="{FAB788C8-4198-C581-FCBE-5F90EF71EBB8}"/>
                </a:ext>
              </a:extLst>
            </p:cNvPr>
            <p:cNvSpPr txBox="1"/>
            <p:nvPr/>
          </p:nvSpPr>
          <p:spPr>
            <a:xfrm rot="10800000" flipH="1" flipV="1">
              <a:off x="3065359" y="5838287"/>
              <a:ext cx="1010467"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lang="zh-CN" altLang="en-US" sz="1000" dirty="0"/>
                <a:t>熔池流动</a:t>
              </a:r>
            </a:p>
          </p:txBody>
        </p:sp>
        <p:sp>
          <p:nvSpPr>
            <p:cNvPr id="79" name="文本框 78">
              <a:extLst>
                <a:ext uri="{FF2B5EF4-FFF2-40B4-BE49-F238E27FC236}">
                  <a16:creationId xmlns:a16="http://schemas.microsoft.com/office/drawing/2014/main" id="{151C00F6-779F-4930-BE5B-D67568F0C357}"/>
                </a:ext>
              </a:extLst>
            </p:cNvPr>
            <p:cNvSpPr txBox="1"/>
            <p:nvPr/>
          </p:nvSpPr>
          <p:spPr>
            <a:xfrm rot="17804600" flipH="1" flipV="1">
              <a:off x="4143675" y="5236772"/>
              <a:ext cx="734585"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耦合</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80" name="文本框 79">
              <a:extLst>
                <a:ext uri="{FF2B5EF4-FFF2-40B4-BE49-F238E27FC236}">
                  <a16:creationId xmlns:a16="http://schemas.microsoft.com/office/drawing/2014/main" id="{85B5E7F2-BCA2-DD1D-9F50-04ED2BBED26E}"/>
                </a:ext>
              </a:extLst>
            </p:cNvPr>
            <p:cNvSpPr txBox="1"/>
            <p:nvPr/>
          </p:nvSpPr>
          <p:spPr>
            <a:xfrm rot="3481193" flipH="1" flipV="1">
              <a:off x="2282702" y="5246557"/>
              <a:ext cx="734585" cy="325419"/>
            </a:xfrm>
            <a:prstGeom prst="rect">
              <a:avLst/>
            </a:prstGeom>
            <a:noFill/>
            <a:effectLst/>
          </p:spPr>
          <p:txBody>
            <a:bodyPr wrap="square" lIns="70363" tIns="35182" rIns="70363" bIns="35182"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000" dirty="0"/>
                <a:t>装备</a:t>
              </a:r>
              <a:endParaRPr kumimoji="0" lang="zh-CN" altLang="en-US" sz="1050" b="0" i="0" u="none" strike="noStrike" kern="0" cap="none" spc="0" normalizeH="0" baseline="0" noProof="0" dirty="0">
                <a:ln>
                  <a:noFill/>
                </a:ln>
                <a:solidFill>
                  <a:srgbClr val="000000">
                    <a:lumMod val="75000"/>
                    <a:lumOff val="25000"/>
                  </a:srgbClr>
                </a:solidFill>
                <a:effectLst/>
                <a:uLnTx/>
                <a:uFillTx/>
                <a:latin typeface="+mn-ea"/>
                <a:ea typeface="思源黑体 CN Normal"/>
                <a:cs typeface="+mn-cs"/>
              </a:endParaRPr>
            </a:p>
          </p:txBody>
        </p:sp>
        <p:sp>
          <p:nvSpPr>
            <p:cNvPr id="81" name="椭圆 80">
              <a:extLst>
                <a:ext uri="{FF2B5EF4-FFF2-40B4-BE49-F238E27FC236}">
                  <a16:creationId xmlns:a16="http://schemas.microsoft.com/office/drawing/2014/main" id="{237C93B0-AB51-269A-592F-D09058D85EFE}"/>
                </a:ext>
              </a:extLst>
            </p:cNvPr>
            <p:cNvSpPr/>
            <p:nvPr>
              <p:custDataLst>
                <p:tags r:id="rId1"/>
              </p:custDataLst>
            </p:nvPr>
          </p:nvSpPr>
          <p:spPr>
            <a:xfrm>
              <a:off x="2643199" y="3916518"/>
              <a:ext cx="1865074" cy="1865074"/>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41300" dist="117272" dir="5400000" sx="99000" sy="99000" algn="ctr" rotWithShape="0">
                <a:srgbClr val="009DD9">
                  <a:alpha val="40000"/>
                </a:srgbClr>
              </a:outerShdw>
            </a:effectLst>
          </p:spPr>
          <p:txBody>
            <a:bodyPr wrap="square" lIns="93817" tIns="46909" rIns="93817" bIns="46909"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FFFFFF"/>
                </a:solidFill>
                <a:effectLst>
                  <a:outerShdw blurRad="130302" dist="39091" dir="2699985" algn="tl">
                    <a:srgbClr val="000000">
                      <a:alpha val="40000"/>
                    </a:srgbClr>
                  </a:outerShdw>
                </a:effectLst>
                <a:uLnTx/>
                <a:uFillTx/>
                <a:latin typeface="+mj-ea"/>
                <a:ea typeface="思源黑体 CN Bold"/>
                <a:cs typeface="+mn-cs"/>
              </a:endParaRPr>
            </a:p>
          </p:txBody>
        </p:sp>
        <p:sp>
          <p:nvSpPr>
            <p:cNvPr id="82" name="弧形 81">
              <a:extLst>
                <a:ext uri="{FF2B5EF4-FFF2-40B4-BE49-F238E27FC236}">
                  <a16:creationId xmlns:a16="http://schemas.microsoft.com/office/drawing/2014/main" id="{05EE600F-165C-F21D-1FE9-47CEB37D4E83}"/>
                </a:ext>
              </a:extLst>
            </p:cNvPr>
            <p:cNvSpPr/>
            <p:nvPr/>
          </p:nvSpPr>
          <p:spPr>
            <a:xfrm>
              <a:off x="2755030" y="4034702"/>
              <a:ext cx="1631124" cy="1631126"/>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83" name="Arc 57+">
              <a:extLst>
                <a:ext uri="{FF2B5EF4-FFF2-40B4-BE49-F238E27FC236}">
                  <a16:creationId xmlns:a16="http://schemas.microsoft.com/office/drawing/2014/main" id="{AB14C838-4163-C376-DACE-5BF11FD1EFE2}"/>
                </a:ext>
              </a:extLst>
            </p:cNvPr>
            <p:cNvSpPr/>
            <p:nvPr/>
          </p:nvSpPr>
          <p:spPr>
            <a:xfrm rot="10800000">
              <a:off x="2755032" y="4034696"/>
              <a:ext cx="1631124" cy="1631128"/>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84" name="文本框 83">
              <a:extLst>
                <a:ext uri="{FF2B5EF4-FFF2-40B4-BE49-F238E27FC236}">
                  <a16:creationId xmlns:a16="http://schemas.microsoft.com/office/drawing/2014/main" id="{38DD03B0-4874-A6ED-5548-AEFB7136B362}"/>
                </a:ext>
              </a:extLst>
            </p:cNvPr>
            <p:cNvSpPr txBox="1"/>
            <p:nvPr/>
          </p:nvSpPr>
          <p:spPr>
            <a:xfrm>
              <a:off x="2817079" y="4430962"/>
              <a:ext cx="1568332" cy="497911"/>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kumimoji="0" lang="zh-CN" altLang="en-US" b="0" kern="0" dirty="0">
                  <a:solidFill>
                    <a:srgbClr val="FFFFFF"/>
                  </a:solidFill>
                  <a:latin typeface="华康标题宋W9(P)" panose="02020900000000000000" pitchFamily="18" charset="-122"/>
                  <a:ea typeface="华康标题宋W9(P)" panose="02020900000000000000" pitchFamily="18" charset="-122"/>
                  <a:cs typeface="+mn-cs"/>
                </a:rPr>
                <a:t>材料加工</a:t>
              </a:r>
            </a:p>
          </p:txBody>
        </p:sp>
        <p:sp>
          <p:nvSpPr>
            <p:cNvPr id="85" name="文本框 84">
              <a:extLst>
                <a:ext uri="{FF2B5EF4-FFF2-40B4-BE49-F238E27FC236}">
                  <a16:creationId xmlns:a16="http://schemas.microsoft.com/office/drawing/2014/main" id="{8E37D9AC-BF2E-01A0-6B0B-C1EB1EB58B86}"/>
                </a:ext>
              </a:extLst>
            </p:cNvPr>
            <p:cNvSpPr txBox="1"/>
            <p:nvPr/>
          </p:nvSpPr>
          <p:spPr>
            <a:xfrm>
              <a:off x="2755029" y="5011920"/>
              <a:ext cx="1646444" cy="347226"/>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kumimoji="0" lang="zh-CN" altLang="en-US" sz="1100" b="0" kern="0" dirty="0">
                  <a:solidFill>
                    <a:srgbClr val="FFFFFF"/>
                  </a:solidFill>
                  <a:latin typeface="华文中宋" panose="02010600040101010101" pitchFamily="2" charset="-122"/>
                  <a:ea typeface="华文中宋" panose="02010600040101010101" pitchFamily="2" charset="-122"/>
                  <a:cs typeface="+mn-cs"/>
                </a:rPr>
                <a:t>应用场景</a:t>
              </a:r>
              <a:endParaRPr kumimoji="0" lang="en-US" altLang="zh-CN" sz="1100" b="0" kern="0" dirty="0">
                <a:solidFill>
                  <a:srgbClr val="FFFFFF"/>
                </a:solidFill>
                <a:latin typeface="华文中宋" panose="02010600040101010101" pitchFamily="2" charset="-122"/>
                <a:ea typeface="华文中宋" panose="02010600040101010101" pitchFamily="2" charset="-122"/>
                <a:cs typeface="+mn-cs"/>
              </a:endParaRPr>
            </a:p>
          </p:txBody>
        </p:sp>
        <p:sp>
          <p:nvSpPr>
            <p:cNvPr id="86" name="椭圆 85">
              <a:extLst>
                <a:ext uri="{FF2B5EF4-FFF2-40B4-BE49-F238E27FC236}">
                  <a16:creationId xmlns:a16="http://schemas.microsoft.com/office/drawing/2014/main" id="{A9D361A2-2359-76F1-08DB-C7249F2C5134}"/>
                </a:ext>
              </a:extLst>
            </p:cNvPr>
            <p:cNvSpPr/>
            <p:nvPr>
              <p:custDataLst>
                <p:tags r:id="rId2"/>
              </p:custDataLst>
            </p:nvPr>
          </p:nvSpPr>
          <p:spPr>
            <a:xfrm>
              <a:off x="7580197" y="3916520"/>
              <a:ext cx="1865074" cy="1865074"/>
            </a:xfrm>
            <a:prstGeom prst="ellipse">
              <a:avLst/>
            </a:prstGeom>
            <a:gradFill flip="none" rotWithShape="1">
              <a:gsLst>
                <a:gs pos="0">
                  <a:srgbClr val="0BD0D9"/>
                </a:gs>
                <a:gs pos="100000">
                  <a:srgbClr val="0BD0D9">
                    <a:lumMod val="90000"/>
                    <a:lumOff val="10000"/>
                  </a:srgbClr>
                </a:gs>
              </a:gsLst>
              <a:path path="circle">
                <a:fillToRect t="100000" r="100000"/>
              </a:path>
              <a:tileRect l="-100000" b="-100000"/>
            </a:gradFill>
            <a:ln w="38100" cap="flat" cmpd="sng" algn="ctr">
              <a:noFill/>
              <a:prstDash val="solid"/>
              <a:miter lim="800000"/>
            </a:ln>
            <a:effectLst>
              <a:outerShdw blurRad="241300" dist="48260" dir="5400000" sx="108000" sy="108000" algn="ctr" rotWithShape="0">
                <a:srgbClr val="0BD0D9">
                  <a:alpha val="40000"/>
                </a:srgbClr>
              </a:outerShdw>
            </a:effectLst>
          </p:spPr>
          <p:txBody>
            <a:bodyPr lIns="93817" tIns="46909" rIns="93817" bIns="4690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FFFFFF"/>
                </a:solidFill>
                <a:effectLst>
                  <a:outerShdw blurRad="130302" dist="39091" dir="2699985" algn="tl">
                    <a:srgbClr val="000000">
                      <a:alpha val="40000"/>
                    </a:srgbClr>
                  </a:outerShdw>
                </a:effectLst>
                <a:uLnTx/>
                <a:uFillTx/>
                <a:latin typeface="+mj-ea"/>
                <a:ea typeface="思源黑体 CN Bold"/>
                <a:cs typeface="+mn-cs"/>
              </a:endParaRPr>
            </a:p>
          </p:txBody>
        </p:sp>
        <p:sp>
          <p:nvSpPr>
            <p:cNvPr id="87" name="弧形 86">
              <a:extLst>
                <a:ext uri="{FF2B5EF4-FFF2-40B4-BE49-F238E27FC236}">
                  <a16:creationId xmlns:a16="http://schemas.microsoft.com/office/drawing/2014/main" id="{2F2D9562-8051-02DD-3A1F-1DD05F82B44A}"/>
                </a:ext>
              </a:extLst>
            </p:cNvPr>
            <p:cNvSpPr/>
            <p:nvPr/>
          </p:nvSpPr>
          <p:spPr>
            <a:xfrm>
              <a:off x="7692028" y="4034703"/>
              <a:ext cx="1631124" cy="1631126"/>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88" name="Arc 57+">
              <a:extLst>
                <a:ext uri="{FF2B5EF4-FFF2-40B4-BE49-F238E27FC236}">
                  <a16:creationId xmlns:a16="http://schemas.microsoft.com/office/drawing/2014/main" id="{F7E956B5-85AF-F85A-E8D5-B3C8D3E75984}"/>
                </a:ext>
              </a:extLst>
            </p:cNvPr>
            <p:cNvSpPr/>
            <p:nvPr/>
          </p:nvSpPr>
          <p:spPr>
            <a:xfrm rot="10800000">
              <a:off x="7692029" y="4034698"/>
              <a:ext cx="1631124" cy="1631128"/>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89" name="文本框 88">
              <a:extLst>
                <a:ext uri="{FF2B5EF4-FFF2-40B4-BE49-F238E27FC236}">
                  <a16:creationId xmlns:a16="http://schemas.microsoft.com/office/drawing/2014/main" id="{A88B4D20-1078-0B8D-C043-02BED3DF8672}"/>
                </a:ext>
              </a:extLst>
            </p:cNvPr>
            <p:cNvSpPr txBox="1"/>
            <p:nvPr/>
          </p:nvSpPr>
          <p:spPr>
            <a:xfrm>
              <a:off x="7581940" y="4383164"/>
              <a:ext cx="1932827" cy="497911"/>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0" kern="0" dirty="0">
                  <a:solidFill>
                    <a:srgbClr val="FFFFFF"/>
                  </a:solidFill>
                  <a:latin typeface="华康标题宋W9(P)" panose="02020900000000000000" pitchFamily="18" charset="-122"/>
                  <a:ea typeface="华康标题宋W9(P)" panose="02020900000000000000" pitchFamily="18" charset="-122"/>
                  <a:cs typeface="+mn-cs"/>
                </a:rPr>
                <a:t>机械</a:t>
              </a:r>
            </a:p>
          </p:txBody>
        </p:sp>
        <p:sp>
          <p:nvSpPr>
            <p:cNvPr id="90" name="文本框 89">
              <a:extLst>
                <a:ext uri="{FF2B5EF4-FFF2-40B4-BE49-F238E27FC236}">
                  <a16:creationId xmlns:a16="http://schemas.microsoft.com/office/drawing/2014/main" id="{A64FD9D5-A60A-7C58-E69B-B05F20697AF8}"/>
                </a:ext>
              </a:extLst>
            </p:cNvPr>
            <p:cNvSpPr txBox="1"/>
            <p:nvPr/>
          </p:nvSpPr>
          <p:spPr>
            <a:xfrm>
              <a:off x="7733956" y="4985238"/>
              <a:ext cx="1646444" cy="347226"/>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rPr>
                <a:t>理论体系</a:t>
              </a:r>
              <a:endParaRPr kumimoji="0" lang="en-US" altLang="zh-CN" sz="1100" b="0" i="0" u="none" strike="noStrike" kern="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endParaRPr>
            </a:p>
          </p:txBody>
        </p:sp>
        <p:sp>
          <p:nvSpPr>
            <p:cNvPr id="91" name="椭圆 90">
              <a:extLst>
                <a:ext uri="{FF2B5EF4-FFF2-40B4-BE49-F238E27FC236}">
                  <a16:creationId xmlns:a16="http://schemas.microsoft.com/office/drawing/2014/main" id="{62C51928-52BD-FCA0-701A-DD1B327D7804}"/>
                </a:ext>
              </a:extLst>
            </p:cNvPr>
            <p:cNvSpPr/>
            <p:nvPr>
              <p:custDataLst>
                <p:tags r:id="rId3"/>
              </p:custDataLst>
            </p:nvPr>
          </p:nvSpPr>
          <p:spPr>
            <a:xfrm>
              <a:off x="5075505" y="1188646"/>
              <a:ext cx="1865074" cy="1865074"/>
            </a:xfrm>
            <a:prstGeom prst="ellipse">
              <a:avLst/>
            </a:pr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351815" dist="105545" dir="5400000" sx="108000" sy="108000" algn="ctr" rotWithShape="0">
                <a:srgbClr val="0F6FC6">
                  <a:alpha val="40000"/>
                </a:srgbClr>
              </a:outerShdw>
            </a:effectLst>
          </p:spPr>
          <p:txBody>
            <a:bodyPr lIns="84435" tIns="42218" rIns="84435" bIns="4221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FFFFFF"/>
                </a:solidFill>
                <a:effectLst>
                  <a:outerShdw blurRad="117272" dist="35181" dir="2699989" algn="tl">
                    <a:srgbClr val="000000">
                      <a:alpha val="40000"/>
                    </a:srgbClr>
                  </a:outerShdw>
                </a:effectLst>
                <a:uLnTx/>
                <a:uFillTx/>
                <a:latin typeface="+mj-ea"/>
                <a:ea typeface="思源黑体 CN Bold"/>
                <a:cs typeface="+mn-cs"/>
              </a:endParaRPr>
            </a:p>
          </p:txBody>
        </p:sp>
        <p:sp>
          <p:nvSpPr>
            <p:cNvPr id="92" name="弧形 91">
              <a:extLst>
                <a:ext uri="{FF2B5EF4-FFF2-40B4-BE49-F238E27FC236}">
                  <a16:creationId xmlns:a16="http://schemas.microsoft.com/office/drawing/2014/main" id="{A709B9B6-983C-21C5-D310-24E12BB1D8C0}"/>
                </a:ext>
              </a:extLst>
            </p:cNvPr>
            <p:cNvSpPr/>
            <p:nvPr/>
          </p:nvSpPr>
          <p:spPr>
            <a:xfrm>
              <a:off x="5187336" y="1306830"/>
              <a:ext cx="1631124" cy="1631126"/>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93" name="Arc 57+">
              <a:extLst>
                <a:ext uri="{FF2B5EF4-FFF2-40B4-BE49-F238E27FC236}">
                  <a16:creationId xmlns:a16="http://schemas.microsoft.com/office/drawing/2014/main" id="{D463CC18-2CAE-4114-3908-B6729EDD362F}"/>
                </a:ext>
              </a:extLst>
            </p:cNvPr>
            <p:cNvSpPr/>
            <p:nvPr/>
          </p:nvSpPr>
          <p:spPr>
            <a:xfrm rot="10800000">
              <a:off x="5187337" y="1306825"/>
              <a:ext cx="1631124" cy="1631128"/>
            </a:xfrm>
            <a:prstGeom prst="arc">
              <a:avLst/>
            </a:prstGeom>
            <a:noFill/>
            <a:ln w="27146" cap="flat" cmpd="sng" algn="ctr">
              <a:gradFill>
                <a:gsLst>
                  <a:gs pos="0">
                    <a:srgbClr val="FFFFFF"/>
                  </a:gs>
                  <a:gs pos="100000">
                    <a:srgbClr val="FFFFFF">
                      <a:alpha val="0"/>
                    </a:srgbClr>
                  </a:gs>
                </a:gsLst>
                <a:lin ang="5400000" scaled="1"/>
              </a:gradFill>
              <a:prstDash val="solid"/>
              <a:miter lim="800000"/>
            </a:ln>
            <a:effectLst/>
          </p:spPr>
          <p:txBody>
            <a:bodyPr lIns="78181" tIns="39091" rIns="78181" bIns="3909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等线"/>
                <a:ea typeface="思源黑体 CN Normal"/>
                <a:cs typeface="+mn-cs"/>
              </a:endParaRPr>
            </a:p>
          </p:txBody>
        </p:sp>
        <p:sp>
          <p:nvSpPr>
            <p:cNvPr id="94" name="文本框 93">
              <a:extLst>
                <a:ext uri="{FF2B5EF4-FFF2-40B4-BE49-F238E27FC236}">
                  <a16:creationId xmlns:a16="http://schemas.microsoft.com/office/drawing/2014/main" id="{CEEAAE38-24C0-6E70-6AFF-D9059ECF9EB8}"/>
                </a:ext>
              </a:extLst>
            </p:cNvPr>
            <p:cNvSpPr txBox="1"/>
            <p:nvPr/>
          </p:nvSpPr>
          <p:spPr>
            <a:xfrm>
              <a:off x="5290083" y="1605793"/>
              <a:ext cx="1467450" cy="497911"/>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0" kern="0" dirty="0">
                  <a:solidFill>
                    <a:srgbClr val="FFFFFF"/>
                  </a:solidFill>
                  <a:latin typeface="华康标题宋W9(P)" panose="02020900000000000000" pitchFamily="18" charset="-122"/>
                  <a:ea typeface="华康标题宋W9(P)" panose="02020900000000000000" pitchFamily="18" charset="-122"/>
                  <a:cs typeface="+mn-cs"/>
                </a:rPr>
                <a:t>测控</a:t>
              </a:r>
              <a:endParaRPr kumimoji="0" lang="zh-CN" altLang="en-US" b="0" i="0" u="none" strike="noStrike" kern="0" cap="none" spc="0" normalizeH="0" baseline="0" noProof="0" dirty="0">
                <a:ln>
                  <a:noFill/>
                </a:ln>
                <a:solidFill>
                  <a:srgbClr val="FFFFFF"/>
                </a:solidFill>
                <a:effectLst/>
                <a:uLnTx/>
                <a:uFillTx/>
                <a:latin typeface="华康标题宋W9(P)" panose="02020900000000000000" pitchFamily="18" charset="-122"/>
                <a:ea typeface="华康标题宋W9(P)" panose="02020900000000000000" pitchFamily="18" charset="-122"/>
                <a:cs typeface="+mn-cs"/>
              </a:endParaRPr>
            </a:p>
          </p:txBody>
        </p:sp>
        <p:sp>
          <p:nvSpPr>
            <p:cNvPr id="95" name="文本框 94">
              <a:extLst>
                <a:ext uri="{FF2B5EF4-FFF2-40B4-BE49-F238E27FC236}">
                  <a16:creationId xmlns:a16="http://schemas.microsoft.com/office/drawing/2014/main" id="{C60CBB7A-3E8A-3115-AAF3-B884210AC2E0}"/>
                </a:ext>
              </a:extLst>
            </p:cNvPr>
            <p:cNvSpPr txBox="1"/>
            <p:nvPr/>
          </p:nvSpPr>
          <p:spPr>
            <a:xfrm>
              <a:off x="5208420" y="2128924"/>
              <a:ext cx="1646444" cy="347226"/>
            </a:xfrm>
            <a:prstGeom prst="rect">
              <a:avLst/>
            </a:prstGeom>
            <a:noFill/>
            <a:effectLst/>
          </p:spPr>
          <p:txBody>
            <a:bodyPr wrap="square" lIns="78181" tIns="39091" rIns="78181" bIns="39091"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fontAlgn="auto">
                <a:spcBef>
                  <a:spcPts val="0"/>
                </a:spcBef>
                <a:spcAft>
                  <a:spcPts val="0"/>
                </a:spcAft>
              </a:pPr>
              <a:r>
                <a:rPr kumimoji="0" lang="zh-CN" altLang="en-US" sz="1100" b="0" kern="0" dirty="0">
                  <a:solidFill>
                    <a:srgbClr val="FFFFFF"/>
                  </a:solidFill>
                  <a:latin typeface="华文中宋" panose="02010600040101010101" pitchFamily="2" charset="-122"/>
                  <a:ea typeface="华文中宋" panose="02010600040101010101" pitchFamily="2" charset="-122"/>
                  <a:cs typeface="+mn-cs"/>
                </a:rPr>
                <a:t>技术手段</a:t>
              </a:r>
              <a:endParaRPr kumimoji="0" lang="en-US" altLang="zh-CN" sz="1100" b="0" kern="0" dirty="0">
                <a:solidFill>
                  <a:srgbClr val="FFFFFF"/>
                </a:solidFill>
                <a:latin typeface="华文中宋" panose="02010600040101010101" pitchFamily="2" charset="-122"/>
                <a:ea typeface="华文中宋" panose="02010600040101010101" pitchFamily="2" charset="-122"/>
                <a:cs typeface="+mn-cs"/>
              </a:endParaRPr>
            </a:p>
          </p:txBody>
        </p:sp>
        <p:cxnSp>
          <p:nvCxnSpPr>
            <p:cNvPr id="96" name="直接箭头连接符 95">
              <a:extLst>
                <a:ext uri="{FF2B5EF4-FFF2-40B4-BE49-F238E27FC236}">
                  <a16:creationId xmlns:a16="http://schemas.microsoft.com/office/drawing/2014/main" id="{6C4BFF88-69D1-9D2A-75EF-493541EA02B3}"/>
                </a:ext>
              </a:extLst>
            </p:cNvPr>
            <p:cNvCxnSpPr>
              <a:cxnSpLocks/>
            </p:cNvCxnSpPr>
            <p:nvPr/>
          </p:nvCxnSpPr>
          <p:spPr>
            <a:xfrm flipH="1">
              <a:off x="5370318" y="4820086"/>
              <a:ext cx="1375410" cy="0"/>
            </a:xfrm>
            <a:prstGeom prst="straightConnector1">
              <a:avLst/>
            </a:prstGeom>
            <a:noFill/>
            <a:ln w="9525" cap="flat" cmpd="sng" algn="ctr">
              <a:solidFill>
                <a:srgbClr val="000000">
                  <a:lumMod val="65000"/>
                  <a:lumOff val="35000"/>
                </a:srgbClr>
              </a:solidFill>
              <a:prstDash val="dash"/>
              <a:miter lim="800000"/>
              <a:headEnd type="triangle"/>
              <a:tailEnd type="triangle"/>
            </a:ln>
            <a:effectLst/>
          </p:spPr>
        </p:cxnSp>
        <p:cxnSp>
          <p:nvCxnSpPr>
            <p:cNvPr id="97" name="直接箭头连接符 96">
              <a:extLst>
                <a:ext uri="{FF2B5EF4-FFF2-40B4-BE49-F238E27FC236}">
                  <a16:creationId xmlns:a16="http://schemas.microsoft.com/office/drawing/2014/main" id="{4E2764F5-3F1A-FB3B-D94A-2FB840BCD8ED}"/>
                </a:ext>
              </a:extLst>
            </p:cNvPr>
            <p:cNvCxnSpPr>
              <a:cxnSpLocks/>
            </p:cNvCxnSpPr>
            <p:nvPr/>
          </p:nvCxnSpPr>
          <p:spPr>
            <a:xfrm flipV="1">
              <a:off x="4513702" y="3171707"/>
              <a:ext cx="386080" cy="398145"/>
            </a:xfrm>
            <a:prstGeom prst="straightConnector1">
              <a:avLst/>
            </a:prstGeom>
            <a:noFill/>
            <a:ln w="9525" cap="flat" cmpd="sng" algn="ctr">
              <a:solidFill>
                <a:srgbClr val="000000">
                  <a:lumMod val="65000"/>
                  <a:lumOff val="35000"/>
                </a:srgbClr>
              </a:solidFill>
              <a:prstDash val="dash"/>
              <a:miter lim="800000"/>
              <a:headEnd type="triangle"/>
              <a:tailEnd type="triangle"/>
            </a:ln>
            <a:effectLst/>
          </p:spPr>
        </p:cxnSp>
        <p:cxnSp>
          <p:nvCxnSpPr>
            <p:cNvPr id="98" name="直接箭头连接符 97">
              <a:extLst>
                <a:ext uri="{FF2B5EF4-FFF2-40B4-BE49-F238E27FC236}">
                  <a16:creationId xmlns:a16="http://schemas.microsoft.com/office/drawing/2014/main" id="{DF745D0B-9773-2AFD-A626-34A9BC7CB209}"/>
                </a:ext>
              </a:extLst>
            </p:cNvPr>
            <p:cNvCxnSpPr>
              <a:cxnSpLocks/>
            </p:cNvCxnSpPr>
            <p:nvPr/>
          </p:nvCxnSpPr>
          <p:spPr>
            <a:xfrm flipH="1" flipV="1">
              <a:off x="7216263" y="3173131"/>
              <a:ext cx="386460" cy="396720"/>
            </a:xfrm>
            <a:prstGeom prst="straightConnector1">
              <a:avLst/>
            </a:prstGeom>
            <a:noFill/>
            <a:ln w="9525" cap="flat" cmpd="sng" algn="ctr">
              <a:solidFill>
                <a:srgbClr val="000000">
                  <a:lumMod val="65000"/>
                  <a:lumOff val="35000"/>
                </a:srgbClr>
              </a:solidFill>
              <a:prstDash val="dash"/>
              <a:miter lim="800000"/>
              <a:headEnd type="triangle"/>
              <a:tailEnd type="triangle"/>
            </a:ln>
            <a:effectLst/>
          </p:spPr>
        </p:cxnSp>
        <p:sp>
          <p:nvSpPr>
            <p:cNvPr id="99" name="文本框 98">
              <a:extLst>
                <a:ext uri="{FF2B5EF4-FFF2-40B4-BE49-F238E27FC236}">
                  <a16:creationId xmlns:a16="http://schemas.microsoft.com/office/drawing/2014/main" id="{CCD87A14-309D-3D56-C83B-4D0AB1141E7B}"/>
                </a:ext>
              </a:extLst>
            </p:cNvPr>
            <p:cNvSpPr txBox="1"/>
            <p:nvPr/>
          </p:nvSpPr>
          <p:spPr>
            <a:xfrm>
              <a:off x="4913317" y="5118003"/>
              <a:ext cx="2330855" cy="430533"/>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dirty="0"/>
                <a:t>工业母机可靠性</a:t>
              </a:r>
              <a:endParaRPr kumimoji="0" lang="zh-CN" altLang="en-US" b="0" i="0" u="none" strike="noStrike" kern="0" cap="none" spc="0" normalizeH="0" baseline="0" noProof="0" dirty="0">
                <a:ln>
                  <a:noFill/>
                </a:ln>
                <a:solidFill>
                  <a:srgbClr val="000000">
                    <a:lumMod val="75000"/>
                    <a:lumOff val="25000"/>
                  </a:srgbClr>
                </a:solidFill>
                <a:effectLst/>
                <a:uLnTx/>
                <a:uFillTx/>
                <a:latin typeface="+mj-ea"/>
                <a:ea typeface="思源黑体 CN Bold"/>
                <a:cs typeface="+mn-cs"/>
              </a:endParaRPr>
            </a:p>
          </p:txBody>
        </p:sp>
        <p:sp>
          <p:nvSpPr>
            <p:cNvPr id="100" name="文本框 99">
              <a:extLst>
                <a:ext uri="{FF2B5EF4-FFF2-40B4-BE49-F238E27FC236}">
                  <a16:creationId xmlns:a16="http://schemas.microsoft.com/office/drawing/2014/main" id="{F0356971-616C-AB05-24B9-66D536694F16}"/>
                </a:ext>
              </a:extLst>
            </p:cNvPr>
            <p:cNvSpPr txBox="1"/>
            <p:nvPr/>
          </p:nvSpPr>
          <p:spPr>
            <a:xfrm>
              <a:off x="2827018" y="2696337"/>
              <a:ext cx="2432117" cy="430533"/>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dirty="0"/>
                <a:t>焊接自动化</a:t>
              </a:r>
              <a:endParaRPr lang="en-US" altLang="zh-CN" sz="1400" dirty="0"/>
            </a:p>
          </p:txBody>
        </p:sp>
        <p:sp>
          <p:nvSpPr>
            <p:cNvPr id="101" name="文本框 100">
              <a:extLst>
                <a:ext uri="{FF2B5EF4-FFF2-40B4-BE49-F238E27FC236}">
                  <a16:creationId xmlns:a16="http://schemas.microsoft.com/office/drawing/2014/main" id="{6DE75073-1656-02F0-7971-4E0DC34D4ADF}"/>
                </a:ext>
              </a:extLst>
            </p:cNvPr>
            <p:cNvSpPr txBox="1"/>
            <p:nvPr/>
          </p:nvSpPr>
          <p:spPr>
            <a:xfrm>
              <a:off x="6995707" y="2705116"/>
              <a:ext cx="1953537" cy="430533"/>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dirty="0"/>
                <a:t>状态监测</a:t>
              </a:r>
              <a:endParaRPr lang="en-US" altLang="zh-CN" sz="1400" dirty="0"/>
            </a:p>
          </p:txBody>
        </p:sp>
      </p:grpSp>
    </p:spTree>
    <p:extLst>
      <p:ext uri="{BB962C8B-B14F-4D97-AF65-F5344CB8AC3E}">
        <p14:creationId xmlns:p14="http://schemas.microsoft.com/office/powerpoint/2010/main" val="2532089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341E-2BC1-70CA-D6E8-8583DA3BE59F}"/>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D99C47E-CE79-B3F5-61FB-69C614BC70A8}"/>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本科阶段：基于微波透射法的气固两相流传感器设计</a:t>
            </a:r>
          </a:p>
        </p:txBody>
      </p:sp>
      <p:sp>
        <p:nvSpPr>
          <p:cNvPr id="2" name="文本框 1">
            <a:extLst>
              <a:ext uri="{FF2B5EF4-FFF2-40B4-BE49-F238E27FC236}">
                <a16:creationId xmlns:a16="http://schemas.microsoft.com/office/drawing/2014/main" id="{184FD615-7A14-270F-2F65-7303217E4CAC}"/>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 name="直接连接符 2">
            <a:extLst>
              <a:ext uri="{FF2B5EF4-FFF2-40B4-BE49-F238E27FC236}">
                <a16:creationId xmlns:a16="http://schemas.microsoft.com/office/drawing/2014/main" id="{0EFA7AD5-2788-2DF7-A89F-202D2084B247}"/>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0F213C05-208E-AE29-F45D-7B80375CD61B}"/>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
        <p:nvSpPr>
          <p:cNvPr id="10" name="矩形: 圆角 9">
            <a:extLst>
              <a:ext uri="{FF2B5EF4-FFF2-40B4-BE49-F238E27FC236}">
                <a16:creationId xmlns:a16="http://schemas.microsoft.com/office/drawing/2014/main" id="{439CE9C8-E7CB-C3AD-0E29-5C2CD1ADE019}"/>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EB3E8C34-6CA9-7723-D1DC-00C11D52904F}"/>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5" name="文本框 14">
            <a:extLst>
              <a:ext uri="{FF2B5EF4-FFF2-40B4-BE49-F238E27FC236}">
                <a16:creationId xmlns:a16="http://schemas.microsoft.com/office/drawing/2014/main" id="{2A7D939E-6C78-1CAB-5102-C1DDA91985E8}"/>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A365398E-1126-1AC8-5B59-472880167E0C}"/>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工程背景</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7" name="矩形: 圆角 16">
            <a:extLst>
              <a:ext uri="{FF2B5EF4-FFF2-40B4-BE49-F238E27FC236}">
                <a16:creationId xmlns:a16="http://schemas.microsoft.com/office/drawing/2014/main" id="{98C3B049-A8A6-26F9-E31D-C9F79A919DED}"/>
              </a:ext>
            </a:extLst>
          </p:cNvPr>
          <p:cNvSpPr/>
          <p:nvPr/>
        </p:nvSpPr>
        <p:spPr>
          <a:xfrm>
            <a:off x="339090" y="335280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8" name="矩形 17">
            <a:extLst>
              <a:ext uri="{FF2B5EF4-FFF2-40B4-BE49-F238E27FC236}">
                <a16:creationId xmlns:a16="http://schemas.microsoft.com/office/drawing/2014/main" id="{41516D78-C9FF-45B3-C4BE-C1F9BEC9ABBE}"/>
              </a:ext>
            </a:extLst>
          </p:cNvPr>
          <p:cNvSpPr/>
          <p:nvPr/>
        </p:nvSpPr>
        <p:spPr>
          <a:xfrm>
            <a:off x="523239" y="310515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9" name="文本框 18">
            <a:extLst>
              <a:ext uri="{FF2B5EF4-FFF2-40B4-BE49-F238E27FC236}">
                <a16:creationId xmlns:a16="http://schemas.microsoft.com/office/drawing/2014/main" id="{82593A52-DD51-E6BA-7F98-CB4BEB037369}"/>
              </a:ext>
            </a:extLst>
          </p:cNvPr>
          <p:cNvSpPr txBox="1"/>
          <p:nvPr/>
        </p:nvSpPr>
        <p:spPr>
          <a:xfrm>
            <a:off x="523240" y="317880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CHALLENGES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B3E15982-D1E0-F39B-0B4A-D59EB585D815}"/>
              </a:ext>
            </a:extLst>
          </p:cNvPr>
          <p:cNvSpPr txBox="1"/>
          <p:nvPr/>
        </p:nvSpPr>
        <p:spPr>
          <a:xfrm>
            <a:off x="478790" y="310896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技术难点</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7801C1FE-AC1D-9C87-4AB0-0BE4A08F7256}"/>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solidFill>
                  <a:srgbClr val="000000"/>
                </a:solidFill>
                <a:latin typeface="等线" panose="02010600030101010101" pitchFamily="2" charset="-122"/>
                <a:ea typeface="等线" panose="02010600030101010101" pitchFamily="2" charset="-122"/>
              </a:rPr>
              <a:t>钢铁冶金中的煤粉喷吹状态直接影响炉况。</a:t>
            </a:r>
          </a:p>
        </p:txBody>
      </p:sp>
      <p:sp>
        <p:nvSpPr>
          <p:cNvPr id="26" name="文本框 25">
            <a:extLst>
              <a:ext uri="{FF2B5EF4-FFF2-40B4-BE49-F238E27FC236}">
                <a16:creationId xmlns:a16="http://schemas.microsoft.com/office/drawing/2014/main" id="{C8F1620E-B45F-AA63-40FB-9904DDA396E5}"/>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sz="1700" dirty="0">
                <a:solidFill>
                  <a:srgbClr val="2F5597"/>
                </a:solidFill>
                <a:latin typeface="等线" panose="02010600030101010101" pitchFamily="2" charset="-122"/>
                <a:ea typeface="等线" panose="02010600030101010101" pitchFamily="2" charset="-122"/>
              </a:rPr>
              <a:t>因此，需要在线监测煤粉输送过程，为工艺控制与调节提供依据。</a:t>
            </a:r>
          </a:p>
        </p:txBody>
      </p:sp>
      <p:sp>
        <p:nvSpPr>
          <p:cNvPr id="27" name="文本框 26">
            <a:extLst>
              <a:ext uri="{FF2B5EF4-FFF2-40B4-BE49-F238E27FC236}">
                <a16:creationId xmlns:a16="http://schemas.microsoft.com/office/drawing/2014/main" id="{8872ED0F-1800-4D7B-44CB-4F8856518267}"/>
              </a:ext>
            </a:extLst>
          </p:cNvPr>
          <p:cNvSpPr txBox="1"/>
          <p:nvPr/>
        </p:nvSpPr>
        <p:spPr>
          <a:xfrm>
            <a:off x="622300" y="3695700"/>
            <a:ext cx="10922000" cy="276999"/>
          </a:xfrm>
          <a:prstGeom prst="rect">
            <a:avLst/>
          </a:prstGeom>
          <a:noFill/>
        </p:spPr>
        <p:txBody>
          <a:bodyPr vert="horz" wrap="square" lIns="0" tIns="0" rIns="0" bIns="0" rtlCol="0">
            <a:noAutofit/>
          </a:bodyPr>
          <a:lstStyle/>
          <a:p>
            <a:r>
              <a:rPr lang="zh-CN" altLang="en-US">
                <a:solidFill>
                  <a:srgbClr val="000000"/>
                </a:solidFill>
                <a:latin typeface="等线" panose="02010600030101010101" pitchFamily="2" charset="-122"/>
                <a:ea typeface="等线" panose="02010600030101010101" pitchFamily="2" charset="-122"/>
              </a:rPr>
              <a:t>煤粉采用气力输送，属于典型的气固两相流，颗粒分布不均、运动状态复杂。</a:t>
            </a:r>
          </a:p>
        </p:txBody>
      </p:sp>
      <p:sp>
        <p:nvSpPr>
          <p:cNvPr id="28" name="文本框 27">
            <a:extLst>
              <a:ext uri="{FF2B5EF4-FFF2-40B4-BE49-F238E27FC236}">
                <a16:creationId xmlns:a16="http://schemas.microsoft.com/office/drawing/2014/main" id="{E8D83EF1-6E64-C91D-FD9E-4AC83FF8DF0F}"/>
              </a:ext>
            </a:extLst>
          </p:cNvPr>
          <p:cNvSpPr txBox="1"/>
          <p:nvPr/>
        </p:nvSpPr>
        <p:spPr>
          <a:xfrm>
            <a:off x="622300" y="4203700"/>
            <a:ext cx="10922000" cy="276999"/>
          </a:xfrm>
          <a:prstGeom prst="rect">
            <a:avLst/>
          </a:prstGeom>
          <a:noFill/>
        </p:spPr>
        <p:txBody>
          <a:bodyPr vert="horz" wrap="square" lIns="0" tIns="0" rIns="0" bIns="0" rtlCol="0">
            <a:noAutofit/>
          </a:bodyPr>
          <a:lstStyle/>
          <a:p>
            <a:r>
              <a:rPr lang="zh-CN" altLang="en-US" sz="1700" dirty="0">
                <a:solidFill>
                  <a:srgbClr val="2F5597"/>
                </a:solidFill>
                <a:latin typeface="等线" panose="02010600030101010101" pitchFamily="2" charset="-122"/>
                <a:ea typeface="等线" panose="02010600030101010101" pitchFamily="2" charset="-122"/>
              </a:rPr>
              <a:t>浓度与速度还会随时间波动，因此难以实现准确、稳定的在线测量。</a:t>
            </a:r>
          </a:p>
        </p:txBody>
      </p:sp>
      <p:sp>
        <p:nvSpPr>
          <p:cNvPr id="29" name="文本框 28">
            <a:extLst>
              <a:ext uri="{FF2B5EF4-FFF2-40B4-BE49-F238E27FC236}">
                <a16:creationId xmlns:a16="http://schemas.microsoft.com/office/drawing/2014/main" id="{C00DEFD0-41FB-66D3-60BF-A426A615A3B0}"/>
              </a:ext>
            </a:extLst>
          </p:cNvPr>
          <p:cNvSpPr txBox="1"/>
          <p:nvPr/>
        </p:nvSpPr>
        <p:spPr>
          <a:xfrm>
            <a:off x="622300" y="5434746"/>
            <a:ext cx="10922000" cy="276999"/>
          </a:xfrm>
          <a:prstGeom prst="rect">
            <a:avLst/>
          </a:prstGeom>
          <a:noFill/>
        </p:spPr>
        <p:txBody>
          <a:bodyPr vert="horz" wrap="square" lIns="0" tIns="0" rIns="0" bIns="0" rtlCol="0">
            <a:noAutofit/>
          </a:bodyPr>
          <a:lstStyle/>
          <a:p>
            <a:r>
              <a:rPr lang="zh-CN" altLang="en-US" dirty="0">
                <a:solidFill>
                  <a:srgbClr val="000000"/>
                </a:solidFill>
                <a:latin typeface="等线" panose="02010600030101010101" pitchFamily="2" charset="-122"/>
                <a:ea typeface="等线" panose="02010600030101010101" pitchFamily="2" charset="-122"/>
              </a:rPr>
              <a:t>针对上述难点，参与基于微波透射法的气固两相流检测传感器研究。</a:t>
            </a:r>
          </a:p>
        </p:txBody>
      </p:sp>
      <p:sp>
        <p:nvSpPr>
          <p:cNvPr id="32" name="文本框 31">
            <a:extLst>
              <a:ext uri="{FF2B5EF4-FFF2-40B4-BE49-F238E27FC236}">
                <a16:creationId xmlns:a16="http://schemas.microsoft.com/office/drawing/2014/main" id="{B9E60C7F-3954-9165-DF10-FDB520AA92D4}"/>
              </a:ext>
            </a:extLst>
          </p:cNvPr>
          <p:cNvSpPr txBox="1"/>
          <p:nvPr/>
        </p:nvSpPr>
        <p:spPr>
          <a:xfrm>
            <a:off x="622300" y="5915567"/>
            <a:ext cx="10922000" cy="276999"/>
          </a:xfrm>
          <a:prstGeom prst="rect">
            <a:avLst/>
          </a:prstGeom>
          <a:noFill/>
        </p:spPr>
        <p:txBody>
          <a:bodyPr vert="horz" wrap="square" lIns="0" tIns="0" rIns="0" bIns="0" rtlCol="0">
            <a:noAutofit/>
          </a:bodyPr>
          <a:lstStyle/>
          <a:p>
            <a:r>
              <a:rPr lang="zh-CN" altLang="en-US" sz="1700" dirty="0">
                <a:solidFill>
                  <a:srgbClr val="2F5597"/>
                </a:solidFill>
                <a:latin typeface="等线" panose="02010600030101010101" pitchFamily="2" charset="-122"/>
                <a:ea typeface="等线" panose="02010600030101010101" pitchFamily="2" charset="-122"/>
              </a:rPr>
              <a:t>利用微波幅值与相位变化检测浓度，通过两组传感器相关测速，进而实现煤粉流量检测；</a:t>
            </a:r>
          </a:p>
          <a:p>
            <a:r>
              <a:rPr lang="zh-CN" altLang="en-US" sz="1700" dirty="0">
                <a:solidFill>
                  <a:srgbClr val="2F5597"/>
                </a:solidFill>
                <a:latin typeface="等线" panose="02010600030101010101" pitchFamily="2" charset="-122"/>
                <a:ea typeface="等线" panose="02010600030101010101" pitchFamily="2" charset="-122"/>
              </a:rPr>
              <a:t>完成传感器设计、验证与原型制作。</a:t>
            </a:r>
          </a:p>
        </p:txBody>
      </p:sp>
      <p:sp>
        <p:nvSpPr>
          <p:cNvPr id="33" name="箭头: 上 41">
            <a:extLst>
              <a:ext uri="{FF2B5EF4-FFF2-40B4-BE49-F238E27FC236}">
                <a16:creationId xmlns:a16="http://schemas.microsoft.com/office/drawing/2014/main" id="{F4BC8DBE-B23B-9618-371C-AE658CD5CF7A}"/>
              </a:ext>
            </a:extLst>
          </p:cNvPr>
          <p:cNvSpPr/>
          <p:nvPr/>
        </p:nvSpPr>
        <p:spPr>
          <a:xfrm rot="10800000">
            <a:off x="339090" y="4642197"/>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Tree>
    <p:extLst>
      <p:ext uri="{BB962C8B-B14F-4D97-AF65-F5344CB8AC3E}">
        <p14:creationId xmlns:p14="http://schemas.microsoft.com/office/powerpoint/2010/main" val="19958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C430-F017-5B62-3D6E-E517BF153B53}"/>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A9971D07-076A-7DD4-9B26-7F47857E539D}"/>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硕士阶段：激光</a:t>
            </a:r>
            <a:r>
              <a:rPr lang="en-US" altLang="zh-CN" sz="2400" b="1" spc="-150" dirty="0">
                <a:solidFill>
                  <a:schemeClr val="bg1"/>
                </a:solidFill>
                <a:latin typeface="汉仪文润宋韵 U" pitchFamily="2" charset="-122"/>
                <a:ea typeface="汉仪文润宋韵 U" pitchFamily="2" charset="-122"/>
              </a:rPr>
              <a:t>—</a:t>
            </a:r>
            <a:r>
              <a:rPr lang="zh-CN" altLang="en-US" sz="2400" b="1" spc="-150" dirty="0">
                <a:solidFill>
                  <a:schemeClr val="bg1"/>
                </a:solidFill>
                <a:latin typeface="汉仪文润宋韵 U" pitchFamily="2" charset="-122"/>
                <a:ea typeface="汉仪文润宋韵 U" pitchFamily="2" charset="-122"/>
              </a:rPr>
              <a:t>电弧复合焊工艺与装备</a:t>
            </a:r>
          </a:p>
        </p:txBody>
      </p:sp>
      <p:sp>
        <p:nvSpPr>
          <p:cNvPr id="2" name="文本框 1">
            <a:extLst>
              <a:ext uri="{FF2B5EF4-FFF2-40B4-BE49-F238E27FC236}">
                <a16:creationId xmlns:a16="http://schemas.microsoft.com/office/drawing/2014/main" id="{7C9F105F-7ECD-7EB3-368C-C63147A1340A}"/>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 name="直接连接符 2">
            <a:extLst>
              <a:ext uri="{FF2B5EF4-FFF2-40B4-BE49-F238E27FC236}">
                <a16:creationId xmlns:a16="http://schemas.microsoft.com/office/drawing/2014/main" id="{92BFB4A2-C1C5-3877-DDC6-F1AD4D2250F6}"/>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603598A-F7DE-8843-7B2B-A9A2E68549DF}"/>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
        <p:nvSpPr>
          <p:cNvPr id="6" name="矩形: 圆角 5">
            <a:extLst>
              <a:ext uri="{FF2B5EF4-FFF2-40B4-BE49-F238E27FC236}">
                <a16:creationId xmlns:a16="http://schemas.microsoft.com/office/drawing/2014/main" id="{B7A1FAD0-8B68-907E-A024-2C821DE1D711}"/>
              </a:ext>
            </a:extLst>
          </p:cNvPr>
          <p:cNvSpPr/>
          <p:nvPr/>
        </p:nvSpPr>
        <p:spPr>
          <a:xfrm>
            <a:off x="339321" y="1789241"/>
            <a:ext cx="9338997" cy="4620268"/>
          </a:xfrm>
          <a:prstGeom prst="roundRect">
            <a:avLst>
              <a:gd name="adj" fmla="val 1554"/>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D57D1F9F-D834-09A6-CDCD-E7511CDF8B90}"/>
              </a:ext>
            </a:extLst>
          </p:cNvPr>
          <p:cNvSpPr/>
          <p:nvPr/>
        </p:nvSpPr>
        <p:spPr>
          <a:xfrm>
            <a:off x="523852" y="1541493"/>
            <a:ext cx="1509431" cy="44192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94BB4CD2-B7C8-C54F-1284-1D67F686514A}"/>
              </a:ext>
            </a:extLst>
          </p:cNvPr>
          <p:cNvSpPr txBox="1"/>
          <p:nvPr/>
        </p:nvSpPr>
        <p:spPr>
          <a:xfrm>
            <a:off x="523852" y="1615831"/>
            <a:ext cx="1835810" cy="369332"/>
          </a:xfrm>
          <a:prstGeom prst="rect">
            <a:avLst/>
          </a:prstGeom>
          <a:noFill/>
        </p:spPr>
        <p:txBody>
          <a:bodyPr wrap="square" rtlCol="0">
            <a:spAutoFit/>
          </a:bodyPr>
          <a:lstStyle/>
          <a:p>
            <a:pPr defTabSz="457200" fontAlgn="auto">
              <a:spcBef>
                <a:spcPts val="0"/>
              </a:spcBef>
              <a:spcAft>
                <a:spcPts val="0"/>
              </a:spcAft>
            </a:pPr>
            <a:r>
              <a:rPr kumimoji="0" lang="en-US" altLang="zh-CN" dirty="0">
                <a:solidFill>
                  <a:srgbClr val="E7E6E6"/>
                </a:solidFill>
                <a:latin typeface="Times New Roman" panose="02020603050405020304" pitchFamily="18" charset="0"/>
                <a:ea typeface="等线" panose="02010600030101010101" pitchFamily="2" charset="-122"/>
                <a:cs typeface="Times New Roman" panose="02020603050405020304" pitchFamily="18" charset="0"/>
              </a:rPr>
              <a:t>RESEARCH</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8DBB0314-CF7D-F455-7043-721479A1288A}"/>
              </a:ext>
            </a:extLst>
          </p:cNvPr>
          <p:cNvSpPr txBox="1"/>
          <p:nvPr/>
        </p:nvSpPr>
        <p:spPr>
          <a:xfrm>
            <a:off x="479240" y="1545525"/>
            <a:ext cx="1344652" cy="369332"/>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毕业课题：</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92C00DD3-4FF5-AF90-0963-7AD19797D5EA}"/>
              </a:ext>
            </a:extLst>
          </p:cNvPr>
          <p:cNvSpPr txBox="1"/>
          <p:nvPr/>
        </p:nvSpPr>
        <p:spPr>
          <a:xfrm>
            <a:off x="479240" y="1914857"/>
            <a:ext cx="6095082" cy="369332"/>
          </a:xfrm>
          <a:prstGeom prst="rect">
            <a:avLst/>
          </a:prstGeom>
          <a:noFill/>
        </p:spPr>
        <p:txBody>
          <a:bodyPr wrap="square">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激光</a:t>
            </a:r>
            <a:r>
              <a:rPr kumimoji="0" lang="en-US" altLang="zh-CN"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a:t>
            </a: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电弧复合焊咬边缺陷形成机理及控制方法</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pic>
        <p:nvPicPr>
          <p:cNvPr id="845" name="图片 844">
            <a:extLst>
              <a:ext uri="{FF2B5EF4-FFF2-40B4-BE49-F238E27FC236}">
                <a16:creationId xmlns:a16="http://schemas.microsoft.com/office/drawing/2014/main" id="{FD02C521-1F1E-F448-5744-5EBCF8B3023F}"/>
              </a:ext>
            </a:extLst>
          </p:cNvPr>
          <p:cNvPicPr>
            <a:picLocks noChangeAspect="1"/>
          </p:cNvPicPr>
          <p:nvPr/>
        </p:nvPicPr>
        <p:blipFill>
          <a:blip r:embed="rId3" cstate="print">
            <a:extLst>
              <a:ext uri="{28A0092B-C50C-407E-A947-70E740481C1C}">
                <a14:useLocalDpi xmlns:a14="http://schemas.microsoft.com/office/drawing/2010/main" val="0"/>
              </a:ext>
            </a:extLst>
          </a:blip>
          <a:srcRect l="1" r="-264"/>
          <a:stretch/>
        </p:blipFill>
        <p:spPr>
          <a:xfrm>
            <a:off x="4585253" y="4582374"/>
            <a:ext cx="1398699" cy="706130"/>
          </a:xfrm>
          <a:prstGeom prst="rect">
            <a:avLst/>
          </a:prstGeom>
        </p:spPr>
      </p:pic>
      <p:pic>
        <p:nvPicPr>
          <p:cNvPr id="846" name="图片 1">
            <a:extLst>
              <a:ext uri="{FF2B5EF4-FFF2-40B4-BE49-F238E27FC236}">
                <a16:creationId xmlns:a16="http://schemas.microsoft.com/office/drawing/2014/main" id="{66662992-A624-9429-4F21-10E01E58D6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b="22038"/>
          <a:stretch>
            <a:fillRect/>
          </a:stretch>
        </p:blipFill>
        <p:spPr bwMode="auto">
          <a:xfrm>
            <a:off x="5102213" y="3562033"/>
            <a:ext cx="824531" cy="25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7" name="文本框 846">
            <a:extLst>
              <a:ext uri="{FF2B5EF4-FFF2-40B4-BE49-F238E27FC236}">
                <a16:creationId xmlns:a16="http://schemas.microsoft.com/office/drawing/2014/main" id="{FECCF30D-75D6-EF6E-B074-CB850E6CF27B}"/>
              </a:ext>
            </a:extLst>
          </p:cNvPr>
          <p:cNvSpPr txBox="1"/>
          <p:nvPr/>
        </p:nvSpPr>
        <p:spPr>
          <a:xfrm>
            <a:off x="3446596" y="3643993"/>
            <a:ext cx="390813"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形状</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48" name="文本框 847">
            <a:extLst>
              <a:ext uri="{FF2B5EF4-FFF2-40B4-BE49-F238E27FC236}">
                <a16:creationId xmlns:a16="http://schemas.microsoft.com/office/drawing/2014/main" id="{EAE523C0-0606-2260-1C57-BED5462098D2}"/>
              </a:ext>
            </a:extLst>
          </p:cNvPr>
          <p:cNvSpPr txBox="1"/>
          <p:nvPr/>
        </p:nvSpPr>
        <p:spPr>
          <a:xfrm>
            <a:off x="3691663" y="3645432"/>
            <a:ext cx="390813"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面积</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49" name="矩形: 圆角 848">
            <a:extLst>
              <a:ext uri="{FF2B5EF4-FFF2-40B4-BE49-F238E27FC236}">
                <a16:creationId xmlns:a16="http://schemas.microsoft.com/office/drawing/2014/main" id="{B59B1CFD-E747-FE07-4CDE-5B14A23FD1C3}"/>
              </a:ext>
            </a:extLst>
          </p:cNvPr>
          <p:cNvSpPr/>
          <p:nvPr/>
        </p:nvSpPr>
        <p:spPr>
          <a:xfrm>
            <a:off x="8362358" y="2900980"/>
            <a:ext cx="1122102" cy="1409737"/>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50" name="矩形: 圆角 849">
            <a:extLst>
              <a:ext uri="{FF2B5EF4-FFF2-40B4-BE49-F238E27FC236}">
                <a16:creationId xmlns:a16="http://schemas.microsoft.com/office/drawing/2014/main" id="{3647822E-4358-0268-39D2-DA7A40CB9AA6}"/>
              </a:ext>
            </a:extLst>
          </p:cNvPr>
          <p:cNvSpPr/>
          <p:nvPr/>
        </p:nvSpPr>
        <p:spPr>
          <a:xfrm>
            <a:off x="7095713" y="2899111"/>
            <a:ext cx="1239891" cy="1409737"/>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851" name="组合 850">
            <a:extLst>
              <a:ext uri="{FF2B5EF4-FFF2-40B4-BE49-F238E27FC236}">
                <a16:creationId xmlns:a16="http://schemas.microsoft.com/office/drawing/2014/main" id="{13886E54-52BB-CC86-38A0-E2F6B3207C1C}"/>
              </a:ext>
            </a:extLst>
          </p:cNvPr>
          <p:cNvGrpSpPr/>
          <p:nvPr/>
        </p:nvGrpSpPr>
        <p:grpSpPr>
          <a:xfrm>
            <a:off x="600204" y="2503999"/>
            <a:ext cx="6327692" cy="358320"/>
            <a:chOff x="2651004" y="1658176"/>
            <a:chExt cx="3641555" cy="358320"/>
          </a:xfrm>
        </p:grpSpPr>
        <p:sp>
          <p:nvSpPr>
            <p:cNvPr id="852" name="矩形 851">
              <a:extLst>
                <a:ext uri="{FF2B5EF4-FFF2-40B4-BE49-F238E27FC236}">
                  <a16:creationId xmlns:a16="http://schemas.microsoft.com/office/drawing/2014/main" id="{C7981E5B-0F04-8065-E735-FF3E9FFBF351}"/>
                </a:ext>
              </a:extLst>
            </p:cNvPr>
            <p:cNvSpPr/>
            <p:nvPr/>
          </p:nvSpPr>
          <p:spPr>
            <a:xfrm>
              <a:off x="2651004" y="1658176"/>
              <a:ext cx="3641555" cy="346249"/>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激光电弧复合焊咬边缺陷形成机理研究</a:t>
              </a:r>
              <a:endParaRPr kumimoji="1"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53" name="矩形: 圆角 852">
              <a:extLst>
                <a:ext uri="{FF2B5EF4-FFF2-40B4-BE49-F238E27FC236}">
                  <a16:creationId xmlns:a16="http://schemas.microsoft.com/office/drawing/2014/main" id="{ABE601AC-52AC-B671-A64A-D52E97F16C09}"/>
                </a:ext>
              </a:extLst>
            </p:cNvPr>
            <p:cNvSpPr/>
            <p:nvPr/>
          </p:nvSpPr>
          <p:spPr>
            <a:xfrm>
              <a:off x="2726796" y="1695022"/>
              <a:ext cx="3555394" cy="321474"/>
            </a:xfrm>
            <a:prstGeom prst="roundRect">
              <a:avLst>
                <a:gd name="adj" fmla="val 7408"/>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854" name="组合 853">
            <a:extLst>
              <a:ext uri="{FF2B5EF4-FFF2-40B4-BE49-F238E27FC236}">
                <a16:creationId xmlns:a16="http://schemas.microsoft.com/office/drawing/2014/main" id="{3B8446FF-795D-773A-DF8C-454A21028CDF}"/>
              </a:ext>
            </a:extLst>
          </p:cNvPr>
          <p:cNvGrpSpPr/>
          <p:nvPr/>
        </p:nvGrpSpPr>
        <p:grpSpPr>
          <a:xfrm>
            <a:off x="859552" y="2903180"/>
            <a:ext cx="1319353" cy="360521"/>
            <a:chOff x="3373083" y="2430161"/>
            <a:chExt cx="1075028" cy="381084"/>
          </a:xfrm>
        </p:grpSpPr>
        <p:sp>
          <p:nvSpPr>
            <p:cNvPr id="855" name="矩形: 圆角 854">
              <a:extLst>
                <a:ext uri="{FF2B5EF4-FFF2-40B4-BE49-F238E27FC236}">
                  <a16:creationId xmlns:a16="http://schemas.microsoft.com/office/drawing/2014/main" id="{ED9D010E-F03B-24DA-F6F2-70DD19A58EBB}"/>
                </a:ext>
              </a:extLst>
            </p:cNvPr>
            <p:cNvSpPr/>
            <p:nvPr/>
          </p:nvSpPr>
          <p:spPr>
            <a:xfrm>
              <a:off x="3379868" y="2454209"/>
              <a:ext cx="1068243" cy="357036"/>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856" name="矩形 855">
              <a:extLst>
                <a:ext uri="{FF2B5EF4-FFF2-40B4-BE49-F238E27FC236}">
                  <a16:creationId xmlns:a16="http://schemas.microsoft.com/office/drawing/2014/main" id="{7338C452-B3FC-73FC-6973-99E0DFF7AE1B}"/>
                </a:ext>
              </a:extLst>
            </p:cNvPr>
            <p:cNvSpPr/>
            <p:nvPr/>
          </p:nvSpPr>
          <p:spPr>
            <a:xfrm>
              <a:off x="3373083" y="2430161"/>
              <a:ext cx="1046408" cy="365998"/>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工艺试验</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857" name="组合 856">
            <a:extLst>
              <a:ext uri="{FF2B5EF4-FFF2-40B4-BE49-F238E27FC236}">
                <a16:creationId xmlns:a16="http://schemas.microsoft.com/office/drawing/2014/main" id="{FD62F8BE-FDAE-1220-E20A-A32C9179B7C2}"/>
              </a:ext>
            </a:extLst>
          </p:cNvPr>
          <p:cNvGrpSpPr/>
          <p:nvPr/>
        </p:nvGrpSpPr>
        <p:grpSpPr>
          <a:xfrm>
            <a:off x="2849932" y="2912765"/>
            <a:ext cx="1552660" cy="356957"/>
            <a:chOff x="3403756" y="2444873"/>
            <a:chExt cx="990110" cy="356957"/>
          </a:xfrm>
        </p:grpSpPr>
        <p:sp>
          <p:nvSpPr>
            <p:cNvPr id="858" name="矩形: 圆角 857">
              <a:extLst>
                <a:ext uri="{FF2B5EF4-FFF2-40B4-BE49-F238E27FC236}">
                  <a16:creationId xmlns:a16="http://schemas.microsoft.com/office/drawing/2014/main" id="{A735F531-6711-4CE6-6EA0-7443C46B6892}"/>
                </a:ext>
              </a:extLst>
            </p:cNvPr>
            <p:cNvSpPr/>
            <p:nvPr/>
          </p:nvSpPr>
          <p:spPr>
            <a:xfrm>
              <a:off x="3453276" y="2464993"/>
              <a:ext cx="893728" cy="336837"/>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59" name="矩形 858">
              <a:extLst>
                <a:ext uri="{FF2B5EF4-FFF2-40B4-BE49-F238E27FC236}">
                  <a16:creationId xmlns:a16="http://schemas.microsoft.com/office/drawing/2014/main" id="{63E1A6A4-9249-CB30-2364-14204375DFA5}"/>
                </a:ext>
              </a:extLst>
            </p:cNvPr>
            <p:cNvSpPr/>
            <p:nvPr/>
          </p:nvSpPr>
          <p:spPr>
            <a:xfrm>
              <a:off x="3403756" y="2444873"/>
              <a:ext cx="990110" cy="346249"/>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焊接过程分析</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860" name="组合 859">
            <a:extLst>
              <a:ext uri="{FF2B5EF4-FFF2-40B4-BE49-F238E27FC236}">
                <a16:creationId xmlns:a16="http://schemas.microsoft.com/office/drawing/2014/main" id="{F00C21F2-C9AC-5D43-69B4-2B72E4C8B685}"/>
              </a:ext>
            </a:extLst>
          </p:cNvPr>
          <p:cNvGrpSpPr/>
          <p:nvPr/>
        </p:nvGrpSpPr>
        <p:grpSpPr>
          <a:xfrm>
            <a:off x="7104484" y="2509150"/>
            <a:ext cx="2430257" cy="362099"/>
            <a:chOff x="2726796" y="1654397"/>
            <a:chExt cx="3573037" cy="362099"/>
          </a:xfrm>
        </p:grpSpPr>
        <p:sp>
          <p:nvSpPr>
            <p:cNvPr id="861" name="矩形 860">
              <a:extLst>
                <a:ext uri="{FF2B5EF4-FFF2-40B4-BE49-F238E27FC236}">
                  <a16:creationId xmlns:a16="http://schemas.microsoft.com/office/drawing/2014/main" id="{C2452ACB-2989-92A7-CA7B-931B885B4C32}"/>
                </a:ext>
              </a:extLst>
            </p:cNvPr>
            <p:cNvSpPr/>
            <p:nvPr/>
          </p:nvSpPr>
          <p:spPr>
            <a:xfrm>
              <a:off x="2744439" y="1654397"/>
              <a:ext cx="3555394" cy="346249"/>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咬边缺陷控制方法研究</a:t>
              </a:r>
              <a:endParaRPr kumimoji="1"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62" name="矩形: 圆角 861">
              <a:extLst>
                <a:ext uri="{FF2B5EF4-FFF2-40B4-BE49-F238E27FC236}">
                  <a16:creationId xmlns:a16="http://schemas.microsoft.com/office/drawing/2014/main" id="{AA9987A0-F115-2250-C051-E8BC0097623F}"/>
                </a:ext>
              </a:extLst>
            </p:cNvPr>
            <p:cNvSpPr/>
            <p:nvPr/>
          </p:nvSpPr>
          <p:spPr>
            <a:xfrm>
              <a:off x="2726796" y="1695022"/>
              <a:ext cx="3499111" cy="321474"/>
            </a:xfrm>
            <a:prstGeom prst="roundRect">
              <a:avLst>
                <a:gd name="adj" fmla="val 7408"/>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863" name="组合 862">
            <a:extLst>
              <a:ext uri="{FF2B5EF4-FFF2-40B4-BE49-F238E27FC236}">
                <a16:creationId xmlns:a16="http://schemas.microsoft.com/office/drawing/2014/main" id="{8B927FF5-A6FF-2D96-D262-3F608FF7783C}"/>
              </a:ext>
            </a:extLst>
          </p:cNvPr>
          <p:cNvGrpSpPr/>
          <p:nvPr/>
        </p:nvGrpSpPr>
        <p:grpSpPr>
          <a:xfrm>
            <a:off x="4506659" y="2913502"/>
            <a:ext cx="1555888" cy="365995"/>
            <a:chOff x="3424385" y="2445247"/>
            <a:chExt cx="990110" cy="365995"/>
          </a:xfrm>
        </p:grpSpPr>
        <p:sp>
          <p:nvSpPr>
            <p:cNvPr id="864" name="矩形: 圆角 863">
              <a:extLst>
                <a:ext uri="{FF2B5EF4-FFF2-40B4-BE49-F238E27FC236}">
                  <a16:creationId xmlns:a16="http://schemas.microsoft.com/office/drawing/2014/main" id="{EE513E5C-20AA-DFC7-7757-58505EF60B42}"/>
                </a:ext>
              </a:extLst>
            </p:cNvPr>
            <p:cNvSpPr/>
            <p:nvPr/>
          </p:nvSpPr>
          <p:spPr>
            <a:xfrm>
              <a:off x="3469372" y="2464993"/>
              <a:ext cx="887841" cy="346249"/>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65" name="矩形 864">
              <a:extLst>
                <a:ext uri="{FF2B5EF4-FFF2-40B4-BE49-F238E27FC236}">
                  <a16:creationId xmlns:a16="http://schemas.microsoft.com/office/drawing/2014/main" id="{5489FCA8-F2AF-5577-021A-F3CA04C050F2}"/>
                </a:ext>
              </a:extLst>
            </p:cNvPr>
            <p:cNvSpPr/>
            <p:nvPr/>
          </p:nvSpPr>
          <p:spPr>
            <a:xfrm>
              <a:off x="3424385" y="2445247"/>
              <a:ext cx="990110" cy="346249"/>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熔池受力分析</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866" name="矩形: 圆角 865">
            <a:extLst>
              <a:ext uri="{FF2B5EF4-FFF2-40B4-BE49-F238E27FC236}">
                <a16:creationId xmlns:a16="http://schemas.microsoft.com/office/drawing/2014/main" id="{7CF48293-C437-515B-4BCE-221887E2CE2A}"/>
              </a:ext>
            </a:extLst>
          </p:cNvPr>
          <p:cNvSpPr/>
          <p:nvPr/>
        </p:nvSpPr>
        <p:spPr>
          <a:xfrm>
            <a:off x="578743" y="2485722"/>
            <a:ext cx="6395382" cy="3642083"/>
          </a:xfrm>
          <a:prstGeom prst="roundRect">
            <a:avLst>
              <a:gd name="adj" fmla="val 1601"/>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67" name="矩形: 圆角 866">
            <a:extLst>
              <a:ext uri="{FF2B5EF4-FFF2-40B4-BE49-F238E27FC236}">
                <a16:creationId xmlns:a16="http://schemas.microsoft.com/office/drawing/2014/main" id="{9BEB7A2E-1065-A5DA-8524-61A0CFB18228}"/>
              </a:ext>
            </a:extLst>
          </p:cNvPr>
          <p:cNvSpPr/>
          <p:nvPr/>
        </p:nvSpPr>
        <p:spPr>
          <a:xfrm>
            <a:off x="7045659" y="2485723"/>
            <a:ext cx="2489082" cy="3642082"/>
          </a:xfrm>
          <a:prstGeom prst="roundRect">
            <a:avLst>
              <a:gd name="adj" fmla="val 1601"/>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68" name="矩形 867">
            <a:extLst>
              <a:ext uri="{FF2B5EF4-FFF2-40B4-BE49-F238E27FC236}">
                <a16:creationId xmlns:a16="http://schemas.microsoft.com/office/drawing/2014/main" id="{15F52DF0-D7BD-8348-44D6-F4E3B00C3F0A}"/>
              </a:ext>
            </a:extLst>
          </p:cNvPr>
          <p:cNvSpPr/>
          <p:nvPr/>
        </p:nvSpPr>
        <p:spPr>
          <a:xfrm>
            <a:off x="1255021" y="4515446"/>
            <a:ext cx="1078686"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热源布置</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grpSp>
        <p:nvGrpSpPr>
          <p:cNvPr id="869" name="组合 868">
            <a:extLst>
              <a:ext uri="{FF2B5EF4-FFF2-40B4-BE49-F238E27FC236}">
                <a16:creationId xmlns:a16="http://schemas.microsoft.com/office/drawing/2014/main" id="{4B20116F-72B4-C9C4-2630-2122AF0E4F8B}"/>
              </a:ext>
            </a:extLst>
          </p:cNvPr>
          <p:cNvGrpSpPr/>
          <p:nvPr/>
        </p:nvGrpSpPr>
        <p:grpSpPr>
          <a:xfrm>
            <a:off x="761131" y="4602007"/>
            <a:ext cx="830226" cy="596660"/>
            <a:chOff x="2495439" y="2219183"/>
            <a:chExt cx="468231" cy="444399"/>
          </a:xfrm>
        </p:grpSpPr>
        <p:sp>
          <p:nvSpPr>
            <p:cNvPr id="870" name="矩形: 圆角 869">
              <a:extLst>
                <a:ext uri="{FF2B5EF4-FFF2-40B4-BE49-F238E27FC236}">
                  <a16:creationId xmlns:a16="http://schemas.microsoft.com/office/drawing/2014/main" id="{CFCF311B-3BDE-050F-2823-8343ADB5D8C4}"/>
                </a:ext>
              </a:extLst>
            </p:cNvPr>
            <p:cNvSpPr/>
            <p:nvPr/>
          </p:nvSpPr>
          <p:spPr>
            <a:xfrm>
              <a:off x="2575939" y="2219183"/>
              <a:ext cx="307228" cy="444399"/>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871" name="矩形 870">
              <a:extLst>
                <a:ext uri="{FF2B5EF4-FFF2-40B4-BE49-F238E27FC236}">
                  <a16:creationId xmlns:a16="http://schemas.microsoft.com/office/drawing/2014/main" id="{62F54DD4-F37C-67F4-8ACA-EDC88F4BF343}"/>
                </a:ext>
              </a:extLst>
            </p:cNvPr>
            <p:cNvSpPr/>
            <p:nvPr/>
          </p:nvSpPr>
          <p:spPr>
            <a:xfrm>
              <a:off x="2495439" y="2273618"/>
              <a:ext cx="468231" cy="343853"/>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影响</a:t>
              </a:r>
              <a:endParaRPr kumimoji="1" lang="en-US" altLang="zh-CN"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因素</a:t>
              </a:r>
              <a:endParaRPr kumimoji="1" lang="en-US" altLang="zh-CN"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872" name="矩形 871">
            <a:extLst>
              <a:ext uri="{FF2B5EF4-FFF2-40B4-BE49-F238E27FC236}">
                <a16:creationId xmlns:a16="http://schemas.microsoft.com/office/drawing/2014/main" id="{B7F6BDAA-D50B-5388-DAA1-C40B56DA7EC8}"/>
              </a:ext>
            </a:extLst>
          </p:cNvPr>
          <p:cNvSpPr/>
          <p:nvPr/>
        </p:nvSpPr>
        <p:spPr>
          <a:xfrm>
            <a:off x="1255021" y="4669868"/>
            <a:ext cx="1078686"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激光功率</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73" name="矩形 872">
            <a:extLst>
              <a:ext uri="{FF2B5EF4-FFF2-40B4-BE49-F238E27FC236}">
                <a16:creationId xmlns:a16="http://schemas.microsoft.com/office/drawing/2014/main" id="{559A2675-6056-F0B3-28BE-D9EA8465EA47}"/>
              </a:ext>
            </a:extLst>
          </p:cNvPr>
          <p:cNvSpPr/>
          <p:nvPr/>
        </p:nvSpPr>
        <p:spPr>
          <a:xfrm>
            <a:off x="1426842" y="4832461"/>
            <a:ext cx="720076"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电弧参数</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74" name="矩形: 圆角 873">
            <a:extLst>
              <a:ext uri="{FF2B5EF4-FFF2-40B4-BE49-F238E27FC236}">
                <a16:creationId xmlns:a16="http://schemas.microsoft.com/office/drawing/2014/main" id="{C7CC49EA-757A-A216-5A06-537ED1BF74EB}"/>
              </a:ext>
            </a:extLst>
          </p:cNvPr>
          <p:cNvSpPr/>
          <p:nvPr/>
        </p:nvSpPr>
        <p:spPr>
          <a:xfrm>
            <a:off x="839097" y="4586241"/>
            <a:ext cx="1248614" cy="661922"/>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75" name="组合 874">
            <a:extLst>
              <a:ext uri="{FF2B5EF4-FFF2-40B4-BE49-F238E27FC236}">
                <a16:creationId xmlns:a16="http://schemas.microsoft.com/office/drawing/2014/main" id="{BCB4E64F-81C8-AF61-E1E7-B2A96D6DA3A9}"/>
              </a:ext>
            </a:extLst>
          </p:cNvPr>
          <p:cNvGrpSpPr/>
          <p:nvPr/>
        </p:nvGrpSpPr>
        <p:grpSpPr>
          <a:xfrm>
            <a:off x="753804" y="5393498"/>
            <a:ext cx="826226" cy="461665"/>
            <a:chOff x="2517380" y="2405759"/>
            <a:chExt cx="468231" cy="343853"/>
          </a:xfrm>
        </p:grpSpPr>
        <p:sp>
          <p:nvSpPr>
            <p:cNvPr id="876" name="矩形: 圆角 875">
              <a:extLst>
                <a:ext uri="{FF2B5EF4-FFF2-40B4-BE49-F238E27FC236}">
                  <a16:creationId xmlns:a16="http://schemas.microsoft.com/office/drawing/2014/main" id="{1697DDE5-0655-B6F1-BFD0-05CE5F67AAFB}"/>
                </a:ext>
              </a:extLst>
            </p:cNvPr>
            <p:cNvSpPr/>
            <p:nvPr/>
          </p:nvSpPr>
          <p:spPr>
            <a:xfrm>
              <a:off x="2601125" y="2421620"/>
              <a:ext cx="307228" cy="327566"/>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77" name="矩形 876">
              <a:extLst>
                <a:ext uri="{FF2B5EF4-FFF2-40B4-BE49-F238E27FC236}">
                  <a16:creationId xmlns:a16="http://schemas.microsoft.com/office/drawing/2014/main" id="{5FA5728A-F53F-ECAA-DCEC-60FDA01ECFCB}"/>
                </a:ext>
              </a:extLst>
            </p:cNvPr>
            <p:cNvSpPr/>
            <p:nvPr/>
          </p:nvSpPr>
          <p:spPr>
            <a:xfrm>
              <a:off x="2517380" y="2405759"/>
              <a:ext cx="468231" cy="343853"/>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咬边</a:t>
              </a:r>
              <a:endParaRPr kumimoji="1" lang="en-US" altLang="zh-CN"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2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特征</a:t>
              </a:r>
            </a:p>
          </p:txBody>
        </p:sp>
      </p:grpSp>
      <p:sp>
        <p:nvSpPr>
          <p:cNvPr id="878" name="矩形 877">
            <a:extLst>
              <a:ext uri="{FF2B5EF4-FFF2-40B4-BE49-F238E27FC236}">
                <a16:creationId xmlns:a16="http://schemas.microsoft.com/office/drawing/2014/main" id="{A11D2CD8-F0E6-761D-FCAD-D4EA152D357D}"/>
              </a:ext>
            </a:extLst>
          </p:cNvPr>
          <p:cNvSpPr/>
          <p:nvPr/>
        </p:nvSpPr>
        <p:spPr>
          <a:xfrm>
            <a:off x="1264807" y="5468100"/>
            <a:ext cx="1073488"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截面形状</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79" name="矩形 878">
            <a:extLst>
              <a:ext uri="{FF2B5EF4-FFF2-40B4-BE49-F238E27FC236}">
                <a16:creationId xmlns:a16="http://schemas.microsoft.com/office/drawing/2014/main" id="{66EBA532-2694-B986-84D3-50421ECDF60E}"/>
              </a:ext>
            </a:extLst>
          </p:cNvPr>
          <p:cNvSpPr/>
          <p:nvPr/>
        </p:nvSpPr>
        <p:spPr>
          <a:xfrm>
            <a:off x="1263214" y="5309201"/>
            <a:ext cx="1073488"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是否连续</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880" name="矩形: 圆角 879">
            <a:extLst>
              <a:ext uri="{FF2B5EF4-FFF2-40B4-BE49-F238E27FC236}">
                <a16:creationId xmlns:a16="http://schemas.microsoft.com/office/drawing/2014/main" id="{17C6F2F7-2128-5285-4079-AD2B33BB65A7}"/>
              </a:ext>
            </a:extLst>
          </p:cNvPr>
          <p:cNvSpPr/>
          <p:nvPr/>
        </p:nvSpPr>
        <p:spPr>
          <a:xfrm>
            <a:off x="832572" y="5356958"/>
            <a:ext cx="1255139" cy="547455"/>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81" name="组合 880">
            <a:extLst>
              <a:ext uri="{FF2B5EF4-FFF2-40B4-BE49-F238E27FC236}">
                <a16:creationId xmlns:a16="http://schemas.microsoft.com/office/drawing/2014/main" id="{43D85137-0A1D-A058-F410-CFF26ECCE7E2}"/>
              </a:ext>
            </a:extLst>
          </p:cNvPr>
          <p:cNvGrpSpPr/>
          <p:nvPr/>
        </p:nvGrpSpPr>
        <p:grpSpPr>
          <a:xfrm>
            <a:off x="840239" y="4263625"/>
            <a:ext cx="1381092" cy="314510"/>
            <a:chOff x="2589127" y="2843305"/>
            <a:chExt cx="1106872" cy="314510"/>
          </a:xfrm>
        </p:grpSpPr>
        <p:sp>
          <p:nvSpPr>
            <p:cNvPr id="882" name="矩形: 圆角 881">
              <a:extLst>
                <a:ext uri="{FF2B5EF4-FFF2-40B4-BE49-F238E27FC236}">
                  <a16:creationId xmlns:a16="http://schemas.microsoft.com/office/drawing/2014/main" id="{519344D4-EE0D-5C21-E010-865CA6B29D0E}"/>
                </a:ext>
              </a:extLst>
            </p:cNvPr>
            <p:cNvSpPr/>
            <p:nvPr/>
          </p:nvSpPr>
          <p:spPr>
            <a:xfrm>
              <a:off x="2589127" y="2937733"/>
              <a:ext cx="1021867" cy="183043"/>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83" name="文本框 882">
              <a:extLst>
                <a:ext uri="{FF2B5EF4-FFF2-40B4-BE49-F238E27FC236}">
                  <a16:creationId xmlns:a16="http://schemas.microsoft.com/office/drawing/2014/main" id="{55222E34-BCB2-5003-D55C-735D2A6A824D}"/>
                </a:ext>
              </a:extLst>
            </p:cNvPr>
            <p:cNvSpPr txBox="1"/>
            <p:nvPr/>
          </p:nvSpPr>
          <p:spPr>
            <a:xfrm>
              <a:off x="2767537" y="2843305"/>
              <a:ext cx="928462" cy="314510"/>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50" b="1" i="0" u="none" strike="noStrike" kern="0" cap="none" spc="30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作用规律</a:t>
              </a:r>
              <a:endParaRPr kumimoji="1" lang="en-US" altLang="zh-CN" sz="1050" b="1" i="0" u="none" strike="noStrike" kern="0" cap="none" spc="30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884" name="矩形: 圆角 883">
            <a:extLst>
              <a:ext uri="{FF2B5EF4-FFF2-40B4-BE49-F238E27FC236}">
                <a16:creationId xmlns:a16="http://schemas.microsoft.com/office/drawing/2014/main" id="{BE04D03A-E579-9765-D599-46EA12D2709D}"/>
              </a:ext>
            </a:extLst>
          </p:cNvPr>
          <p:cNvSpPr/>
          <p:nvPr/>
        </p:nvSpPr>
        <p:spPr>
          <a:xfrm>
            <a:off x="804526" y="4297907"/>
            <a:ext cx="1327440" cy="1673663"/>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85" name="矩形: 圆角 884">
            <a:extLst>
              <a:ext uri="{FF2B5EF4-FFF2-40B4-BE49-F238E27FC236}">
                <a16:creationId xmlns:a16="http://schemas.microsoft.com/office/drawing/2014/main" id="{8C932FC4-8060-C898-1C6E-9AD69308D4F7}"/>
              </a:ext>
            </a:extLst>
          </p:cNvPr>
          <p:cNvSpPr/>
          <p:nvPr/>
        </p:nvSpPr>
        <p:spPr>
          <a:xfrm>
            <a:off x="814307" y="3313491"/>
            <a:ext cx="1311026" cy="824648"/>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886" name="组合 885">
            <a:extLst>
              <a:ext uri="{FF2B5EF4-FFF2-40B4-BE49-F238E27FC236}">
                <a16:creationId xmlns:a16="http://schemas.microsoft.com/office/drawing/2014/main" id="{E0AAF775-6B20-9210-C25C-E09DD4363461}"/>
              </a:ext>
            </a:extLst>
          </p:cNvPr>
          <p:cNvGrpSpPr/>
          <p:nvPr/>
        </p:nvGrpSpPr>
        <p:grpSpPr>
          <a:xfrm>
            <a:off x="786316" y="3351341"/>
            <a:ext cx="398507" cy="761943"/>
            <a:chOff x="2540206" y="2185584"/>
            <a:chExt cx="414864" cy="668520"/>
          </a:xfrm>
        </p:grpSpPr>
        <p:sp>
          <p:nvSpPr>
            <p:cNvPr id="887" name="矩形: 圆角 886">
              <a:extLst>
                <a:ext uri="{FF2B5EF4-FFF2-40B4-BE49-F238E27FC236}">
                  <a16:creationId xmlns:a16="http://schemas.microsoft.com/office/drawing/2014/main" id="{6EA33A7B-F59C-7356-FE8C-10B4B435C20B}"/>
                </a:ext>
              </a:extLst>
            </p:cNvPr>
            <p:cNvSpPr/>
            <p:nvPr/>
          </p:nvSpPr>
          <p:spPr>
            <a:xfrm>
              <a:off x="2599578" y="2185584"/>
              <a:ext cx="262232" cy="668520"/>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88" name="矩形 887">
              <a:extLst>
                <a:ext uri="{FF2B5EF4-FFF2-40B4-BE49-F238E27FC236}">
                  <a16:creationId xmlns:a16="http://schemas.microsoft.com/office/drawing/2014/main" id="{9B85797C-7EDA-0F48-74B5-5B90235289E7}"/>
                </a:ext>
              </a:extLst>
            </p:cNvPr>
            <p:cNvSpPr/>
            <p:nvPr/>
          </p:nvSpPr>
          <p:spPr>
            <a:xfrm>
              <a:off x="2540206" y="2190992"/>
              <a:ext cx="414864" cy="630096"/>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横焊试验</a:t>
              </a:r>
              <a:endParaRPr kumimoji="1" lang="en-US" altLang="zh-CN"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889" name="组合 888">
            <a:extLst>
              <a:ext uri="{FF2B5EF4-FFF2-40B4-BE49-F238E27FC236}">
                <a16:creationId xmlns:a16="http://schemas.microsoft.com/office/drawing/2014/main" id="{DC97FFC3-BFB2-DBEA-2653-9F05EC19ECDE}"/>
              </a:ext>
            </a:extLst>
          </p:cNvPr>
          <p:cNvGrpSpPr/>
          <p:nvPr/>
        </p:nvGrpSpPr>
        <p:grpSpPr>
          <a:xfrm>
            <a:off x="1051297" y="5052638"/>
            <a:ext cx="2447246" cy="348506"/>
            <a:chOff x="602003" y="2653385"/>
            <a:chExt cx="2387092" cy="534987"/>
          </a:xfrm>
        </p:grpSpPr>
        <p:sp>
          <p:nvSpPr>
            <p:cNvPr id="890" name="箭头: 下 889">
              <a:extLst>
                <a:ext uri="{FF2B5EF4-FFF2-40B4-BE49-F238E27FC236}">
                  <a16:creationId xmlns:a16="http://schemas.microsoft.com/office/drawing/2014/main" id="{4F770E24-D87B-037C-BDB6-58FC2F4F305B}"/>
                </a:ext>
              </a:extLst>
            </p:cNvPr>
            <p:cNvSpPr/>
            <p:nvPr/>
          </p:nvSpPr>
          <p:spPr>
            <a:xfrm>
              <a:off x="602003" y="2823306"/>
              <a:ext cx="259113" cy="365066"/>
            </a:xfrm>
            <a:prstGeom prst="downArrow">
              <a:avLst>
                <a:gd name="adj1" fmla="val 50000"/>
                <a:gd name="adj2" fmla="val 48702"/>
              </a:avLst>
            </a:prstGeom>
            <a:solidFill>
              <a:srgbClr val="F79646">
                <a:lumMod val="75000"/>
              </a:srgbClr>
            </a:solidFill>
            <a:ln w="12700" cap="flat" cmpd="sng" algn="ctr">
              <a:no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891" name="矩形 890">
              <a:extLst>
                <a:ext uri="{FF2B5EF4-FFF2-40B4-BE49-F238E27FC236}">
                  <a16:creationId xmlns:a16="http://schemas.microsoft.com/office/drawing/2014/main" id="{F7C7CE3E-7372-219B-8E05-D36F19733019}"/>
                </a:ext>
              </a:extLst>
            </p:cNvPr>
            <p:cNvSpPr/>
            <p:nvPr/>
          </p:nvSpPr>
          <p:spPr>
            <a:xfrm>
              <a:off x="2669933" y="2653385"/>
              <a:ext cx="319162" cy="451679"/>
            </a:xfrm>
            <a:prstGeom prst="rect">
              <a:avLst/>
            </a:prstGeom>
          </p:spPr>
          <p:txBody>
            <a:bodyPr vert="eaVert"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892" name="矩形 891">
            <a:extLst>
              <a:ext uri="{FF2B5EF4-FFF2-40B4-BE49-F238E27FC236}">
                <a16:creationId xmlns:a16="http://schemas.microsoft.com/office/drawing/2014/main" id="{D492AE0D-FDF1-C39A-00D0-2F0F206FAAD9}"/>
              </a:ext>
            </a:extLst>
          </p:cNvPr>
          <p:cNvSpPr/>
          <p:nvPr/>
        </p:nvSpPr>
        <p:spPr>
          <a:xfrm>
            <a:off x="1027418" y="5117866"/>
            <a:ext cx="347596" cy="344878"/>
          </a:xfrm>
          <a:prstGeom prst="rect">
            <a:avLst/>
          </a:prstGeom>
        </p:spPr>
        <p:txBody>
          <a:bodyPr vert="eaVert" wrap="square">
            <a:spAutoFit/>
          </a:bodyPr>
          <a:lstStyle/>
          <a:p>
            <a:pPr fontAlgn="base">
              <a:lnSpc>
                <a:spcPct val="150000"/>
              </a:lnSpc>
              <a:spcBef>
                <a:spcPct val="0"/>
              </a:spcBef>
              <a:spcAft>
                <a:spcPct val="0"/>
              </a:spcAft>
            </a:pPr>
            <a:r>
              <a:rPr kumimoji="1" lang="zh-CN" altLang="en-US" sz="800" b="1" dirty="0">
                <a:solidFill>
                  <a:prstClr val="white">
                    <a:lumMod val="95000"/>
                  </a:prstClr>
                </a:solidFill>
                <a:latin typeface="微软雅黑" panose="020B0503020204020204" pitchFamily="34" charset="-122"/>
                <a:ea typeface="微软雅黑" panose="020B0503020204020204" pitchFamily="34" charset="-122"/>
              </a:rPr>
              <a:t>导致</a:t>
            </a:r>
            <a:endParaRPr kumimoji="1" lang="en-US" altLang="zh-CN" sz="800" b="1" dirty="0">
              <a:solidFill>
                <a:prstClr val="white">
                  <a:lumMod val="95000"/>
                </a:prstClr>
              </a:solidFill>
              <a:latin typeface="微软雅黑" panose="020B0503020204020204" pitchFamily="34" charset="-122"/>
              <a:ea typeface="微软雅黑" panose="020B0503020204020204" pitchFamily="34" charset="-122"/>
            </a:endParaRPr>
          </a:p>
        </p:txBody>
      </p:sp>
      <p:sp>
        <p:nvSpPr>
          <p:cNvPr id="893" name="矩形: 圆角 892">
            <a:extLst>
              <a:ext uri="{FF2B5EF4-FFF2-40B4-BE49-F238E27FC236}">
                <a16:creationId xmlns:a16="http://schemas.microsoft.com/office/drawing/2014/main" id="{70771A02-2A68-3AE7-CCD9-58FAADDD6724}"/>
              </a:ext>
            </a:extLst>
          </p:cNvPr>
          <p:cNvSpPr/>
          <p:nvPr/>
        </p:nvSpPr>
        <p:spPr>
          <a:xfrm>
            <a:off x="1150913" y="3355091"/>
            <a:ext cx="332814" cy="313690"/>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894" name="矩形 893">
            <a:extLst>
              <a:ext uri="{FF2B5EF4-FFF2-40B4-BE49-F238E27FC236}">
                <a16:creationId xmlns:a16="http://schemas.microsoft.com/office/drawing/2014/main" id="{0E2C51A5-D93F-EF2D-B59C-C989DFED521E}"/>
              </a:ext>
            </a:extLst>
          </p:cNvPr>
          <p:cNvSpPr/>
          <p:nvPr/>
        </p:nvSpPr>
        <p:spPr>
          <a:xfrm>
            <a:off x="1063319" y="3394496"/>
            <a:ext cx="507150" cy="230832"/>
          </a:xfrm>
          <a:prstGeom prst="rect">
            <a:avLst/>
          </a:prstGeom>
        </p:spPr>
        <p:txBody>
          <a:bodyPr wrap="square">
            <a:spAutoFit/>
          </a:bodyPr>
          <a:lstStyle/>
          <a:p>
            <a:pPr algn="ctr" fontAlgn="base">
              <a:spcBef>
                <a:spcPct val="0"/>
              </a:spcBef>
              <a:spcAft>
                <a:spcPct val="0"/>
              </a:spcAft>
            </a:pPr>
            <a:r>
              <a:rPr kumimoji="1" lang="zh-CN" altLang="en-US" sz="900" dirty="0">
                <a:solidFill>
                  <a:prstClr val="white">
                    <a:lumMod val="95000"/>
                  </a:prstClr>
                </a:solidFill>
                <a:latin typeface="汉仪粗宋简" panose="02010600000101010101" pitchFamily="2" charset="-122"/>
                <a:ea typeface="汉仪粗宋简" panose="02010600000101010101" pitchFamily="2" charset="-122"/>
              </a:rPr>
              <a:t>材料</a:t>
            </a:r>
          </a:p>
        </p:txBody>
      </p:sp>
      <p:sp>
        <p:nvSpPr>
          <p:cNvPr id="895" name="矩形: 圆角 894">
            <a:extLst>
              <a:ext uri="{FF2B5EF4-FFF2-40B4-BE49-F238E27FC236}">
                <a16:creationId xmlns:a16="http://schemas.microsoft.com/office/drawing/2014/main" id="{5647DD58-359A-31B9-0EAC-7CD504F3B9F3}"/>
              </a:ext>
            </a:extLst>
          </p:cNvPr>
          <p:cNvSpPr/>
          <p:nvPr/>
        </p:nvSpPr>
        <p:spPr>
          <a:xfrm>
            <a:off x="761581" y="2890879"/>
            <a:ext cx="1978326" cy="3168372"/>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96" name="矩形: 圆角 895">
            <a:extLst>
              <a:ext uri="{FF2B5EF4-FFF2-40B4-BE49-F238E27FC236}">
                <a16:creationId xmlns:a16="http://schemas.microsoft.com/office/drawing/2014/main" id="{2C1C255C-3EEE-26E4-1D0D-F857A94B395D}"/>
              </a:ext>
            </a:extLst>
          </p:cNvPr>
          <p:cNvSpPr/>
          <p:nvPr/>
        </p:nvSpPr>
        <p:spPr>
          <a:xfrm>
            <a:off x="2792455" y="2888375"/>
            <a:ext cx="1660389" cy="3168372"/>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897" name="组合 896">
            <a:extLst>
              <a:ext uri="{FF2B5EF4-FFF2-40B4-BE49-F238E27FC236}">
                <a16:creationId xmlns:a16="http://schemas.microsoft.com/office/drawing/2014/main" id="{BDEF4561-BB44-4AE6-572F-F4105A819F88}"/>
              </a:ext>
            </a:extLst>
          </p:cNvPr>
          <p:cNvGrpSpPr/>
          <p:nvPr/>
        </p:nvGrpSpPr>
        <p:grpSpPr>
          <a:xfrm>
            <a:off x="1923146" y="2965040"/>
            <a:ext cx="1279985" cy="279161"/>
            <a:chOff x="3641017" y="1842474"/>
            <a:chExt cx="618081" cy="279161"/>
          </a:xfrm>
        </p:grpSpPr>
        <p:sp>
          <p:nvSpPr>
            <p:cNvPr id="898" name="箭头: 右 897">
              <a:extLst>
                <a:ext uri="{FF2B5EF4-FFF2-40B4-BE49-F238E27FC236}">
                  <a16:creationId xmlns:a16="http://schemas.microsoft.com/office/drawing/2014/main" id="{5D742EF7-D166-2968-3554-BE8EE18EFF68}"/>
                </a:ext>
              </a:extLst>
            </p:cNvPr>
            <p:cNvSpPr/>
            <p:nvPr/>
          </p:nvSpPr>
          <p:spPr>
            <a:xfrm>
              <a:off x="3735248" y="1842474"/>
              <a:ext cx="406844" cy="279161"/>
            </a:xfrm>
            <a:prstGeom prst="rightArrow">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99" name="矩形 898">
              <a:extLst>
                <a:ext uri="{FF2B5EF4-FFF2-40B4-BE49-F238E27FC236}">
                  <a16:creationId xmlns:a16="http://schemas.microsoft.com/office/drawing/2014/main" id="{26E66035-81C2-3C32-5B5F-A213E30FD9C5}"/>
                </a:ext>
              </a:extLst>
            </p:cNvPr>
            <p:cNvSpPr/>
            <p:nvPr/>
          </p:nvSpPr>
          <p:spPr>
            <a:xfrm>
              <a:off x="3641017" y="1859033"/>
              <a:ext cx="618081" cy="219291"/>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高速摄像</a:t>
              </a:r>
              <a:endParaRPr kumimoji="1" lang="en-US" altLang="zh-CN"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00" name="矩形: 圆角 899">
            <a:extLst>
              <a:ext uri="{FF2B5EF4-FFF2-40B4-BE49-F238E27FC236}">
                <a16:creationId xmlns:a16="http://schemas.microsoft.com/office/drawing/2014/main" id="{266D0A7D-70BD-6A80-A19D-550D7A5A54AD}"/>
              </a:ext>
            </a:extLst>
          </p:cNvPr>
          <p:cNvSpPr/>
          <p:nvPr/>
        </p:nvSpPr>
        <p:spPr>
          <a:xfrm>
            <a:off x="4496183" y="2887094"/>
            <a:ext cx="1533566" cy="3205776"/>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901" name="组合 900">
            <a:extLst>
              <a:ext uri="{FF2B5EF4-FFF2-40B4-BE49-F238E27FC236}">
                <a16:creationId xmlns:a16="http://schemas.microsoft.com/office/drawing/2014/main" id="{B867208B-F8DA-1723-0010-A88977FBDA78}"/>
              </a:ext>
            </a:extLst>
          </p:cNvPr>
          <p:cNvGrpSpPr/>
          <p:nvPr/>
        </p:nvGrpSpPr>
        <p:grpSpPr>
          <a:xfrm>
            <a:off x="7222128" y="2931569"/>
            <a:ext cx="970328" cy="356956"/>
            <a:chOff x="3379868" y="2445247"/>
            <a:chExt cx="1068243" cy="357202"/>
          </a:xfrm>
        </p:grpSpPr>
        <p:sp>
          <p:nvSpPr>
            <p:cNvPr id="902" name="矩形: 圆角 901">
              <a:extLst>
                <a:ext uri="{FF2B5EF4-FFF2-40B4-BE49-F238E27FC236}">
                  <a16:creationId xmlns:a16="http://schemas.microsoft.com/office/drawing/2014/main" id="{5FFB3415-5AEC-1FEE-A288-3C93D686778C}"/>
                </a:ext>
              </a:extLst>
            </p:cNvPr>
            <p:cNvSpPr/>
            <p:nvPr/>
          </p:nvSpPr>
          <p:spPr>
            <a:xfrm>
              <a:off x="3379868" y="2464996"/>
              <a:ext cx="1068243" cy="337453"/>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03" name="矩形 902">
              <a:extLst>
                <a:ext uri="{FF2B5EF4-FFF2-40B4-BE49-F238E27FC236}">
                  <a16:creationId xmlns:a16="http://schemas.microsoft.com/office/drawing/2014/main" id="{E0E487CD-DFD4-7249-8EDD-735018817DD4}"/>
                </a:ext>
              </a:extLst>
            </p:cNvPr>
            <p:cNvSpPr/>
            <p:nvPr/>
          </p:nvSpPr>
          <p:spPr>
            <a:xfrm>
              <a:off x="3424385" y="2445247"/>
              <a:ext cx="990110" cy="336927"/>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抑制机理</a:t>
              </a:r>
            </a:p>
          </p:txBody>
        </p:sp>
      </p:grpSp>
      <p:grpSp>
        <p:nvGrpSpPr>
          <p:cNvPr id="904" name="组合 903">
            <a:extLst>
              <a:ext uri="{FF2B5EF4-FFF2-40B4-BE49-F238E27FC236}">
                <a16:creationId xmlns:a16="http://schemas.microsoft.com/office/drawing/2014/main" id="{26E48A09-EE57-2F9F-B764-3B994E4DE9DB}"/>
              </a:ext>
            </a:extLst>
          </p:cNvPr>
          <p:cNvGrpSpPr/>
          <p:nvPr/>
        </p:nvGrpSpPr>
        <p:grpSpPr>
          <a:xfrm>
            <a:off x="8445217" y="2931568"/>
            <a:ext cx="955620" cy="356958"/>
            <a:chOff x="3379868" y="2445247"/>
            <a:chExt cx="1068243" cy="357204"/>
          </a:xfrm>
        </p:grpSpPr>
        <p:sp>
          <p:nvSpPr>
            <p:cNvPr id="905" name="矩形: 圆角 904">
              <a:extLst>
                <a:ext uri="{FF2B5EF4-FFF2-40B4-BE49-F238E27FC236}">
                  <a16:creationId xmlns:a16="http://schemas.microsoft.com/office/drawing/2014/main" id="{E0982E42-8D7B-DAEB-2F7F-3FE77D52A778}"/>
                </a:ext>
              </a:extLst>
            </p:cNvPr>
            <p:cNvSpPr/>
            <p:nvPr/>
          </p:nvSpPr>
          <p:spPr>
            <a:xfrm>
              <a:off x="3379868" y="2464997"/>
              <a:ext cx="1068243" cy="337454"/>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06" name="矩形 905">
              <a:extLst>
                <a:ext uri="{FF2B5EF4-FFF2-40B4-BE49-F238E27FC236}">
                  <a16:creationId xmlns:a16="http://schemas.microsoft.com/office/drawing/2014/main" id="{1550A551-0838-B090-8C4D-D331CF06EF69}"/>
                </a:ext>
              </a:extLst>
            </p:cNvPr>
            <p:cNvSpPr/>
            <p:nvPr/>
          </p:nvSpPr>
          <p:spPr>
            <a:xfrm>
              <a:off x="3424386" y="2445247"/>
              <a:ext cx="990110" cy="346488"/>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参数优化</a:t>
              </a:r>
            </a:p>
          </p:txBody>
        </p:sp>
      </p:grpSp>
      <p:grpSp>
        <p:nvGrpSpPr>
          <p:cNvPr id="907" name="组合 906">
            <a:extLst>
              <a:ext uri="{FF2B5EF4-FFF2-40B4-BE49-F238E27FC236}">
                <a16:creationId xmlns:a16="http://schemas.microsoft.com/office/drawing/2014/main" id="{CB68F5AC-B402-9EFE-BDEA-DE21E2A64B54}"/>
              </a:ext>
            </a:extLst>
          </p:cNvPr>
          <p:cNvGrpSpPr/>
          <p:nvPr/>
        </p:nvGrpSpPr>
        <p:grpSpPr>
          <a:xfrm>
            <a:off x="7554534" y="4510308"/>
            <a:ext cx="1552659" cy="365995"/>
            <a:chOff x="3424388" y="2445247"/>
            <a:chExt cx="990110" cy="365995"/>
          </a:xfrm>
        </p:grpSpPr>
        <p:sp>
          <p:nvSpPr>
            <p:cNvPr id="908" name="矩形: 圆角 907">
              <a:extLst>
                <a:ext uri="{FF2B5EF4-FFF2-40B4-BE49-F238E27FC236}">
                  <a16:creationId xmlns:a16="http://schemas.microsoft.com/office/drawing/2014/main" id="{CD0528D3-0D56-DA30-1723-0CA5ED2BF8FD}"/>
                </a:ext>
              </a:extLst>
            </p:cNvPr>
            <p:cNvSpPr/>
            <p:nvPr/>
          </p:nvSpPr>
          <p:spPr>
            <a:xfrm>
              <a:off x="3491880" y="2464993"/>
              <a:ext cx="855123" cy="346249"/>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09" name="矩形 908">
              <a:extLst>
                <a:ext uri="{FF2B5EF4-FFF2-40B4-BE49-F238E27FC236}">
                  <a16:creationId xmlns:a16="http://schemas.microsoft.com/office/drawing/2014/main" id="{E301733A-6EC8-D7D3-8050-97171042BF21}"/>
                </a:ext>
              </a:extLst>
            </p:cNvPr>
            <p:cNvSpPr/>
            <p:nvPr/>
          </p:nvSpPr>
          <p:spPr>
            <a:xfrm>
              <a:off x="3424388" y="2445247"/>
              <a:ext cx="990110" cy="346249"/>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焊缝成形改善</a:t>
              </a:r>
            </a:p>
          </p:txBody>
        </p:sp>
      </p:grpSp>
      <p:grpSp>
        <p:nvGrpSpPr>
          <p:cNvPr id="910" name="组合 909">
            <a:extLst>
              <a:ext uri="{FF2B5EF4-FFF2-40B4-BE49-F238E27FC236}">
                <a16:creationId xmlns:a16="http://schemas.microsoft.com/office/drawing/2014/main" id="{FA4F9E15-65D8-6D22-8F97-BD8F79677552}"/>
              </a:ext>
            </a:extLst>
          </p:cNvPr>
          <p:cNvGrpSpPr/>
          <p:nvPr/>
        </p:nvGrpSpPr>
        <p:grpSpPr>
          <a:xfrm>
            <a:off x="7999202" y="2989488"/>
            <a:ext cx="618081" cy="279161"/>
            <a:chOff x="3688331" y="1842474"/>
            <a:chExt cx="618081" cy="279161"/>
          </a:xfrm>
        </p:grpSpPr>
        <p:sp>
          <p:nvSpPr>
            <p:cNvPr id="911" name="箭头: 右 910">
              <a:extLst>
                <a:ext uri="{FF2B5EF4-FFF2-40B4-BE49-F238E27FC236}">
                  <a16:creationId xmlns:a16="http://schemas.microsoft.com/office/drawing/2014/main" id="{0090B4A3-3D2E-42B0-D6E9-64C937793D6F}"/>
                </a:ext>
              </a:extLst>
            </p:cNvPr>
            <p:cNvSpPr/>
            <p:nvPr/>
          </p:nvSpPr>
          <p:spPr>
            <a:xfrm>
              <a:off x="3735248" y="1842474"/>
              <a:ext cx="406844" cy="279161"/>
            </a:xfrm>
            <a:prstGeom prst="rightArrow">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12" name="矩形 911">
              <a:extLst>
                <a:ext uri="{FF2B5EF4-FFF2-40B4-BE49-F238E27FC236}">
                  <a16:creationId xmlns:a16="http://schemas.microsoft.com/office/drawing/2014/main" id="{19E42F0B-5180-4BB2-45CB-9799C4B7485B}"/>
                </a:ext>
              </a:extLst>
            </p:cNvPr>
            <p:cNvSpPr/>
            <p:nvPr/>
          </p:nvSpPr>
          <p:spPr>
            <a:xfrm>
              <a:off x="3688331" y="1859033"/>
              <a:ext cx="618081" cy="219291"/>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指导</a:t>
              </a:r>
              <a:endParaRPr kumimoji="1" lang="en-US" altLang="zh-CN"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13" name="组合 912">
            <a:extLst>
              <a:ext uri="{FF2B5EF4-FFF2-40B4-BE49-F238E27FC236}">
                <a16:creationId xmlns:a16="http://schemas.microsoft.com/office/drawing/2014/main" id="{B234CB0F-92FF-5976-94F2-ACEEDB1A9428}"/>
              </a:ext>
            </a:extLst>
          </p:cNvPr>
          <p:cNvGrpSpPr/>
          <p:nvPr/>
        </p:nvGrpSpPr>
        <p:grpSpPr>
          <a:xfrm>
            <a:off x="6096811" y="2921479"/>
            <a:ext cx="809508" cy="359852"/>
            <a:chOff x="3337700" y="2451385"/>
            <a:chExt cx="1133608" cy="360100"/>
          </a:xfrm>
        </p:grpSpPr>
        <p:sp>
          <p:nvSpPr>
            <p:cNvPr id="914" name="矩形: 圆角 913">
              <a:extLst>
                <a:ext uri="{FF2B5EF4-FFF2-40B4-BE49-F238E27FC236}">
                  <a16:creationId xmlns:a16="http://schemas.microsoft.com/office/drawing/2014/main" id="{2274D60A-CAFA-CB45-88A9-146289A5A301}"/>
                </a:ext>
              </a:extLst>
            </p:cNvPr>
            <p:cNvSpPr/>
            <p:nvPr/>
          </p:nvSpPr>
          <p:spPr>
            <a:xfrm>
              <a:off x="3379868" y="2464998"/>
              <a:ext cx="1068243" cy="346487"/>
            </a:xfrm>
            <a:prstGeom prst="roundRect">
              <a:avLst>
                <a:gd name="adj" fmla="val 5663"/>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15" name="矩形 914">
              <a:extLst>
                <a:ext uri="{FF2B5EF4-FFF2-40B4-BE49-F238E27FC236}">
                  <a16:creationId xmlns:a16="http://schemas.microsoft.com/office/drawing/2014/main" id="{61FB2649-B09B-9A17-05F6-3E2FEC65CA53}"/>
                </a:ext>
              </a:extLst>
            </p:cNvPr>
            <p:cNvSpPr/>
            <p:nvPr/>
          </p:nvSpPr>
          <p:spPr>
            <a:xfrm>
              <a:off x="3337700" y="2451385"/>
              <a:ext cx="1133608" cy="346488"/>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形成机理</a:t>
              </a:r>
            </a:p>
          </p:txBody>
        </p:sp>
      </p:grpSp>
      <p:sp>
        <p:nvSpPr>
          <p:cNvPr id="916" name="矩形: 圆角 915">
            <a:extLst>
              <a:ext uri="{FF2B5EF4-FFF2-40B4-BE49-F238E27FC236}">
                <a16:creationId xmlns:a16="http://schemas.microsoft.com/office/drawing/2014/main" id="{F8CF483F-FAB0-8041-4007-B90F3F69F13E}"/>
              </a:ext>
            </a:extLst>
          </p:cNvPr>
          <p:cNvSpPr/>
          <p:nvPr/>
        </p:nvSpPr>
        <p:spPr>
          <a:xfrm>
            <a:off x="6088462" y="2887092"/>
            <a:ext cx="839434" cy="3205776"/>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917" name="组合 916">
            <a:extLst>
              <a:ext uri="{FF2B5EF4-FFF2-40B4-BE49-F238E27FC236}">
                <a16:creationId xmlns:a16="http://schemas.microsoft.com/office/drawing/2014/main" id="{28ADFDD7-1240-D0F7-7E27-A664DD36479A}"/>
              </a:ext>
            </a:extLst>
          </p:cNvPr>
          <p:cNvGrpSpPr/>
          <p:nvPr/>
        </p:nvGrpSpPr>
        <p:grpSpPr>
          <a:xfrm>
            <a:off x="6736263" y="2976642"/>
            <a:ext cx="618081" cy="279161"/>
            <a:chOff x="3638549" y="1842474"/>
            <a:chExt cx="618081" cy="279161"/>
          </a:xfrm>
        </p:grpSpPr>
        <p:sp>
          <p:nvSpPr>
            <p:cNvPr id="918" name="箭头: 右 917">
              <a:extLst>
                <a:ext uri="{FF2B5EF4-FFF2-40B4-BE49-F238E27FC236}">
                  <a16:creationId xmlns:a16="http://schemas.microsoft.com/office/drawing/2014/main" id="{0636E6C6-0C0D-9BA1-0A56-02933B77951B}"/>
                </a:ext>
              </a:extLst>
            </p:cNvPr>
            <p:cNvSpPr/>
            <p:nvPr/>
          </p:nvSpPr>
          <p:spPr>
            <a:xfrm>
              <a:off x="3735248" y="1842474"/>
              <a:ext cx="406844" cy="279161"/>
            </a:xfrm>
            <a:prstGeom prst="rightArrow">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19" name="矩形 918">
              <a:extLst>
                <a:ext uri="{FF2B5EF4-FFF2-40B4-BE49-F238E27FC236}">
                  <a16:creationId xmlns:a16="http://schemas.microsoft.com/office/drawing/2014/main" id="{D981BC77-AE5A-EE28-B448-A2A2586BF51E}"/>
                </a:ext>
              </a:extLst>
            </p:cNvPr>
            <p:cNvSpPr/>
            <p:nvPr/>
          </p:nvSpPr>
          <p:spPr>
            <a:xfrm>
              <a:off x="3638549" y="1859033"/>
              <a:ext cx="618081" cy="219291"/>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推导</a:t>
              </a:r>
              <a:endParaRPr kumimoji="1" lang="en-US" altLang="zh-CN"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20" name="矩形: 圆角 919">
            <a:extLst>
              <a:ext uri="{FF2B5EF4-FFF2-40B4-BE49-F238E27FC236}">
                <a16:creationId xmlns:a16="http://schemas.microsoft.com/office/drawing/2014/main" id="{2AA18012-5D28-277A-100A-96313B30DE37}"/>
              </a:ext>
            </a:extLst>
          </p:cNvPr>
          <p:cNvSpPr/>
          <p:nvPr/>
        </p:nvSpPr>
        <p:spPr>
          <a:xfrm>
            <a:off x="7095713" y="4445359"/>
            <a:ext cx="2388746" cy="1647509"/>
          </a:xfrm>
          <a:prstGeom prst="roundRect">
            <a:avLst>
              <a:gd name="adj" fmla="val 5663"/>
            </a:avLst>
          </a:prstGeom>
          <a:noFill/>
          <a:ln w="12700" cap="flat" cmpd="sng" algn="ctr">
            <a:solidFill>
              <a:srgbClr val="1F497D">
                <a:lumMod val="60000"/>
                <a:lumOff val="40000"/>
              </a:srgbClr>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921" name="组合 920">
            <a:extLst>
              <a:ext uri="{FF2B5EF4-FFF2-40B4-BE49-F238E27FC236}">
                <a16:creationId xmlns:a16="http://schemas.microsoft.com/office/drawing/2014/main" id="{46792F9F-D85C-0350-5D99-177FB4C8F106}"/>
              </a:ext>
            </a:extLst>
          </p:cNvPr>
          <p:cNvGrpSpPr/>
          <p:nvPr/>
        </p:nvGrpSpPr>
        <p:grpSpPr>
          <a:xfrm>
            <a:off x="2900678" y="3297606"/>
            <a:ext cx="1621454" cy="303929"/>
            <a:chOff x="4116131" y="2030652"/>
            <a:chExt cx="1552352" cy="303929"/>
          </a:xfrm>
        </p:grpSpPr>
        <p:sp>
          <p:nvSpPr>
            <p:cNvPr id="922" name="矩形: 圆角 921">
              <a:extLst>
                <a:ext uri="{FF2B5EF4-FFF2-40B4-BE49-F238E27FC236}">
                  <a16:creationId xmlns:a16="http://schemas.microsoft.com/office/drawing/2014/main" id="{EE412A4C-11F8-F842-01E0-4E20A5ED66FF}"/>
                </a:ext>
              </a:extLst>
            </p:cNvPr>
            <p:cNvSpPr/>
            <p:nvPr/>
          </p:nvSpPr>
          <p:spPr>
            <a:xfrm>
              <a:off x="4130855" y="2119091"/>
              <a:ext cx="1365158" cy="183043"/>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23" name="文本框 922">
              <a:extLst>
                <a:ext uri="{FF2B5EF4-FFF2-40B4-BE49-F238E27FC236}">
                  <a16:creationId xmlns:a16="http://schemas.microsoft.com/office/drawing/2014/main" id="{BD1E492C-4720-2046-4735-D8F0C1DFD740}"/>
                </a:ext>
              </a:extLst>
            </p:cNvPr>
            <p:cNvSpPr txBox="1"/>
            <p:nvPr/>
          </p:nvSpPr>
          <p:spPr>
            <a:xfrm>
              <a:off x="4116131" y="2030652"/>
              <a:ext cx="1552352" cy="303929"/>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焊接参数对过程的影响</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24" name="矩形: 圆角 923">
            <a:extLst>
              <a:ext uri="{FF2B5EF4-FFF2-40B4-BE49-F238E27FC236}">
                <a16:creationId xmlns:a16="http://schemas.microsoft.com/office/drawing/2014/main" id="{13683222-8BFE-22B9-962C-1B35346F2FEF}"/>
              </a:ext>
            </a:extLst>
          </p:cNvPr>
          <p:cNvSpPr/>
          <p:nvPr/>
        </p:nvSpPr>
        <p:spPr>
          <a:xfrm>
            <a:off x="2860617" y="3313687"/>
            <a:ext cx="1530048" cy="1242553"/>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925" name="组合 924">
            <a:extLst>
              <a:ext uri="{FF2B5EF4-FFF2-40B4-BE49-F238E27FC236}">
                <a16:creationId xmlns:a16="http://schemas.microsoft.com/office/drawing/2014/main" id="{498773AF-B632-3715-1435-36CE743ED257}"/>
              </a:ext>
            </a:extLst>
          </p:cNvPr>
          <p:cNvGrpSpPr/>
          <p:nvPr/>
        </p:nvGrpSpPr>
        <p:grpSpPr>
          <a:xfrm>
            <a:off x="3209690" y="5110272"/>
            <a:ext cx="899285" cy="262516"/>
            <a:chOff x="4052744" y="2243667"/>
            <a:chExt cx="972455" cy="262516"/>
          </a:xfrm>
        </p:grpSpPr>
        <p:sp>
          <p:nvSpPr>
            <p:cNvPr id="926" name="矩形: 圆角 925">
              <a:extLst>
                <a:ext uri="{FF2B5EF4-FFF2-40B4-BE49-F238E27FC236}">
                  <a16:creationId xmlns:a16="http://schemas.microsoft.com/office/drawing/2014/main" id="{C0831FDB-1A76-2DE8-47B7-CFEC4192F079}"/>
                </a:ext>
              </a:extLst>
            </p:cNvPr>
            <p:cNvSpPr/>
            <p:nvPr/>
          </p:nvSpPr>
          <p:spPr>
            <a:xfrm>
              <a:off x="4118163" y="2336757"/>
              <a:ext cx="494584" cy="169426"/>
            </a:xfrm>
            <a:prstGeom prst="roundRect">
              <a:avLst>
                <a:gd name="adj" fmla="val 5663"/>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27" name="矩形 926">
              <a:extLst>
                <a:ext uri="{FF2B5EF4-FFF2-40B4-BE49-F238E27FC236}">
                  <a16:creationId xmlns:a16="http://schemas.microsoft.com/office/drawing/2014/main" id="{4FCDBDFB-5DA5-846B-2C3F-522ABBEDCB66}"/>
                </a:ext>
              </a:extLst>
            </p:cNvPr>
            <p:cNvSpPr/>
            <p:nvPr/>
          </p:nvSpPr>
          <p:spPr>
            <a:xfrm>
              <a:off x="4052744" y="2243667"/>
              <a:ext cx="972455" cy="21544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rPr>
                <a:t>母材融化过多</a:t>
              </a:r>
              <a:endParaRPr kumimoji="1" lang="en-US" altLang="zh-CN"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endParaRPr>
            </a:p>
          </p:txBody>
        </p:sp>
      </p:grpSp>
      <p:grpSp>
        <p:nvGrpSpPr>
          <p:cNvPr id="928" name="组合 927">
            <a:extLst>
              <a:ext uri="{FF2B5EF4-FFF2-40B4-BE49-F238E27FC236}">
                <a16:creationId xmlns:a16="http://schemas.microsoft.com/office/drawing/2014/main" id="{EBBE9C83-0125-889D-871E-F1D4FD69DB7D}"/>
              </a:ext>
            </a:extLst>
          </p:cNvPr>
          <p:cNvGrpSpPr/>
          <p:nvPr/>
        </p:nvGrpSpPr>
        <p:grpSpPr>
          <a:xfrm>
            <a:off x="4536115" y="3399806"/>
            <a:ext cx="543596" cy="407170"/>
            <a:chOff x="4018972" y="2119091"/>
            <a:chExt cx="812641" cy="183043"/>
          </a:xfrm>
        </p:grpSpPr>
        <p:sp>
          <p:nvSpPr>
            <p:cNvPr id="929" name="矩形: 圆角 928">
              <a:extLst>
                <a:ext uri="{FF2B5EF4-FFF2-40B4-BE49-F238E27FC236}">
                  <a16:creationId xmlns:a16="http://schemas.microsoft.com/office/drawing/2014/main" id="{056C4ACF-3A59-24B2-1B1C-998B376B30EA}"/>
                </a:ext>
              </a:extLst>
            </p:cNvPr>
            <p:cNvSpPr/>
            <p:nvPr/>
          </p:nvSpPr>
          <p:spPr>
            <a:xfrm>
              <a:off x="4121586" y="2119091"/>
              <a:ext cx="587338" cy="183043"/>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30" name="文本框 929">
              <a:extLst>
                <a:ext uri="{FF2B5EF4-FFF2-40B4-BE49-F238E27FC236}">
                  <a16:creationId xmlns:a16="http://schemas.microsoft.com/office/drawing/2014/main" id="{96183A79-6757-2729-5265-556B5D250812}"/>
                </a:ext>
              </a:extLst>
            </p:cNvPr>
            <p:cNvSpPr txBox="1"/>
            <p:nvPr/>
          </p:nvSpPr>
          <p:spPr>
            <a:xfrm>
              <a:off x="4018972" y="2133979"/>
              <a:ext cx="812641" cy="123890"/>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静力学</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31" name="矩形: 圆角 930">
            <a:extLst>
              <a:ext uri="{FF2B5EF4-FFF2-40B4-BE49-F238E27FC236}">
                <a16:creationId xmlns:a16="http://schemas.microsoft.com/office/drawing/2014/main" id="{0EF4B156-7E89-8DC1-06DA-66829774A2C8}"/>
              </a:ext>
            </a:extLst>
          </p:cNvPr>
          <p:cNvSpPr/>
          <p:nvPr/>
        </p:nvSpPr>
        <p:spPr>
          <a:xfrm>
            <a:off x="4548958" y="3329015"/>
            <a:ext cx="1442689" cy="552992"/>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932" name="组合 931">
            <a:extLst>
              <a:ext uri="{FF2B5EF4-FFF2-40B4-BE49-F238E27FC236}">
                <a16:creationId xmlns:a16="http://schemas.microsoft.com/office/drawing/2014/main" id="{747511F7-C541-8DC2-5664-B8385702F254}"/>
              </a:ext>
            </a:extLst>
          </p:cNvPr>
          <p:cNvGrpSpPr/>
          <p:nvPr/>
        </p:nvGrpSpPr>
        <p:grpSpPr>
          <a:xfrm>
            <a:off x="4544218" y="3964427"/>
            <a:ext cx="553728" cy="385564"/>
            <a:chOff x="4034784" y="1698531"/>
            <a:chExt cx="423090" cy="385564"/>
          </a:xfrm>
        </p:grpSpPr>
        <p:sp>
          <p:nvSpPr>
            <p:cNvPr id="933" name="矩形: 圆角 932">
              <a:extLst>
                <a:ext uri="{FF2B5EF4-FFF2-40B4-BE49-F238E27FC236}">
                  <a16:creationId xmlns:a16="http://schemas.microsoft.com/office/drawing/2014/main" id="{BB90E580-1884-452A-C3D3-EE08B8F2EF63}"/>
                </a:ext>
              </a:extLst>
            </p:cNvPr>
            <p:cNvSpPr/>
            <p:nvPr/>
          </p:nvSpPr>
          <p:spPr>
            <a:xfrm>
              <a:off x="4085711" y="1698531"/>
              <a:ext cx="298364" cy="385564"/>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34" name="文本框 933">
              <a:extLst>
                <a:ext uri="{FF2B5EF4-FFF2-40B4-BE49-F238E27FC236}">
                  <a16:creationId xmlns:a16="http://schemas.microsoft.com/office/drawing/2014/main" id="{C921A2F3-4B70-DB93-9B12-9D36A621FCB2}"/>
                </a:ext>
              </a:extLst>
            </p:cNvPr>
            <p:cNvSpPr txBox="1"/>
            <p:nvPr/>
          </p:nvSpPr>
          <p:spPr>
            <a:xfrm>
              <a:off x="4034784" y="1733868"/>
              <a:ext cx="423090" cy="282770"/>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熔滴力</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35" name="组合 934">
            <a:extLst>
              <a:ext uri="{FF2B5EF4-FFF2-40B4-BE49-F238E27FC236}">
                <a16:creationId xmlns:a16="http://schemas.microsoft.com/office/drawing/2014/main" id="{A4E5C9B8-5B86-6880-B681-F69A47895FA9}"/>
              </a:ext>
            </a:extLst>
          </p:cNvPr>
          <p:cNvGrpSpPr/>
          <p:nvPr/>
        </p:nvGrpSpPr>
        <p:grpSpPr>
          <a:xfrm>
            <a:off x="4941738" y="3355079"/>
            <a:ext cx="698466" cy="338554"/>
            <a:chOff x="3886890" y="2321662"/>
            <a:chExt cx="698466" cy="338554"/>
          </a:xfrm>
        </p:grpSpPr>
        <p:sp>
          <p:nvSpPr>
            <p:cNvPr id="936" name="矩形: 圆角 935">
              <a:extLst>
                <a:ext uri="{FF2B5EF4-FFF2-40B4-BE49-F238E27FC236}">
                  <a16:creationId xmlns:a16="http://schemas.microsoft.com/office/drawing/2014/main" id="{32A55712-0841-47F1-D69D-363822545845}"/>
                </a:ext>
              </a:extLst>
            </p:cNvPr>
            <p:cNvSpPr/>
            <p:nvPr/>
          </p:nvSpPr>
          <p:spPr>
            <a:xfrm>
              <a:off x="4151947" y="2336757"/>
              <a:ext cx="433409" cy="169426"/>
            </a:xfrm>
            <a:prstGeom prst="roundRect">
              <a:avLst>
                <a:gd name="adj" fmla="val 5663"/>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37" name="矩形 936">
              <a:extLst>
                <a:ext uri="{FF2B5EF4-FFF2-40B4-BE49-F238E27FC236}">
                  <a16:creationId xmlns:a16="http://schemas.microsoft.com/office/drawing/2014/main" id="{97F39088-0FE4-E197-E106-92471B07C4B6}"/>
                </a:ext>
              </a:extLst>
            </p:cNvPr>
            <p:cNvSpPr/>
            <p:nvPr/>
          </p:nvSpPr>
          <p:spPr>
            <a:xfrm>
              <a:off x="3886890" y="2321662"/>
              <a:ext cx="695627"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rPr>
                <a:t>表面张力</a:t>
              </a:r>
              <a:r>
                <a:rPr kumimoji="1" lang="en-US" altLang="zh-CN"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rPr>
                <a:t>Fs</a:t>
              </a:r>
            </a:p>
          </p:txBody>
        </p:sp>
      </p:grpSp>
      <p:grpSp>
        <p:nvGrpSpPr>
          <p:cNvPr id="938" name="组合 937">
            <a:extLst>
              <a:ext uri="{FF2B5EF4-FFF2-40B4-BE49-F238E27FC236}">
                <a16:creationId xmlns:a16="http://schemas.microsoft.com/office/drawing/2014/main" id="{08ED10D4-5B47-2233-5959-A3A3407E56D1}"/>
              </a:ext>
            </a:extLst>
          </p:cNvPr>
          <p:cNvGrpSpPr/>
          <p:nvPr/>
        </p:nvGrpSpPr>
        <p:grpSpPr>
          <a:xfrm>
            <a:off x="5064333" y="3354637"/>
            <a:ext cx="1040687" cy="545827"/>
            <a:chOff x="4151947" y="1960356"/>
            <a:chExt cx="1151089" cy="545827"/>
          </a:xfrm>
        </p:grpSpPr>
        <p:sp>
          <p:nvSpPr>
            <p:cNvPr id="939" name="矩形: 圆角 938" hidden="1">
              <a:extLst>
                <a:ext uri="{FF2B5EF4-FFF2-40B4-BE49-F238E27FC236}">
                  <a16:creationId xmlns:a16="http://schemas.microsoft.com/office/drawing/2014/main" id="{A0E3B643-C96C-78E8-AF97-C8B6DD1BB25C}"/>
                </a:ext>
              </a:extLst>
            </p:cNvPr>
            <p:cNvSpPr/>
            <p:nvPr/>
          </p:nvSpPr>
          <p:spPr>
            <a:xfrm>
              <a:off x="4151947" y="2336757"/>
              <a:ext cx="445120" cy="169426"/>
            </a:xfrm>
            <a:prstGeom prst="roundRect">
              <a:avLst>
                <a:gd name="adj" fmla="val 5663"/>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40" name="矩形 939">
              <a:extLst>
                <a:ext uri="{FF2B5EF4-FFF2-40B4-BE49-F238E27FC236}">
                  <a16:creationId xmlns:a16="http://schemas.microsoft.com/office/drawing/2014/main" id="{1F7E5F9F-9ABC-D756-1F3C-F9BF9BD58F5C}"/>
                </a:ext>
              </a:extLst>
            </p:cNvPr>
            <p:cNvSpPr/>
            <p:nvPr/>
          </p:nvSpPr>
          <p:spPr>
            <a:xfrm>
              <a:off x="4497936" y="1960356"/>
              <a:ext cx="805100" cy="21544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rPr>
                <a:t>重力</a:t>
              </a:r>
              <a:r>
                <a:rPr kumimoji="1" lang="en-US" altLang="zh-CN" sz="800" b="1" i="0" u="none" strike="noStrike" kern="0" cap="none" spc="0" normalizeH="0" baseline="0" noProof="0" dirty="0" err="1">
                  <a:ln>
                    <a:noFill/>
                  </a:ln>
                  <a:solidFill>
                    <a:srgbClr val="F79646">
                      <a:lumMod val="75000"/>
                    </a:srgbClr>
                  </a:solidFill>
                  <a:effectLst/>
                  <a:uLnTx/>
                  <a:uFillTx/>
                  <a:latin typeface="微软雅黑" panose="020B0503020204020204" pitchFamily="34" charset="-122"/>
                  <a:ea typeface="微软雅黑" panose="020B0503020204020204" pitchFamily="34" charset="-122"/>
                </a:rPr>
                <a:t>Fg</a:t>
              </a:r>
              <a:endParaRPr kumimoji="1" lang="en-US" altLang="zh-CN" sz="8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endParaRPr>
            </a:p>
          </p:txBody>
        </p:sp>
      </p:grpSp>
      <p:sp>
        <p:nvSpPr>
          <p:cNvPr id="941" name="文本框 940">
            <a:extLst>
              <a:ext uri="{FF2B5EF4-FFF2-40B4-BE49-F238E27FC236}">
                <a16:creationId xmlns:a16="http://schemas.microsoft.com/office/drawing/2014/main" id="{6535FE49-B79A-733A-F1D5-8AD3830FC83E}"/>
              </a:ext>
            </a:extLst>
          </p:cNvPr>
          <p:cNvSpPr txBox="1"/>
          <p:nvPr/>
        </p:nvSpPr>
        <p:spPr>
          <a:xfrm>
            <a:off x="1432401" y="3325203"/>
            <a:ext cx="665721" cy="215444"/>
          </a:xfrm>
          <a:prstGeom prst="rect">
            <a:avLst/>
          </a:prstGeom>
          <a:noFill/>
        </p:spPr>
        <p:txBody>
          <a:bodyPr wrap="square">
            <a:spAutoFit/>
          </a:bodyPr>
          <a:lstStyle/>
          <a:p>
            <a:pPr algn="ctr" fontAlgn="base">
              <a:spcBef>
                <a:spcPct val="0"/>
              </a:spcBef>
              <a:spcAft>
                <a:spcPct val="0"/>
              </a:spcAft>
            </a:pP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Q960</a:t>
            </a: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母材</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cxnSp>
        <p:nvCxnSpPr>
          <p:cNvPr id="942" name="直接连接符 941">
            <a:extLst>
              <a:ext uri="{FF2B5EF4-FFF2-40B4-BE49-F238E27FC236}">
                <a16:creationId xmlns:a16="http://schemas.microsoft.com/office/drawing/2014/main" id="{A6FAE34D-2931-5F1E-7821-7982235D1427}"/>
              </a:ext>
            </a:extLst>
          </p:cNvPr>
          <p:cNvCxnSpPr>
            <a:cxnSpLocks/>
          </p:cNvCxnSpPr>
          <p:nvPr/>
        </p:nvCxnSpPr>
        <p:spPr>
          <a:xfrm>
            <a:off x="1492519" y="4661697"/>
            <a:ext cx="0" cy="475061"/>
          </a:xfrm>
          <a:prstGeom prst="line">
            <a:avLst/>
          </a:prstGeom>
          <a:noFill/>
          <a:ln w="6350" cap="flat" cmpd="sng" algn="ctr">
            <a:solidFill>
              <a:srgbClr val="F79646">
                <a:lumMod val="75000"/>
              </a:srgbClr>
            </a:solidFill>
            <a:prstDash val="solid"/>
            <a:miter lim="800000"/>
          </a:ln>
          <a:effectLst/>
        </p:spPr>
      </p:cxnSp>
      <p:grpSp>
        <p:nvGrpSpPr>
          <p:cNvPr id="943" name="组合 942">
            <a:extLst>
              <a:ext uri="{FF2B5EF4-FFF2-40B4-BE49-F238E27FC236}">
                <a16:creationId xmlns:a16="http://schemas.microsoft.com/office/drawing/2014/main" id="{155688F9-8618-7991-E672-FAD95DC77E0A}"/>
              </a:ext>
            </a:extLst>
          </p:cNvPr>
          <p:cNvGrpSpPr/>
          <p:nvPr/>
        </p:nvGrpSpPr>
        <p:grpSpPr>
          <a:xfrm>
            <a:off x="623017" y="4069486"/>
            <a:ext cx="532262" cy="295123"/>
            <a:chOff x="2430796" y="2768756"/>
            <a:chExt cx="532262" cy="295123"/>
          </a:xfrm>
        </p:grpSpPr>
        <p:grpSp>
          <p:nvGrpSpPr>
            <p:cNvPr id="944" name="组合 943">
              <a:extLst>
                <a:ext uri="{FF2B5EF4-FFF2-40B4-BE49-F238E27FC236}">
                  <a16:creationId xmlns:a16="http://schemas.microsoft.com/office/drawing/2014/main" id="{6FFB0661-7BFB-ACA7-AC26-12374BDE7632}"/>
                </a:ext>
              </a:extLst>
            </p:cNvPr>
            <p:cNvGrpSpPr/>
            <p:nvPr/>
          </p:nvGrpSpPr>
          <p:grpSpPr>
            <a:xfrm>
              <a:off x="2487866" y="2794474"/>
              <a:ext cx="431711" cy="269405"/>
              <a:chOff x="2430209" y="2535818"/>
              <a:chExt cx="737392" cy="614130"/>
            </a:xfrm>
          </p:grpSpPr>
          <p:sp>
            <p:nvSpPr>
              <p:cNvPr id="946" name="箭头: 下 945">
                <a:extLst>
                  <a:ext uri="{FF2B5EF4-FFF2-40B4-BE49-F238E27FC236}">
                    <a16:creationId xmlns:a16="http://schemas.microsoft.com/office/drawing/2014/main" id="{7AAED40F-0C3E-4730-759D-F62EF933F2D0}"/>
                  </a:ext>
                </a:extLst>
              </p:cNvPr>
              <p:cNvSpPr/>
              <p:nvPr/>
            </p:nvSpPr>
            <p:spPr>
              <a:xfrm>
                <a:off x="2652709" y="2535818"/>
                <a:ext cx="514892" cy="614130"/>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47" name="矩形 946">
                <a:extLst>
                  <a:ext uri="{FF2B5EF4-FFF2-40B4-BE49-F238E27FC236}">
                    <a16:creationId xmlns:a16="http://schemas.microsoft.com/office/drawing/2014/main" id="{50FE3456-EA19-A132-B95B-B8EC6F242CAE}"/>
                  </a:ext>
                </a:extLst>
              </p:cNvPr>
              <p:cNvSpPr/>
              <p:nvPr/>
            </p:nvSpPr>
            <p:spPr>
              <a:xfrm>
                <a:off x="2430209" y="2653383"/>
                <a:ext cx="558888" cy="45168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45" name="矩形 944">
              <a:extLst>
                <a:ext uri="{FF2B5EF4-FFF2-40B4-BE49-F238E27FC236}">
                  <a16:creationId xmlns:a16="http://schemas.microsoft.com/office/drawing/2014/main" id="{C3FAF876-D6E1-3E4F-6973-CF735E07EB1D}"/>
                </a:ext>
              </a:extLst>
            </p:cNvPr>
            <p:cNvSpPr/>
            <p:nvPr/>
          </p:nvSpPr>
          <p:spPr>
            <a:xfrm>
              <a:off x="2430796" y="2768756"/>
              <a:ext cx="532262" cy="29187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总结</a:t>
              </a: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48" name="矩形: 圆角 947">
            <a:extLst>
              <a:ext uri="{FF2B5EF4-FFF2-40B4-BE49-F238E27FC236}">
                <a16:creationId xmlns:a16="http://schemas.microsoft.com/office/drawing/2014/main" id="{C320C4C6-B7BF-E296-3435-DEAC6D56C128}"/>
              </a:ext>
            </a:extLst>
          </p:cNvPr>
          <p:cNvSpPr/>
          <p:nvPr/>
        </p:nvSpPr>
        <p:spPr>
          <a:xfrm>
            <a:off x="4549718" y="3932735"/>
            <a:ext cx="1442691" cy="1422191"/>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949" name="组合 948">
            <a:extLst>
              <a:ext uri="{FF2B5EF4-FFF2-40B4-BE49-F238E27FC236}">
                <a16:creationId xmlns:a16="http://schemas.microsoft.com/office/drawing/2014/main" id="{93F9B0C0-9C3A-FC3B-4FFF-0E547824C047}"/>
              </a:ext>
            </a:extLst>
          </p:cNvPr>
          <p:cNvGrpSpPr/>
          <p:nvPr/>
        </p:nvGrpSpPr>
        <p:grpSpPr>
          <a:xfrm>
            <a:off x="6102994" y="3299823"/>
            <a:ext cx="849339" cy="303929"/>
            <a:chOff x="5663256" y="2108907"/>
            <a:chExt cx="849339" cy="303929"/>
          </a:xfrm>
        </p:grpSpPr>
        <p:sp>
          <p:nvSpPr>
            <p:cNvPr id="950" name="矩形: 圆角 949">
              <a:extLst>
                <a:ext uri="{FF2B5EF4-FFF2-40B4-BE49-F238E27FC236}">
                  <a16:creationId xmlns:a16="http://schemas.microsoft.com/office/drawing/2014/main" id="{4AED8502-430C-95E9-30DC-6A568B95F1E6}"/>
                </a:ext>
              </a:extLst>
            </p:cNvPr>
            <p:cNvSpPr/>
            <p:nvPr/>
          </p:nvSpPr>
          <p:spPr>
            <a:xfrm>
              <a:off x="5713358" y="2194084"/>
              <a:ext cx="706462" cy="184751"/>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51" name="文本框 950">
              <a:extLst>
                <a:ext uri="{FF2B5EF4-FFF2-40B4-BE49-F238E27FC236}">
                  <a16:creationId xmlns:a16="http://schemas.microsoft.com/office/drawing/2014/main" id="{5574B1ED-5C59-998E-E7CE-8BA759054022}"/>
                </a:ext>
              </a:extLst>
            </p:cNvPr>
            <p:cNvSpPr txBox="1"/>
            <p:nvPr/>
          </p:nvSpPr>
          <p:spPr>
            <a:xfrm>
              <a:off x="5663256" y="2108907"/>
              <a:ext cx="849339" cy="303929"/>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完整影响链</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52" name="组合 951">
            <a:extLst>
              <a:ext uri="{FF2B5EF4-FFF2-40B4-BE49-F238E27FC236}">
                <a16:creationId xmlns:a16="http://schemas.microsoft.com/office/drawing/2014/main" id="{4BAF4FC8-159B-117F-7880-D14BEF074C09}"/>
              </a:ext>
            </a:extLst>
          </p:cNvPr>
          <p:cNvGrpSpPr/>
          <p:nvPr/>
        </p:nvGrpSpPr>
        <p:grpSpPr>
          <a:xfrm>
            <a:off x="6132528" y="3587044"/>
            <a:ext cx="723626" cy="230832"/>
            <a:chOff x="2832043" y="2110064"/>
            <a:chExt cx="723626" cy="230832"/>
          </a:xfrm>
        </p:grpSpPr>
        <p:sp>
          <p:nvSpPr>
            <p:cNvPr id="953" name="矩形: 圆角 952">
              <a:extLst>
                <a:ext uri="{FF2B5EF4-FFF2-40B4-BE49-F238E27FC236}">
                  <a16:creationId xmlns:a16="http://schemas.microsoft.com/office/drawing/2014/main" id="{60ED88B8-59EB-7624-1661-20D7C3B63B5D}"/>
                </a:ext>
              </a:extLst>
            </p:cNvPr>
            <p:cNvSpPr/>
            <p:nvPr/>
          </p:nvSpPr>
          <p:spPr>
            <a:xfrm>
              <a:off x="2877012" y="2136814"/>
              <a:ext cx="668294" cy="162572"/>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54" name="矩形 953">
              <a:extLst>
                <a:ext uri="{FF2B5EF4-FFF2-40B4-BE49-F238E27FC236}">
                  <a16:creationId xmlns:a16="http://schemas.microsoft.com/office/drawing/2014/main" id="{0D3EB703-2EFB-73E7-C1D7-8B751008522D}"/>
                </a:ext>
              </a:extLst>
            </p:cNvPr>
            <p:cNvSpPr/>
            <p:nvPr/>
          </p:nvSpPr>
          <p:spPr>
            <a:xfrm>
              <a:off x="2832043" y="2110064"/>
              <a:ext cx="723626" cy="230832"/>
            </a:xfrm>
            <a:prstGeom prst="rect">
              <a:avLst/>
            </a:prstGeom>
            <a:ln>
              <a:noFill/>
            </a:ln>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影响因素</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55" name="组合 954">
            <a:extLst>
              <a:ext uri="{FF2B5EF4-FFF2-40B4-BE49-F238E27FC236}">
                <a16:creationId xmlns:a16="http://schemas.microsoft.com/office/drawing/2014/main" id="{604B7436-348F-4271-1484-D46C3477881B}"/>
              </a:ext>
            </a:extLst>
          </p:cNvPr>
          <p:cNvGrpSpPr/>
          <p:nvPr/>
        </p:nvGrpSpPr>
        <p:grpSpPr>
          <a:xfrm>
            <a:off x="6132528" y="3981566"/>
            <a:ext cx="723626" cy="369332"/>
            <a:chOff x="2832654" y="2108222"/>
            <a:chExt cx="723626" cy="369332"/>
          </a:xfrm>
        </p:grpSpPr>
        <p:sp>
          <p:nvSpPr>
            <p:cNvPr id="956" name="矩形: 圆角 955">
              <a:extLst>
                <a:ext uri="{FF2B5EF4-FFF2-40B4-BE49-F238E27FC236}">
                  <a16:creationId xmlns:a16="http://schemas.microsoft.com/office/drawing/2014/main" id="{D84AF375-BC9E-0A35-13C9-3A7EA3E12618}"/>
                </a:ext>
              </a:extLst>
            </p:cNvPr>
            <p:cNvSpPr/>
            <p:nvPr/>
          </p:nvSpPr>
          <p:spPr>
            <a:xfrm>
              <a:off x="2877012" y="2136813"/>
              <a:ext cx="668294" cy="301615"/>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57" name="矩形 956">
              <a:extLst>
                <a:ext uri="{FF2B5EF4-FFF2-40B4-BE49-F238E27FC236}">
                  <a16:creationId xmlns:a16="http://schemas.microsoft.com/office/drawing/2014/main" id="{CB4DF9AE-E6FA-5487-53FB-F70193FB5FA9}"/>
                </a:ext>
              </a:extLst>
            </p:cNvPr>
            <p:cNvSpPr/>
            <p:nvPr/>
          </p:nvSpPr>
          <p:spPr>
            <a:xfrm>
              <a:off x="2832654" y="2108222"/>
              <a:ext cx="723626" cy="369332"/>
            </a:xfrm>
            <a:prstGeom prst="rect">
              <a:avLst/>
            </a:prstGeom>
            <a:ln>
              <a:noFill/>
            </a:ln>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熔池受热受力状态</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58" name="组合 957">
            <a:extLst>
              <a:ext uri="{FF2B5EF4-FFF2-40B4-BE49-F238E27FC236}">
                <a16:creationId xmlns:a16="http://schemas.microsoft.com/office/drawing/2014/main" id="{38B65C9B-CA2B-DE9F-ECBB-A048AE08B532}"/>
              </a:ext>
            </a:extLst>
          </p:cNvPr>
          <p:cNvGrpSpPr/>
          <p:nvPr/>
        </p:nvGrpSpPr>
        <p:grpSpPr>
          <a:xfrm>
            <a:off x="6135825" y="4524954"/>
            <a:ext cx="723626" cy="230832"/>
            <a:chOff x="2835951" y="2118898"/>
            <a:chExt cx="723626" cy="230832"/>
          </a:xfrm>
        </p:grpSpPr>
        <p:sp>
          <p:nvSpPr>
            <p:cNvPr id="959" name="矩形: 圆角 958">
              <a:extLst>
                <a:ext uri="{FF2B5EF4-FFF2-40B4-BE49-F238E27FC236}">
                  <a16:creationId xmlns:a16="http://schemas.microsoft.com/office/drawing/2014/main" id="{1A7D5373-3FC0-7742-3246-AD26EC46C7C4}"/>
                </a:ext>
              </a:extLst>
            </p:cNvPr>
            <p:cNvSpPr/>
            <p:nvPr/>
          </p:nvSpPr>
          <p:spPr>
            <a:xfrm>
              <a:off x="2877012" y="2136813"/>
              <a:ext cx="668294" cy="183511"/>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60" name="矩形 959">
              <a:extLst>
                <a:ext uri="{FF2B5EF4-FFF2-40B4-BE49-F238E27FC236}">
                  <a16:creationId xmlns:a16="http://schemas.microsoft.com/office/drawing/2014/main" id="{62801496-870D-9C0D-8698-56F348957F2A}"/>
                </a:ext>
              </a:extLst>
            </p:cNvPr>
            <p:cNvSpPr/>
            <p:nvPr/>
          </p:nvSpPr>
          <p:spPr>
            <a:xfrm>
              <a:off x="2835951" y="2118898"/>
              <a:ext cx="723626" cy="230832"/>
            </a:xfrm>
            <a:prstGeom prst="rect">
              <a:avLst/>
            </a:prstGeom>
            <a:ln>
              <a:noFill/>
            </a:ln>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熔池行为</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61" name="组合 960">
            <a:extLst>
              <a:ext uri="{FF2B5EF4-FFF2-40B4-BE49-F238E27FC236}">
                <a16:creationId xmlns:a16="http://schemas.microsoft.com/office/drawing/2014/main" id="{E0BC0389-2F01-F807-BA65-CD406F0A53D9}"/>
              </a:ext>
            </a:extLst>
          </p:cNvPr>
          <p:cNvGrpSpPr/>
          <p:nvPr/>
        </p:nvGrpSpPr>
        <p:grpSpPr>
          <a:xfrm>
            <a:off x="6132528" y="4956984"/>
            <a:ext cx="723626" cy="230832"/>
            <a:chOff x="2832261" y="2129687"/>
            <a:chExt cx="723626" cy="230832"/>
          </a:xfrm>
        </p:grpSpPr>
        <p:sp>
          <p:nvSpPr>
            <p:cNvPr id="962" name="矩形: 圆角 961">
              <a:extLst>
                <a:ext uri="{FF2B5EF4-FFF2-40B4-BE49-F238E27FC236}">
                  <a16:creationId xmlns:a16="http://schemas.microsoft.com/office/drawing/2014/main" id="{F813658B-237D-07B2-13C0-E06C1F8B68EB}"/>
                </a:ext>
              </a:extLst>
            </p:cNvPr>
            <p:cNvSpPr/>
            <p:nvPr/>
          </p:nvSpPr>
          <p:spPr>
            <a:xfrm>
              <a:off x="2877012" y="2136813"/>
              <a:ext cx="668294" cy="183511"/>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63" name="矩形 962">
              <a:extLst>
                <a:ext uri="{FF2B5EF4-FFF2-40B4-BE49-F238E27FC236}">
                  <a16:creationId xmlns:a16="http://schemas.microsoft.com/office/drawing/2014/main" id="{0907E103-FF11-CFBB-7B31-D64EB6BF6C0E}"/>
                </a:ext>
              </a:extLst>
            </p:cNvPr>
            <p:cNvSpPr/>
            <p:nvPr/>
          </p:nvSpPr>
          <p:spPr>
            <a:xfrm>
              <a:off x="2832261" y="2129687"/>
              <a:ext cx="723626" cy="230832"/>
            </a:xfrm>
            <a:prstGeom prst="rect">
              <a:avLst/>
            </a:prstGeom>
            <a:ln>
              <a:noFill/>
            </a:ln>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咬边倾向</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64" name="组合 963">
            <a:extLst>
              <a:ext uri="{FF2B5EF4-FFF2-40B4-BE49-F238E27FC236}">
                <a16:creationId xmlns:a16="http://schemas.microsoft.com/office/drawing/2014/main" id="{BD747925-1F63-1797-5B95-A516C57D129D}"/>
              </a:ext>
            </a:extLst>
          </p:cNvPr>
          <p:cNvGrpSpPr/>
          <p:nvPr/>
        </p:nvGrpSpPr>
        <p:grpSpPr>
          <a:xfrm>
            <a:off x="6338713" y="3728821"/>
            <a:ext cx="347596" cy="324007"/>
            <a:chOff x="2707225" y="3934259"/>
            <a:chExt cx="347596" cy="324007"/>
          </a:xfrm>
        </p:grpSpPr>
        <p:grpSp>
          <p:nvGrpSpPr>
            <p:cNvPr id="965" name="组合 964">
              <a:extLst>
                <a:ext uri="{FF2B5EF4-FFF2-40B4-BE49-F238E27FC236}">
                  <a16:creationId xmlns:a16="http://schemas.microsoft.com/office/drawing/2014/main" id="{DBCFC1BF-2E90-44E7-DAE7-1A0282417ACA}"/>
                </a:ext>
              </a:extLst>
            </p:cNvPr>
            <p:cNvGrpSpPr/>
            <p:nvPr/>
          </p:nvGrpSpPr>
          <p:grpSpPr>
            <a:xfrm>
              <a:off x="2723408" y="3942438"/>
              <a:ext cx="327205" cy="294237"/>
              <a:chOff x="2669933" y="2653385"/>
              <a:chExt cx="319162" cy="451680"/>
            </a:xfrm>
          </p:grpSpPr>
          <p:sp>
            <p:nvSpPr>
              <p:cNvPr id="967" name="箭头: 下 966">
                <a:extLst>
                  <a:ext uri="{FF2B5EF4-FFF2-40B4-BE49-F238E27FC236}">
                    <a16:creationId xmlns:a16="http://schemas.microsoft.com/office/drawing/2014/main" id="{20D9759D-BF7F-B37C-6D31-E4FBCA1BA880}"/>
                  </a:ext>
                </a:extLst>
              </p:cNvPr>
              <p:cNvSpPr/>
              <p:nvPr/>
            </p:nvSpPr>
            <p:spPr>
              <a:xfrm>
                <a:off x="2681790" y="2709507"/>
                <a:ext cx="259113" cy="365065"/>
              </a:xfrm>
              <a:prstGeom prst="downArrow">
                <a:avLst>
                  <a:gd name="adj1" fmla="val 50000"/>
                  <a:gd name="adj2" fmla="val 48702"/>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68" name="矩形 967">
                <a:extLst>
                  <a:ext uri="{FF2B5EF4-FFF2-40B4-BE49-F238E27FC236}">
                    <a16:creationId xmlns:a16="http://schemas.microsoft.com/office/drawing/2014/main" id="{0A1F3790-43A6-9C80-A437-2E9B11430BF1}"/>
                  </a:ext>
                </a:extLst>
              </p:cNvPr>
              <p:cNvSpPr/>
              <p:nvPr/>
            </p:nvSpPr>
            <p:spPr>
              <a:xfrm>
                <a:off x="2669933" y="2653385"/>
                <a:ext cx="319162" cy="45168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66" name="矩形 965">
              <a:extLst>
                <a:ext uri="{FF2B5EF4-FFF2-40B4-BE49-F238E27FC236}">
                  <a16:creationId xmlns:a16="http://schemas.microsoft.com/office/drawing/2014/main" id="{A9D14699-229C-5464-A023-A633890CD92F}"/>
                </a:ext>
              </a:extLst>
            </p:cNvPr>
            <p:cNvSpPr/>
            <p:nvPr/>
          </p:nvSpPr>
          <p:spPr>
            <a:xfrm>
              <a:off x="2707225" y="3934259"/>
              <a:ext cx="347596" cy="324007"/>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影响</a:t>
              </a: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69" name="组合 968">
            <a:extLst>
              <a:ext uri="{FF2B5EF4-FFF2-40B4-BE49-F238E27FC236}">
                <a16:creationId xmlns:a16="http://schemas.microsoft.com/office/drawing/2014/main" id="{3945A1A2-5079-B40A-5942-3D80EC24BBD3}"/>
              </a:ext>
            </a:extLst>
          </p:cNvPr>
          <p:cNvGrpSpPr/>
          <p:nvPr/>
        </p:nvGrpSpPr>
        <p:grpSpPr>
          <a:xfrm>
            <a:off x="6334125" y="4264333"/>
            <a:ext cx="347596" cy="302415"/>
            <a:chOff x="2707225" y="3934260"/>
            <a:chExt cx="347596" cy="302415"/>
          </a:xfrm>
        </p:grpSpPr>
        <p:grpSp>
          <p:nvGrpSpPr>
            <p:cNvPr id="970" name="组合 969">
              <a:extLst>
                <a:ext uri="{FF2B5EF4-FFF2-40B4-BE49-F238E27FC236}">
                  <a16:creationId xmlns:a16="http://schemas.microsoft.com/office/drawing/2014/main" id="{5494D1FC-1371-C4DA-88AA-8034F9D3EBF2}"/>
                </a:ext>
              </a:extLst>
            </p:cNvPr>
            <p:cNvGrpSpPr/>
            <p:nvPr/>
          </p:nvGrpSpPr>
          <p:grpSpPr>
            <a:xfrm>
              <a:off x="2723408" y="3942438"/>
              <a:ext cx="327205" cy="294237"/>
              <a:chOff x="2669933" y="2653385"/>
              <a:chExt cx="319162" cy="451680"/>
            </a:xfrm>
          </p:grpSpPr>
          <p:sp>
            <p:nvSpPr>
              <p:cNvPr id="972" name="箭头: 下 971">
                <a:extLst>
                  <a:ext uri="{FF2B5EF4-FFF2-40B4-BE49-F238E27FC236}">
                    <a16:creationId xmlns:a16="http://schemas.microsoft.com/office/drawing/2014/main" id="{4F313B3B-7859-7063-6DE8-FA85C708042B}"/>
                  </a:ext>
                </a:extLst>
              </p:cNvPr>
              <p:cNvSpPr/>
              <p:nvPr/>
            </p:nvSpPr>
            <p:spPr>
              <a:xfrm>
                <a:off x="2681790" y="2709507"/>
                <a:ext cx="259113" cy="365065"/>
              </a:xfrm>
              <a:prstGeom prst="downArrow">
                <a:avLst>
                  <a:gd name="adj1" fmla="val 50000"/>
                  <a:gd name="adj2" fmla="val 48702"/>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73" name="矩形 972">
                <a:extLst>
                  <a:ext uri="{FF2B5EF4-FFF2-40B4-BE49-F238E27FC236}">
                    <a16:creationId xmlns:a16="http://schemas.microsoft.com/office/drawing/2014/main" id="{D97D0A01-1ABD-3EED-C788-931EEA897E7A}"/>
                  </a:ext>
                </a:extLst>
              </p:cNvPr>
              <p:cNvSpPr/>
              <p:nvPr/>
            </p:nvSpPr>
            <p:spPr>
              <a:xfrm>
                <a:off x="2669933" y="2653385"/>
                <a:ext cx="319162" cy="45168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71" name="矩形 970">
              <a:extLst>
                <a:ext uri="{FF2B5EF4-FFF2-40B4-BE49-F238E27FC236}">
                  <a16:creationId xmlns:a16="http://schemas.microsoft.com/office/drawing/2014/main" id="{FD6C5267-3F43-36D2-3063-2BB61022AFEC}"/>
                </a:ext>
              </a:extLst>
            </p:cNvPr>
            <p:cNvSpPr/>
            <p:nvPr/>
          </p:nvSpPr>
          <p:spPr>
            <a:xfrm>
              <a:off x="2707225" y="3934260"/>
              <a:ext cx="347596" cy="30032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驱动</a:t>
              </a: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74" name="组合 973">
            <a:extLst>
              <a:ext uri="{FF2B5EF4-FFF2-40B4-BE49-F238E27FC236}">
                <a16:creationId xmlns:a16="http://schemas.microsoft.com/office/drawing/2014/main" id="{40752DDA-2DC3-0511-B7A4-678E3E20B28D}"/>
              </a:ext>
            </a:extLst>
          </p:cNvPr>
          <p:cNvGrpSpPr/>
          <p:nvPr/>
        </p:nvGrpSpPr>
        <p:grpSpPr>
          <a:xfrm>
            <a:off x="6340407" y="4680776"/>
            <a:ext cx="347596" cy="314279"/>
            <a:chOff x="2707225" y="3934259"/>
            <a:chExt cx="347596" cy="314279"/>
          </a:xfrm>
        </p:grpSpPr>
        <p:grpSp>
          <p:nvGrpSpPr>
            <p:cNvPr id="975" name="组合 974">
              <a:extLst>
                <a:ext uri="{FF2B5EF4-FFF2-40B4-BE49-F238E27FC236}">
                  <a16:creationId xmlns:a16="http://schemas.microsoft.com/office/drawing/2014/main" id="{5E0BDF39-9BD5-3194-7A34-B36CA5703119}"/>
                </a:ext>
              </a:extLst>
            </p:cNvPr>
            <p:cNvGrpSpPr/>
            <p:nvPr/>
          </p:nvGrpSpPr>
          <p:grpSpPr>
            <a:xfrm>
              <a:off x="2723408" y="3942438"/>
              <a:ext cx="327205" cy="294237"/>
              <a:chOff x="2669933" y="2653385"/>
              <a:chExt cx="319162" cy="451680"/>
            </a:xfrm>
          </p:grpSpPr>
          <p:sp>
            <p:nvSpPr>
              <p:cNvPr id="977" name="箭头: 下 976">
                <a:extLst>
                  <a:ext uri="{FF2B5EF4-FFF2-40B4-BE49-F238E27FC236}">
                    <a16:creationId xmlns:a16="http://schemas.microsoft.com/office/drawing/2014/main" id="{2758F10F-2231-3BA4-1A30-A2AA44DE06B9}"/>
                  </a:ext>
                </a:extLst>
              </p:cNvPr>
              <p:cNvSpPr/>
              <p:nvPr/>
            </p:nvSpPr>
            <p:spPr>
              <a:xfrm>
                <a:off x="2681790" y="2709507"/>
                <a:ext cx="259113" cy="365065"/>
              </a:xfrm>
              <a:prstGeom prst="downArrow">
                <a:avLst>
                  <a:gd name="adj1" fmla="val 50000"/>
                  <a:gd name="adj2" fmla="val 48702"/>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78" name="矩形 977">
                <a:extLst>
                  <a:ext uri="{FF2B5EF4-FFF2-40B4-BE49-F238E27FC236}">
                    <a16:creationId xmlns:a16="http://schemas.microsoft.com/office/drawing/2014/main" id="{4AA7D073-B0BF-F69F-2BB3-4CEAF07A220B}"/>
                  </a:ext>
                </a:extLst>
              </p:cNvPr>
              <p:cNvSpPr/>
              <p:nvPr/>
            </p:nvSpPr>
            <p:spPr>
              <a:xfrm>
                <a:off x="2669933" y="2653385"/>
                <a:ext cx="319162" cy="45168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76" name="矩形 975">
              <a:extLst>
                <a:ext uri="{FF2B5EF4-FFF2-40B4-BE49-F238E27FC236}">
                  <a16:creationId xmlns:a16="http://schemas.microsoft.com/office/drawing/2014/main" id="{0BE4E964-7FFD-08F6-ED6F-16AB5638D604}"/>
                </a:ext>
              </a:extLst>
            </p:cNvPr>
            <p:cNvSpPr/>
            <p:nvPr/>
          </p:nvSpPr>
          <p:spPr>
            <a:xfrm>
              <a:off x="2707225" y="3934259"/>
              <a:ext cx="347596" cy="314279"/>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导致</a:t>
              </a: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79" name="矩形: 圆角 978">
            <a:extLst>
              <a:ext uri="{FF2B5EF4-FFF2-40B4-BE49-F238E27FC236}">
                <a16:creationId xmlns:a16="http://schemas.microsoft.com/office/drawing/2014/main" id="{C694DEDD-2502-1090-D446-0339DF95DF0C}"/>
              </a:ext>
            </a:extLst>
          </p:cNvPr>
          <p:cNvSpPr/>
          <p:nvPr/>
        </p:nvSpPr>
        <p:spPr>
          <a:xfrm>
            <a:off x="6128547" y="3342610"/>
            <a:ext cx="757219" cy="1870319"/>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80" name="矩形: 圆角 979">
            <a:extLst>
              <a:ext uri="{FF2B5EF4-FFF2-40B4-BE49-F238E27FC236}">
                <a16:creationId xmlns:a16="http://schemas.microsoft.com/office/drawing/2014/main" id="{522DA251-EC9D-0DB2-638B-D6E6CF037D96}"/>
              </a:ext>
            </a:extLst>
          </p:cNvPr>
          <p:cNvSpPr/>
          <p:nvPr/>
        </p:nvSpPr>
        <p:spPr>
          <a:xfrm>
            <a:off x="6153096" y="5316204"/>
            <a:ext cx="706462" cy="184751"/>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81" name="文本框 980">
            <a:extLst>
              <a:ext uri="{FF2B5EF4-FFF2-40B4-BE49-F238E27FC236}">
                <a16:creationId xmlns:a16="http://schemas.microsoft.com/office/drawing/2014/main" id="{23340938-54E4-4C79-7796-D7DCBFDC105A}"/>
              </a:ext>
            </a:extLst>
          </p:cNvPr>
          <p:cNvSpPr txBox="1"/>
          <p:nvPr/>
        </p:nvSpPr>
        <p:spPr>
          <a:xfrm>
            <a:off x="6154689" y="5238973"/>
            <a:ext cx="849339" cy="303929"/>
          </a:xfrm>
          <a:prstGeom prst="rect">
            <a:avLst/>
          </a:prstGeom>
          <a:noFill/>
        </p:spPr>
        <p:txBody>
          <a:bodyPr wrap="square">
            <a:spAutoFit/>
          </a:bodyPr>
          <a:lstStyle/>
          <a:p>
            <a:pPr fontAlgn="base">
              <a:lnSpc>
                <a:spcPct val="150000"/>
              </a:lnSpc>
              <a:spcBef>
                <a:spcPct val="0"/>
              </a:spcBef>
              <a:spcAft>
                <a:spcPct val="0"/>
              </a:spcAft>
            </a:pPr>
            <a:r>
              <a:rPr kumimoji="1" lang="zh-CN" altLang="en-US" sz="1000" b="1" dirty="0">
                <a:solidFill>
                  <a:prstClr val="white">
                    <a:lumMod val="95000"/>
                  </a:prstClr>
                </a:solidFill>
                <a:latin typeface="微软雅黑" panose="020B0503020204020204" pitchFamily="34" charset="-122"/>
                <a:ea typeface="微软雅黑" panose="020B0503020204020204" pitchFamily="34" charset="-122"/>
              </a:rPr>
              <a:t>两种机理</a:t>
            </a:r>
            <a:endParaRPr kumimoji="1" lang="en-US" altLang="zh-CN" sz="1000" b="1" dirty="0">
              <a:solidFill>
                <a:prstClr val="white">
                  <a:lumMod val="95000"/>
                </a:prstClr>
              </a:solidFill>
              <a:latin typeface="微软雅黑" panose="020B0503020204020204" pitchFamily="34" charset="-122"/>
              <a:ea typeface="微软雅黑" panose="020B0503020204020204" pitchFamily="34" charset="-122"/>
            </a:endParaRPr>
          </a:p>
        </p:txBody>
      </p:sp>
      <p:sp>
        <p:nvSpPr>
          <p:cNvPr id="982" name="矩形: 圆角 981">
            <a:extLst>
              <a:ext uri="{FF2B5EF4-FFF2-40B4-BE49-F238E27FC236}">
                <a16:creationId xmlns:a16="http://schemas.microsoft.com/office/drawing/2014/main" id="{B5F8EB6B-ED87-5063-1C86-6B5AE0E9F205}"/>
              </a:ext>
            </a:extLst>
          </p:cNvPr>
          <p:cNvSpPr/>
          <p:nvPr/>
        </p:nvSpPr>
        <p:spPr>
          <a:xfrm>
            <a:off x="6130767" y="5289225"/>
            <a:ext cx="757219" cy="754321"/>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83" name="矩形: 圆角 982">
            <a:extLst>
              <a:ext uri="{FF2B5EF4-FFF2-40B4-BE49-F238E27FC236}">
                <a16:creationId xmlns:a16="http://schemas.microsoft.com/office/drawing/2014/main" id="{1CDC1B18-4431-B572-77E5-894B731451A2}"/>
              </a:ext>
            </a:extLst>
          </p:cNvPr>
          <p:cNvSpPr/>
          <p:nvPr/>
        </p:nvSpPr>
        <p:spPr>
          <a:xfrm>
            <a:off x="6149229" y="5513034"/>
            <a:ext cx="715959" cy="227407"/>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84" name="矩形: 圆角 983">
            <a:extLst>
              <a:ext uri="{FF2B5EF4-FFF2-40B4-BE49-F238E27FC236}">
                <a16:creationId xmlns:a16="http://schemas.microsoft.com/office/drawing/2014/main" id="{74599269-2831-6508-646C-AA9DB358FE1A}"/>
              </a:ext>
            </a:extLst>
          </p:cNvPr>
          <p:cNvSpPr/>
          <p:nvPr/>
        </p:nvSpPr>
        <p:spPr>
          <a:xfrm>
            <a:off x="6150199" y="5776581"/>
            <a:ext cx="715959" cy="227407"/>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985" name="组合 984">
            <a:extLst>
              <a:ext uri="{FF2B5EF4-FFF2-40B4-BE49-F238E27FC236}">
                <a16:creationId xmlns:a16="http://schemas.microsoft.com/office/drawing/2014/main" id="{1DE0DF56-88B3-34DB-AE50-CE400A62C266}"/>
              </a:ext>
            </a:extLst>
          </p:cNvPr>
          <p:cNvGrpSpPr/>
          <p:nvPr/>
        </p:nvGrpSpPr>
        <p:grpSpPr>
          <a:xfrm>
            <a:off x="8462775" y="3278411"/>
            <a:ext cx="1048439" cy="301937"/>
            <a:chOff x="5584351" y="2134685"/>
            <a:chExt cx="955619" cy="278151"/>
          </a:xfrm>
        </p:grpSpPr>
        <p:sp>
          <p:nvSpPr>
            <p:cNvPr id="986" name="矩形: 圆角 985">
              <a:extLst>
                <a:ext uri="{FF2B5EF4-FFF2-40B4-BE49-F238E27FC236}">
                  <a16:creationId xmlns:a16="http://schemas.microsoft.com/office/drawing/2014/main" id="{DB37E185-F7A7-05E6-3937-ACF40699A48E}"/>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87" name="文本框 986">
              <a:extLst>
                <a:ext uri="{FF2B5EF4-FFF2-40B4-BE49-F238E27FC236}">
                  <a16:creationId xmlns:a16="http://schemas.microsoft.com/office/drawing/2014/main" id="{C27778C4-186D-68EA-27DE-FCB111F0A846}"/>
                </a:ext>
              </a:extLst>
            </p:cNvPr>
            <p:cNvSpPr txBox="1"/>
            <p:nvPr/>
          </p:nvSpPr>
          <p:spPr>
            <a:xfrm>
              <a:off x="5584351" y="2134685"/>
              <a:ext cx="955619" cy="272662"/>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观察咬边类型</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88" name="组合 987">
            <a:extLst>
              <a:ext uri="{FF2B5EF4-FFF2-40B4-BE49-F238E27FC236}">
                <a16:creationId xmlns:a16="http://schemas.microsoft.com/office/drawing/2014/main" id="{57D2F65B-96E5-4E2E-0395-5DFB73D576FC}"/>
              </a:ext>
            </a:extLst>
          </p:cNvPr>
          <p:cNvGrpSpPr/>
          <p:nvPr/>
        </p:nvGrpSpPr>
        <p:grpSpPr>
          <a:xfrm>
            <a:off x="8466617" y="3604168"/>
            <a:ext cx="1048439" cy="303929"/>
            <a:chOff x="5584351" y="2134685"/>
            <a:chExt cx="955619" cy="279986"/>
          </a:xfrm>
        </p:grpSpPr>
        <p:sp>
          <p:nvSpPr>
            <p:cNvPr id="989" name="矩形: 圆角 988">
              <a:extLst>
                <a:ext uri="{FF2B5EF4-FFF2-40B4-BE49-F238E27FC236}">
                  <a16:creationId xmlns:a16="http://schemas.microsoft.com/office/drawing/2014/main" id="{34431310-E646-7CFA-99F0-2932246A647A}"/>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90" name="文本框 989">
              <a:extLst>
                <a:ext uri="{FF2B5EF4-FFF2-40B4-BE49-F238E27FC236}">
                  <a16:creationId xmlns:a16="http://schemas.microsoft.com/office/drawing/2014/main" id="{DF9363B3-AC62-DB19-F76D-F53B2B6FF9C4}"/>
                </a:ext>
              </a:extLst>
            </p:cNvPr>
            <p:cNvSpPr txBox="1"/>
            <p:nvPr/>
          </p:nvSpPr>
          <p:spPr>
            <a:xfrm>
              <a:off x="5584351" y="2134685"/>
              <a:ext cx="955619" cy="279986"/>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推断导致原因</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991" name="组合 990">
            <a:extLst>
              <a:ext uri="{FF2B5EF4-FFF2-40B4-BE49-F238E27FC236}">
                <a16:creationId xmlns:a16="http://schemas.microsoft.com/office/drawing/2014/main" id="{AD7191C2-0B6C-2940-5A31-D054CE4D6EC2}"/>
              </a:ext>
            </a:extLst>
          </p:cNvPr>
          <p:cNvGrpSpPr/>
          <p:nvPr/>
        </p:nvGrpSpPr>
        <p:grpSpPr>
          <a:xfrm>
            <a:off x="8462775" y="3931605"/>
            <a:ext cx="1048439" cy="303929"/>
            <a:chOff x="5584351" y="2134685"/>
            <a:chExt cx="955619" cy="279986"/>
          </a:xfrm>
        </p:grpSpPr>
        <p:sp>
          <p:nvSpPr>
            <p:cNvPr id="992" name="矩形: 圆角 991">
              <a:extLst>
                <a:ext uri="{FF2B5EF4-FFF2-40B4-BE49-F238E27FC236}">
                  <a16:creationId xmlns:a16="http://schemas.microsoft.com/office/drawing/2014/main" id="{7ED21F57-DBE0-A457-4E92-A7C491DB6155}"/>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93" name="文本框 992">
              <a:extLst>
                <a:ext uri="{FF2B5EF4-FFF2-40B4-BE49-F238E27FC236}">
                  <a16:creationId xmlns:a16="http://schemas.microsoft.com/office/drawing/2014/main" id="{AC265C8A-41F2-59E3-8FC8-2C93784F1AC7}"/>
                </a:ext>
              </a:extLst>
            </p:cNvPr>
            <p:cNvSpPr txBox="1"/>
            <p:nvPr/>
          </p:nvSpPr>
          <p:spPr>
            <a:xfrm>
              <a:off x="5584351" y="2134685"/>
              <a:ext cx="955619" cy="279986"/>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优化焊接参数</a:t>
              </a:r>
              <a:endParaRPr kumimoji="1" lang="en-US" altLang="zh-CN" sz="1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994" name="组合 993">
            <a:extLst>
              <a:ext uri="{FF2B5EF4-FFF2-40B4-BE49-F238E27FC236}">
                <a16:creationId xmlns:a16="http://schemas.microsoft.com/office/drawing/2014/main" id="{9427DE86-DB93-2ADF-B8D1-96D20A4D3E59}"/>
              </a:ext>
            </a:extLst>
          </p:cNvPr>
          <p:cNvGrpSpPr/>
          <p:nvPr/>
        </p:nvGrpSpPr>
        <p:grpSpPr>
          <a:xfrm>
            <a:off x="4492050" y="3777783"/>
            <a:ext cx="392316" cy="183325"/>
            <a:chOff x="2071381" y="2768756"/>
            <a:chExt cx="891677" cy="295123"/>
          </a:xfrm>
        </p:grpSpPr>
        <p:grpSp>
          <p:nvGrpSpPr>
            <p:cNvPr id="995" name="组合 994">
              <a:extLst>
                <a:ext uri="{FF2B5EF4-FFF2-40B4-BE49-F238E27FC236}">
                  <a16:creationId xmlns:a16="http://schemas.microsoft.com/office/drawing/2014/main" id="{5149AF94-B832-5CFA-5507-667F847A6847}"/>
                </a:ext>
              </a:extLst>
            </p:cNvPr>
            <p:cNvGrpSpPr/>
            <p:nvPr/>
          </p:nvGrpSpPr>
          <p:grpSpPr>
            <a:xfrm>
              <a:off x="2071381" y="2794474"/>
              <a:ext cx="848197" cy="269405"/>
              <a:chOff x="1718823" y="2535818"/>
              <a:chExt cx="1448778" cy="614130"/>
            </a:xfrm>
          </p:grpSpPr>
          <p:sp>
            <p:nvSpPr>
              <p:cNvPr id="997" name="箭头: 下 996">
                <a:extLst>
                  <a:ext uri="{FF2B5EF4-FFF2-40B4-BE49-F238E27FC236}">
                    <a16:creationId xmlns:a16="http://schemas.microsoft.com/office/drawing/2014/main" id="{20256566-C287-0A9B-9024-553DB64D2F50}"/>
                  </a:ext>
                </a:extLst>
              </p:cNvPr>
              <p:cNvSpPr/>
              <p:nvPr/>
            </p:nvSpPr>
            <p:spPr>
              <a:xfrm>
                <a:off x="2652709" y="2535818"/>
                <a:ext cx="514892" cy="614130"/>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98" name="矩形 997">
                <a:extLst>
                  <a:ext uri="{FF2B5EF4-FFF2-40B4-BE49-F238E27FC236}">
                    <a16:creationId xmlns:a16="http://schemas.microsoft.com/office/drawing/2014/main" id="{EE81AEAB-B272-C4B9-30E5-701CBB4A31C6}"/>
                  </a:ext>
                </a:extLst>
              </p:cNvPr>
              <p:cNvSpPr/>
              <p:nvPr/>
            </p:nvSpPr>
            <p:spPr>
              <a:xfrm>
                <a:off x="1718823" y="2653382"/>
                <a:ext cx="1270275" cy="451681"/>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96" name="矩形 995">
              <a:extLst>
                <a:ext uri="{FF2B5EF4-FFF2-40B4-BE49-F238E27FC236}">
                  <a16:creationId xmlns:a16="http://schemas.microsoft.com/office/drawing/2014/main" id="{AE14D36F-10DA-7B18-07A3-58505DD4E554}"/>
                </a:ext>
              </a:extLst>
            </p:cNvPr>
            <p:cNvSpPr/>
            <p:nvPr/>
          </p:nvSpPr>
          <p:spPr>
            <a:xfrm>
              <a:off x="2173023" y="2768756"/>
              <a:ext cx="790035" cy="29187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999" name="箭头: 下 998">
            <a:extLst>
              <a:ext uri="{FF2B5EF4-FFF2-40B4-BE49-F238E27FC236}">
                <a16:creationId xmlns:a16="http://schemas.microsoft.com/office/drawing/2014/main" id="{944377D5-8C9E-CBB5-EBC3-C1106378A922}"/>
              </a:ext>
            </a:extLst>
          </p:cNvPr>
          <p:cNvSpPr/>
          <p:nvPr/>
        </p:nvSpPr>
        <p:spPr>
          <a:xfrm>
            <a:off x="8869847" y="3540741"/>
            <a:ext cx="132629" cy="131705"/>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00" name="组合 999">
            <a:extLst>
              <a:ext uri="{FF2B5EF4-FFF2-40B4-BE49-F238E27FC236}">
                <a16:creationId xmlns:a16="http://schemas.microsoft.com/office/drawing/2014/main" id="{068A6042-30C9-3298-49E4-D1953085C133}"/>
              </a:ext>
            </a:extLst>
          </p:cNvPr>
          <p:cNvGrpSpPr/>
          <p:nvPr/>
        </p:nvGrpSpPr>
        <p:grpSpPr>
          <a:xfrm>
            <a:off x="7244822" y="3278343"/>
            <a:ext cx="1048439" cy="303929"/>
            <a:chOff x="5584351" y="2134685"/>
            <a:chExt cx="955619" cy="279986"/>
          </a:xfrm>
        </p:grpSpPr>
        <p:sp>
          <p:nvSpPr>
            <p:cNvPr id="1001" name="矩形: 圆角 1000">
              <a:extLst>
                <a:ext uri="{FF2B5EF4-FFF2-40B4-BE49-F238E27FC236}">
                  <a16:creationId xmlns:a16="http://schemas.microsoft.com/office/drawing/2014/main" id="{BD2B5550-C074-EF89-49C5-4666E30FF6CB}"/>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02" name="文本框 1001">
              <a:extLst>
                <a:ext uri="{FF2B5EF4-FFF2-40B4-BE49-F238E27FC236}">
                  <a16:creationId xmlns:a16="http://schemas.microsoft.com/office/drawing/2014/main" id="{0852C83F-07BE-C739-B48E-B785D8BB9EF8}"/>
                </a:ext>
              </a:extLst>
            </p:cNvPr>
            <p:cNvSpPr txBox="1"/>
            <p:nvPr/>
          </p:nvSpPr>
          <p:spPr>
            <a:xfrm>
              <a:off x="5584351" y="2134685"/>
              <a:ext cx="955619" cy="279986"/>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抑制咬边倾向</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1003" name="组合 1002">
            <a:extLst>
              <a:ext uri="{FF2B5EF4-FFF2-40B4-BE49-F238E27FC236}">
                <a16:creationId xmlns:a16="http://schemas.microsoft.com/office/drawing/2014/main" id="{60FB7C81-AB2F-D579-487F-82B560BE998F}"/>
              </a:ext>
            </a:extLst>
          </p:cNvPr>
          <p:cNvGrpSpPr/>
          <p:nvPr/>
        </p:nvGrpSpPr>
        <p:grpSpPr>
          <a:xfrm>
            <a:off x="7248664" y="3604100"/>
            <a:ext cx="1048439" cy="303929"/>
            <a:chOff x="5584351" y="2134685"/>
            <a:chExt cx="955619" cy="279986"/>
          </a:xfrm>
        </p:grpSpPr>
        <p:sp>
          <p:nvSpPr>
            <p:cNvPr id="1004" name="矩形: 圆角 1003">
              <a:extLst>
                <a:ext uri="{FF2B5EF4-FFF2-40B4-BE49-F238E27FC236}">
                  <a16:creationId xmlns:a16="http://schemas.microsoft.com/office/drawing/2014/main" id="{FFB1B5E0-0669-B933-7BCC-200F6B62B0A9}"/>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05" name="文本框 1004">
              <a:extLst>
                <a:ext uri="{FF2B5EF4-FFF2-40B4-BE49-F238E27FC236}">
                  <a16:creationId xmlns:a16="http://schemas.microsoft.com/office/drawing/2014/main" id="{C3AF9178-7A08-0B5B-BCFC-7D154CB81DC5}"/>
                </a:ext>
              </a:extLst>
            </p:cNvPr>
            <p:cNvSpPr txBox="1"/>
            <p:nvPr/>
          </p:nvSpPr>
          <p:spPr>
            <a:xfrm>
              <a:off x="5584351" y="2134685"/>
              <a:ext cx="955619" cy="279986"/>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调控熔池行为</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1006" name="组合 1005">
            <a:extLst>
              <a:ext uri="{FF2B5EF4-FFF2-40B4-BE49-F238E27FC236}">
                <a16:creationId xmlns:a16="http://schemas.microsoft.com/office/drawing/2014/main" id="{6779972B-3874-6C32-B859-333983806C53}"/>
              </a:ext>
            </a:extLst>
          </p:cNvPr>
          <p:cNvGrpSpPr/>
          <p:nvPr/>
        </p:nvGrpSpPr>
        <p:grpSpPr>
          <a:xfrm>
            <a:off x="7244822" y="3931537"/>
            <a:ext cx="1048439" cy="303929"/>
            <a:chOff x="5584351" y="2134685"/>
            <a:chExt cx="955619" cy="279986"/>
          </a:xfrm>
        </p:grpSpPr>
        <p:sp>
          <p:nvSpPr>
            <p:cNvPr id="1007" name="矩形: 圆角 1006">
              <a:extLst>
                <a:ext uri="{FF2B5EF4-FFF2-40B4-BE49-F238E27FC236}">
                  <a16:creationId xmlns:a16="http://schemas.microsoft.com/office/drawing/2014/main" id="{4D07D94F-463A-2803-A3F8-13CF2BA56004}"/>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08" name="文本框 1007">
              <a:extLst>
                <a:ext uri="{FF2B5EF4-FFF2-40B4-BE49-F238E27FC236}">
                  <a16:creationId xmlns:a16="http://schemas.microsoft.com/office/drawing/2014/main" id="{EF4728A9-5D6B-D2D9-460A-4779C52E5608}"/>
                </a:ext>
              </a:extLst>
            </p:cNvPr>
            <p:cNvSpPr txBox="1"/>
            <p:nvPr/>
          </p:nvSpPr>
          <p:spPr>
            <a:xfrm>
              <a:off x="5584351" y="2134685"/>
              <a:ext cx="955619" cy="279986"/>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调整受热受力</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009" name="箭头: 下 1008">
            <a:extLst>
              <a:ext uri="{FF2B5EF4-FFF2-40B4-BE49-F238E27FC236}">
                <a16:creationId xmlns:a16="http://schemas.microsoft.com/office/drawing/2014/main" id="{E7136B53-6EFE-C130-3C51-C00E212BD0AD}"/>
              </a:ext>
            </a:extLst>
          </p:cNvPr>
          <p:cNvSpPr/>
          <p:nvPr/>
        </p:nvSpPr>
        <p:spPr>
          <a:xfrm rot="5400000">
            <a:off x="8216738" y="3670352"/>
            <a:ext cx="207246" cy="231320"/>
          </a:xfrm>
          <a:prstGeom prst="downArrow">
            <a:avLst>
              <a:gd name="adj1" fmla="val 50000"/>
              <a:gd name="adj2" fmla="val 4973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10" name="箭头: 下 1009">
            <a:extLst>
              <a:ext uri="{FF2B5EF4-FFF2-40B4-BE49-F238E27FC236}">
                <a16:creationId xmlns:a16="http://schemas.microsoft.com/office/drawing/2014/main" id="{BB843362-9C1B-A4A1-053C-D53A0EF7D2E7}"/>
              </a:ext>
            </a:extLst>
          </p:cNvPr>
          <p:cNvSpPr/>
          <p:nvPr/>
        </p:nvSpPr>
        <p:spPr>
          <a:xfrm>
            <a:off x="7636123" y="3847823"/>
            <a:ext cx="171856" cy="167971"/>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11" name="箭头: 下 1010">
            <a:extLst>
              <a:ext uri="{FF2B5EF4-FFF2-40B4-BE49-F238E27FC236}">
                <a16:creationId xmlns:a16="http://schemas.microsoft.com/office/drawing/2014/main" id="{757C67BA-5A7E-5BB8-10F0-E332A191D9BE}"/>
              </a:ext>
            </a:extLst>
          </p:cNvPr>
          <p:cNvSpPr/>
          <p:nvPr/>
        </p:nvSpPr>
        <p:spPr>
          <a:xfrm>
            <a:off x="7636123" y="3511770"/>
            <a:ext cx="171856" cy="167971"/>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12" name="箭头: 下 1011">
            <a:extLst>
              <a:ext uri="{FF2B5EF4-FFF2-40B4-BE49-F238E27FC236}">
                <a16:creationId xmlns:a16="http://schemas.microsoft.com/office/drawing/2014/main" id="{A6F00CC5-8D95-26F2-50B8-407E2B2EFCAE}"/>
              </a:ext>
            </a:extLst>
          </p:cNvPr>
          <p:cNvSpPr/>
          <p:nvPr/>
        </p:nvSpPr>
        <p:spPr>
          <a:xfrm rot="16200000">
            <a:off x="8245177" y="4000167"/>
            <a:ext cx="207246" cy="231320"/>
          </a:xfrm>
          <a:prstGeom prst="downArrow">
            <a:avLst>
              <a:gd name="adj1" fmla="val 50000"/>
              <a:gd name="adj2" fmla="val 4973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13" name="箭头: 下 1012">
            <a:extLst>
              <a:ext uri="{FF2B5EF4-FFF2-40B4-BE49-F238E27FC236}">
                <a16:creationId xmlns:a16="http://schemas.microsoft.com/office/drawing/2014/main" id="{F37A5E2E-113E-BD3D-7AA7-0D27CA2FFBB5}"/>
              </a:ext>
            </a:extLst>
          </p:cNvPr>
          <p:cNvSpPr/>
          <p:nvPr/>
        </p:nvSpPr>
        <p:spPr>
          <a:xfrm>
            <a:off x="8888741" y="4412033"/>
            <a:ext cx="132629" cy="125097"/>
          </a:xfrm>
          <a:prstGeom prst="downArrow">
            <a:avLst>
              <a:gd name="adj1" fmla="val 50000"/>
              <a:gd name="adj2" fmla="val 48702"/>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14" name="组合 1013">
            <a:extLst>
              <a:ext uri="{FF2B5EF4-FFF2-40B4-BE49-F238E27FC236}">
                <a16:creationId xmlns:a16="http://schemas.microsoft.com/office/drawing/2014/main" id="{2ABE4636-70F8-E465-ACCC-2496FE4F58E0}"/>
              </a:ext>
            </a:extLst>
          </p:cNvPr>
          <p:cNvGrpSpPr/>
          <p:nvPr/>
        </p:nvGrpSpPr>
        <p:grpSpPr>
          <a:xfrm>
            <a:off x="8745224" y="4258786"/>
            <a:ext cx="644418" cy="198131"/>
            <a:chOff x="5542124" y="2090807"/>
            <a:chExt cx="955619" cy="365044"/>
          </a:xfrm>
        </p:grpSpPr>
        <p:sp>
          <p:nvSpPr>
            <p:cNvPr id="1015" name="矩形: 圆角 1014">
              <a:extLst>
                <a:ext uri="{FF2B5EF4-FFF2-40B4-BE49-F238E27FC236}">
                  <a16:creationId xmlns:a16="http://schemas.microsoft.com/office/drawing/2014/main" id="{D34D4A6C-A172-01FC-C6C1-4EFB0D968F29}"/>
                </a:ext>
              </a:extLst>
            </p:cNvPr>
            <p:cNvSpPr/>
            <p:nvPr/>
          </p:nvSpPr>
          <p:spPr>
            <a:xfrm>
              <a:off x="5611836" y="2194084"/>
              <a:ext cx="807984" cy="218752"/>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16" name="文本框 1015">
              <a:extLst>
                <a:ext uri="{FF2B5EF4-FFF2-40B4-BE49-F238E27FC236}">
                  <a16:creationId xmlns:a16="http://schemas.microsoft.com/office/drawing/2014/main" id="{61BD0214-669A-7766-8A20-4095E4F4405B}"/>
                </a:ext>
              </a:extLst>
            </p:cNvPr>
            <p:cNvSpPr txBox="1"/>
            <p:nvPr/>
          </p:nvSpPr>
          <p:spPr>
            <a:xfrm>
              <a:off x="5542124" y="2090807"/>
              <a:ext cx="955619" cy="365044"/>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5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是否仍存在咬边？</a:t>
              </a:r>
              <a:endParaRPr kumimoji="1" lang="en-US" altLang="zh-CN" sz="5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1017" name="文本框 1016">
            <a:extLst>
              <a:ext uri="{FF2B5EF4-FFF2-40B4-BE49-F238E27FC236}">
                <a16:creationId xmlns:a16="http://schemas.microsoft.com/office/drawing/2014/main" id="{422248B8-7113-9875-C200-9BFB54D34C54}"/>
              </a:ext>
            </a:extLst>
          </p:cNvPr>
          <p:cNvSpPr txBox="1"/>
          <p:nvPr/>
        </p:nvSpPr>
        <p:spPr>
          <a:xfrm>
            <a:off x="8834589" y="4366522"/>
            <a:ext cx="191902" cy="198131"/>
          </a:xfrm>
          <a:prstGeom prst="rect">
            <a:avLst/>
          </a:prstGeom>
          <a:noFill/>
        </p:spPr>
        <p:txBody>
          <a:bodyPr wrap="square">
            <a:spAutoFit/>
          </a:bodyPr>
          <a:lstStyle/>
          <a:p>
            <a:pPr fontAlgn="base">
              <a:lnSpc>
                <a:spcPct val="150000"/>
              </a:lnSpc>
              <a:spcBef>
                <a:spcPct val="0"/>
              </a:spcBef>
              <a:spcAft>
                <a:spcPct val="0"/>
              </a:spcAft>
            </a:pPr>
            <a:r>
              <a:rPr kumimoji="1" lang="zh-CN" altLang="en-US" sz="500" b="1" dirty="0">
                <a:solidFill>
                  <a:prstClr val="white"/>
                </a:solidFill>
                <a:latin typeface="微软雅黑" panose="020B0503020204020204" pitchFamily="34" charset="-122"/>
                <a:ea typeface="微软雅黑" panose="020B0503020204020204" pitchFamily="34" charset="-122"/>
              </a:rPr>
              <a:t>否</a:t>
            </a:r>
            <a:endParaRPr kumimoji="1" lang="en-US" altLang="zh-CN" sz="500" b="1" dirty="0">
              <a:solidFill>
                <a:prstClr val="white"/>
              </a:solidFill>
              <a:latin typeface="微软雅黑" panose="020B0503020204020204" pitchFamily="34" charset="-122"/>
              <a:ea typeface="微软雅黑" panose="020B0503020204020204" pitchFamily="34" charset="-122"/>
            </a:endParaRPr>
          </a:p>
        </p:txBody>
      </p:sp>
      <p:sp>
        <p:nvSpPr>
          <p:cNvPr id="1018" name="箭头: 下 1017">
            <a:extLst>
              <a:ext uri="{FF2B5EF4-FFF2-40B4-BE49-F238E27FC236}">
                <a16:creationId xmlns:a16="http://schemas.microsoft.com/office/drawing/2014/main" id="{764351A9-F500-0A60-2DB5-7BEA2D6EA5D2}"/>
              </a:ext>
            </a:extLst>
          </p:cNvPr>
          <p:cNvSpPr/>
          <p:nvPr/>
        </p:nvSpPr>
        <p:spPr>
          <a:xfrm>
            <a:off x="8888741" y="4202743"/>
            <a:ext cx="129776" cy="104880"/>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19" name="箭头: 手杖形 1018">
            <a:extLst>
              <a:ext uri="{FF2B5EF4-FFF2-40B4-BE49-F238E27FC236}">
                <a16:creationId xmlns:a16="http://schemas.microsoft.com/office/drawing/2014/main" id="{09AEC47F-36D9-5ABA-F0EE-C412CCB55447}"/>
              </a:ext>
            </a:extLst>
          </p:cNvPr>
          <p:cNvSpPr/>
          <p:nvPr/>
        </p:nvSpPr>
        <p:spPr>
          <a:xfrm rot="16200000" flipV="1">
            <a:off x="8928173" y="3813112"/>
            <a:ext cx="975486" cy="153742"/>
          </a:xfrm>
          <a:prstGeom prst="uturnArrow">
            <a:avLst>
              <a:gd name="adj1" fmla="val 28096"/>
              <a:gd name="adj2" fmla="val 25000"/>
              <a:gd name="adj3" fmla="val 25000"/>
              <a:gd name="adj4" fmla="val 23614"/>
              <a:gd name="adj5" fmla="val 75000"/>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20" name="文本框 1019">
            <a:extLst>
              <a:ext uri="{FF2B5EF4-FFF2-40B4-BE49-F238E27FC236}">
                <a16:creationId xmlns:a16="http://schemas.microsoft.com/office/drawing/2014/main" id="{A79CA5C1-CF9B-0BDF-D392-85A7CA06FC1E}"/>
              </a:ext>
            </a:extLst>
          </p:cNvPr>
          <p:cNvSpPr txBox="1"/>
          <p:nvPr/>
        </p:nvSpPr>
        <p:spPr>
          <a:xfrm>
            <a:off x="9292557" y="4272871"/>
            <a:ext cx="191902" cy="155812"/>
          </a:xfrm>
          <a:prstGeom prst="rect">
            <a:avLst/>
          </a:prstGeom>
          <a:noFill/>
        </p:spPr>
        <p:txBody>
          <a:bodyPr wrap="square">
            <a:spAutoFit/>
          </a:bodyPr>
          <a:lstStyle/>
          <a:p>
            <a:pPr fontAlgn="base">
              <a:lnSpc>
                <a:spcPct val="150000"/>
              </a:lnSpc>
              <a:spcBef>
                <a:spcPct val="0"/>
              </a:spcBef>
              <a:spcAft>
                <a:spcPct val="0"/>
              </a:spcAft>
            </a:pPr>
            <a:r>
              <a:rPr kumimoji="1" lang="zh-CN" altLang="en-US" sz="300" b="1" dirty="0">
                <a:solidFill>
                  <a:prstClr val="white"/>
                </a:solidFill>
                <a:latin typeface="微软雅黑" panose="020B0503020204020204" pitchFamily="34" charset="-122"/>
                <a:ea typeface="微软雅黑" panose="020B0503020204020204" pitchFamily="34" charset="-122"/>
              </a:rPr>
              <a:t>是</a:t>
            </a:r>
            <a:endParaRPr kumimoji="1" lang="en-US" altLang="zh-CN" sz="300" b="1" dirty="0">
              <a:solidFill>
                <a:prstClr val="white"/>
              </a:solidFill>
              <a:latin typeface="微软雅黑" panose="020B0503020204020204" pitchFamily="34" charset="-122"/>
              <a:ea typeface="微软雅黑" panose="020B0503020204020204" pitchFamily="34" charset="-122"/>
            </a:endParaRPr>
          </a:p>
        </p:txBody>
      </p:sp>
      <p:grpSp>
        <p:nvGrpSpPr>
          <p:cNvPr id="1021" name="组合 1020">
            <a:extLst>
              <a:ext uri="{FF2B5EF4-FFF2-40B4-BE49-F238E27FC236}">
                <a16:creationId xmlns:a16="http://schemas.microsoft.com/office/drawing/2014/main" id="{85C6E2F7-BBFA-8B58-056F-9EA4B9428F45}"/>
              </a:ext>
            </a:extLst>
          </p:cNvPr>
          <p:cNvGrpSpPr/>
          <p:nvPr/>
        </p:nvGrpSpPr>
        <p:grpSpPr>
          <a:xfrm>
            <a:off x="8376476" y="4971357"/>
            <a:ext cx="1039603" cy="333460"/>
            <a:chOff x="2599578" y="2146694"/>
            <a:chExt cx="911496" cy="332917"/>
          </a:xfrm>
        </p:grpSpPr>
        <p:sp>
          <p:nvSpPr>
            <p:cNvPr id="1022" name="矩形: 圆角 1021">
              <a:extLst>
                <a:ext uri="{FF2B5EF4-FFF2-40B4-BE49-F238E27FC236}">
                  <a16:creationId xmlns:a16="http://schemas.microsoft.com/office/drawing/2014/main" id="{0102B8F4-DF31-3C04-BA44-B03DB97606E5}"/>
                </a:ext>
              </a:extLst>
            </p:cNvPr>
            <p:cNvSpPr/>
            <p:nvPr/>
          </p:nvSpPr>
          <p:spPr>
            <a:xfrm>
              <a:off x="2599578" y="2185584"/>
              <a:ext cx="911496" cy="294027"/>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23" name="矩形 1022">
              <a:extLst>
                <a:ext uri="{FF2B5EF4-FFF2-40B4-BE49-F238E27FC236}">
                  <a16:creationId xmlns:a16="http://schemas.microsoft.com/office/drawing/2014/main" id="{A685FB40-F8D8-DE65-C57A-982C857EDFE5}"/>
                </a:ext>
              </a:extLst>
            </p:cNvPr>
            <p:cNvSpPr/>
            <p:nvPr/>
          </p:nvSpPr>
          <p:spPr>
            <a:xfrm>
              <a:off x="2616922" y="2146694"/>
              <a:ext cx="867395" cy="305676"/>
            </a:xfrm>
            <a:prstGeom prst="rect">
              <a:avLst/>
            </a:prstGeom>
          </p:spPr>
          <p:txBody>
            <a:bodyPr vert="horz"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力学性能改善</a:t>
              </a:r>
              <a:endParaRPr kumimoji="1" lang="en-US" altLang="zh-CN"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grpSp>
        <p:nvGrpSpPr>
          <p:cNvPr id="1024" name="组合 1023">
            <a:extLst>
              <a:ext uri="{FF2B5EF4-FFF2-40B4-BE49-F238E27FC236}">
                <a16:creationId xmlns:a16="http://schemas.microsoft.com/office/drawing/2014/main" id="{BACA67BB-3936-2AAB-3A5F-14CC03786EAB}"/>
              </a:ext>
            </a:extLst>
          </p:cNvPr>
          <p:cNvGrpSpPr/>
          <p:nvPr/>
        </p:nvGrpSpPr>
        <p:grpSpPr>
          <a:xfrm>
            <a:off x="7193668" y="4975497"/>
            <a:ext cx="1039603" cy="333460"/>
            <a:chOff x="2599578" y="2146694"/>
            <a:chExt cx="911496" cy="332917"/>
          </a:xfrm>
        </p:grpSpPr>
        <p:sp>
          <p:nvSpPr>
            <p:cNvPr id="1025" name="矩形: 圆角 1024">
              <a:extLst>
                <a:ext uri="{FF2B5EF4-FFF2-40B4-BE49-F238E27FC236}">
                  <a16:creationId xmlns:a16="http://schemas.microsoft.com/office/drawing/2014/main" id="{F9B599B4-7D6E-A213-1B98-AC74410FC3AC}"/>
                </a:ext>
              </a:extLst>
            </p:cNvPr>
            <p:cNvSpPr/>
            <p:nvPr/>
          </p:nvSpPr>
          <p:spPr>
            <a:xfrm>
              <a:off x="2599578" y="2185584"/>
              <a:ext cx="911496" cy="294027"/>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26" name="矩形 1025">
              <a:extLst>
                <a:ext uri="{FF2B5EF4-FFF2-40B4-BE49-F238E27FC236}">
                  <a16:creationId xmlns:a16="http://schemas.microsoft.com/office/drawing/2014/main" id="{AA9A979C-3D0D-6EDF-1227-BF95574C878F}"/>
                </a:ext>
              </a:extLst>
            </p:cNvPr>
            <p:cNvSpPr/>
            <p:nvPr/>
          </p:nvSpPr>
          <p:spPr>
            <a:xfrm>
              <a:off x="2616922" y="2146694"/>
              <a:ext cx="867395" cy="313998"/>
            </a:xfrm>
            <a:prstGeom prst="rect">
              <a:avLst/>
            </a:prstGeom>
          </p:spPr>
          <p:txBody>
            <a:bodyPr vert="horz"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焊缝成形改善</a:t>
              </a:r>
              <a:endParaRPr kumimoji="1" lang="en-US" altLang="zh-CN" sz="105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027" name="矩形: 圆角 1026">
            <a:extLst>
              <a:ext uri="{FF2B5EF4-FFF2-40B4-BE49-F238E27FC236}">
                <a16:creationId xmlns:a16="http://schemas.microsoft.com/office/drawing/2014/main" id="{A9368DE2-0CEE-23A2-AE23-E81481769CD2}"/>
              </a:ext>
            </a:extLst>
          </p:cNvPr>
          <p:cNvSpPr/>
          <p:nvPr/>
        </p:nvSpPr>
        <p:spPr>
          <a:xfrm>
            <a:off x="7146655" y="4901026"/>
            <a:ext cx="1151284" cy="1142767"/>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28" name="矩形: 圆角 1027">
            <a:extLst>
              <a:ext uri="{FF2B5EF4-FFF2-40B4-BE49-F238E27FC236}">
                <a16:creationId xmlns:a16="http://schemas.microsoft.com/office/drawing/2014/main" id="{E24AB5D6-A889-74E6-65D1-F524AF00723D}"/>
              </a:ext>
            </a:extLst>
          </p:cNvPr>
          <p:cNvSpPr/>
          <p:nvPr/>
        </p:nvSpPr>
        <p:spPr>
          <a:xfrm>
            <a:off x="8336183" y="4894743"/>
            <a:ext cx="1105116" cy="1142767"/>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29" name="矩形 1028">
            <a:extLst>
              <a:ext uri="{FF2B5EF4-FFF2-40B4-BE49-F238E27FC236}">
                <a16:creationId xmlns:a16="http://schemas.microsoft.com/office/drawing/2014/main" id="{505FD964-1D4B-AFF7-0AEB-5A7A0B8FA513}"/>
              </a:ext>
            </a:extLst>
          </p:cNvPr>
          <p:cNvSpPr/>
          <p:nvPr/>
        </p:nvSpPr>
        <p:spPr>
          <a:xfrm>
            <a:off x="7343015" y="5345354"/>
            <a:ext cx="740907"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咬边深度</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0" name="矩形 1029">
            <a:extLst>
              <a:ext uri="{FF2B5EF4-FFF2-40B4-BE49-F238E27FC236}">
                <a16:creationId xmlns:a16="http://schemas.microsoft.com/office/drawing/2014/main" id="{6A230799-9C13-1CCD-EA26-0053F1C64DDA}"/>
              </a:ext>
            </a:extLst>
          </p:cNvPr>
          <p:cNvSpPr/>
          <p:nvPr/>
        </p:nvSpPr>
        <p:spPr>
          <a:xfrm>
            <a:off x="7343014" y="5504208"/>
            <a:ext cx="740907"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咬边宽度</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1" name="矩形 1030">
            <a:extLst>
              <a:ext uri="{FF2B5EF4-FFF2-40B4-BE49-F238E27FC236}">
                <a16:creationId xmlns:a16="http://schemas.microsoft.com/office/drawing/2014/main" id="{B9FC5CAD-F823-16BC-8CBF-3DCC9B2DF725}"/>
              </a:ext>
            </a:extLst>
          </p:cNvPr>
          <p:cNvSpPr/>
          <p:nvPr/>
        </p:nvSpPr>
        <p:spPr>
          <a:xfrm>
            <a:off x="8527314" y="5348230"/>
            <a:ext cx="737835"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拉伸性能</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2" name="矩形 1031">
            <a:extLst>
              <a:ext uri="{FF2B5EF4-FFF2-40B4-BE49-F238E27FC236}">
                <a16:creationId xmlns:a16="http://schemas.microsoft.com/office/drawing/2014/main" id="{3EAC0940-0EF6-63FC-50E6-ED041209D25D}"/>
              </a:ext>
            </a:extLst>
          </p:cNvPr>
          <p:cNvSpPr/>
          <p:nvPr/>
        </p:nvSpPr>
        <p:spPr>
          <a:xfrm>
            <a:off x="8527314" y="5508055"/>
            <a:ext cx="737835"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屈服强度</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3" name="矩形 1032">
            <a:extLst>
              <a:ext uri="{FF2B5EF4-FFF2-40B4-BE49-F238E27FC236}">
                <a16:creationId xmlns:a16="http://schemas.microsoft.com/office/drawing/2014/main" id="{E61AD864-3BA3-71EC-EB80-49A69FABCB85}"/>
              </a:ext>
            </a:extLst>
          </p:cNvPr>
          <p:cNvSpPr/>
          <p:nvPr/>
        </p:nvSpPr>
        <p:spPr>
          <a:xfrm>
            <a:off x="8531759" y="5670131"/>
            <a:ext cx="737835"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疲劳性能</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4" name="矩形 1033">
            <a:extLst>
              <a:ext uri="{FF2B5EF4-FFF2-40B4-BE49-F238E27FC236}">
                <a16:creationId xmlns:a16="http://schemas.microsoft.com/office/drawing/2014/main" id="{9A3FA893-19FE-B19B-DEF8-1AA31CCD6B74}"/>
              </a:ext>
            </a:extLst>
          </p:cNvPr>
          <p:cNvSpPr/>
          <p:nvPr/>
        </p:nvSpPr>
        <p:spPr>
          <a:xfrm>
            <a:off x="7347218" y="5670131"/>
            <a:ext cx="740907"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咬边体积</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5" name="矩形: 圆角 1034">
            <a:extLst>
              <a:ext uri="{FF2B5EF4-FFF2-40B4-BE49-F238E27FC236}">
                <a16:creationId xmlns:a16="http://schemas.microsoft.com/office/drawing/2014/main" id="{A1E6095A-A493-D5E4-F0C6-D02AAE84351E}"/>
              </a:ext>
            </a:extLst>
          </p:cNvPr>
          <p:cNvSpPr/>
          <p:nvPr/>
        </p:nvSpPr>
        <p:spPr>
          <a:xfrm>
            <a:off x="1157513" y="3726447"/>
            <a:ext cx="332814" cy="377767"/>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36" name="矩形 1035">
            <a:extLst>
              <a:ext uri="{FF2B5EF4-FFF2-40B4-BE49-F238E27FC236}">
                <a16:creationId xmlns:a16="http://schemas.microsoft.com/office/drawing/2014/main" id="{6F6743E6-ADBA-4D4B-E14D-70EA33838049}"/>
              </a:ext>
            </a:extLst>
          </p:cNvPr>
          <p:cNvSpPr/>
          <p:nvPr/>
        </p:nvSpPr>
        <p:spPr>
          <a:xfrm>
            <a:off x="1063319" y="3800527"/>
            <a:ext cx="507150" cy="230832"/>
          </a:xfrm>
          <a:prstGeom prst="rect">
            <a:avLst/>
          </a:prstGeom>
        </p:spPr>
        <p:txBody>
          <a:bodyPr wrap="square">
            <a:spAutoFit/>
          </a:bodyPr>
          <a:lstStyle/>
          <a:p>
            <a:pPr algn="ctr" fontAlgn="base">
              <a:spcBef>
                <a:spcPct val="0"/>
              </a:spcBef>
              <a:spcAft>
                <a:spcPct val="0"/>
              </a:spcAft>
            </a:pPr>
            <a:r>
              <a:rPr kumimoji="1" lang="zh-CN" altLang="en-US" sz="900" dirty="0">
                <a:solidFill>
                  <a:prstClr val="white">
                    <a:lumMod val="95000"/>
                  </a:prstClr>
                </a:solidFill>
                <a:latin typeface="汉仪粗宋简" panose="02010600000101010101" pitchFamily="2" charset="-122"/>
                <a:ea typeface="汉仪粗宋简" panose="02010600000101010101" pitchFamily="2" charset="-122"/>
              </a:rPr>
              <a:t>板厚</a:t>
            </a:r>
          </a:p>
        </p:txBody>
      </p:sp>
      <p:sp>
        <p:nvSpPr>
          <p:cNvPr id="1037" name="文本框 1036">
            <a:extLst>
              <a:ext uri="{FF2B5EF4-FFF2-40B4-BE49-F238E27FC236}">
                <a16:creationId xmlns:a16="http://schemas.microsoft.com/office/drawing/2014/main" id="{20E8EA49-5410-9FE0-6833-0289FA54B60D}"/>
              </a:ext>
            </a:extLst>
          </p:cNvPr>
          <p:cNvSpPr txBox="1"/>
          <p:nvPr/>
        </p:nvSpPr>
        <p:spPr>
          <a:xfrm>
            <a:off x="1436243" y="3496985"/>
            <a:ext cx="665721" cy="215444"/>
          </a:xfrm>
          <a:prstGeom prst="rect">
            <a:avLst/>
          </a:prstGeom>
          <a:noFill/>
        </p:spPr>
        <p:txBody>
          <a:bodyPr wrap="square">
            <a:spAutoFit/>
          </a:bodyPr>
          <a:lstStyle/>
          <a:p>
            <a:pPr algn="ctr" fontAlgn="base">
              <a:spcBef>
                <a:spcPct val="0"/>
              </a:spcBef>
              <a:spcAft>
                <a:spcPct val="0"/>
              </a:spcAft>
            </a:pP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90</a:t>
            </a: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级焊丝</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38" name="文本框 1037">
            <a:extLst>
              <a:ext uri="{FF2B5EF4-FFF2-40B4-BE49-F238E27FC236}">
                <a16:creationId xmlns:a16="http://schemas.microsoft.com/office/drawing/2014/main" id="{E1FA62FF-9F92-D47F-A8D7-D89F347FE5F5}"/>
              </a:ext>
            </a:extLst>
          </p:cNvPr>
          <p:cNvSpPr txBox="1"/>
          <p:nvPr/>
        </p:nvSpPr>
        <p:spPr>
          <a:xfrm>
            <a:off x="1435795" y="3702651"/>
            <a:ext cx="665721" cy="215444"/>
          </a:xfrm>
          <a:prstGeom prst="rect">
            <a:avLst/>
          </a:prstGeom>
          <a:noFill/>
        </p:spPr>
        <p:txBody>
          <a:bodyPr wrap="square">
            <a:spAutoFit/>
          </a:bodyPr>
          <a:lstStyle/>
          <a:p>
            <a:pPr algn="ctr" fontAlgn="base">
              <a:spcBef>
                <a:spcPct val="0"/>
              </a:spcBef>
              <a:spcAft>
                <a:spcPct val="0"/>
              </a:spcAft>
            </a:pP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8+10mm</a:t>
            </a:r>
          </a:p>
        </p:txBody>
      </p:sp>
      <p:sp>
        <p:nvSpPr>
          <p:cNvPr id="1039" name="文本框 1038">
            <a:extLst>
              <a:ext uri="{FF2B5EF4-FFF2-40B4-BE49-F238E27FC236}">
                <a16:creationId xmlns:a16="http://schemas.microsoft.com/office/drawing/2014/main" id="{94FB8910-63A7-22BF-2DFA-2D1048CE89D2}"/>
              </a:ext>
            </a:extLst>
          </p:cNvPr>
          <p:cNvSpPr txBox="1"/>
          <p:nvPr/>
        </p:nvSpPr>
        <p:spPr>
          <a:xfrm>
            <a:off x="1471850" y="3837385"/>
            <a:ext cx="658047" cy="338554"/>
          </a:xfrm>
          <a:prstGeom prst="rect">
            <a:avLst/>
          </a:prstGeom>
          <a:noFill/>
        </p:spPr>
        <p:txBody>
          <a:bodyPr wrap="square">
            <a:spAutoFit/>
          </a:bodyPr>
          <a:lstStyle/>
          <a:p>
            <a:pPr fontAlgn="base">
              <a:spcBef>
                <a:spcPct val="0"/>
              </a:spcBef>
              <a:spcAft>
                <a:spcPct val="0"/>
              </a:spcAft>
            </a:pP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10+12mm</a:t>
            </a:r>
          </a:p>
        </p:txBody>
      </p:sp>
      <p:sp>
        <p:nvSpPr>
          <p:cNvPr id="1040" name="矩形: 圆角 1039">
            <a:extLst>
              <a:ext uri="{FF2B5EF4-FFF2-40B4-BE49-F238E27FC236}">
                <a16:creationId xmlns:a16="http://schemas.microsoft.com/office/drawing/2014/main" id="{EAB3F100-412B-7AF8-6D90-830C4B71C177}"/>
              </a:ext>
            </a:extLst>
          </p:cNvPr>
          <p:cNvSpPr/>
          <p:nvPr/>
        </p:nvSpPr>
        <p:spPr>
          <a:xfrm>
            <a:off x="1126427" y="3714250"/>
            <a:ext cx="945067" cy="399034"/>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41" name="文本框 1040">
            <a:extLst>
              <a:ext uri="{FF2B5EF4-FFF2-40B4-BE49-F238E27FC236}">
                <a16:creationId xmlns:a16="http://schemas.microsoft.com/office/drawing/2014/main" id="{E76A7D88-C752-83C8-4C35-ECFF1DA0373A}"/>
              </a:ext>
            </a:extLst>
          </p:cNvPr>
          <p:cNvSpPr txBox="1"/>
          <p:nvPr/>
        </p:nvSpPr>
        <p:spPr>
          <a:xfrm>
            <a:off x="1580549" y="3963751"/>
            <a:ext cx="385030" cy="215444"/>
          </a:xfrm>
          <a:prstGeom prst="rect">
            <a:avLst/>
          </a:prstGeom>
          <a:noFill/>
        </p:spPr>
        <p:txBody>
          <a:bodyPr wrap="square">
            <a:spAutoFit/>
          </a:bodyPr>
          <a:lstStyle/>
          <a:p>
            <a:pPr fontAlgn="base">
              <a:spcBef>
                <a:spcPct val="0"/>
              </a:spcBef>
              <a:spcAft>
                <a:spcPct val="0"/>
              </a:spcAft>
            </a:pPr>
            <a:r>
              <a:rPr kumimoji="1" lang="en-US" altLang="zh-CN" sz="800" b="1" spc="300" dirty="0">
                <a:solidFill>
                  <a:srgbClr val="F79646">
                    <a:lumMod val="75000"/>
                  </a:srgbClr>
                </a:solidFill>
                <a:latin typeface="得意黑" pitchFamily="2" charset="-122"/>
                <a:ea typeface="得意黑" pitchFamily="2" charset="-122"/>
              </a:rPr>
              <a:t>···</a:t>
            </a:r>
          </a:p>
        </p:txBody>
      </p:sp>
      <p:sp>
        <p:nvSpPr>
          <p:cNvPr id="1042" name="矩形: 圆角 1041">
            <a:extLst>
              <a:ext uri="{FF2B5EF4-FFF2-40B4-BE49-F238E27FC236}">
                <a16:creationId xmlns:a16="http://schemas.microsoft.com/office/drawing/2014/main" id="{37B7B800-42DF-F76D-1A7B-6318A0921366}"/>
              </a:ext>
            </a:extLst>
          </p:cNvPr>
          <p:cNvSpPr/>
          <p:nvPr/>
        </p:nvSpPr>
        <p:spPr>
          <a:xfrm>
            <a:off x="1125264" y="3330518"/>
            <a:ext cx="946229" cy="365244"/>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43" name="矩形 1042">
            <a:extLst>
              <a:ext uri="{FF2B5EF4-FFF2-40B4-BE49-F238E27FC236}">
                <a16:creationId xmlns:a16="http://schemas.microsoft.com/office/drawing/2014/main" id="{07FA592B-0E63-473D-6FAB-167A5D681AE2}"/>
              </a:ext>
            </a:extLst>
          </p:cNvPr>
          <p:cNvSpPr/>
          <p:nvPr/>
        </p:nvSpPr>
        <p:spPr>
          <a:xfrm>
            <a:off x="1432168" y="4995056"/>
            <a:ext cx="720076"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焊接工况</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cxnSp>
        <p:nvCxnSpPr>
          <p:cNvPr id="1044" name="直接连接符 1043">
            <a:extLst>
              <a:ext uri="{FF2B5EF4-FFF2-40B4-BE49-F238E27FC236}">
                <a16:creationId xmlns:a16="http://schemas.microsoft.com/office/drawing/2014/main" id="{1024E831-8F9A-B48F-783D-FD70B40A8F08}"/>
              </a:ext>
            </a:extLst>
          </p:cNvPr>
          <p:cNvCxnSpPr>
            <a:cxnSpLocks/>
          </p:cNvCxnSpPr>
          <p:nvPr/>
        </p:nvCxnSpPr>
        <p:spPr>
          <a:xfrm>
            <a:off x="1490327" y="5399680"/>
            <a:ext cx="0" cy="475061"/>
          </a:xfrm>
          <a:prstGeom prst="line">
            <a:avLst/>
          </a:prstGeom>
          <a:noFill/>
          <a:ln w="6350" cap="flat" cmpd="sng" algn="ctr">
            <a:solidFill>
              <a:srgbClr val="F79646">
                <a:lumMod val="75000"/>
              </a:srgbClr>
            </a:solidFill>
            <a:prstDash val="solid"/>
            <a:miter lim="800000"/>
          </a:ln>
          <a:effectLst/>
        </p:spPr>
      </p:cxnSp>
      <p:sp>
        <p:nvSpPr>
          <p:cNvPr id="1045" name="矩形 1044">
            <a:extLst>
              <a:ext uri="{FF2B5EF4-FFF2-40B4-BE49-F238E27FC236}">
                <a16:creationId xmlns:a16="http://schemas.microsoft.com/office/drawing/2014/main" id="{1D3EC6FD-DE47-DA68-3C90-F46B0E6D96F0}"/>
              </a:ext>
            </a:extLst>
          </p:cNvPr>
          <p:cNvSpPr/>
          <p:nvPr/>
        </p:nvSpPr>
        <p:spPr>
          <a:xfrm>
            <a:off x="1261474" y="5626999"/>
            <a:ext cx="1073488" cy="282770"/>
          </a:xfrm>
          <a:prstGeom prst="rect">
            <a:avLst/>
          </a:prstGeom>
        </p:spPr>
        <p:txBody>
          <a:bodyPr wrap="square">
            <a:spAutoFit/>
          </a:bodyPr>
          <a:lstStyle/>
          <a:p>
            <a:pPr algn="ctr" fontAlgn="base">
              <a:lnSpc>
                <a:spcPct val="150000"/>
              </a:lnSpc>
              <a:spcBef>
                <a:spcPct val="0"/>
              </a:spcBef>
              <a:spcAft>
                <a:spcPct val="0"/>
              </a:spcAft>
            </a:pPr>
            <a:r>
              <a:rPr kumimoji="1" lang="zh-CN" altLang="en-US" sz="900" b="1" dirty="0">
                <a:solidFill>
                  <a:srgbClr val="F79646">
                    <a:lumMod val="75000"/>
                  </a:srgbClr>
                </a:solidFill>
                <a:latin typeface="微软雅黑" panose="020B0503020204020204" pitchFamily="34" charset="-122"/>
                <a:ea typeface="微软雅黑" panose="020B0503020204020204" pitchFamily="34" charset="-122"/>
              </a:rPr>
              <a:t>量化指标</a:t>
            </a:r>
            <a:endParaRPr kumimoji="1" lang="en-US" altLang="zh-CN" sz="900" b="1" dirty="0">
              <a:solidFill>
                <a:srgbClr val="F79646">
                  <a:lumMod val="75000"/>
                </a:srgbClr>
              </a:solidFill>
              <a:latin typeface="微软雅黑" panose="020B0503020204020204" pitchFamily="34" charset="-122"/>
              <a:ea typeface="微软雅黑" panose="020B0503020204020204" pitchFamily="34" charset="-122"/>
            </a:endParaRPr>
          </a:p>
        </p:txBody>
      </p:sp>
      <p:grpSp>
        <p:nvGrpSpPr>
          <p:cNvPr id="1046" name="组合 1045">
            <a:extLst>
              <a:ext uri="{FF2B5EF4-FFF2-40B4-BE49-F238E27FC236}">
                <a16:creationId xmlns:a16="http://schemas.microsoft.com/office/drawing/2014/main" id="{0993454E-EE0E-D714-0381-822869C843BB}"/>
              </a:ext>
            </a:extLst>
          </p:cNvPr>
          <p:cNvGrpSpPr/>
          <p:nvPr/>
        </p:nvGrpSpPr>
        <p:grpSpPr>
          <a:xfrm>
            <a:off x="2906876" y="4595975"/>
            <a:ext cx="1621454" cy="303929"/>
            <a:chOff x="4116131" y="2030652"/>
            <a:chExt cx="1552352" cy="303929"/>
          </a:xfrm>
        </p:grpSpPr>
        <p:sp>
          <p:nvSpPr>
            <p:cNvPr id="1047" name="矩形: 圆角 1046">
              <a:extLst>
                <a:ext uri="{FF2B5EF4-FFF2-40B4-BE49-F238E27FC236}">
                  <a16:creationId xmlns:a16="http://schemas.microsoft.com/office/drawing/2014/main" id="{1F78F1F1-AECA-561A-2326-C2497A1B1040}"/>
                </a:ext>
              </a:extLst>
            </p:cNvPr>
            <p:cNvSpPr/>
            <p:nvPr/>
          </p:nvSpPr>
          <p:spPr>
            <a:xfrm>
              <a:off x="4130855" y="2119091"/>
              <a:ext cx="1365158" cy="183043"/>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48" name="文本框 1047">
              <a:extLst>
                <a:ext uri="{FF2B5EF4-FFF2-40B4-BE49-F238E27FC236}">
                  <a16:creationId xmlns:a16="http://schemas.microsoft.com/office/drawing/2014/main" id="{0B0400FE-3887-A136-CCCB-B7236840B190}"/>
                </a:ext>
              </a:extLst>
            </p:cNvPr>
            <p:cNvSpPr txBox="1"/>
            <p:nvPr/>
          </p:nvSpPr>
          <p:spPr>
            <a:xfrm>
              <a:off x="4116131" y="2030652"/>
              <a:ext cx="1552352" cy="303929"/>
            </a:xfrm>
            <a:prstGeom prst="rect">
              <a:avLst/>
            </a:prstGeom>
            <a:noFill/>
          </p:spPr>
          <p:txBody>
            <a:bodyPr wrap="square">
              <a:spAutoFit/>
            </a:bodyPr>
            <a:lstStyle/>
            <a:p>
              <a:pPr marL="0" marR="0" lvl="0" indent="0" defTabSz="914400" eaLnBrk="1" fontAlgn="base" latinLnBrk="0" hangingPunct="1">
                <a:lnSpc>
                  <a:spcPct val="15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焊接过程对咬边的影响</a:t>
              </a:r>
              <a:endParaRPr kumimoji="1" lang="en-US" altLang="zh-CN" sz="10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049" name="矩形: 圆角 1048">
            <a:extLst>
              <a:ext uri="{FF2B5EF4-FFF2-40B4-BE49-F238E27FC236}">
                <a16:creationId xmlns:a16="http://schemas.microsoft.com/office/drawing/2014/main" id="{6E2C6915-5221-1750-CF0D-4459F0D64804}"/>
              </a:ext>
            </a:extLst>
          </p:cNvPr>
          <p:cNvSpPr/>
          <p:nvPr/>
        </p:nvSpPr>
        <p:spPr>
          <a:xfrm>
            <a:off x="2866815" y="4612056"/>
            <a:ext cx="1530048" cy="1359514"/>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50" name="组合 1049">
            <a:extLst>
              <a:ext uri="{FF2B5EF4-FFF2-40B4-BE49-F238E27FC236}">
                <a16:creationId xmlns:a16="http://schemas.microsoft.com/office/drawing/2014/main" id="{25F8E661-12BC-22A7-53BC-52C8194BEBD1}"/>
              </a:ext>
            </a:extLst>
          </p:cNvPr>
          <p:cNvGrpSpPr/>
          <p:nvPr/>
        </p:nvGrpSpPr>
        <p:grpSpPr>
          <a:xfrm>
            <a:off x="1747706" y="4301496"/>
            <a:ext cx="673510" cy="279161"/>
            <a:chOff x="3702743" y="1842474"/>
            <a:chExt cx="618081" cy="279161"/>
          </a:xfrm>
        </p:grpSpPr>
        <p:sp>
          <p:nvSpPr>
            <p:cNvPr id="1051" name="箭头: 右 1050">
              <a:extLst>
                <a:ext uri="{FF2B5EF4-FFF2-40B4-BE49-F238E27FC236}">
                  <a16:creationId xmlns:a16="http://schemas.microsoft.com/office/drawing/2014/main" id="{A5ED884E-1590-4705-E095-F22D7387776E}"/>
                </a:ext>
              </a:extLst>
            </p:cNvPr>
            <p:cNvSpPr/>
            <p:nvPr/>
          </p:nvSpPr>
          <p:spPr>
            <a:xfrm>
              <a:off x="3735248" y="1842474"/>
              <a:ext cx="406844" cy="279161"/>
            </a:xfrm>
            <a:prstGeom prst="rightArrow">
              <a:avLst/>
            </a:prstGeom>
            <a:solidFill>
              <a:srgbClr val="77933C"/>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52" name="矩形 1051">
              <a:extLst>
                <a:ext uri="{FF2B5EF4-FFF2-40B4-BE49-F238E27FC236}">
                  <a16:creationId xmlns:a16="http://schemas.microsoft.com/office/drawing/2014/main" id="{4481C94F-1722-A9F1-CA16-391D1AEDB6E4}"/>
                </a:ext>
              </a:extLst>
            </p:cNvPr>
            <p:cNvSpPr/>
            <p:nvPr/>
          </p:nvSpPr>
          <p:spPr>
            <a:xfrm>
              <a:off x="3702743" y="1855743"/>
              <a:ext cx="618081" cy="219291"/>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分析</a:t>
              </a:r>
              <a:endParaRPr kumimoji="1" lang="en-US" altLang="zh-CN"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053" name="矩形: 圆角 1052">
            <a:extLst>
              <a:ext uri="{FF2B5EF4-FFF2-40B4-BE49-F238E27FC236}">
                <a16:creationId xmlns:a16="http://schemas.microsoft.com/office/drawing/2014/main" id="{46A0BEB4-0C99-933A-A78D-21D7CFB1AC77}"/>
              </a:ext>
            </a:extLst>
          </p:cNvPr>
          <p:cNvSpPr/>
          <p:nvPr/>
        </p:nvSpPr>
        <p:spPr>
          <a:xfrm>
            <a:off x="2177076" y="3311288"/>
            <a:ext cx="520194" cy="2666717"/>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54" name="矩形: 圆角 1053">
            <a:extLst>
              <a:ext uri="{FF2B5EF4-FFF2-40B4-BE49-F238E27FC236}">
                <a16:creationId xmlns:a16="http://schemas.microsoft.com/office/drawing/2014/main" id="{CA4AE672-B5F0-5170-80AF-72C37EC27802}"/>
              </a:ext>
            </a:extLst>
          </p:cNvPr>
          <p:cNvSpPr/>
          <p:nvPr/>
        </p:nvSpPr>
        <p:spPr>
          <a:xfrm>
            <a:off x="2218766" y="4349556"/>
            <a:ext cx="441305" cy="183043"/>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55" name="文本框 1054">
            <a:extLst>
              <a:ext uri="{FF2B5EF4-FFF2-40B4-BE49-F238E27FC236}">
                <a16:creationId xmlns:a16="http://schemas.microsoft.com/office/drawing/2014/main" id="{AFFC3927-E7E2-AB5D-CE33-A69EB3ADDF41}"/>
              </a:ext>
            </a:extLst>
          </p:cNvPr>
          <p:cNvSpPr txBox="1"/>
          <p:nvPr/>
        </p:nvSpPr>
        <p:spPr>
          <a:xfrm>
            <a:off x="2273773" y="4266684"/>
            <a:ext cx="352699" cy="314510"/>
          </a:xfrm>
          <a:prstGeom prst="rect">
            <a:avLst/>
          </a:prstGeom>
          <a:noFill/>
        </p:spPr>
        <p:txBody>
          <a:bodyPr wrap="square">
            <a:spAutoFit/>
          </a:bodyPr>
          <a:lstStyle/>
          <a:p>
            <a:pPr fontAlgn="base">
              <a:lnSpc>
                <a:spcPct val="150000"/>
              </a:lnSpc>
              <a:spcBef>
                <a:spcPct val="0"/>
              </a:spcBef>
              <a:spcAft>
                <a:spcPct val="0"/>
              </a:spcAft>
            </a:pPr>
            <a:r>
              <a:rPr kumimoji="1" lang="zh-CN" altLang="en-US" sz="1050" b="1" spc="300" dirty="0">
                <a:solidFill>
                  <a:prstClr val="white">
                    <a:lumMod val="95000"/>
                  </a:prstClr>
                </a:solidFill>
                <a:latin typeface="微软雅黑" panose="020B0503020204020204" pitchFamily="34" charset="-122"/>
                <a:ea typeface="微软雅黑" panose="020B0503020204020204" pitchFamily="34" charset="-122"/>
              </a:rPr>
              <a:t>图</a:t>
            </a:r>
            <a:endParaRPr kumimoji="1" lang="en-US" altLang="zh-CN" sz="1050" b="1" spc="300" dirty="0">
              <a:solidFill>
                <a:prstClr val="white">
                  <a:lumMod val="95000"/>
                </a:prstClr>
              </a:solidFill>
              <a:latin typeface="微软雅黑" panose="020B0503020204020204" pitchFamily="34" charset="-122"/>
              <a:ea typeface="微软雅黑" panose="020B0503020204020204" pitchFamily="34" charset="-122"/>
            </a:endParaRPr>
          </a:p>
        </p:txBody>
      </p:sp>
      <p:grpSp>
        <p:nvGrpSpPr>
          <p:cNvPr id="1056" name="组合 1055">
            <a:extLst>
              <a:ext uri="{FF2B5EF4-FFF2-40B4-BE49-F238E27FC236}">
                <a16:creationId xmlns:a16="http://schemas.microsoft.com/office/drawing/2014/main" id="{1097B866-BBC1-683A-378E-EAC87CC62F57}"/>
              </a:ext>
            </a:extLst>
          </p:cNvPr>
          <p:cNvGrpSpPr/>
          <p:nvPr/>
        </p:nvGrpSpPr>
        <p:grpSpPr>
          <a:xfrm>
            <a:off x="2115037" y="3304101"/>
            <a:ext cx="629775" cy="415498"/>
            <a:chOff x="2510855" y="2156540"/>
            <a:chExt cx="468231" cy="647796"/>
          </a:xfrm>
        </p:grpSpPr>
        <p:sp>
          <p:nvSpPr>
            <p:cNvPr id="1057" name="矩形: 圆角 1056">
              <a:extLst>
                <a:ext uri="{FF2B5EF4-FFF2-40B4-BE49-F238E27FC236}">
                  <a16:creationId xmlns:a16="http://schemas.microsoft.com/office/drawing/2014/main" id="{37C02C66-1EF7-B2A4-5A50-5097E9E920E9}"/>
                </a:ext>
              </a:extLst>
            </p:cNvPr>
            <p:cNvSpPr/>
            <p:nvPr/>
          </p:nvSpPr>
          <p:spPr>
            <a:xfrm>
              <a:off x="2596639" y="2218110"/>
              <a:ext cx="307228" cy="557046"/>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58" name="矩形 1057">
              <a:extLst>
                <a:ext uri="{FF2B5EF4-FFF2-40B4-BE49-F238E27FC236}">
                  <a16:creationId xmlns:a16="http://schemas.microsoft.com/office/drawing/2014/main" id="{8B66A0D2-DDD6-0EE8-1A1B-9244637CD90C}"/>
                </a:ext>
              </a:extLst>
            </p:cNvPr>
            <p:cNvSpPr/>
            <p:nvPr/>
          </p:nvSpPr>
          <p:spPr>
            <a:xfrm>
              <a:off x="2510855" y="2156540"/>
              <a:ext cx="468231" cy="647796"/>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工艺</a:t>
              </a:r>
              <a:endParaRPr kumimoji="1" lang="en-US" altLang="zh-CN"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窗口</a:t>
              </a:r>
              <a:endParaRPr kumimoji="1" lang="en-US" altLang="zh-CN"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1059" name="文本框 1058">
            <a:extLst>
              <a:ext uri="{FF2B5EF4-FFF2-40B4-BE49-F238E27FC236}">
                <a16:creationId xmlns:a16="http://schemas.microsoft.com/office/drawing/2014/main" id="{593F31A7-F781-5173-E9B4-9546F663227C}"/>
              </a:ext>
            </a:extLst>
          </p:cNvPr>
          <p:cNvSpPr txBox="1"/>
          <p:nvPr/>
        </p:nvSpPr>
        <p:spPr>
          <a:xfrm>
            <a:off x="2112582" y="3703405"/>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边界条件</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0" name="文本框 1059">
            <a:extLst>
              <a:ext uri="{FF2B5EF4-FFF2-40B4-BE49-F238E27FC236}">
                <a16:creationId xmlns:a16="http://schemas.microsoft.com/office/drawing/2014/main" id="{E381468E-992D-86F8-5590-9A93BDDF0F87}"/>
              </a:ext>
            </a:extLst>
          </p:cNvPr>
          <p:cNvSpPr txBox="1"/>
          <p:nvPr/>
        </p:nvSpPr>
        <p:spPr>
          <a:xfrm>
            <a:off x="2106164" y="4029171"/>
            <a:ext cx="665721" cy="33855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参数互相</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影响</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1" name="文本框 1060">
            <a:extLst>
              <a:ext uri="{FF2B5EF4-FFF2-40B4-BE49-F238E27FC236}">
                <a16:creationId xmlns:a16="http://schemas.microsoft.com/office/drawing/2014/main" id="{4D7BFC1E-374B-DC6B-FADD-A7996E2130D2}"/>
              </a:ext>
            </a:extLst>
          </p:cNvPr>
          <p:cNvSpPr txBox="1"/>
          <p:nvPr/>
        </p:nvSpPr>
        <p:spPr>
          <a:xfrm>
            <a:off x="2106709" y="3873209"/>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规律</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2" name="矩形: 圆角 1061">
            <a:extLst>
              <a:ext uri="{FF2B5EF4-FFF2-40B4-BE49-F238E27FC236}">
                <a16:creationId xmlns:a16="http://schemas.microsoft.com/office/drawing/2014/main" id="{DF05CF24-A2DA-96D9-6B7C-2E068832C92E}"/>
              </a:ext>
            </a:extLst>
          </p:cNvPr>
          <p:cNvSpPr/>
          <p:nvPr/>
        </p:nvSpPr>
        <p:spPr>
          <a:xfrm>
            <a:off x="2208676" y="3326875"/>
            <a:ext cx="457068" cy="986430"/>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063" name="组合 1062">
            <a:extLst>
              <a:ext uri="{FF2B5EF4-FFF2-40B4-BE49-F238E27FC236}">
                <a16:creationId xmlns:a16="http://schemas.microsoft.com/office/drawing/2014/main" id="{A01B390D-C266-A58B-502A-624A661BFDD7}"/>
              </a:ext>
            </a:extLst>
          </p:cNvPr>
          <p:cNvGrpSpPr/>
          <p:nvPr/>
        </p:nvGrpSpPr>
        <p:grpSpPr>
          <a:xfrm>
            <a:off x="2115989" y="4567128"/>
            <a:ext cx="629775" cy="415498"/>
            <a:chOff x="2511720" y="2169956"/>
            <a:chExt cx="468231" cy="647796"/>
          </a:xfrm>
        </p:grpSpPr>
        <p:sp>
          <p:nvSpPr>
            <p:cNvPr id="1064" name="矩形: 圆角 1063">
              <a:extLst>
                <a:ext uri="{FF2B5EF4-FFF2-40B4-BE49-F238E27FC236}">
                  <a16:creationId xmlns:a16="http://schemas.microsoft.com/office/drawing/2014/main" id="{85D1E536-0B32-D5E9-0ECD-E7016F7585F4}"/>
                </a:ext>
              </a:extLst>
            </p:cNvPr>
            <p:cNvSpPr/>
            <p:nvPr/>
          </p:nvSpPr>
          <p:spPr>
            <a:xfrm>
              <a:off x="2596639" y="2218110"/>
              <a:ext cx="307228" cy="557046"/>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65" name="矩形 1064">
              <a:extLst>
                <a:ext uri="{FF2B5EF4-FFF2-40B4-BE49-F238E27FC236}">
                  <a16:creationId xmlns:a16="http://schemas.microsoft.com/office/drawing/2014/main" id="{664EBE6A-EACC-1697-A464-7C8BFA2B1434}"/>
                </a:ext>
              </a:extLst>
            </p:cNvPr>
            <p:cNvSpPr/>
            <p:nvPr/>
          </p:nvSpPr>
          <p:spPr>
            <a:xfrm>
              <a:off x="2511720" y="2169956"/>
              <a:ext cx="468231" cy="647796"/>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量化</a:t>
              </a:r>
              <a:endParaRPr kumimoji="1" lang="en-US" altLang="zh-CN"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表示</a:t>
              </a:r>
              <a:endParaRPr kumimoji="1" lang="en-US" altLang="zh-CN" sz="105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1066" name="文本框 1065">
            <a:extLst>
              <a:ext uri="{FF2B5EF4-FFF2-40B4-BE49-F238E27FC236}">
                <a16:creationId xmlns:a16="http://schemas.microsoft.com/office/drawing/2014/main" id="{CE08510A-9312-1CEE-FE07-6FDF18DA8A2B}"/>
              </a:ext>
            </a:extLst>
          </p:cNvPr>
          <p:cNvSpPr txBox="1"/>
          <p:nvPr/>
        </p:nvSpPr>
        <p:spPr>
          <a:xfrm>
            <a:off x="2112371" y="5043126"/>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咬边深度</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7" name="文本框 1066">
            <a:extLst>
              <a:ext uri="{FF2B5EF4-FFF2-40B4-BE49-F238E27FC236}">
                <a16:creationId xmlns:a16="http://schemas.microsoft.com/office/drawing/2014/main" id="{50984BBA-698F-8C3C-3F85-DF6059E06159}"/>
              </a:ext>
            </a:extLst>
          </p:cNvPr>
          <p:cNvSpPr txBox="1"/>
          <p:nvPr/>
        </p:nvSpPr>
        <p:spPr>
          <a:xfrm>
            <a:off x="2106056" y="5389217"/>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余高</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8" name="文本框 1067">
            <a:extLst>
              <a:ext uri="{FF2B5EF4-FFF2-40B4-BE49-F238E27FC236}">
                <a16:creationId xmlns:a16="http://schemas.microsoft.com/office/drawing/2014/main" id="{178369E0-3009-CB4E-7ECB-B9A2A35D35A9}"/>
              </a:ext>
            </a:extLst>
          </p:cNvPr>
          <p:cNvSpPr txBox="1"/>
          <p:nvPr/>
        </p:nvSpPr>
        <p:spPr>
          <a:xfrm>
            <a:off x="2106498" y="5212930"/>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咬边宽度</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69" name="矩形: 圆角 1068">
            <a:extLst>
              <a:ext uri="{FF2B5EF4-FFF2-40B4-BE49-F238E27FC236}">
                <a16:creationId xmlns:a16="http://schemas.microsoft.com/office/drawing/2014/main" id="{82423B9B-BD5D-4F8C-3263-42FDE9AC20A7}"/>
              </a:ext>
            </a:extLst>
          </p:cNvPr>
          <p:cNvSpPr/>
          <p:nvPr/>
        </p:nvSpPr>
        <p:spPr>
          <a:xfrm>
            <a:off x="2208465" y="4581296"/>
            <a:ext cx="457068" cy="1323117"/>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70" name="文本框 1069">
            <a:extLst>
              <a:ext uri="{FF2B5EF4-FFF2-40B4-BE49-F238E27FC236}">
                <a16:creationId xmlns:a16="http://schemas.microsoft.com/office/drawing/2014/main" id="{7FFDA546-5F98-1DA2-EF6B-B43EBA15CE53}"/>
              </a:ext>
            </a:extLst>
          </p:cNvPr>
          <p:cNvSpPr txBox="1"/>
          <p:nvPr/>
        </p:nvSpPr>
        <p:spPr>
          <a:xfrm>
            <a:off x="2106498" y="5557437"/>
            <a:ext cx="66572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熔宽</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grpSp>
        <p:nvGrpSpPr>
          <p:cNvPr id="1071" name="组合 1070">
            <a:extLst>
              <a:ext uri="{FF2B5EF4-FFF2-40B4-BE49-F238E27FC236}">
                <a16:creationId xmlns:a16="http://schemas.microsoft.com/office/drawing/2014/main" id="{4868B4F7-0FB6-20BF-84D4-D338E32B4EE3}"/>
              </a:ext>
            </a:extLst>
          </p:cNvPr>
          <p:cNvGrpSpPr/>
          <p:nvPr/>
        </p:nvGrpSpPr>
        <p:grpSpPr>
          <a:xfrm>
            <a:off x="2807554" y="3620703"/>
            <a:ext cx="790116" cy="230832"/>
            <a:chOff x="2313854" y="2290035"/>
            <a:chExt cx="790116" cy="230832"/>
          </a:xfrm>
        </p:grpSpPr>
        <p:sp>
          <p:nvSpPr>
            <p:cNvPr id="1072" name="矩形: 圆角 1071">
              <a:extLst>
                <a:ext uri="{FF2B5EF4-FFF2-40B4-BE49-F238E27FC236}">
                  <a16:creationId xmlns:a16="http://schemas.microsoft.com/office/drawing/2014/main" id="{5C66A1D4-FCE2-137E-A6DD-B5BFE2015D6A}"/>
                </a:ext>
              </a:extLst>
            </p:cNvPr>
            <p:cNvSpPr/>
            <p:nvPr/>
          </p:nvSpPr>
          <p:spPr>
            <a:xfrm>
              <a:off x="2429233" y="2329526"/>
              <a:ext cx="561981" cy="183043"/>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73" name="矩形 1072">
              <a:extLst>
                <a:ext uri="{FF2B5EF4-FFF2-40B4-BE49-F238E27FC236}">
                  <a16:creationId xmlns:a16="http://schemas.microsoft.com/office/drawing/2014/main" id="{5EF0E498-47E3-E3C9-5AB4-1C79F7C40890}"/>
                </a:ext>
              </a:extLst>
            </p:cNvPr>
            <p:cNvSpPr/>
            <p:nvPr/>
          </p:nvSpPr>
          <p:spPr>
            <a:xfrm>
              <a:off x="2313854" y="2290035"/>
              <a:ext cx="790116" cy="230832"/>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电弧特性</a:t>
              </a:r>
              <a:endParaRPr kumimoji="1" lang="en-US" altLang="zh-CN"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grpSp>
        <p:nvGrpSpPr>
          <p:cNvPr id="1074" name="组合 1073">
            <a:extLst>
              <a:ext uri="{FF2B5EF4-FFF2-40B4-BE49-F238E27FC236}">
                <a16:creationId xmlns:a16="http://schemas.microsoft.com/office/drawing/2014/main" id="{DD127C3C-ED51-E810-5472-163634647395}"/>
              </a:ext>
            </a:extLst>
          </p:cNvPr>
          <p:cNvGrpSpPr/>
          <p:nvPr/>
        </p:nvGrpSpPr>
        <p:grpSpPr>
          <a:xfrm>
            <a:off x="2805653" y="3915116"/>
            <a:ext cx="790116" cy="230832"/>
            <a:chOff x="2313854" y="2290035"/>
            <a:chExt cx="790116" cy="230832"/>
          </a:xfrm>
        </p:grpSpPr>
        <p:sp>
          <p:nvSpPr>
            <p:cNvPr id="1075" name="矩形: 圆角 1074">
              <a:extLst>
                <a:ext uri="{FF2B5EF4-FFF2-40B4-BE49-F238E27FC236}">
                  <a16:creationId xmlns:a16="http://schemas.microsoft.com/office/drawing/2014/main" id="{B6B68FA1-2EA5-E4F9-4C77-B51C4DA49D6B}"/>
                </a:ext>
              </a:extLst>
            </p:cNvPr>
            <p:cNvSpPr/>
            <p:nvPr/>
          </p:nvSpPr>
          <p:spPr>
            <a:xfrm>
              <a:off x="2429233" y="2329526"/>
              <a:ext cx="561981" cy="183043"/>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76" name="矩形 1075">
              <a:extLst>
                <a:ext uri="{FF2B5EF4-FFF2-40B4-BE49-F238E27FC236}">
                  <a16:creationId xmlns:a16="http://schemas.microsoft.com/office/drawing/2014/main" id="{37762B07-2033-9A9E-EA02-F58A256AC2E0}"/>
                </a:ext>
              </a:extLst>
            </p:cNvPr>
            <p:cNvSpPr/>
            <p:nvPr/>
          </p:nvSpPr>
          <p:spPr>
            <a:xfrm>
              <a:off x="2313854" y="2290035"/>
              <a:ext cx="790116" cy="230832"/>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熔滴过渡</a:t>
              </a:r>
              <a:endParaRPr kumimoji="1" lang="en-US" altLang="zh-CN"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grpSp>
        <p:nvGrpSpPr>
          <p:cNvPr id="1077" name="组合 1076">
            <a:extLst>
              <a:ext uri="{FF2B5EF4-FFF2-40B4-BE49-F238E27FC236}">
                <a16:creationId xmlns:a16="http://schemas.microsoft.com/office/drawing/2014/main" id="{F4204F26-C0D1-311D-AFF8-8840111DEDDB}"/>
              </a:ext>
            </a:extLst>
          </p:cNvPr>
          <p:cNvGrpSpPr/>
          <p:nvPr/>
        </p:nvGrpSpPr>
        <p:grpSpPr>
          <a:xfrm>
            <a:off x="2808792" y="4220264"/>
            <a:ext cx="790116" cy="230832"/>
            <a:chOff x="2313854" y="2290035"/>
            <a:chExt cx="790116" cy="230832"/>
          </a:xfrm>
        </p:grpSpPr>
        <p:sp>
          <p:nvSpPr>
            <p:cNvPr id="1078" name="矩形: 圆角 1077">
              <a:extLst>
                <a:ext uri="{FF2B5EF4-FFF2-40B4-BE49-F238E27FC236}">
                  <a16:creationId xmlns:a16="http://schemas.microsoft.com/office/drawing/2014/main" id="{84B2C411-3513-DF4E-9799-8E0F026ADFC2}"/>
                </a:ext>
              </a:extLst>
            </p:cNvPr>
            <p:cNvSpPr/>
            <p:nvPr/>
          </p:nvSpPr>
          <p:spPr>
            <a:xfrm>
              <a:off x="2429233" y="2329526"/>
              <a:ext cx="561981" cy="183043"/>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79" name="矩形 1078">
              <a:extLst>
                <a:ext uri="{FF2B5EF4-FFF2-40B4-BE49-F238E27FC236}">
                  <a16:creationId xmlns:a16="http://schemas.microsoft.com/office/drawing/2014/main" id="{D07F091E-D31B-32CE-5D6D-9D8C22E2F10F}"/>
                </a:ext>
              </a:extLst>
            </p:cNvPr>
            <p:cNvSpPr/>
            <p:nvPr/>
          </p:nvSpPr>
          <p:spPr>
            <a:xfrm>
              <a:off x="2313854" y="2290035"/>
              <a:ext cx="790116" cy="230832"/>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熔池流动</a:t>
              </a:r>
              <a:endParaRPr kumimoji="1" lang="en-US" altLang="zh-CN"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1080" name="矩形: 圆角 1079">
            <a:extLst>
              <a:ext uri="{FF2B5EF4-FFF2-40B4-BE49-F238E27FC236}">
                <a16:creationId xmlns:a16="http://schemas.microsoft.com/office/drawing/2014/main" id="{3695FAF4-B3F7-B5C6-6396-BF57A58077C8}"/>
              </a:ext>
            </a:extLst>
          </p:cNvPr>
          <p:cNvSpPr/>
          <p:nvPr/>
        </p:nvSpPr>
        <p:spPr>
          <a:xfrm>
            <a:off x="2902310" y="3608579"/>
            <a:ext cx="1455537" cy="273428"/>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81" name="矩形: 圆角 1080">
            <a:extLst>
              <a:ext uri="{FF2B5EF4-FFF2-40B4-BE49-F238E27FC236}">
                <a16:creationId xmlns:a16="http://schemas.microsoft.com/office/drawing/2014/main" id="{31E95FFE-16C4-EA0B-0B39-F6422B5B5161}"/>
              </a:ext>
            </a:extLst>
          </p:cNvPr>
          <p:cNvSpPr/>
          <p:nvPr/>
        </p:nvSpPr>
        <p:spPr>
          <a:xfrm>
            <a:off x="2902316" y="3898027"/>
            <a:ext cx="1455537" cy="290996"/>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82" name="矩形: 圆角 1081">
            <a:extLst>
              <a:ext uri="{FF2B5EF4-FFF2-40B4-BE49-F238E27FC236}">
                <a16:creationId xmlns:a16="http://schemas.microsoft.com/office/drawing/2014/main" id="{8AAB4476-3891-315F-8FE9-C795134B8F9D}"/>
              </a:ext>
            </a:extLst>
          </p:cNvPr>
          <p:cNvSpPr/>
          <p:nvPr/>
        </p:nvSpPr>
        <p:spPr>
          <a:xfrm>
            <a:off x="2900199" y="4205924"/>
            <a:ext cx="1455537" cy="290996"/>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83" name="文本框 1082">
            <a:extLst>
              <a:ext uri="{FF2B5EF4-FFF2-40B4-BE49-F238E27FC236}">
                <a16:creationId xmlns:a16="http://schemas.microsoft.com/office/drawing/2014/main" id="{AC760B42-85EA-EAB8-BBD4-B1E4EEEFD1FB}"/>
              </a:ext>
            </a:extLst>
          </p:cNvPr>
          <p:cNvSpPr txBox="1"/>
          <p:nvPr/>
        </p:nvSpPr>
        <p:spPr>
          <a:xfrm>
            <a:off x="3934332" y="3646404"/>
            <a:ext cx="494066"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刨削区</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84" name="文本框 1083">
            <a:extLst>
              <a:ext uri="{FF2B5EF4-FFF2-40B4-BE49-F238E27FC236}">
                <a16:creationId xmlns:a16="http://schemas.microsoft.com/office/drawing/2014/main" id="{7BB5B083-2872-0417-CD09-30D5BA249432}"/>
              </a:ext>
            </a:extLst>
          </p:cNvPr>
          <p:cNvSpPr txBox="1"/>
          <p:nvPr/>
        </p:nvSpPr>
        <p:spPr>
          <a:xfrm>
            <a:off x="3444522" y="3942696"/>
            <a:ext cx="390813"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位置</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85" name="文本框 1084">
            <a:extLst>
              <a:ext uri="{FF2B5EF4-FFF2-40B4-BE49-F238E27FC236}">
                <a16:creationId xmlns:a16="http://schemas.microsoft.com/office/drawing/2014/main" id="{FC2BB0F2-00D4-1145-E07B-15A64EC9E9B7}"/>
              </a:ext>
            </a:extLst>
          </p:cNvPr>
          <p:cNvSpPr txBox="1"/>
          <p:nvPr/>
        </p:nvSpPr>
        <p:spPr>
          <a:xfrm>
            <a:off x="3712426" y="3942951"/>
            <a:ext cx="390813"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形式</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86" name="文本框 1085">
            <a:extLst>
              <a:ext uri="{FF2B5EF4-FFF2-40B4-BE49-F238E27FC236}">
                <a16:creationId xmlns:a16="http://schemas.microsoft.com/office/drawing/2014/main" id="{86863168-2100-9A90-5C6B-3E024FD7271C}"/>
              </a:ext>
            </a:extLst>
          </p:cNvPr>
          <p:cNvSpPr txBox="1"/>
          <p:nvPr/>
        </p:nvSpPr>
        <p:spPr>
          <a:xfrm>
            <a:off x="3930978" y="3941108"/>
            <a:ext cx="494066"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频率</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87" name="文本框 1086">
            <a:extLst>
              <a:ext uri="{FF2B5EF4-FFF2-40B4-BE49-F238E27FC236}">
                <a16:creationId xmlns:a16="http://schemas.microsoft.com/office/drawing/2014/main" id="{400B3CE2-A826-D27C-5FC7-7BEA4503EC65}"/>
              </a:ext>
            </a:extLst>
          </p:cNvPr>
          <p:cNvSpPr txBox="1"/>
          <p:nvPr/>
        </p:nvSpPr>
        <p:spPr>
          <a:xfrm>
            <a:off x="3445898" y="4251447"/>
            <a:ext cx="390813"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方向</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088" name="文本框 1087">
            <a:extLst>
              <a:ext uri="{FF2B5EF4-FFF2-40B4-BE49-F238E27FC236}">
                <a16:creationId xmlns:a16="http://schemas.microsoft.com/office/drawing/2014/main" id="{1F581ABB-5499-2B96-59E2-D9CE6B6E1F58}"/>
              </a:ext>
            </a:extLst>
          </p:cNvPr>
          <p:cNvSpPr txBox="1"/>
          <p:nvPr/>
        </p:nvSpPr>
        <p:spPr>
          <a:xfrm>
            <a:off x="3706441" y="4252292"/>
            <a:ext cx="655981" cy="215444"/>
          </a:xfrm>
          <a:prstGeom prst="rect">
            <a:avLst/>
          </a:prstGeom>
          <a:noFill/>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焊趾填充</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grpSp>
        <p:nvGrpSpPr>
          <p:cNvPr id="1089" name="组合 1088">
            <a:extLst>
              <a:ext uri="{FF2B5EF4-FFF2-40B4-BE49-F238E27FC236}">
                <a16:creationId xmlns:a16="http://schemas.microsoft.com/office/drawing/2014/main" id="{76331F26-55A4-3D4B-591C-9BB605675A98}"/>
              </a:ext>
            </a:extLst>
          </p:cNvPr>
          <p:cNvGrpSpPr/>
          <p:nvPr/>
        </p:nvGrpSpPr>
        <p:grpSpPr>
          <a:xfrm>
            <a:off x="2923967" y="4907673"/>
            <a:ext cx="1416973" cy="230832"/>
            <a:chOff x="2429233" y="2295604"/>
            <a:chExt cx="1416973" cy="230832"/>
          </a:xfrm>
        </p:grpSpPr>
        <p:sp>
          <p:nvSpPr>
            <p:cNvPr id="1090" name="矩形: 圆角 1089">
              <a:extLst>
                <a:ext uri="{FF2B5EF4-FFF2-40B4-BE49-F238E27FC236}">
                  <a16:creationId xmlns:a16="http://schemas.microsoft.com/office/drawing/2014/main" id="{4415754A-A42B-B41F-4ECB-CB9FE181101B}"/>
                </a:ext>
              </a:extLst>
            </p:cNvPr>
            <p:cNvSpPr/>
            <p:nvPr/>
          </p:nvSpPr>
          <p:spPr>
            <a:xfrm>
              <a:off x="2429233" y="2329526"/>
              <a:ext cx="1411892" cy="183043"/>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91" name="矩形 1090">
              <a:extLst>
                <a:ext uri="{FF2B5EF4-FFF2-40B4-BE49-F238E27FC236}">
                  <a16:creationId xmlns:a16="http://schemas.microsoft.com/office/drawing/2014/main" id="{173B6B38-7B56-CECD-4875-15D0BBC6F843}"/>
                </a:ext>
              </a:extLst>
            </p:cNvPr>
            <p:cNvSpPr/>
            <p:nvPr/>
          </p:nvSpPr>
          <p:spPr>
            <a:xfrm>
              <a:off x="2468802" y="2295604"/>
              <a:ext cx="1377404" cy="230832"/>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熔池有规律的形成咬边</a:t>
              </a:r>
              <a:endParaRPr kumimoji="1" lang="en-US" altLang="zh-CN"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1092" name="矩形: 圆角 1091">
            <a:extLst>
              <a:ext uri="{FF2B5EF4-FFF2-40B4-BE49-F238E27FC236}">
                <a16:creationId xmlns:a16="http://schemas.microsoft.com/office/drawing/2014/main" id="{FB9F1C96-2B7C-F14A-C656-156F4290B99C}"/>
              </a:ext>
            </a:extLst>
          </p:cNvPr>
          <p:cNvSpPr/>
          <p:nvPr/>
        </p:nvSpPr>
        <p:spPr>
          <a:xfrm>
            <a:off x="2903344" y="4922807"/>
            <a:ext cx="1455537" cy="545293"/>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093" name="组合 1092">
            <a:extLst>
              <a:ext uri="{FF2B5EF4-FFF2-40B4-BE49-F238E27FC236}">
                <a16:creationId xmlns:a16="http://schemas.microsoft.com/office/drawing/2014/main" id="{27B4F587-72D4-B9E1-9732-CCF8EE150265}"/>
              </a:ext>
            </a:extLst>
          </p:cNvPr>
          <p:cNvGrpSpPr/>
          <p:nvPr/>
        </p:nvGrpSpPr>
        <p:grpSpPr>
          <a:xfrm>
            <a:off x="2926150" y="5477100"/>
            <a:ext cx="1411892" cy="230832"/>
            <a:chOff x="2429233" y="2295872"/>
            <a:chExt cx="1411892" cy="230832"/>
          </a:xfrm>
        </p:grpSpPr>
        <p:sp>
          <p:nvSpPr>
            <p:cNvPr id="1094" name="矩形: 圆角 1093">
              <a:extLst>
                <a:ext uri="{FF2B5EF4-FFF2-40B4-BE49-F238E27FC236}">
                  <a16:creationId xmlns:a16="http://schemas.microsoft.com/office/drawing/2014/main" id="{6CCC825C-F14E-0F69-162D-957E99E1A673}"/>
                </a:ext>
              </a:extLst>
            </p:cNvPr>
            <p:cNvSpPr/>
            <p:nvPr/>
          </p:nvSpPr>
          <p:spPr>
            <a:xfrm>
              <a:off x="2429233" y="2329526"/>
              <a:ext cx="1411892" cy="183043"/>
            </a:xfrm>
            <a:prstGeom prst="roundRect">
              <a:avLst>
                <a:gd name="adj" fmla="val 5663"/>
              </a:avLst>
            </a:prstGeom>
            <a:solidFill>
              <a:srgbClr val="F79646">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95" name="矩形 1094">
              <a:extLst>
                <a:ext uri="{FF2B5EF4-FFF2-40B4-BE49-F238E27FC236}">
                  <a16:creationId xmlns:a16="http://schemas.microsoft.com/office/drawing/2014/main" id="{3D24BE4B-8C14-1CDA-197D-A43E04878EF6}"/>
                </a:ext>
              </a:extLst>
            </p:cNvPr>
            <p:cNvSpPr/>
            <p:nvPr/>
          </p:nvSpPr>
          <p:spPr>
            <a:xfrm>
              <a:off x="2582404" y="2295872"/>
              <a:ext cx="1101679" cy="230832"/>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rPr>
                <a:t>偶发性的形成咬边</a:t>
              </a:r>
              <a:endParaRPr kumimoji="1" lang="en-US" altLang="zh-CN" sz="900" b="0" i="0" u="none" strike="noStrike" kern="0" cap="none" spc="0" normalizeH="0" baseline="0" noProof="0" dirty="0">
                <a:ln>
                  <a:noFill/>
                </a:ln>
                <a:solidFill>
                  <a:prstClr val="white">
                    <a:lumMod val="95000"/>
                  </a:prstClr>
                </a:solidFill>
                <a:effectLst/>
                <a:uLnTx/>
                <a:uFillTx/>
                <a:latin typeface="汉仪粗宋简" panose="02010600000101010101" pitchFamily="2" charset="-122"/>
                <a:ea typeface="汉仪粗宋简" panose="02010600000101010101" pitchFamily="2" charset="-122"/>
              </a:endParaRPr>
            </a:p>
          </p:txBody>
        </p:sp>
      </p:grpSp>
      <p:sp>
        <p:nvSpPr>
          <p:cNvPr id="1096" name="矩形: 圆角 1095">
            <a:extLst>
              <a:ext uri="{FF2B5EF4-FFF2-40B4-BE49-F238E27FC236}">
                <a16:creationId xmlns:a16="http://schemas.microsoft.com/office/drawing/2014/main" id="{ECAC7247-AA66-FBB8-13B0-2EB52E513ADF}"/>
              </a:ext>
            </a:extLst>
          </p:cNvPr>
          <p:cNvSpPr/>
          <p:nvPr/>
        </p:nvSpPr>
        <p:spPr>
          <a:xfrm>
            <a:off x="2905527" y="5491967"/>
            <a:ext cx="1455537" cy="451310"/>
          </a:xfrm>
          <a:prstGeom prst="roundRect">
            <a:avLst>
              <a:gd name="adj" fmla="val 5663"/>
            </a:avLst>
          </a:prstGeom>
          <a:noFill/>
          <a:ln w="6350" cap="flat" cmpd="sng" algn="ctr">
            <a:solidFill>
              <a:srgbClr val="FF6E01"/>
            </a:soli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097" name="组合 1096">
            <a:extLst>
              <a:ext uri="{FF2B5EF4-FFF2-40B4-BE49-F238E27FC236}">
                <a16:creationId xmlns:a16="http://schemas.microsoft.com/office/drawing/2014/main" id="{A8549BAE-DF43-082B-E318-AD019C4CC663}"/>
              </a:ext>
            </a:extLst>
          </p:cNvPr>
          <p:cNvGrpSpPr/>
          <p:nvPr/>
        </p:nvGrpSpPr>
        <p:grpSpPr>
          <a:xfrm>
            <a:off x="3887474" y="2980626"/>
            <a:ext cx="1095304" cy="279161"/>
            <a:chOff x="3669411" y="1842474"/>
            <a:chExt cx="618081" cy="279161"/>
          </a:xfrm>
        </p:grpSpPr>
        <p:sp>
          <p:nvSpPr>
            <p:cNvPr id="1098" name="箭头: 右 1097">
              <a:extLst>
                <a:ext uri="{FF2B5EF4-FFF2-40B4-BE49-F238E27FC236}">
                  <a16:creationId xmlns:a16="http://schemas.microsoft.com/office/drawing/2014/main" id="{B7E9A9B7-6AE0-E52F-5DA2-78885C0D8A96}"/>
                </a:ext>
              </a:extLst>
            </p:cNvPr>
            <p:cNvSpPr/>
            <p:nvPr/>
          </p:nvSpPr>
          <p:spPr>
            <a:xfrm>
              <a:off x="3878724" y="1842474"/>
              <a:ext cx="196542" cy="279161"/>
            </a:xfrm>
            <a:prstGeom prst="rightArrow">
              <a:avLst/>
            </a:prstGeom>
            <a:solidFill>
              <a:srgbClr val="4F81BD"/>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99" name="矩形 1098">
              <a:extLst>
                <a:ext uri="{FF2B5EF4-FFF2-40B4-BE49-F238E27FC236}">
                  <a16:creationId xmlns:a16="http://schemas.microsoft.com/office/drawing/2014/main" id="{84201026-FDD6-AAB3-6863-A8E631F3F218}"/>
                </a:ext>
              </a:extLst>
            </p:cNvPr>
            <p:cNvSpPr/>
            <p:nvPr/>
          </p:nvSpPr>
          <p:spPr>
            <a:xfrm>
              <a:off x="3669411" y="1853505"/>
              <a:ext cx="618081" cy="219291"/>
            </a:xfrm>
            <a:prstGeom prst="rect">
              <a:avLst/>
            </a:prstGeom>
          </p:spPr>
          <p:txBody>
            <a:bodyPr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量化</a:t>
              </a:r>
              <a:endParaRPr kumimoji="1" lang="en-US" altLang="zh-CN" sz="6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100" name="矩形 1099">
            <a:extLst>
              <a:ext uri="{FF2B5EF4-FFF2-40B4-BE49-F238E27FC236}">
                <a16:creationId xmlns:a16="http://schemas.microsoft.com/office/drawing/2014/main" id="{F372FE9D-BAE5-BC42-5F32-2E67FDBD1419}"/>
              </a:ext>
            </a:extLst>
          </p:cNvPr>
          <p:cNvSpPr/>
          <p:nvPr/>
        </p:nvSpPr>
        <p:spPr>
          <a:xfrm>
            <a:off x="2891890" y="5265609"/>
            <a:ext cx="1463846" cy="215444"/>
          </a:xfrm>
          <a:prstGeom prst="rect">
            <a:avLst/>
          </a:prstGeom>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熔池流动方向不均衡</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01" name="矩形 1100">
            <a:extLst>
              <a:ext uri="{FF2B5EF4-FFF2-40B4-BE49-F238E27FC236}">
                <a16:creationId xmlns:a16="http://schemas.microsoft.com/office/drawing/2014/main" id="{EB5009FC-8CAE-9A87-D763-66BD83A1B862}"/>
              </a:ext>
            </a:extLst>
          </p:cNvPr>
          <p:cNvSpPr/>
          <p:nvPr/>
        </p:nvSpPr>
        <p:spPr>
          <a:xfrm>
            <a:off x="2882729" y="5737457"/>
            <a:ext cx="1463846" cy="215444"/>
          </a:xfrm>
          <a:prstGeom prst="rect">
            <a:avLst/>
          </a:prstGeom>
        </p:spPr>
        <p:txBody>
          <a:bodyPr wrap="square">
            <a:spAutoFit/>
          </a:bodyPr>
          <a:lstStyle/>
          <a:p>
            <a:pPr algn="ct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熔池动态失稳</a:t>
            </a:r>
            <a:endParaRPr kumimoji="1" lang="en-US" altLang="zh-CN" sz="800" b="1" dirty="0">
              <a:solidFill>
                <a:srgbClr val="F79646">
                  <a:lumMod val="75000"/>
                </a:srgbClr>
              </a:solidFill>
              <a:latin typeface="微软雅黑" panose="020B0503020204020204" pitchFamily="34" charset="-122"/>
              <a:ea typeface="微软雅黑" panose="020B0503020204020204" pitchFamily="34" charset="-122"/>
            </a:endParaRPr>
          </a:p>
        </p:txBody>
      </p:sp>
      <p:grpSp>
        <p:nvGrpSpPr>
          <p:cNvPr id="1102" name="组合 1101">
            <a:extLst>
              <a:ext uri="{FF2B5EF4-FFF2-40B4-BE49-F238E27FC236}">
                <a16:creationId xmlns:a16="http://schemas.microsoft.com/office/drawing/2014/main" id="{62F882C3-40DE-5E23-79CD-16D20E261333}"/>
              </a:ext>
            </a:extLst>
          </p:cNvPr>
          <p:cNvGrpSpPr/>
          <p:nvPr/>
        </p:nvGrpSpPr>
        <p:grpSpPr>
          <a:xfrm>
            <a:off x="4537308" y="5522975"/>
            <a:ext cx="553728" cy="429926"/>
            <a:chOff x="4030900" y="1674047"/>
            <a:chExt cx="423090" cy="429926"/>
          </a:xfrm>
        </p:grpSpPr>
        <p:sp>
          <p:nvSpPr>
            <p:cNvPr id="1103" name="矩形: 圆角 1102">
              <a:extLst>
                <a:ext uri="{FF2B5EF4-FFF2-40B4-BE49-F238E27FC236}">
                  <a16:creationId xmlns:a16="http://schemas.microsoft.com/office/drawing/2014/main" id="{FB428514-2385-AA29-8596-E2B9481FC4F4}"/>
                </a:ext>
              </a:extLst>
            </p:cNvPr>
            <p:cNvSpPr/>
            <p:nvPr/>
          </p:nvSpPr>
          <p:spPr>
            <a:xfrm>
              <a:off x="4085711" y="1698531"/>
              <a:ext cx="298364" cy="385564"/>
            </a:xfrm>
            <a:prstGeom prst="roundRect">
              <a:avLst>
                <a:gd name="adj" fmla="val 5663"/>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04" name="文本框 1103">
              <a:extLst>
                <a:ext uri="{FF2B5EF4-FFF2-40B4-BE49-F238E27FC236}">
                  <a16:creationId xmlns:a16="http://schemas.microsoft.com/office/drawing/2014/main" id="{D09BDA8E-D08F-1BDE-2AA3-4188C56CA8CD}"/>
                </a:ext>
              </a:extLst>
            </p:cNvPr>
            <p:cNvSpPr txBox="1"/>
            <p:nvPr/>
          </p:nvSpPr>
          <p:spPr>
            <a:xfrm>
              <a:off x="4030900" y="1674047"/>
              <a:ext cx="423090" cy="429926"/>
            </a:xfrm>
            <a:prstGeom prst="rect">
              <a:avLst/>
            </a:prstGeom>
            <a:noFill/>
          </p:spPr>
          <p:txBody>
            <a:bodyPr wrap="square">
              <a:spAutoFit/>
            </a:bodyPr>
            <a:lstStyle/>
            <a:p>
              <a:pPr marL="0" marR="0" lvl="0" indent="0" algn="ctr" defTabSz="914400" eaLnBrk="1" fontAlgn="base" latinLnBrk="0" hangingPunct="1">
                <a:lnSpc>
                  <a:spcPct val="125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熔池</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base" latinLnBrk="0" hangingPunct="1">
                <a:lnSpc>
                  <a:spcPct val="125000"/>
                </a:lnSpc>
                <a:spcBef>
                  <a:spcPct val="0"/>
                </a:spcBef>
                <a:spcAft>
                  <a:spcPct val="0"/>
                </a:spcAft>
                <a:buClrTx/>
                <a:buSzTx/>
                <a:buFontTx/>
                <a:buNone/>
                <a:tabLst/>
                <a:defRPr/>
              </a:pPr>
              <a:r>
                <a:rPr kumimoji="1" lang="zh-CN" altLang="en-US"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rPr>
                <a:t>动力学</a:t>
              </a:r>
              <a:endParaRPr kumimoji="1" lang="en-US" altLang="zh-CN" sz="9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105" name="矩形: 圆角 1104">
            <a:extLst>
              <a:ext uri="{FF2B5EF4-FFF2-40B4-BE49-F238E27FC236}">
                <a16:creationId xmlns:a16="http://schemas.microsoft.com/office/drawing/2014/main" id="{2BDD9FF5-0BC8-6B0A-8487-35B2E9B0B132}"/>
              </a:ext>
            </a:extLst>
          </p:cNvPr>
          <p:cNvSpPr/>
          <p:nvPr/>
        </p:nvSpPr>
        <p:spPr>
          <a:xfrm>
            <a:off x="4552385" y="5435376"/>
            <a:ext cx="1442691" cy="621371"/>
          </a:xfrm>
          <a:prstGeom prst="roundRect">
            <a:avLst>
              <a:gd name="adj" fmla="val 3518"/>
            </a:avLst>
          </a:prstGeom>
          <a:noFill/>
          <a:ln w="9525" cap="flat" cmpd="sng" algn="ctr">
            <a:gradFill flip="none" rotWithShape="1">
              <a:gsLst>
                <a:gs pos="0">
                  <a:srgbClr val="9BBB59">
                    <a:lumMod val="40000"/>
                    <a:lumOff val="60000"/>
                  </a:srgbClr>
                </a:gs>
                <a:gs pos="46000">
                  <a:srgbClr val="9BBB59">
                    <a:lumMod val="95000"/>
                    <a:lumOff val="5000"/>
                  </a:srgbClr>
                </a:gs>
                <a:gs pos="100000">
                  <a:srgbClr val="9BBB59">
                    <a:lumMod val="60000"/>
                  </a:srgbClr>
                </a:gs>
              </a:gsLst>
              <a:path path="circle">
                <a:fillToRect l="50000" t="130000" r="50000" b="-30000"/>
              </a:path>
              <a:tileRect/>
            </a:gradFill>
            <a:prstDash val="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106" name="组合 1105">
            <a:extLst>
              <a:ext uri="{FF2B5EF4-FFF2-40B4-BE49-F238E27FC236}">
                <a16:creationId xmlns:a16="http://schemas.microsoft.com/office/drawing/2014/main" id="{6442CFC4-663E-C4BA-D70A-22B2B333E562}"/>
              </a:ext>
            </a:extLst>
          </p:cNvPr>
          <p:cNvGrpSpPr/>
          <p:nvPr/>
        </p:nvGrpSpPr>
        <p:grpSpPr>
          <a:xfrm>
            <a:off x="4497823" y="5288504"/>
            <a:ext cx="391091" cy="227188"/>
            <a:chOff x="2057116" y="2768756"/>
            <a:chExt cx="905942" cy="295123"/>
          </a:xfrm>
        </p:grpSpPr>
        <p:grpSp>
          <p:nvGrpSpPr>
            <p:cNvPr id="1107" name="组合 1106">
              <a:extLst>
                <a:ext uri="{FF2B5EF4-FFF2-40B4-BE49-F238E27FC236}">
                  <a16:creationId xmlns:a16="http://schemas.microsoft.com/office/drawing/2014/main" id="{69984F03-4FA1-404C-71C6-68CF4F1B4C66}"/>
                </a:ext>
              </a:extLst>
            </p:cNvPr>
            <p:cNvGrpSpPr/>
            <p:nvPr/>
          </p:nvGrpSpPr>
          <p:grpSpPr>
            <a:xfrm>
              <a:off x="2057116" y="2794474"/>
              <a:ext cx="862462" cy="269405"/>
              <a:chOff x="1694457" y="2535818"/>
              <a:chExt cx="1473144" cy="614130"/>
            </a:xfrm>
          </p:grpSpPr>
          <p:sp>
            <p:nvSpPr>
              <p:cNvPr id="1109" name="箭头: 下 1108">
                <a:extLst>
                  <a:ext uri="{FF2B5EF4-FFF2-40B4-BE49-F238E27FC236}">
                    <a16:creationId xmlns:a16="http://schemas.microsoft.com/office/drawing/2014/main" id="{30DBF960-5213-D3A9-0684-A5F1BECDB228}"/>
                  </a:ext>
                </a:extLst>
              </p:cNvPr>
              <p:cNvSpPr/>
              <p:nvPr/>
            </p:nvSpPr>
            <p:spPr>
              <a:xfrm>
                <a:off x="2652709" y="2535818"/>
                <a:ext cx="514892" cy="614130"/>
              </a:xfrm>
              <a:prstGeom prst="downArrow">
                <a:avLst>
                  <a:gd name="adj1" fmla="val 50000"/>
                  <a:gd name="adj2" fmla="val 48702"/>
                </a:avLst>
              </a:prstGeom>
              <a:solidFill>
                <a:srgbClr val="9BBB59">
                  <a:lumMod val="75000"/>
                </a:srgb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10" name="矩形 1109">
                <a:extLst>
                  <a:ext uri="{FF2B5EF4-FFF2-40B4-BE49-F238E27FC236}">
                    <a16:creationId xmlns:a16="http://schemas.microsoft.com/office/drawing/2014/main" id="{C1FD2B78-8A5B-1728-5CEC-77D64CCFBEE3}"/>
                  </a:ext>
                </a:extLst>
              </p:cNvPr>
              <p:cNvSpPr/>
              <p:nvPr/>
            </p:nvSpPr>
            <p:spPr>
              <a:xfrm>
                <a:off x="1694457" y="2653382"/>
                <a:ext cx="1294639" cy="45168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7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108" name="矩形 1107">
              <a:extLst>
                <a:ext uri="{FF2B5EF4-FFF2-40B4-BE49-F238E27FC236}">
                  <a16:creationId xmlns:a16="http://schemas.microsoft.com/office/drawing/2014/main" id="{70B4AEBA-F755-28CC-3332-20037B075A6E}"/>
                </a:ext>
              </a:extLst>
            </p:cNvPr>
            <p:cNvSpPr/>
            <p:nvPr/>
          </p:nvSpPr>
          <p:spPr>
            <a:xfrm>
              <a:off x="2157870" y="2768756"/>
              <a:ext cx="805188" cy="291870"/>
            </a:xfrm>
            <a:prstGeom prst="rect">
              <a:avLst/>
            </a:prstGeom>
          </p:spPr>
          <p:txBody>
            <a:bodyPr vert="eaVert" wrap="square">
              <a:spAutoFit/>
            </a:bodyPr>
            <a:lstStyle/>
            <a:p>
              <a:pPr marL="0" marR="0" lvl="0" indent="0" algn="ctr" defTabSz="914400" eaLnBrk="1" fontAlgn="base" latinLnBrk="0" hangingPunct="1">
                <a:lnSpc>
                  <a:spcPct val="150000"/>
                </a:lnSpc>
                <a:spcBef>
                  <a:spcPct val="0"/>
                </a:spcBef>
                <a:spcAft>
                  <a:spcPct val="0"/>
                </a:spcAft>
                <a:buClrTx/>
                <a:buSzTx/>
                <a:buFontTx/>
                <a:buNone/>
                <a:tabLst/>
                <a:defRPr/>
              </a:pPr>
              <a:endParaRPr kumimoji="1" lang="en-US" altLang="zh-CN" sz="8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endParaRPr>
            </a:p>
          </p:txBody>
        </p:sp>
      </p:grpSp>
      <p:sp>
        <p:nvSpPr>
          <p:cNvPr id="1111" name="矩形 1110">
            <a:extLst>
              <a:ext uri="{FF2B5EF4-FFF2-40B4-BE49-F238E27FC236}">
                <a16:creationId xmlns:a16="http://schemas.microsoft.com/office/drawing/2014/main" id="{F62A4E00-DBBE-D2BB-459F-31B468ED5887}"/>
              </a:ext>
            </a:extLst>
          </p:cNvPr>
          <p:cNvSpPr/>
          <p:nvPr/>
        </p:nvSpPr>
        <p:spPr>
          <a:xfrm>
            <a:off x="5024485" y="3926542"/>
            <a:ext cx="736150"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熔滴重力</a:t>
            </a:r>
            <a:r>
              <a:rPr kumimoji="1" lang="en-US" altLang="zh-CN" sz="800" b="1" dirty="0" err="1">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err="1">
                <a:solidFill>
                  <a:srgbClr val="F79646">
                    <a:lumMod val="75000"/>
                  </a:srgbClr>
                </a:solidFill>
                <a:latin typeface="微软雅黑" panose="020B0503020204020204" pitchFamily="34" charset="-122"/>
                <a:ea typeface="微软雅黑" panose="020B0503020204020204" pitchFamily="34" charset="-122"/>
              </a:rPr>
              <a:t>g</a:t>
            </a:r>
            <a:endPar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12" name="矩形 1111">
            <a:extLst>
              <a:ext uri="{FF2B5EF4-FFF2-40B4-BE49-F238E27FC236}">
                <a16:creationId xmlns:a16="http://schemas.microsoft.com/office/drawing/2014/main" id="{9297FF47-805C-D881-1CA7-423DE8178845}"/>
              </a:ext>
            </a:extLst>
          </p:cNvPr>
          <p:cNvSpPr/>
          <p:nvPr/>
        </p:nvSpPr>
        <p:spPr>
          <a:xfrm>
            <a:off x="5024133" y="4065170"/>
            <a:ext cx="916086"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等离子体阻力</a:t>
            </a:r>
            <a:r>
              <a:rPr kumimoji="1" lang="en-US" altLang="zh-CN" sz="800" b="1" dirty="0" err="1">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err="1">
                <a:solidFill>
                  <a:srgbClr val="F79646">
                    <a:lumMod val="75000"/>
                  </a:srgbClr>
                </a:solidFill>
                <a:latin typeface="微软雅黑" panose="020B0503020204020204" pitchFamily="34" charset="-122"/>
                <a:ea typeface="微软雅黑" panose="020B0503020204020204" pitchFamily="34" charset="-122"/>
              </a:rPr>
              <a:t>d</a:t>
            </a:r>
            <a:endPar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13" name="矩形 1112">
            <a:extLst>
              <a:ext uri="{FF2B5EF4-FFF2-40B4-BE49-F238E27FC236}">
                <a16:creationId xmlns:a16="http://schemas.microsoft.com/office/drawing/2014/main" id="{92B74DE0-6B9F-3EDB-BB72-5B6FD8B67B45}"/>
              </a:ext>
            </a:extLst>
          </p:cNvPr>
          <p:cNvSpPr/>
          <p:nvPr/>
        </p:nvSpPr>
        <p:spPr>
          <a:xfrm>
            <a:off x="5031410" y="4200849"/>
            <a:ext cx="916086"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匙孔反冲力</a:t>
            </a: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rPr>
              <a:t>RL</a:t>
            </a:r>
          </a:p>
        </p:txBody>
      </p:sp>
      <p:sp>
        <p:nvSpPr>
          <p:cNvPr id="1114" name="矩形 1113">
            <a:extLst>
              <a:ext uri="{FF2B5EF4-FFF2-40B4-BE49-F238E27FC236}">
                <a16:creationId xmlns:a16="http://schemas.microsoft.com/office/drawing/2014/main" id="{D47CF444-A7EB-2DC1-F77D-661E1D786F6D}"/>
              </a:ext>
            </a:extLst>
          </p:cNvPr>
          <p:cNvSpPr/>
          <p:nvPr/>
        </p:nvSpPr>
        <p:spPr>
          <a:xfrm>
            <a:off x="5031410" y="4339477"/>
            <a:ext cx="916086"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电磁力</a:t>
            </a: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rPr>
              <a:t>em</a:t>
            </a:r>
          </a:p>
        </p:txBody>
      </p:sp>
      <p:sp>
        <p:nvSpPr>
          <p:cNvPr id="1115" name="矩形 1114">
            <a:extLst>
              <a:ext uri="{FF2B5EF4-FFF2-40B4-BE49-F238E27FC236}">
                <a16:creationId xmlns:a16="http://schemas.microsoft.com/office/drawing/2014/main" id="{E220093A-A6DC-DD61-9E1F-D96A3D12DE38}"/>
              </a:ext>
            </a:extLst>
          </p:cNvPr>
          <p:cNvSpPr/>
          <p:nvPr/>
        </p:nvSpPr>
        <p:spPr>
          <a:xfrm>
            <a:off x="5060668" y="5502851"/>
            <a:ext cx="976893"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电弧剪切力</a:t>
            </a: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rPr>
              <a:t>p1</a:t>
            </a:r>
          </a:p>
        </p:txBody>
      </p:sp>
      <p:sp>
        <p:nvSpPr>
          <p:cNvPr id="1116" name="矩形 1115">
            <a:extLst>
              <a:ext uri="{FF2B5EF4-FFF2-40B4-BE49-F238E27FC236}">
                <a16:creationId xmlns:a16="http://schemas.microsoft.com/office/drawing/2014/main" id="{1C07A997-8B53-0817-EBB9-2F3F32D95A8E}"/>
              </a:ext>
            </a:extLst>
          </p:cNvPr>
          <p:cNvSpPr/>
          <p:nvPr/>
        </p:nvSpPr>
        <p:spPr>
          <a:xfrm>
            <a:off x="5065755" y="5659217"/>
            <a:ext cx="976893"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熔滴冲击力</a:t>
            </a:r>
            <a:r>
              <a:rPr kumimoji="1" lang="en-US" altLang="zh-CN" sz="800" b="1" dirty="0" err="1">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err="1">
                <a:solidFill>
                  <a:srgbClr val="F79646">
                    <a:lumMod val="75000"/>
                  </a:srgbClr>
                </a:solidFill>
                <a:latin typeface="微软雅黑" panose="020B0503020204020204" pitchFamily="34" charset="-122"/>
                <a:ea typeface="微软雅黑" panose="020B0503020204020204" pitchFamily="34" charset="-122"/>
              </a:rPr>
              <a:t>d</a:t>
            </a:r>
            <a:endPar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17" name="矩形 1116">
            <a:extLst>
              <a:ext uri="{FF2B5EF4-FFF2-40B4-BE49-F238E27FC236}">
                <a16:creationId xmlns:a16="http://schemas.microsoft.com/office/drawing/2014/main" id="{B92015EE-4390-2FB0-B301-75AF9249930E}"/>
              </a:ext>
            </a:extLst>
          </p:cNvPr>
          <p:cNvSpPr/>
          <p:nvPr/>
        </p:nvSpPr>
        <p:spPr>
          <a:xfrm>
            <a:off x="5061587" y="5813132"/>
            <a:ext cx="976893" cy="215444"/>
          </a:xfrm>
          <a:prstGeom prst="rect">
            <a:avLst/>
          </a:prstGeom>
        </p:spPr>
        <p:txBody>
          <a:bodyPr wrap="square">
            <a:spAutoFit/>
          </a:bodyPr>
          <a:lstStyle/>
          <a:p>
            <a:pPr fontAlgn="base">
              <a:spcBef>
                <a:spcPct val="0"/>
              </a:spcBef>
              <a:spcAft>
                <a:spcPct val="0"/>
              </a:spcAft>
            </a:pPr>
            <a:r>
              <a:rPr kumimoji="1" lang="zh-CN" altLang="en-US" sz="800" b="1" dirty="0">
                <a:solidFill>
                  <a:srgbClr val="F79646">
                    <a:lumMod val="75000"/>
                  </a:srgbClr>
                </a:solidFill>
                <a:latin typeface="微软雅黑" panose="020B0503020204020204" pitchFamily="34" charset="-122"/>
                <a:ea typeface="微软雅黑" panose="020B0503020204020204" pitchFamily="34" charset="-122"/>
              </a:rPr>
              <a:t>电弧下压力</a:t>
            </a:r>
            <a:r>
              <a:rPr kumimoji="1" lang="en-US" altLang="zh-CN" sz="800" b="1" dirty="0">
                <a:solidFill>
                  <a:srgbClr val="F79646">
                    <a:lumMod val="75000"/>
                  </a:srgbClr>
                </a:solidFill>
                <a:latin typeface="微软雅黑" panose="020B0503020204020204" pitchFamily="34" charset="-122"/>
                <a:ea typeface="微软雅黑" panose="020B0503020204020204" pitchFamily="34" charset="-122"/>
              </a:rPr>
              <a:t>F</a:t>
            </a:r>
            <a:r>
              <a:rPr kumimoji="1" lang="en-US" altLang="zh-CN" sz="800" b="1" baseline="-25000" dirty="0">
                <a:solidFill>
                  <a:srgbClr val="F79646">
                    <a:lumMod val="75000"/>
                  </a:srgbClr>
                </a:solidFill>
                <a:latin typeface="微软雅黑" panose="020B0503020204020204" pitchFamily="34" charset="-122"/>
                <a:ea typeface="微软雅黑" panose="020B0503020204020204" pitchFamily="34" charset="-122"/>
              </a:rPr>
              <a:t>p2</a:t>
            </a:r>
          </a:p>
        </p:txBody>
      </p:sp>
      <p:sp>
        <p:nvSpPr>
          <p:cNvPr id="1118" name="矩形 1117">
            <a:extLst>
              <a:ext uri="{FF2B5EF4-FFF2-40B4-BE49-F238E27FC236}">
                <a16:creationId xmlns:a16="http://schemas.microsoft.com/office/drawing/2014/main" id="{3D5B73F7-900D-A0B0-167A-61AB46816196}"/>
              </a:ext>
            </a:extLst>
          </p:cNvPr>
          <p:cNvSpPr/>
          <p:nvPr/>
        </p:nvSpPr>
        <p:spPr>
          <a:xfrm>
            <a:off x="6110035" y="5491967"/>
            <a:ext cx="976893" cy="215444"/>
          </a:xfrm>
          <a:prstGeom prst="rect">
            <a:avLst/>
          </a:prstGeom>
        </p:spPr>
        <p:txBody>
          <a:bodyPr wrap="square">
            <a:spAutoFit/>
          </a:bodyPr>
          <a:lstStyle/>
          <a:p>
            <a:pPr fontAlgn="base">
              <a:spcBef>
                <a:spcPct val="0"/>
              </a:spcBef>
              <a:spcAft>
                <a:spcPct val="0"/>
              </a:spcAft>
            </a:pPr>
            <a:r>
              <a:rPr kumimoji="1" lang="zh-CN" altLang="en-US" sz="1200" b="1" baseline="-25000" dirty="0">
                <a:solidFill>
                  <a:srgbClr val="F79646">
                    <a:lumMod val="75000"/>
                  </a:srgbClr>
                </a:solidFill>
                <a:latin typeface="微软雅黑" panose="020B0503020204020204" pitchFamily="34" charset="-122"/>
                <a:ea typeface="微软雅黑" panose="020B0503020204020204" pitchFamily="34" charset="-122"/>
              </a:rPr>
              <a:t>熔池受力失衡</a:t>
            </a:r>
            <a:endParaRPr kumimoji="1" lang="en-US" altLang="zh-CN" sz="1200" b="1" baseline="-25000"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19" name="矩形 1118">
            <a:extLst>
              <a:ext uri="{FF2B5EF4-FFF2-40B4-BE49-F238E27FC236}">
                <a16:creationId xmlns:a16="http://schemas.microsoft.com/office/drawing/2014/main" id="{1D2378A0-AC2A-5988-6925-F86770348B74}"/>
              </a:ext>
            </a:extLst>
          </p:cNvPr>
          <p:cNvSpPr/>
          <p:nvPr/>
        </p:nvSpPr>
        <p:spPr>
          <a:xfrm>
            <a:off x="6117340" y="5746983"/>
            <a:ext cx="976893" cy="215444"/>
          </a:xfrm>
          <a:prstGeom prst="rect">
            <a:avLst/>
          </a:prstGeom>
        </p:spPr>
        <p:txBody>
          <a:bodyPr wrap="square">
            <a:spAutoFit/>
          </a:bodyPr>
          <a:lstStyle/>
          <a:p>
            <a:pPr fontAlgn="base">
              <a:spcBef>
                <a:spcPct val="0"/>
              </a:spcBef>
              <a:spcAft>
                <a:spcPct val="0"/>
              </a:spcAft>
            </a:pPr>
            <a:r>
              <a:rPr kumimoji="1" lang="zh-CN" altLang="en-US" sz="1200" b="1" baseline="-25000" dirty="0">
                <a:solidFill>
                  <a:srgbClr val="F79646">
                    <a:lumMod val="75000"/>
                  </a:srgbClr>
                </a:solidFill>
                <a:latin typeface="微软雅黑" panose="020B0503020204020204" pitchFamily="34" charset="-122"/>
                <a:ea typeface="微软雅黑" panose="020B0503020204020204" pitchFamily="34" charset="-122"/>
              </a:rPr>
              <a:t>熔池动态失稳</a:t>
            </a:r>
            <a:endParaRPr kumimoji="1" lang="en-US" altLang="zh-CN" sz="1200" b="1" baseline="-25000" dirty="0">
              <a:solidFill>
                <a:srgbClr val="F79646">
                  <a:lumMod val="75000"/>
                </a:srgbClr>
              </a:solidFill>
              <a:latin typeface="微软雅黑" panose="020B0503020204020204" pitchFamily="34" charset="-122"/>
              <a:ea typeface="微软雅黑" panose="020B0503020204020204" pitchFamily="34" charset="-122"/>
            </a:endParaRPr>
          </a:p>
        </p:txBody>
      </p:sp>
      <p:sp>
        <p:nvSpPr>
          <p:cNvPr id="1120" name="矩形: 圆角 1119">
            <a:extLst>
              <a:ext uri="{FF2B5EF4-FFF2-40B4-BE49-F238E27FC236}">
                <a16:creationId xmlns:a16="http://schemas.microsoft.com/office/drawing/2014/main" id="{84AA5C0B-BFDA-069C-55F6-CEA9E6C8B626}"/>
              </a:ext>
            </a:extLst>
          </p:cNvPr>
          <p:cNvSpPr/>
          <p:nvPr/>
        </p:nvSpPr>
        <p:spPr>
          <a:xfrm>
            <a:off x="9827001" y="1789241"/>
            <a:ext cx="2025678" cy="4606116"/>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121" name="矩形 1120">
            <a:extLst>
              <a:ext uri="{FF2B5EF4-FFF2-40B4-BE49-F238E27FC236}">
                <a16:creationId xmlns:a16="http://schemas.microsoft.com/office/drawing/2014/main" id="{FB6EF803-62D9-7B4E-BB2A-E7DE7C1EB288}"/>
              </a:ext>
            </a:extLst>
          </p:cNvPr>
          <p:cNvSpPr/>
          <p:nvPr/>
        </p:nvSpPr>
        <p:spPr>
          <a:xfrm>
            <a:off x="9927532" y="1541493"/>
            <a:ext cx="1509431" cy="44192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122" name="文本框 1121">
            <a:extLst>
              <a:ext uri="{FF2B5EF4-FFF2-40B4-BE49-F238E27FC236}">
                <a16:creationId xmlns:a16="http://schemas.microsoft.com/office/drawing/2014/main" id="{9A8B0910-661F-9CAB-9FC8-6752CE4141B3}"/>
              </a:ext>
            </a:extLst>
          </p:cNvPr>
          <p:cNvSpPr txBox="1"/>
          <p:nvPr/>
        </p:nvSpPr>
        <p:spPr>
          <a:xfrm>
            <a:off x="9927532" y="1615831"/>
            <a:ext cx="1835810" cy="369332"/>
          </a:xfrm>
          <a:prstGeom prst="rect">
            <a:avLst/>
          </a:prstGeom>
          <a:noFill/>
        </p:spPr>
        <p:txBody>
          <a:bodyPr wrap="square" rtlCol="0">
            <a:spAutoFit/>
          </a:bodyPr>
          <a:lstStyle/>
          <a:p>
            <a:pPr defTabSz="457200" fontAlgn="auto">
              <a:spcBef>
                <a:spcPts val="0"/>
              </a:spcBef>
              <a:spcAft>
                <a:spcPts val="0"/>
              </a:spcAft>
            </a:pPr>
            <a:r>
              <a:rPr lang="en-US" altLang="zh-CN" dirty="0">
                <a:solidFill>
                  <a:srgbClr val="E7E6E6"/>
                </a:solidFill>
                <a:latin typeface="Times New Roman" panose="02020603050405020304" pitchFamily="18" charset="0"/>
                <a:cs typeface="Times New Roman" panose="02020603050405020304" pitchFamily="18" charset="0"/>
              </a:rPr>
              <a:t>PRACTICE</a:t>
            </a:r>
            <a:endParaRPr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123" name="文本框 1122">
            <a:extLst>
              <a:ext uri="{FF2B5EF4-FFF2-40B4-BE49-F238E27FC236}">
                <a16:creationId xmlns:a16="http://schemas.microsoft.com/office/drawing/2014/main" id="{A2C0AEC2-3ECC-2E92-8731-62D4935B2D84}"/>
              </a:ext>
            </a:extLst>
          </p:cNvPr>
          <p:cNvSpPr txBox="1"/>
          <p:nvPr/>
        </p:nvSpPr>
        <p:spPr>
          <a:xfrm>
            <a:off x="9882920" y="1545525"/>
            <a:ext cx="1344652" cy="369332"/>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工程实践</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136" name="文本框 1135">
            <a:extLst>
              <a:ext uri="{FF2B5EF4-FFF2-40B4-BE49-F238E27FC236}">
                <a16:creationId xmlns:a16="http://schemas.microsoft.com/office/drawing/2014/main" id="{2F12D756-BFF4-55B8-6FC5-C23374ECD38E}"/>
              </a:ext>
            </a:extLst>
          </p:cNvPr>
          <p:cNvSpPr txBox="1"/>
          <p:nvPr/>
        </p:nvSpPr>
        <p:spPr>
          <a:xfrm>
            <a:off x="9931400" y="2057400"/>
            <a:ext cx="1790700" cy="276999"/>
          </a:xfrm>
          <a:prstGeom prst="rect">
            <a:avLst/>
          </a:prstGeom>
          <a:noFill/>
        </p:spPr>
        <p:txBody>
          <a:bodyPr vert="horz" wrap="square" lIns="0" tIns="0" rIns="0" bIns="0" rtlCol="0">
            <a:noAutofit/>
          </a:bodyPr>
          <a:lstStyle/>
          <a:p>
            <a:r>
              <a:rPr lang="zh-CN" altLang="en-US" sz="1400" dirty="0">
                <a:solidFill>
                  <a:srgbClr val="000000"/>
                </a:solidFill>
                <a:ea typeface="微软雅黑" panose="020B0503020204020204" pitchFamily="34" charset="-122"/>
              </a:rPr>
              <a:t>纵向课题</a:t>
            </a:r>
          </a:p>
        </p:txBody>
      </p:sp>
      <p:sp>
        <p:nvSpPr>
          <p:cNvPr id="1137" name="文本框 1136">
            <a:extLst>
              <a:ext uri="{FF2B5EF4-FFF2-40B4-BE49-F238E27FC236}">
                <a16:creationId xmlns:a16="http://schemas.microsoft.com/office/drawing/2014/main" id="{299B767C-C1A0-6384-2AF0-432D9C3CC10B}"/>
              </a:ext>
            </a:extLst>
          </p:cNvPr>
          <p:cNvSpPr txBox="1"/>
          <p:nvPr/>
        </p:nvSpPr>
        <p:spPr>
          <a:xfrm>
            <a:off x="9931400" y="24257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工信部专项</a:t>
            </a:r>
          </a:p>
          <a:p>
            <a:r>
              <a:rPr lang="zh-CN" altLang="en-US" sz="1100">
                <a:solidFill>
                  <a:srgbClr val="000000"/>
                </a:solidFill>
                <a:latin typeface="等线" panose="02010600030101010101" pitchFamily="2" charset="-122"/>
                <a:ea typeface="等线" panose="02010600030101010101" pitchFamily="2" charset="-122"/>
              </a:rPr>
              <a:t>工业母机质量与可靠性</a:t>
            </a:r>
          </a:p>
          <a:p>
            <a:r>
              <a:rPr lang="zh-CN" altLang="en-US" sz="1100">
                <a:solidFill>
                  <a:srgbClr val="000000"/>
                </a:solidFill>
                <a:latin typeface="等线" panose="02010600030101010101" pitchFamily="2" charset="-122"/>
                <a:ea typeface="等线" panose="02010600030101010101" pitchFamily="2" charset="-122"/>
              </a:rPr>
              <a:t>试验检测评价服务平台</a:t>
            </a:r>
          </a:p>
          <a:p>
            <a:r>
              <a:rPr lang="zh-CN" altLang="en-US" sz="1100">
                <a:solidFill>
                  <a:srgbClr val="000000"/>
                </a:solidFill>
                <a:latin typeface="等线" panose="02010600030101010101" pitchFamily="2" charset="-122"/>
                <a:ea typeface="等线" panose="02010600030101010101" pitchFamily="2" charset="-122"/>
              </a:rPr>
              <a:t>（等材装备方向）</a:t>
            </a:r>
          </a:p>
        </p:txBody>
      </p:sp>
      <p:cxnSp>
        <p:nvCxnSpPr>
          <p:cNvPr id="1138" name="直接连接符 1137">
            <a:extLst>
              <a:ext uri="{FF2B5EF4-FFF2-40B4-BE49-F238E27FC236}">
                <a16:creationId xmlns:a16="http://schemas.microsoft.com/office/drawing/2014/main" id="{C247F9C2-2341-6517-BC92-7406C70EFFB9}"/>
              </a:ext>
            </a:extLst>
          </p:cNvPr>
          <p:cNvCxnSpPr>
            <a:cxnSpLocks/>
          </p:cNvCxnSpPr>
          <p:nvPr/>
        </p:nvCxnSpPr>
        <p:spPr>
          <a:xfrm>
            <a:off x="9931400" y="3200400"/>
            <a:ext cx="1778000" cy="0"/>
          </a:xfrm>
          <a:prstGeom prst="line">
            <a:avLst/>
          </a:prstGeom>
          <a:noFill/>
          <a:ln w="6350" cap="flat" cmpd="sng" algn="ctr">
            <a:solidFill>
              <a:sysClr val="windowText" lastClr="000000"/>
            </a:solidFill>
            <a:prstDash val="lgDashDotDot"/>
            <a:miter lim="800000"/>
          </a:ln>
          <a:effectLst/>
        </p:spPr>
      </p:cxnSp>
      <p:sp>
        <p:nvSpPr>
          <p:cNvPr id="1139" name="文本框 1138">
            <a:extLst>
              <a:ext uri="{FF2B5EF4-FFF2-40B4-BE49-F238E27FC236}">
                <a16:creationId xmlns:a16="http://schemas.microsoft.com/office/drawing/2014/main" id="{BE9EDBEB-07AD-1659-1E06-3340E1AF17CF}"/>
              </a:ext>
            </a:extLst>
          </p:cNvPr>
          <p:cNvSpPr txBox="1"/>
          <p:nvPr/>
        </p:nvSpPr>
        <p:spPr>
          <a:xfrm>
            <a:off x="9931400" y="3340100"/>
            <a:ext cx="1790700" cy="276999"/>
          </a:xfrm>
          <a:prstGeom prst="rect">
            <a:avLst/>
          </a:prstGeom>
          <a:noFill/>
        </p:spPr>
        <p:txBody>
          <a:bodyPr vert="horz" wrap="square" lIns="0" tIns="0" rIns="0" bIns="0" rtlCol="0">
            <a:noAutofit/>
          </a:bodyPr>
          <a:lstStyle/>
          <a:p>
            <a:r>
              <a:rPr lang="zh-CN" altLang="en-US" sz="1400" dirty="0">
                <a:solidFill>
                  <a:srgbClr val="000000"/>
                </a:solidFill>
                <a:ea typeface="微软雅黑" panose="020B0503020204020204" pitchFamily="34" charset="-122"/>
              </a:rPr>
              <a:t>横向课题</a:t>
            </a:r>
          </a:p>
        </p:txBody>
      </p:sp>
      <p:sp>
        <p:nvSpPr>
          <p:cNvPr id="1140" name="文本框 1139">
            <a:extLst>
              <a:ext uri="{FF2B5EF4-FFF2-40B4-BE49-F238E27FC236}">
                <a16:creationId xmlns:a16="http://schemas.microsoft.com/office/drawing/2014/main" id="{23E90EAD-36C5-FE7B-AC2E-91F022844E8B}"/>
              </a:ext>
            </a:extLst>
          </p:cNvPr>
          <p:cNvSpPr txBox="1"/>
          <p:nvPr/>
        </p:nvSpPr>
        <p:spPr>
          <a:xfrm>
            <a:off x="9931400" y="37084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长沙三一</a:t>
            </a:r>
          </a:p>
          <a:p>
            <a:r>
              <a:rPr lang="zh-CN" altLang="en-US" sz="1100">
                <a:solidFill>
                  <a:srgbClr val="000000"/>
                </a:solidFill>
                <a:latin typeface="等线" panose="02010600030101010101" pitchFamily="2" charset="-122"/>
                <a:ea typeface="等线" panose="02010600030101010101" pitchFamily="2" charset="-122"/>
              </a:rPr>
              <a:t>起重机臂架复合焊工作站</a:t>
            </a:r>
          </a:p>
        </p:txBody>
      </p:sp>
      <p:sp>
        <p:nvSpPr>
          <p:cNvPr id="1141" name="文本框 1140">
            <a:extLst>
              <a:ext uri="{FF2B5EF4-FFF2-40B4-BE49-F238E27FC236}">
                <a16:creationId xmlns:a16="http://schemas.microsoft.com/office/drawing/2014/main" id="{3BE7E5BB-B0F5-621D-DD3F-172DD4248D92}"/>
              </a:ext>
            </a:extLst>
          </p:cNvPr>
          <p:cNvSpPr txBox="1"/>
          <p:nvPr/>
        </p:nvSpPr>
        <p:spPr>
          <a:xfrm>
            <a:off x="9931400" y="41402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上海三一</a:t>
            </a:r>
          </a:p>
          <a:p>
            <a:r>
              <a:rPr lang="zh-CN" altLang="en-US" sz="1100">
                <a:solidFill>
                  <a:srgbClr val="000000"/>
                </a:solidFill>
                <a:latin typeface="等线" panose="02010600030101010101" pitchFamily="2" charset="-122"/>
                <a:ea typeface="等线" panose="02010600030101010101" pitchFamily="2" charset="-122"/>
              </a:rPr>
              <a:t>挖机斗杆复合焊工作站</a:t>
            </a:r>
          </a:p>
        </p:txBody>
      </p:sp>
      <p:sp>
        <p:nvSpPr>
          <p:cNvPr id="1142" name="文本框 1141">
            <a:extLst>
              <a:ext uri="{FF2B5EF4-FFF2-40B4-BE49-F238E27FC236}">
                <a16:creationId xmlns:a16="http://schemas.microsoft.com/office/drawing/2014/main" id="{5E486F81-06CC-067F-277A-5343C355D625}"/>
              </a:ext>
            </a:extLst>
          </p:cNvPr>
          <p:cNvSpPr txBox="1"/>
          <p:nvPr/>
        </p:nvSpPr>
        <p:spPr>
          <a:xfrm>
            <a:off x="9931400" y="45720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航发黎明</a:t>
            </a:r>
          </a:p>
          <a:p>
            <a:r>
              <a:rPr lang="zh-CN" altLang="en-US" sz="1100">
                <a:solidFill>
                  <a:srgbClr val="000000"/>
                </a:solidFill>
                <a:latin typeface="等线" panose="02010600030101010101" pitchFamily="2" charset="-122"/>
                <a:ea typeface="等线" panose="02010600030101010101" pitchFamily="2" charset="-122"/>
              </a:rPr>
              <a:t>某部件激光焊接工艺评定</a:t>
            </a:r>
          </a:p>
        </p:txBody>
      </p:sp>
      <p:cxnSp>
        <p:nvCxnSpPr>
          <p:cNvPr id="1143" name="直接连接符 1142">
            <a:extLst>
              <a:ext uri="{FF2B5EF4-FFF2-40B4-BE49-F238E27FC236}">
                <a16:creationId xmlns:a16="http://schemas.microsoft.com/office/drawing/2014/main" id="{0E62787F-6D69-A26B-F1E2-700CCB9C0EE7}"/>
              </a:ext>
            </a:extLst>
          </p:cNvPr>
          <p:cNvCxnSpPr>
            <a:cxnSpLocks/>
          </p:cNvCxnSpPr>
          <p:nvPr/>
        </p:nvCxnSpPr>
        <p:spPr>
          <a:xfrm>
            <a:off x="9931400" y="5003800"/>
            <a:ext cx="1778000" cy="0"/>
          </a:xfrm>
          <a:prstGeom prst="line">
            <a:avLst/>
          </a:prstGeom>
          <a:noFill/>
          <a:ln w="6350" cap="flat" cmpd="sng" algn="ctr">
            <a:solidFill>
              <a:sysClr val="windowText" lastClr="000000"/>
            </a:solidFill>
            <a:prstDash val="lgDashDotDot"/>
            <a:miter lim="800000"/>
          </a:ln>
          <a:effectLst/>
        </p:spPr>
      </p:cxnSp>
      <p:sp>
        <p:nvSpPr>
          <p:cNvPr id="1144" name="文本框 1143">
            <a:extLst>
              <a:ext uri="{FF2B5EF4-FFF2-40B4-BE49-F238E27FC236}">
                <a16:creationId xmlns:a16="http://schemas.microsoft.com/office/drawing/2014/main" id="{3B1328DB-4185-C6C1-ED9E-8D0D57DA7233}"/>
              </a:ext>
            </a:extLst>
          </p:cNvPr>
          <p:cNvSpPr txBox="1"/>
          <p:nvPr/>
        </p:nvSpPr>
        <p:spPr>
          <a:xfrm>
            <a:off x="9931400" y="5118100"/>
            <a:ext cx="1790700" cy="276999"/>
          </a:xfrm>
          <a:prstGeom prst="rect">
            <a:avLst/>
          </a:prstGeom>
          <a:noFill/>
        </p:spPr>
        <p:txBody>
          <a:bodyPr vert="horz" wrap="square" lIns="0" tIns="0" rIns="0" bIns="0" rtlCol="0">
            <a:noAutofit/>
          </a:bodyPr>
          <a:lstStyle/>
          <a:p>
            <a:r>
              <a:rPr lang="zh-CN" altLang="en-US" sz="1400" dirty="0">
                <a:solidFill>
                  <a:srgbClr val="000000"/>
                </a:solidFill>
                <a:ea typeface="微软雅黑" panose="020B0503020204020204" pitchFamily="34" charset="-122"/>
              </a:rPr>
              <a:t>预研课题</a:t>
            </a:r>
          </a:p>
        </p:txBody>
      </p:sp>
      <p:sp>
        <p:nvSpPr>
          <p:cNvPr id="1145" name="文本框 1144">
            <a:extLst>
              <a:ext uri="{FF2B5EF4-FFF2-40B4-BE49-F238E27FC236}">
                <a16:creationId xmlns:a16="http://schemas.microsoft.com/office/drawing/2014/main" id="{1D94D054-0B5C-E673-0A74-7EAC9141591D}"/>
              </a:ext>
            </a:extLst>
          </p:cNvPr>
          <p:cNvSpPr txBox="1"/>
          <p:nvPr/>
        </p:nvSpPr>
        <p:spPr>
          <a:xfrm>
            <a:off x="9931400" y="54864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中联重科</a:t>
            </a:r>
          </a:p>
          <a:p>
            <a:r>
              <a:rPr lang="en-US" altLang="zh-CN" sz="1100">
                <a:solidFill>
                  <a:srgbClr val="000000"/>
                </a:solidFill>
                <a:latin typeface="等线" panose="02010600030101010101" pitchFamily="2" charset="-122"/>
                <a:ea typeface="等线" panose="02010600030101010101" pitchFamily="2" charset="-122"/>
              </a:rPr>
              <a:t>Q690 </a:t>
            </a:r>
            <a:r>
              <a:rPr lang="zh-CN" altLang="en-US" sz="1100">
                <a:solidFill>
                  <a:srgbClr val="000000"/>
                </a:solidFill>
                <a:latin typeface="等线" panose="02010600030101010101" pitchFamily="2" charset="-122"/>
                <a:ea typeface="等线" panose="02010600030101010101" pitchFamily="2" charset="-122"/>
              </a:rPr>
              <a:t>对接与角接横焊</a:t>
            </a:r>
          </a:p>
        </p:txBody>
      </p:sp>
      <p:sp>
        <p:nvSpPr>
          <p:cNvPr id="1146" name="文本框 1145">
            <a:extLst>
              <a:ext uri="{FF2B5EF4-FFF2-40B4-BE49-F238E27FC236}">
                <a16:creationId xmlns:a16="http://schemas.microsoft.com/office/drawing/2014/main" id="{F90B9C8B-709E-258D-9EEE-3C28ABC27C75}"/>
              </a:ext>
            </a:extLst>
          </p:cNvPr>
          <p:cNvSpPr txBox="1"/>
          <p:nvPr/>
        </p:nvSpPr>
        <p:spPr>
          <a:xfrm>
            <a:off x="9931400" y="5867400"/>
            <a:ext cx="1790700" cy="276999"/>
          </a:xfrm>
          <a:prstGeom prst="rect">
            <a:avLst/>
          </a:prstGeom>
          <a:noFill/>
        </p:spPr>
        <p:txBody>
          <a:bodyPr vert="horz" wrap="square" lIns="0" tIns="0" rIns="0" bIns="0" rtlCol="0">
            <a:noAutofit/>
          </a:bodyPr>
          <a:lstStyle/>
          <a:p>
            <a:r>
              <a:rPr lang="zh-CN" altLang="en-US" sz="1100">
                <a:solidFill>
                  <a:srgbClr val="000000"/>
                </a:solidFill>
                <a:latin typeface="等线" panose="02010600030101010101" pitchFamily="2" charset="-122"/>
                <a:ea typeface="等线" panose="02010600030101010101" pitchFamily="2" charset="-122"/>
              </a:rPr>
              <a:t>振华重工</a:t>
            </a:r>
          </a:p>
          <a:p>
            <a:r>
              <a:rPr lang="en-US" altLang="zh-CN" sz="1100">
                <a:solidFill>
                  <a:srgbClr val="000000"/>
                </a:solidFill>
                <a:latin typeface="等线" panose="02010600030101010101" pitchFamily="2" charset="-122"/>
                <a:ea typeface="等线" panose="02010600030101010101" pitchFamily="2" charset="-122"/>
              </a:rPr>
              <a:t>Q345</a:t>
            </a:r>
            <a:r>
              <a:rPr lang="zh-CN" altLang="en-US" sz="1100">
                <a:solidFill>
                  <a:srgbClr val="000000"/>
                </a:solidFill>
                <a:latin typeface="等线" panose="02010600030101010101" pitchFamily="2" charset="-122"/>
                <a:ea typeface="等线" panose="02010600030101010101" pitchFamily="2" charset="-122"/>
              </a:rPr>
              <a:t>、</a:t>
            </a:r>
            <a:r>
              <a:rPr lang="en-US" altLang="zh-CN" sz="1100">
                <a:solidFill>
                  <a:srgbClr val="000000"/>
                </a:solidFill>
                <a:latin typeface="等线" panose="02010600030101010101" pitchFamily="2" charset="-122"/>
                <a:ea typeface="等线" panose="02010600030101010101" pitchFamily="2" charset="-122"/>
              </a:rPr>
              <a:t>18 mm </a:t>
            </a:r>
            <a:r>
              <a:rPr lang="zh-CN" altLang="en-US" sz="1100">
                <a:solidFill>
                  <a:srgbClr val="000000"/>
                </a:solidFill>
                <a:latin typeface="等线" panose="02010600030101010101" pitchFamily="2" charset="-122"/>
                <a:ea typeface="等线" panose="02010600030101010101" pitchFamily="2" charset="-122"/>
              </a:rPr>
              <a:t>厚复合焊</a:t>
            </a:r>
          </a:p>
        </p:txBody>
      </p:sp>
    </p:spTree>
    <p:extLst>
      <p:ext uri="{BB962C8B-B14F-4D97-AF65-F5344CB8AC3E}">
        <p14:creationId xmlns:p14="http://schemas.microsoft.com/office/powerpoint/2010/main" val="24780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14DD-9275-C653-7882-F5042BBA198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B9C69D6-9685-8878-588F-52D65917675F}"/>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硕士课题来源于工程机械焊接制造中的实际需求</a:t>
            </a:r>
          </a:p>
        </p:txBody>
      </p:sp>
      <p:sp>
        <p:nvSpPr>
          <p:cNvPr id="2" name="文本框 1">
            <a:extLst>
              <a:ext uri="{FF2B5EF4-FFF2-40B4-BE49-F238E27FC236}">
                <a16:creationId xmlns:a16="http://schemas.microsoft.com/office/drawing/2014/main" id="{A56B1C67-A205-BDFD-F57B-70590502F344}"/>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 name="直接连接符 2">
            <a:extLst>
              <a:ext uri="{FF2B5EF4-FFF2-40B4-BE49-F238E27FC236}">
                <a16:creationId xmlns:a16="http://schemas.microsoft.com/office/drawing/2014/main" id="{9144B134-F6D2-1138-7E19-59F72B758743}"/>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615E691-7054-7AAD-4A8D-C1A1C42F75FC}"/>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grpSp>
        <p:nvGrpSpPr>
          <p:cNvPr id="13" name="组合 12">
            <a:extLst>
              <a:ext uri="{FF2B5EF4-FFF2-40B4-BE49-F238E27FC236}">
                <a16:creationId xmlns:a16="http://schemas.microsoft.com/office/drawing/2014/main" id="{2984ED48-84CD-A6DB-C226-F2F6A722BCDC}"/>
              </a:ext>
            </a:extLst>
          </p:cNvPr>
          <p:cNvGrpSpPr/>
          <p:nvPr/>
        </p:nvGrpSpPr>
        <p:grpSpPr>
          <a:xfrm>
            <a:off x="447691" y="2887606"/>
            <a:ext cx="2880320" cy="3417376"/>
            <a:chOff x="5922150" y="1221600"/>
            <a:chExt cx="2968255" cy="4112155"/>
          </a:xfrm>
        </p:grpSpPr>
        <p:sp>
          <p:nvSpPr>
            <p:cNvPr id="14" name="矩形: 圆角 13">
              <a:extLst>
                <a:ext uri="{FF2B5EF4-FFF2-40B4-BE49-F238E27FC236}">
                  <a16:creationId xmlns:a16="http://schemas.microsoft.com/office/drawing/2014/main" id="{A3EBB25F-49FD-7D2C-27DA-231E870DA6FE}"/>
                </a:ext>
              </a:extLst>
            </p:cNvPr>
            <p:cNvSpPr/>
            <p:nvPr/>
          </p:nvSpPr>
          <p:spPr>
            <a:xfrm>
              <a:off x="5922150" y="1221600"/>
              <a:ext cx="2968255" cy="4112155"/>
            </a:xfrm>
            <a:prstGeom prst="roundRect">
              <a:avLst>
                <a:gd name="adj" fmla="val 0"/>
              </a:avLst>
            </a:prstGeom>
            <a:gradFill flip="none" rotWithShape="1">
              <a:gsLst>
                <a:gs pos="0">
                  <a:srgbClr val="EFC49C">
                    <a:alpha val="0"/>
                  </a:srgbClr>
                </a:gs>
                <a:gs pos="100000">
                  <a:srgbClr val="CA865F">
                    <a:alpha val="47000"/>
                  </a:srgbClr>
                </a:gs>
              </a:gsLst>
              <a:lin ang="2700000" scaled="1"/>
              <a:tileRect/>
            </a:gradFill>
            <a:ln w="12700" cap="flat" cmpd="sng" algn="ctr">
              <a:noFill/>
              <a:prstDash val="solid"/>
              <a:miter lim="800000"/>
            </a:ln>
            <a:effectLst>
              <a:outerShdw blurRad="355600" dist="660400" dir="5400000" sx="86000" sy="86000" algn="t" rotWithShape="0">
                <a:srgbClr val="CA865F">
                  <a:alpha val="6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Roboto"/>
                <a:ea typeface="思源黑体 CN Regular"/>
                <a:cs typeface="+mn-cs"/>
              </a:endParaRPr>
            </a:p>
          </p:txBody>
        </p:sp>
        <p:sp>
          <p:nvSpPr>
            <p:cNvPr id="16" name="文本框 15">
              <a:extLst>
                <a:ext uri="{FF2B5EF4-FFF2-40B4-BE49-F238E27FC236}">
                  <a16:creationId xmlns:a16="http://schemas.microsoft.com/office/drawing/2014/main" id="{66C6D106-E314-2728-3496-8825C1105036}"/>
                </a:ext>
              </a:extLst>
            </p:cNvPr>
            <p:cNvSpPr txBox="1"/>
            <p:nvPr/>
          </p:nvSpPr>
          <p:spPr>
            <a:xfrm>
              <a:off x="6010039" y="2919471"/>
              <a:ext cx="2792477" cy="1981999"/>
            </a:xfrm>
            <a:prstGeom prst="rect">
              <a:avLst/>
            </a:prstGeom>
            <a:noFill/>
          </p:spPr>
          <p:txBody>
            <a:bodyPr wrap="square">
              <a:spAutoFit/>
            </a:bodyPr>
            <a:lstStyle/>
            <a:p>
              <a:pPr algn="just" fontAlgn="auto">
                <a:lnSpc>
                  <a:spcPct val="150000"/>
                </a:lnSpc>
                <a:spcBef>
                  <a:spcPts val="0"/>
                </a:spcBef>
                <a:spcAft>
                  <a:spcPts val="0"/>
                </a:spcAft>
                <a:defRPr/>
              </a:pPr>
              <a:r>
                <a:rPr kumimoji="0" lang="zh-CN" altLang="en-US" sz="1400" b="0" dirty="0">
                  <a:solidFill>
                    <a:srgbClr val="CA865F">
                      <a:lumMod val="50000"/>
                    </a:srgbClr>
                  </a:solidFill>
                  <a:latin typeface="思源宋体 CN Heavy"/>
                  <a:ea typeface="思源宋体 CN Heavy"/>
                  <a:cs typeface="+mn-cs"/>
                </a:rPr>
                <a:t>咬边（</a:t>
              </a:r>
              <a:r>
                <a:rPr kumimoji="0" lang="en-US" altLang="zh-CN" sz="1400" b="0" dirty="0">
                  <a:solidFill>
                    <a:srgbClr val="CA865F">
                      <a:lumMod val="50000"/>
                    </a:srgbClr>
                  </a:solidFill>
                  <a:latin typeface="思源宋体 CN Heavy"/>
                  <a:ea typeface="思源宋体 CN Heavy"/>
                  <a:cs typeface="+mn-cs"/>
                </a:rPr>
                <a:t>Undercut</a:t>
              </a:r>
              <a:r>
                <a:rPr kumimoji="0" lang="zh-CN" altLang="en-US" sz="1400" b="0" dirty="0">
                  <a:solidFill>
                    <a:srgbClr val="CA865F">
                      <a:lumMod val="50000"/>
                    </a:srgbClr>
                  </a:solidFill>
                  <a:latin typeface="思源宋体 CN Heavy"/>
                  <a:ea typeface="思源宋体 CN Heavy"/>
                  <a:cs typeface="+mn-cs"/>
                </a:rPr>
                <a:t>）是焊接过程中常见的一种缺陷，指的是焊接过程中由于熔敷金属未完全覆盖在母材的已熔化部分，在焊趾处产生的低于母材表面的凹槽</a:t>
              </a:r>
            </a:p>
          </p:txBody>
        </p:sp>
      </p:grpSp>
      <p:grpSp>
        <p:nvGrpSpPr>
          <p:cNvPr id="18" name="组合 17">
            <a:extLst>
              <a:ext uri="{FF2B5EF4-FFF2-40B4-BE49-F238E27FC236}">
                <a16:creationId xmlns:a16="http://schemas.microsoft.com/office/drawing/2014/main" id="{8DCFCBB6-C769-6701-3418-D2D8A1685DA4}"/>
              </a:ext>
            </a:extLst>
          </p:cNvPr>
          <p:cNvGrpSpPr/>
          <p:nvPr/>
        </p:nvGrpSpPr>
        <p:grpSpPr>
          <a:xfrm>
            <a:off x="323901" y="2577398"/>
            <a:ext cx="2587686" cy="1460738"/>
            <a:chOff x="4189340" y="1278405"/>
            <a:chExt cx="2949251" cy="1530170"/>
          </a:xfrm>
        </p:grpSpPr>
        <p:sp>
          <p:nvSpPr>
            <p:cNvPr id="19" name="矩形 18">
              <a:extLst>
                <a:ext uri="{FF2B5EF4-FFF2-40B4-BE49-F238E27FC236}">
                  <a16:creationId xmlns:a16="http://schemas.microsoft.com/office/drawing/2014/main" id="{E4BE54F6-5B63-A938-6839-DF342B0BA70B}"/>
                </a:ext>
              </a:extLst>
            </p:cNvPr>
            <p:cNvSpPr/>
            <p:nvPr/>
          </p:nvSpPr>
          <p:spPr>
            <a:xfrm>
              <a:off x="5186579" y="1530594"/>
              <a:ext cx="1215135" cy="9451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EC7E4DB0-98C6-D687-56CA-E87DB6B8C4E2}"/>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89340" y="1278405"/>
              <a:ext cx="2949251" cy="1530170"/>
            </a:xfrm>
            <a:prstGeom prst="rect">
              <a:avLst/>
            </a:prstGeom>
          </p:spPr>
        </p:pic>
      </p:grpSp>
      <p:sp>
        <p:nvSpPr>
          <p:cNvPr id="21" name="文本框 20">
            <a:extLst>
              <a:ext uri="{FF2B5EF4-FFF2-40B4-BE49-F238E27FC236}">
                <a16:creationId xmlns:a16="http://schemas.microsoft.com/office/drawing/2014/main" id="{95404C5F-57BA-2510-BC12-329A54693814}"/>
              </a:ext>
            </a:extLst>
          </p:cNvPr>
          <p:cNvSpPr txBox="1"/>
          <p:nvPr/>
        </p:nvSpPr>
        <p:spPr>
          <a:xfrm>
            <a:off x="2545598" y="3338433"/>
            <a:ext cx="310941" cy="671915"/>
          </a:xfrm>
          <a:prstGeom prst="rect">
            <a:avLst/>
          </a:prstGeom>
          <a:noFill/>
        </p:spPr>
        <p:txBody>
          <a:bodyPr wrap="square">
            <a:spAutoFit/>
          </a:bodyPr>
          <a:lstStyle/>
          <a:p>
            <a:pPr algn="just" fontAlgn="auto">
              <a:lnSpc>
                <a:spcPct val="150000"/>
              </a:lnSpc>
              <a:spcBef>
                <a:spcPts val="0"/>
              </a:spcBef>
              <a:spcAft>
                <a:spcPts val="0"/>
              </a:spcAft>
              <a:defRPr/>
            </a:pPr>
            <a:r>
              <a:rPr kumimoji="0" lang="zh-CN" altLang="en-US" sz="2800" b="0" dirty="0">
                <a:solidFill>
                  <a:srgbClr val="CA865F">
                    <a:lumMod val="50000"/>
                    <a:alpha val="36000"/>
                  </a:srgbClr>
                </a:solidFill>
                <a:latin typeface="姥姥说媒(清)存素堂刻本简体" panose="020B0503020204020204" pitchFamily="34" charset="-122"/>
                <a:ea typeface="姥姥说媒(清)存素堂刻本简体" panose="020B0503020204020204" pitchFamily="34" charset="-122"/>
                <a:cs typeface="+mn-cs"/>
              </a:rPr>
              <a:t>定</a:t>
            </a:r>
          </a:p>
        </p:txBody>
      </p:sp>
      <p:sp>
        <p:nvSpPr>
          <p:cNvPr id="22" name="文本框 21">
            <a:extLst>
              <a:ext uri="{FF2B5EF4-FFF2-40B4-BE49-F238E27FC236}">
                <a16:creationId xmlns:a16="http://schemas.microsoft.com/office/drawing/2014/main" id="{E9C5F19C-3F77-B410-99E9-351FBE360FE9}"/>
              </a:ext>
            </a:extLst>
          </p:cNvPr>
          <p:cNvSpPr txBox="1"/>
          <p:nvPr/>
        </p:nvSpPr>
        <p:spPr>
          <a:xfrm>
            <a:off x="2856539" y="3545844"/>
            <a:ext cx="448768" cy="671915"/>
          </a:xfrm>
          <a:prstGeom prst="rect">
            <a:avLst/>
          </a:prstGeom>
          <a:noFill/>
        </p:spPr>
        <p:txBody>
          <a:bodyPr wrap="square">
            <a:spAutoFit/>
          </a:bodyPr>
          <a:lstStyle/>
          <a:p>
            <a:pPr algn="just" fontAlgn="auto">
              <a:lnSpc>
                <a:spcPct val="150000"/>
              </a:lnSpc>
              <a:spcBef>
                <a:spcPts val="0"/>
              </a:spcBef>
              <a:spcAft>
                <a:spcPts val="0"/>
              </a:spcAft>
              <a:defRPr/>
            </a:pPr>
            <a:r>
              <a:rPr kumimoji="0" lang="zh-CN" altLang="en-US" sz="2800" b="0" dirty="0">
                <a:solidFill>
                  <a:srgbClr val="CA865F">
                    <a:lumMod val="50000"/>
                    <a:alpha val="36000"/>
                  </a:srgbClr>
                </a:solidFill>
                <a:latin typeface="姥姥说媒(清)存素堂刻本简体" panose="020B0503020204020204" pitchFamily="34" charset="-122"/>
                <a:ea typeface="姥姥说媒(清)存素堂刻本简体" panose="020B0503020204020204" pitchFamily="34" charset="-122"/>
                <a:cs typeface="+mn-cs"/>
              </a:rPr>
              <a:t>义</a:t>
            </a:r>
          </a:p>
        </p:txBody>
      </p:sp>
      <p:sp>
        <p:nvSpPr>
          <p:cNvPr id="23" name="矩形: 圆角 22">
            <a:extLst>
              <a:ext uri="{FF2B5EF4-FFF2-40B4-BE49-F238E27FC236}">
                <a16:creationId xmlns:a16="http://schemas.microsoft.com/office/drawing/2014/main" id="{3794F5F7-F383-F1E4-4D6B-7800D4196D37}"/>
              </a:ext>
            </a:extLst>
          </p:cNvPr>
          <p:cNvSpPr/>
          <p:nvPr/>
        </p:nvSpPr>
        <p:spPr>
          <a:xfrm>
            <a:off x="7858301" y="5225294"/>
            <a:ext cx="3886008" cy="1071761"/>
          </a:xfrm>
          <a:prstGeom prst="roundRect">
            <a:avLst>
              <a:gd name="adj" fmla="val 8543"/>
            </a:avLst>
          </a:prstGeom>
          <a:noFill/>
          <a:ln>
            <a:gradFill flip="none" rotWithShape="1">
              <a:gsLst>
                <a:gs pos="77000">
                  <a:schemeClr val="accent1">
                    <a:lumMod val="95000"/>
                    <a:lumOff val="5000"/>
                    <a:alpha val="0"/>
                  </a:schemeClr>
                </a:gs>
                <a:gs pos="9000">
                  <a:schemeClr val="accent1">
                    <a:lumMod val="60000"/>
                  </a:schemeClr>
                </a:gs>
              </a:gsLst>
              <a:path path="circle">
                <a:fillToRect l="100000" b="100000"/>
              </a:path>
              <a:tileRect t="-100000" r="-100000"/>
            </a:gra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图形 16">
            <a:extLst>
              <a:ext uri="{FF2B5EF4-FFF2-40B4-BE49-F238E27FC236}">
                <a16:creationId xmlns:a16="http://schemas.microsoft.com/office/drawing/2014/main" id="{4FEE069B-A455-6491-4AE5-DE50B081F847}"/>
              </a:ext>
            </a:extLst>
          </p:cNvPr>
          <p:cNvGrpSpPr/>
          <p:nvPr/>
        </p:nvGrpSpPr>
        <p:grpSpPr>
          <a:xfrm>
            <a:off x="3916318" y="2473509"/>
            <a:ext cx="4227542" cy="3891833"/>
            <a:chOff x="5274277" y="2501455"/>
            <a:chExt cx="1640871" cy="1510569"/>
          </a:xfrm>
          <a:noFill/>
        </p:grpSpPr>
        <p:sp>
          <p:nvSpPr>
            <p:cNvPr id="25" name="任意多边形: 形状 24">
              <a:extLst>
                <a:ext uri="{FF2B5EF4-FFF2-40B4-BE49-F238E27FC236}">
                  <a16:creationId xmlns:a16="http://schemas.microsoft.com/office/drawing/2014/main" id="{8465C888-510F-C6B6-B063-9B0D5474DE0A}"/>
                </a:ext>
              </a:extLst>
            </p:cNvPr>
            <p:cNvSpPr/>
            <p:nvPr/>
          </p:nvSpPr>
          <p:spPr>
            <a:xfrm>
              <a:off x="5274277" y="2501455"/>
              <a:ext cx="820483" cy="1308544"/>
            </a:xfrm>
            <a:custGeom>
              <a:avLst/>
              <a:gdLst>
                <a:gd name="connsiteX0" fmla="*/ 160877 w 820483"/>
                <a:gd name="connsiteY0" fmla="*/ 1308545 h 1308544"/>
                <a:gd name="connsiteX1" fmla="*/ 0 w 820483"/>
                <a:gd name="connsiteY1" fmla="*/ 820484 h 1308544"/>
                <a:gd name="connsiteX2" fmla="*/ 820483 w 820483"/>
                <a:gd name="connsiteY2" fmla="*/ 0 h 1308544"/>
              </a:gdLst>
              <a:ahLst/>
              <a:cxnLst>
                <a:cxn ang="0">
                  <a:pos x="connsiteX0" y="connsiteY0"/>
                </a:cxn>
                <a:cxn ang="0">
                  <a:pos x="connsiteX1" y="connsiteY1"/>
                </a:cxn>
                <a:cxn ang="0">
                  <a:pos x="connsiteX2" y="connsiteY2"/>
                </a:cxn>
              </a:cxnLst>
              <a:rect l="l" t="t" r="r" b="b"/>
              <a:pathLst>
                <a:path w="820483" h="1308544">
                  <a:moveTo>
                    <a:pt x="160877" y="1308545"/>
                  </a:moveTo>
                  <a:cubicBezTo>
                    <a:pt x="59817" y="1172146"/>
                    <a:pt x="0" y="1003268"/>
                    <a:pt x="0" y="820484"/>
                  </a:cubicBezTo>
                  <a:cubicBezTo>
                    <a:pt x="0" y="367379"/>
                    <a:pt x="367284" y="0"/>
                    <a:pt x="820483" y="0"/>
                  </a:cubicBezTo>
                </a:path>
              </a:pathLst>
            </a:custGeom>
            <a:noFill/>
            <a:ln w="8479" cap="flat">
              <a:solidFill>
                <a:schemeClr val="accent1">
                  <a:lumMod val="20000"/>
                  <a:lumOff val="80000"/>
                </a:schemeClr>
              </a:solidFill>
              <a:prstDash val="solid"/>
              <a:miter/>
            </a:ln>
          </p:spPr>
          <p:txBody>
            <a:bodyPr rtlCol="0" anchor="ctr"/>
            <a:lstStyle/>
            <a:p>
              <a:pPr defTabSz="685800" fontAlgn="auto">
                <a:spcBef>
                  <a:spcPts val="0"/>
                </a:spcBef>
                <a:spcAft>
                  <a:spcPts val="0"/>
                </a:spcAft>
                <a:defRPr/>
              </a:pPr>
              <a:endParaRPr kumimoji="0" lang="zh-CN" altLang="en-US" sz="1350" b="0">
                <a:solidFill>
                  <a:prstClr val="black"/>
                </a:solidFill>
                <a:latin typeface="Roboto"/>
                <a:ea typeface="思源黑体 CN Regular"/>
                <a:cs typeface="+mn-cs"/>
              </a:endParaRPr>
            </a:p>
          </p:txBody>
        </p:sp>
        <p:sp>
          <p:nvSpPr>
            <p:cNvPr id="26" name="任意多边形: 形状 25">
              <a:extLst>
                <a:ext uri="{FF2B5EF4-FFF2-40B4-BE49-F238E27FC236}">
                  <a16:creationId xmlns:a16="http://schemas.microsoft.com/office/drawing/2014/main" id="{F8B869A5-1DCE-5353-8F1D-AEE3053BB6EB}"/>
                </a:ext>
              </a:extLst>
            </p:cNvPr>
            <p:cNvSpPr/>
            <p:nvPr/>
          </p:nvSpPr>
          <p:spPr>
            <a:xfrm>
              <a:off x="6538626" y="2800064"/>
              <a:ext cx="376523" cy="1211961"/>
            </a:xfrm>
            <a:custGeom>
              <a:avLst/>
              <a:gdLst>
                <a:gd name="connsiteX0" fmla="*/ 189167 w 376523"/>
                <a:gd name="connsiteY0" fmla="*/ 0 h 1211961"/>
                <a:gd name="connsiteX1" fmla="*/ 376523 w 376523"/>
                <a:gd name="connsiteY1" fmla="*/ 521875 h 1211961"/>
                <a:gd name="connsiteX2" fmla="*/ 0 w 376523"/>
                <a:gd name="connsiteY2" fmla="*/ 1211961 h 1211961"/>
              </a:gdLst>
              <a:ahLst/>
              <a:cxnLst>
                <a:cxn ang="0">
                  <a:pos x="connsiteX0" y="connsiteY0"/>
                </a:cxn>
                <a:cxn ang="0">
                  <a:pos x="connsiteX1" y="connsiteY1"/>
                </a:cxn>
                <a:cxn ang="0">
                  <a:pos x="connsiteX2" y="connsiteY2"/>
                </a:cxn>
              </a:cxnLst>
              <a:rect l="l" t="t" r="r" b="b"/>
              <a:pathLst>
                <a:path w="376523" h="1211961">
                  <a:moveTo>
                    <a:pt x="189167" y="0"/>
                  </a:moveTo>
                  <a:cubicBezTo>
                    <a:pt x="306229" y="141827"/>
                    <a:pt x="376523" y="323659"/>
                    <a:pt x="376523" y="521875"/>
                  </a:cubicBezTo>
                  <a:cubicBezTo>
                    <a:pt x="376523" y="811435"/>
                    <a:pt x="226504" y="1065943"/>
                    <a:pt x="0" y="1211961"/>
                  </a:cubicBezTo>
                </a:path>
              </a:pathLst>
            </a:custGeom>
            <a:noFill/>
            <a:ln w="8479" cap="flat">
              <a:solidFill>
                <a:schemeClr val="accent1">
                  <a:lumMod val="20000"/>
                  <a:lumOff val="80000"/>
                </a:schemeClr>
              </a:solidFill>
              <a:prstDash val="solid"/>
              <a:miter/>
            </a:ln>
          </p:spPr>
          <p:txBody>
            <a:bodyPr rtlCol="0" anchor="ctr"/>
            <a:lstStyle/>
            <a:p>
              <a:pPr defTabSz="685800" fontAlgn="auto">
                <a:spcBef>
                  <a:spcPts val="0"/>
                </a:spcBef>
                <a:spcAft>
                  <a:spcPts val="0"/>
                </a:spcAft>
                <a:defRPr/>
              </a:pPr>
              <a:endParaRPr kumimoji="0" lang="zh-CN" altLang="en-US" sz="1350" b="0">
                <a:solidFill>
                  <a:prstClr val="black"/>
                </a:solidFill>
                <a:latin typeface="Roboto"/>
                <a:ea typeface="思源黑体 CN Regular"/>
                <a:cs typeface="+mn-cs"/>
              </a:endParaRPr>
            </a:p>
          </p:txBody>
        </p:sp>
      </p:grpSp>
      <p:sp>
        <p:nvSpPr>
          <p:cNvPr id="27" name="矩形: 圆角 26">
            <a:extLst>
              <a:ext uri="{FF2B5EF4-FFF2-40B4-BE49-F238E27FC236}">
                <a16:creationId xmlns:a16="http://schemas.microsoft.com/office/drawing/2014/main" id="{80B1F783-54BB-891A-2559-1D4D4489F886}"/>
              </a:ext>
            </a:extLst>
          </p:cNvPr>
          <p:cNvSpPr/>
          <p:nvPr/>
        </p:nvSpPr>
        <p:spPr>
          <a:xfrm>
            <a:off x="10007821" y="3132702"/>
            <a:ext cx="668018" cy="355600"/>
          </a:xfrm>
          <a:prstGeom prst="roundRect">
            <a:avLst>
              <a:gd name="adj" fmla="val 25000"/>
            </a:avLst>
          </a:prstGeom>
          <a:gradFill flip="none" rotWithShape="1">
            <a:gsLst>
              <a:gs pos="0">
                <a:schemeClr val="accent1"/>
              </a:gs>
              <a:gs pos="98000">
                <a:schemeClr val="accent1">
                  <a:lumMod val="50000"/>
                </a:schemeClr>
              </a:gs>
            </a:gsLst>
            <a:lin ang="2700000" scaled="1"/>
            <a:tileRect/>
          </a:gradFill>
          <a:ln>
            <a:noFill/>
          </a:ln>
          <a:effectLst>
            <a:outerShdw blurRad="393700" dist="215900" dir="5400000" sx="58000" sy="58000" algn="t" rotWithShape="0">
              <a:schemeClr val="accent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kumimoji="0" lang="zh-CN" altLang="en-US" sz="1350" b="0" dirty="0">
                <a:solidFill>
                  <a:schemeClr val="accent2">
                    <a:lumMod val="60000"/>
                    <a:lumOff val="40000"/>
                  </a:schemeClr>
                </a:solidFill>
                <a:latin typeface="思源宋体 CN Heavy"/>
                <a:ea typeface="思源宋体 CN Heavy"/>
              </a:rPr>
              <a:t>咬边</a:t>
            </a:r>
          </a:p>
        </p:txBody>
      </p:sp>
      <p:pic>
        <p:nvPicPr>
          <p:cNvPr id="28" name="图片 27">
            <a:extLst>
              <a:ext uri="{FF2B5EF4-FFF2-40B4-BE49-F238E27FC236}">
                <a16:creationId xmlns:a16="http://schemas.microsoft.com/office/drawing/2014/main" id="{ED6EAF7C-3416-8204-D2C9-43E1E7919971}"/>
              </a:ext>
            </a:extLst>
          </p:cNvPr>
          <p:cNvPicPr>
            <a:picLocks noChangeAspect="1"/>
          </p:cNvPicPr>
          <p:nvPr/>
        </p:nvPicPr>
        <p:blipFill>
          <a:blip r:embed="rId4" cstate="print">
            <a:extLst>
              <a:ext uri="{28A0092B-C50C-407E-A947-70E740481C1C}">
                <a14:useLocalDpi xmlns:a14="http://schemas.microsoft.com/office/drawing/2010/main" val="0"/>
              </a:ext>
            </a:extLst>
          </a:blip>
          <a:srcRect l="17425" t="23153" r="7869" b="52826"/>
          <a:stretch/>
        </p:blipFill>
        <p:spPr>
          <a:xfrm>
            <a:off x="4333916" y="2736421"/>
            <a:ext cx="3391922" cy="3391922"/>
          </a:xfrm>
          <a:custGeom>
            <a:avLst/>
            <a:gdLst>
              <a:gd name="connsiteX0" fmla="*/ 1695961 w 3391922"/>
              <a:gd name="connsiteY0" fmla="*/ 0 h 3391922"/>
              <a:gd name="connsiteX1" fmla="*/ 3391922 w 3391922"/>
              <a:gd name="connsiteY1" fmla="*/ 1695961 h 3391922"/>
              <a:gd name="connsiteX2" fmla="*/ 1695961 w 3391922"/>
              <a:gd name="connsiteY2" fmla="*/ 3391922 h 3391922"/>
              <a:gd name="connsiteX3" fmla="*/ 0 w 3391922"/>
              <a:gd name="connsiteY3" fmla="*/ 1695961 h 3391922"/>
              <a:gd name="connsiteX4" fmla="*/ 1695961 w 3391922"/>
              <a:gd name="connsiteY4" fmla="*/ 0 h 3391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1922" h="3391922">
                <a:moveTo>
                  <a:pt x="1695961" y="0"/>
                </a:moveTo>
                <a:cubicBezTo>
                  <a:pt x="2632614" y="0"/>
                  <a:pt x="3391922" y="759308"/>
                  <a:pt x="3391922" y="1695961"/>
                </a:cubicBezTo>
                <a:cubicBezTo>
                  <a:pt x="3391922" y="2632614"/>
                  <a:pt x="2632614" y="3391922"/>
                  <a:pt x="1695961" y="3391922"/>
                </a:cubicBezTo>
                <a:cubicBezTo>
                  <a:pt x="759308" y="3391922"/>
                  <a:pt x="0" y="2632614"/>
                  <a:pt x="0" y="1695961"/>
                </a:cubicBezTo>
                <a:cubicBezTo>
                  <a:pt x="0" y="759308"/>
                  <a:pt x="759308" y="0"/>
                  <a:pt x="1695961" y="0"/>
                </a:cubicBezTo>
                <a:close/>
              </a:path>
            </a:pathLst>
          </a:custGeom>
        </p:spPr>
      </p:pic>
      <p:pic>
        <p:nvPicPr>
          <p:cNvPr id="29" name="图片 28">
            <a:extLst>
              <a:ext uri="{FF2B5EF4-FFF2-40B4-BE49-F238E27FC236}">
                <a16:creationId xmlns:a16="http://schemas.microsoft.com/office/drawing/2014/main" id="{81CB5A3F-88DF-246C-1FE4-1026EDEBA15A}"/>
              </a:ext>
            </a:extLst>
          </p:cNvPr>
          <p:cNvPicPr>
            <a:picLocks noChangeAspect="1"/>
          </p:cNvPicPr>
          <p:nvPr/>
        </p:nvPicPr>
        <p:blipFill>
          <a:blip r:embed="rId5">
            <a:extLst>
              <a:ext uri="{28A0092B-C50C-407E-A947-70E740481C1C}">
                <a14:useLocalDpi xmlns:a14="http://schemas.microsoft.com/office/drawing/2010/main" val="0"/>
              </a:ext>
            </a:extLst>
          </a:blip>
          <a:srcRect r="15251"/>
          <a:stretch/>
        </p:blipFill>
        <p:spPr>
          <a:xfrm>
            <a:off x="3554601" y="2709450"/>
            <a:ext cx="3803986" cy="3449075"/>
          </a:xfrm>
          <a:prstGeom prst="rect">
            <a:avLst/>
          </a:prstGeom>
        </p:spPr>
      </p:pic>
      <p:sp>
        <p:nvSpPr>
          <p:cNvPr id="32" name="文本框 31">
            <a:extLst>
              <a:ext uri="{FF2B5EF4-FFF2-40B4-BE49-F238E27FC236}">
                <a16:creationId xmlns:a16="http://schemas.microsoft.com/office/drawing/2014/main" id="{CC27165B-EDE5-C2F5-1709-EDA886F4A99A}"/>
              </a:ext>
            </a:extLst>
          </p:cNvPr>
          <p:cNvSpPr txBox="1"/>
          <p:nvPr/>
        </p:nvSpPr>
        <p:spPr>
          <a:xfrm>
            <a:off x="7720304" y="2852798"/>
            <a:ext cx="1261884" cy="307777"/>
          </a:xfrm>
          <a:prstGeom prst="rect">
            <a:avLst/>
          </a:prstGeom>
          <a:noFill/>
        </p:spPr>
        <p:txBody>
          <a:bodyPr wrap="none">
            <a:spAutoFit/>
          </a:bodyPr>
          <a:lstStyle/>
          <a:p>
            <a:pPr fontAlgn="auto">
              <a:spcBef>
                <a:spcPts val="0"/>
              </a:spcBef>
              <a:spcAft>
                <a:spcPts val="0"/>
              </a:spcAft>
              <a:defRPr/>
            </a:pPr>
            <a:r>
              <a:rPr kumimoji="0" lang="zh-CN" altLang="en-US" sz="1400" kern="0" dirty="0">
                <a:solidFill>
                  <a:srgbClr val="47393A"/>
                </a:solidFill>
                <a:latin typeface="微软雅黑" panose="020B0503020204020204" pitchFamily="34" charset="-122"/>
                <a:ea typeface="微软雅黑" panose="020B0503020204020204" pitchFamily="34" charset="-122"/>
              </a:rPr>
              <a:t>单节臂架长度</a:t>
            </a:r>
            <a:endPar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3" name="文本框 32">
            <a:extLst>
              <a:ext uri="{FF2B5EF4-FFF2-40B4-BE49-F238E27FC236}">
                <a16:creationId xmlns:a16="http://schemas.microsoft.com/office/drawing/2014/main" id="{677EE7DD-BAC9-E0D9-9853-D8371BE095F3}"/>
              </a:ext>
            </a:extLst>
          </p:cNvPr>
          <p:cNvSpPr txBox="1"/>
          <p:nvPr/>
        </p:nvSpPr>
        <p:spPr>
          <a:xfrm>
            <a:off x="8008278" y="3145071"/>
            <a:ext cx="987771" cy="369332"/>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1B4F80"/>
                </a:solidFill>
                <a:effectLst/>
                <a:uLnTx/>
                <a:uFillTx/>
                <a:latin typeface="思源宋体 CN Heavy"/>
                <a:ea typeface="思源宋体 CN Heavy"/>
                <a:cs typeface="+mn-cs"/>
              </a:rPr>
              <a:t>8~16m</a:t>
            </a:r>
            <a:endParaRPr kumimoji="0" lang="zh-CN" altLang="en-US" sz="1800" b="0" i="0" u="none" strike="noStrike" kern="0" cap="none" spc="0" normalizeH="0" baseline="0" noProof="0" dirty="0">
              <a:ln>
                <a:noFill/>
              </a:ln>
              <a:solidFill>
                <a:srgbClr val="1B4F80"/>
              </a:solidFill>
              <a:effectLst/>
              <a:uLnTx/>
              <a:uFillTx/>
              <a:latin typeface="思源宋体 CN Heavy"/>
              <a:ea typeface="思源宋体 CN Heavy"/>
              <a:cs typeface="+mn-cs"/>
            </a:endParaRPr>
          </a:p>
        </p:txBody>
      </p:sp>
      <p:sp>
        <p:nvSpPr>
          <p:cNvPr id="34" name="文本框 33">
            <a:extLst>
              <a:ext uri="{FF2B5EF4-FFF2-40B4-BE49-F238E27FC236}">
                <a16:creationId xmlns:a16="http://schemas.microsoft.com/office/drawing/2014/main" id="{C7B0FD17-AB09-B331-E8A4-8D9213B38B4B}"/>
              </a:ext>
            </a:extLst>
          </p:cNvPr>
          <p:cNvSpPr txBox="1"/>
          <p:nvPr/>
        </p:nvSpPr>
        <p:spPr>
          <a:xfrm>
            <a:off x="8409789" y="3581800"/>
            <a:ext cx="543739" cy="307777"/>
          </a:xfrm>
          <a:prstGeom prst="rect">
            <a:avLst/>
          </a:prstGeom>
          <a:noFill/>
        </p:spPr>
        <p:txBody>
          <a:bodyPr wrap="none">
            <a:spAutoFit/>
          </a:bodyPr>
          <a:lstStyle/>
          <a:p>
            <a:pPr fontAlgn="auto">
              <a:spcBef>
                <a:spcPts val="0"/>
              </a:spcBef>
              <a:spcAft>
                <a:spcPts val="0"/>
              </a:spcAft>
              <a:defRPr/>
            </a:pPr>
            <a:r>
              <a:rPr kumimoji="0" lang="zh-CN" altLang="en-US" sz="1400" kern="0" dirty="0">
                <a:solidFill>
                  <a:srgbClr val="47393A"/>
                </a:solidFill>
                <a:latin typeface="微软雅黑" panose="020B0503020204020204" pitchFamily="34" charset="-122"/>
                <a:ea typeface="微软雅黑" panose="020B0503020204020204" pitchFamily="34" charset="-122"/>
              </a:rPr>
              <a:t>母材</a:t>
            </a:r>
            <a:endPar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endParaRPr>
          </a:p>
        </p:txBody>
      </p:sp>
      <p:cxnSp>
        <p:nvCxnSpPr>
          <p:cNvPr id="35" name="直接连接符 34">
            <a:extLst>
              <a:ext uri="{FF2B5EF4-FFF2-40B4-BE49-F238E27FC236}">
                <a16:creationId xmlns:a16="http://schemas.microsoft.com/office/drawing/2014/main" id="{D92AF38C-37E6-EC49-6A3C-C7F04304524C}"/>
              </a:ext>
            </a:extLst>
          </p:cNvPr>
          <p:cNvCxnSpPr/>
          <p:nvPr/>
        </p:nvCxnSpPr>
        <p:spPr>
          <a:xfrm>
            <a:off x="4769736" y="3652247"/>
            <a:ext cx="2570602" cy="453069"/>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CE505C63-9BFC-7518-B196-D24BF11D3A19}"/>
              </a:ext>
            </a:extLst>
          </p:cNvPr>
          <p:cNvSpPr txBox="1"/>
          <p:nvPr/>
        </p:nvSpPr>
        <p:spPr>
          <a:xfrm>
            <a:off x="8253373" y="3904720"/>
            <a:ext cx="723275" cy="338554"/>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B4F80"/>
                </a:solidFill>
                <a:effectLst/>
                <a:uLnTx/>
                <a:uFillTx/>
                <a:latin typeface="思源宋体 CN Heavy"/>
                <a:ea typeface="思源宋体 CN Heavy"/>
                <a:cs typeface="+mn-cs"/>
              </a:rPr>
              <a:t>Q960</a:t>
            </a:r>
            <a:endParaRPr kumimoji="0" lang="zh-CN" altLang="en-US" sz="1600" b="0" i="0" u="none" strike="noStrike" kern="0" cap="none" spc="0" normalizeH="0" baseline="0" noProof="0" dirty="0">
              <a:ln>
                <a:noFill/>
              </a:ln>
              <a:solidFill>
                <a:srgbClr val="1B4F80"/>
              </a:solidFill>
              <a:effectLst/>
              <a:uLnTx/>
              <a:uFillTx/>
              <a:latin typeface="思源宋体 CN Heavy"/>
              <a:ea typeface="思源宋体 CN Heavy"/>
              <a:cs typeface="+mn-cs"/>
            </a:endParaRPr>
          </a:p>
        </p:txBody>
      </p:sp>
      <p:sp>
        <p:nvSpPr>
          <p:cNvPr id="37" name="文本框 36">
            <a:extLst>
              <a:ext uri="{FF2B5EF4-FFF2-40B4-BE49-F238E27FC236}">
                <a16:creationId xmlns:a16="http://schemas.microsoft.com/office/drawing/2014/main" id="{93C5FDBE-E50B-2FAC-FB84-9DEEEDEB6556}"/>
              </a:ext>
            </a:extLst>
          </p:cNvPr>
          <p:cNvSpPr txBox="1"/>
          <p:nvPr/>
        </p:nvSpPr>
        <p:spPr>
          <a:xfrm>
            <a:off x="4769736" y="3716970"/>
            <a:ext cx="1005403" cy="338554"/>
          </a:xfrm>
          <a:prstGeom prst="rect">
            <a:avLst/>
          </a:prstGeom>
          <a:noFill/>
          <a:scene3d>
            <a:camera prst="isometricOffAxis2Left"/>
            <a:lightRig rig="threePt" dir="t"/>
          </a:scene3d>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chemeClr val="bg1"/>
                </a:solidFill>
                <a:effectLst/>
                <a:uLnTx/>
                <a:uFillTx/>
                <a:latin typeface="思源宋体 CN Heavy"/>
                <a:ea typeface="思源宋体 CN Heavy"/>
                <a:cs typeface="+mn-cs"/>
              </a:rPr>
              <a:t>超长焊缝</a:t>
            </a:r>
          </a:p>
        </p:txBody>
      </p:sp>
      <p:cxnSp>
        <p:nvCxnSpPr>
          <p:cNvPr id="38" name="直接箭头连接符 37">
            <a:extLst>
              <a:ext uri="{FF2B5EF4-FFF2-40B4-BE49-F238E27FC236}">
                <a16:creationId xmlns:a16="http://schemas.microsoft.com/office/drawing/2014/main" id="{B2E7E970-4EC0-D6B6-DBD3-FCCFA55F10D5}"/>
              </a:ext>
            </a:extLst>
          </p:cNvPr>
          <p:cNvCxnSpPr/>
          <p:nvPr/>
        </p:nvCxnSpPr>
        <p:spPr>
          <a:xfrm flipV="1">
            <a:off x="5635511" y="3866924"/>
            <a:ext cx="279256" cy="89081"/>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F833C049-750C-2305-3BA9-EE5BB0486187}"/>
              </a:ext>
            </a:extLst>
          </p:cNvPr>
          <p:cNvSpPr txBox="1"/>
          <p:nvPr/>
        </p:nvSpPr>
        <p:spPr>
          <a:xfrm>
            <a:off x="8033242" y="4325814"/>
            <a:ext cx="902811" cy="307777"/>
          </a:xfrm>
          <a:prstGeom prst="rect">
            <a:avLst/>
          </a:prstGeom>
          <a:noFill/>
        </p:spPr>
        <p:txBody>
          <a:bodyPr wrap="none">
            <a:spAutoFit/>
          </a:bodyPr>
          <a:lstStyle/>
          <a:p>
            <a:pPr fontAlgn="auto">
              <a:spcBef>
                <a:spcPts val="0"/>
              </a:spcBef>
              <a:spcAft>
                <a:spcPts val="0"/>
              </a:spcAft>
              <a:defRPr/>
            </a:pPr>
            <a:r>
              <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rPr>
              <a:t>单节臂架</a:t>
            </a:r>
          </a:p>
        </p:txBody>
      </p:sp>
      <p:sp>
        <p:nvSpPr>
          <p:cNvPr id="40" name="文本框 39">
            <a:extLst>
              <a:ext uri="{FF2B5EF4-FFF2-40B4-BE49-F238E27FC236}">
                <a16:creationId xmlns:a16="http://schemas.microsoft.com/office/drawing/2014/main" id="{1E4CD2A4-CCE5-0D62-CCFF-B42962E2A9C0}"/>
              </a:ext>
            </a:extLst>
          </p:cNvPr>
          <p:cNvSpPr txBox="1"/>
          <p:nvPr/>
        </p:nvSpPr>
        <p:spPr>
          <a:xfrm>
            <a:off x="7858301" y="4560062"/>
            <a:ext cx="514885" cy="338554"/>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B4F80"/>
                </a:solidFill>
                <a:effectLst/>
                <a:uLnTx/>
                <a:uFillTx/>
                <a:latin typeface="思源宋体 CN Heavy"/>
                <a:ea typeface="思源宋体 CN Heavy"/>
                <a:cs typeface="+mn-cs"/>
              </a:rPr>
              <a:t>2</a:t>
            </a:r>
            <a:r>
              <a:rPr kumimoji="0" lang="zh-CN" altLang="en-US" sz="1600" b="0" i="0" u="none" strike="noStrike" kern="0" cap="none" spc="0" normalizeH="0" baseline="0" noProof="0" dirty="0">
                <a:ln>
                  <a:noFill/>
                </a:ln>
                <a:solidFill>
                  <a:srgbClr val="1B4F80"/>
                </a:solidFill>
                <a:effectLst/>
                <a:uLnTx/>
                <a:uFillTx/>
                <a:latin typeface="思源宋体 CN Heavy"/>
                <a:ea typeface="思源宋体 CN Heavy"/>
                <a:cs typeface="+mn-cs"/>
              </a:rPr>
              <a:t>条</a:t>
            </a:r>
          </a:p>
        </p:txBody>
      </p:sp>
      <p:sp>
        <p:nvSpPr>
          <p:cNvPr id="41" name="文本框 40">
            <a:extLst>
              <a:ext uri="{FF2B5EF4-FFF2-40B4-BE49-F238E27FC236}">
                <a16:creationId xmlns:a16="http://schemas.microsoft.com/office/drawing/2014/main" id="{67E1263C-A444-F047-CBA4-00D1D159E01A}"/>
              </a:ext>
            </a:extLst>
          </p:cNvPr>
          <p:cNvSpPr txBox="1"/>
          <p:nvPr/>
        </p:nvSpPr>
        <p:spPr>
          <a:xfrm>
            <a:off x="8196254" y="4587853"/>
            <a:ext cx="723275" cy="307777"/>
          </a:xfrm>
          <a:prstGeom prst="rect">
            <a:avLst/>
          </a:prstGeom>
          <a:noFill/>
        </p:spPr>
        <p:txBody>
          <a:bodyPr wrap="none">
            <a:spAutoFit/>
          </a:bodyPr>
          <a:lstStyle/>
          <a:p>
            <a:pPr fontAlgn="auto">
              <a:spcBef>
                <a:spcPts val="0"/>
              </a:spcBef>
              <a:spcAft>
                <a:spcPts val="0"/>
              </a:spcAft>
              <a:defRPr/>
            </a:pPr>
            <a:r>
              <a:rPr kumimoji="0" lang="zh-CN" altLang="en-US" sz="1400" kern="0" dirty="0">
                <a:solidFill>
                  <a:srgbClr val="47393A"/>
                </a:solidFill>
                <a:latin typeface="微软雅黑" panose="020B0503020204020204" pitchFamily="34" charset="-122"/>
                <a:ea typeface="微软雅黑" panose="020B0503020204020204" pitchFamily="34" charset="-122"/>
                <a:cs typeface="OPPOSans M" panose="00020600040101010101" pitchFamily="18" charset="-122"/>
              </a:rPr>
              <a:t>主焊缝</a:t>
            </a:r>
            <a:endPar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42" name="文本框 41">
            <a:extLst>
              <a:ext uri="{FF2B5EF4-FFF2-40B4-BE49-F238E27FC236}">
                <a16:creationId xmlns:a16="http://schemas.microsoft.com/office/drawing/2014/main" id="{52D0681F-9C71-7930-EBA1-853D8D61FF23}"/>
              </a:ext>
            </a:extLst>
          </p:cNvPr>
          <p:cNvSpPr txBox="1"/>
          <p:nvPr/>
        </p:nvSpPr>
        <p:spPr>
          <a:xfrm>
            <a:off x="9956805" y="2800613"/>
            <a:ext cx="1431802" cy="307777"/>
          </a:xfrm>
          <a:prstGeom prst="rect">
            <a:avLst/>
          </a:prstGeom>
          <a:noFill/>
        </p:spPr>
        <p:txBody>
          <a:bodyPr wrap="none">
            <a:spAutoFit/>
          </a:bodyPr>
          <a:lstStyle/>
          <a:p>
            <a:pPr fontAlgn="auto">
              <a:spcBef>
                <a:spcPts val="0"/>
              </a:spcBef>
              <a:spcAft>
                <a:spcPts val="0"/>
              </a:spcAft>
              <a:defRPr/>
            </a:pPr>
            <a:r>
              <a:rPr kumimoji="0" lang="zh-CN" altLang="en-US" sz="1400" kern="0" dirty="0">
                <a:solidFill>
                  <a:srgbClr val="47393A"/>
                </a:solidFill>
                <a:latin typeface="微软雅黑" panose="020B0503020204020204" pitchFamily="34" charset="-122"/>
                <a:ea typeface="微软雅黑" panose="020B0503020204020204" pitchFamily="34" charset="-122"/>
              </a:rPr>
              <a:t>需要克服的缺陷</a:t>
            </a:r>
            <a:endPar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43" name="矩形: 圆角 42">
            <a:extLst>
              <a:ext uri="{FF2B5EF4-FFF2-40B4-BE49-F238E27FC236}">
                <a16:creationId xmlns:a16="http://schemas.microsoft.com/office/drawing/2014/main" id="{A0C0F76B-3A23-9CCA-BC82-6DAFBC123E70}"/>
              </a:ext>
            </a:extLst>
          </p:cNvPr>
          <p:cNvSpPr/>
          <p:nvPr/>
        </p:nvSpPr>
        <p:spPr>
          <a:xfrm>
            <a:off x="10729357" y="3141148"/>
            <a:ext cx="636827" cy="355600"/>
          </a:xfrm>
          <a:prstGeom prst="roundRect">
            <a:avLst>
              <a:gd name="adj" fmla="val 25000"/>
            </a:avLst>
          </a:prstGeom>
          <a:gradFill flip="none" rotWithShape="1">
            <a:gsLst>
              <a:gs pos="0">
                <a:schemeClr val="accent1"/>
              </a:gs>
              <a:gs pos="98000">
                <a:schemeClr val="accent1">
                  <a:lumMod val="50000"/>
                </a:schemeClr>
              </a:gs>
            </a:gsLst>
            <a:lin ang="2700000" scaled="1"/>
            <a:tileRect/>
          </a:gradFill>
          <a:ln>
            <a:noFill/>
          </a:ln>
          <a:effectLst>
            <a:outerShdw blurRad="393700" dist="215900" dir="5400000" sx="58000" sy="58000" algn="t" rotWithShape="0">
              <a:schemeClr val="accent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kumimoji="0" lang="zh-CN" altLang="en-US" sz="1350" b="0" dirty="0">
                <a:solidFill>
                  <a:prstClr val="white"/>
                </a:solidFill>
                <a:latin typeface="思源宋体 CN Heavy"/>
                <a:ea typeface="思源宋体 CN Heavy"/>
              </a:rPr>
              <a:t>飞溅</a:t>
            </a:r>
          </a:p>
        </p:txBody>
      </p:sp>
      <p:sp>
        <p:nvSpPr>
          <p:cNvPr id="44" name="矩形: 圆角 43">
            <a:extLst>
              <a:ext uri="{FF2B5EF4-FFF2-40B4-BE49-F238E27FC236}">
                <a16:creationId xmlns:a16="http://schemas.microsoft.com/office/drawing/2014/main" id="{E7C1D5C1-DAEC-DDE3-4E9F-2B9F5025DED9}"/>
              </a:ext>
            </a:extLst>
          </p:cNvPr>
          <p:cNvSpPr/>
          <p:nvPr/>
        </p:nvSpPr>
        <p:spPr>
          <a:xfrm>
            <a:off x="10013478" y="3546572"/>
            <a:ext cx="668018" cy="355600"/>
          </a:xfrm>
          <a:prstGeom prst="roundRect">
            <a:avLst>
              <a:gd name="adj" fmla="val 25000"/>
            </a:avLst>
          </a:prstGeom>
          <a:gradFill flip="none" rotWithShape="1">
            <a:gsLst>
              <a:gs pos="0">
                <a:schemeClr val="accent1"/>
              </a:gs>
              <a:gs pos="98000">
                <a:schemeClr val="accent1">
                  <a:lumMod val="50000"/>
                </a:schemeClr>
              </a:gs>
            </a:gsLst>
            <a:lin ang="2700000" scaled="1"/>
            <a:tileRect/>
          </a:gradFill>
          <a:ln>
            <a:noFill/>
          </a:ln>
          <a:effectLst>
            <a:outerShdw blurRad="393700" dist="215900" dir="5400000" sx="58000" sy="58000" algn="t" rotWithShape="0">
              <a:schemeClr val="accent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kumimoji="0" lang="zh-CN" altLang="en-US" sz="1350" b="0" dirty="0">
                <a:solidFill>
                  <a:prstClr val="white"/>
                </a:solidFill>
                <a:latin typeface="思源宋体 CN Heavy"/>
                <a:ea typeface="思源宋体 CN Heavy"/>
              </a:rPr>
              <a:t>气孔</a:t>
            </a:r>
          </a:p>
        </p:txBody>
      </p:sp>
      <p:sp>
        <p:nvSpPr>
          <p:cNvPr id="45" name="文本框 44">
            <a:extLst>
              <a:ext uri="{FF2B5EF4-FFF2-40B4-BE49-F238E27FC236}">
                <a16:creationId xmlns:a16="http://schemas.microsoft.com/office/drawing/2014/main" id="{419D8502-1F2E-7AC6-14C6-4297D424C659}"/>
              </a:ext>
            </a:extLst>
          </p:cNvPr>
          <p:cNvSpPr txBox="1"/>
          <p:nvPr/>
        </p:nvSpPr>
        <p:spPr>
          <a:xfrm>
            <a:off x="10751942" y="3581800"/>
            <a:ext cx="543739" cy="307777"/>
          </a:xfrm>
          <a:prstGeom prst="rect">
            <a:avLst/>
          </a:prstGeom>
          <a:noFill/>
        </p:spPr>
        <p:txBody>
          <a:bodyPr wrap="none">
            <a:spAutoFit/>
          </a:bodyPr>
          <a:lstStyle/>
          <a:p>
            <a:pPr fontAlgn="auto">
              <a:spcBef>
                <a:spcPts val="0"/>
              </a:spcBef>
              <a:spcAft>
                <a:spcPts val="0"/>
              </a:spcAft>
              <a:defRPr/>
            </a:pPr>
            <a:r>
              <a:rPr kumimoji="0" lang="en-US" altLang="zh-CN" sz="1400" b="0" kern="0" dirty="0">
                <a:solidFill>
                  <a:srgbClr val="1B4F80"/>
                </a:solidFill>
                <a:latin typeface="汉仪粗宋简" panose="02010600000101010101" pitchFamily="2" charset="-122"/>
                <a:ea typeface="汉仪粗宋简" panose="02010600000101010101" pitchFamily="2" charset="-122"/>
                <a:cs typeface="+mn-cs"/>
              </a:rPr>
              <a:t>……</a:t>
            </a:r>
            <a:endParaRPr kumimoji="0" lang="zh-CN" altLang="en-US" sz="1400" b="0" kern="0" dirty="0">
              <a:solidFill>
                <a:srgbClr val="1B4F80"/>
              </a:solidFill>
              <a:latin typeface="汉仪粗宋简" panose="02010600000101010101" pitchFamily="2" charset="-122"/>
              <a:ea typeface="汉仪粗宋简" panose="02010600000101010101" pitchFamily="2" charset="-122"/>
              <a:cs typeface="+mn-cs"/>
            </a:endParaRPr>
          </a:p>
        </p:txBody>
      </p:sp>
      <p:sp>
        <p:nvSpPr>
          <p:cNvPr id="46" name="文本框 45">
            <a:extLst>
              <a:ext uri="{FF2B5EF4-FFF2-40B4-BE49-F238E27FC236}">
                <a16:creationId xmlns:a16="http://schemas.microsoft.com/office/drawing/2014/main" id="{83CC339A-642D-77CE-8D5D-F73CC89D6756}"/>
              </a:ext>
            </a:extLst>
          </p:cNvPr>
          <p:cNvSpPr txBox="1"/>
          <p:nvPr/>
        </p:nvSpPr>
        <p:spPr>
          <a:xfrm>
            <a:off x="10100184" y="4028107"/>
            <a:ext cx="1441420" cy="617477"/>
          </a:xfrm>
          <a:prstGeom prst="rect">
            <a:avLst/>
          </a:prstGeom>
          <a:noFill/>
        </p:spPr>
        <p:txBody>
          <a:bodyPr wrap="none">
            <a:spAutoFit/>
          </a:bodyPr>
          <a:lstStyle/>
          <a:p>
            <a:pPr fontAlgn="auto">
              <a:lnSpc>
                <a:spcPct val="125000"/>
              </a:lnSpc>
              <a:spcBef>
                <a:spcPts val="0"/>
              </a:spcBef>
              <a:spcAft>
                <a:spcPts val="0"/>
              </a:spcAft>
              <a:defRPr/>
            </a:pPr>
            <a:r>
              <a:rPr kumimoji="0" lang="zh-CN" altLang="en-US"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rPr>
              <a:t>对性能影响很大</a:t>
            </a:r>
            <a:endParaRPr kumimoji="0" lang="en-US" altLang="zh-CN" sz="1400" i="0" u="none" strike="noStrike" kern="0" cap="none" spc="0" normalizeH="0" baseline="0" noProof="0" dirty="0">
              <a:ln>
                <a:noFill/>
              </a:ln>
              <a:solidFill>
                <a:srgbClr val="47393A"/>
              </a:solidFill>
              <a:effectLst/>
              <a:uLnTx/>
              <a:uFillTx/>
              <a:latin typeface="微软雅黑" panose="020B0503020204020204" pitchFamily="34" charset="-122"/>
              <a:ea typeface="微软雅黑" panose="020B0503020204020204" pitchFamily="34" charset="-122"/>
              <a:cs typeface="OPPOSans M" panose="00020600040101010101" pitchFamily="18" charset="-122"/>
            </a:endParaRPr>
          </a:p>
          <a:p>
            <a:pPr fontAlgn="auto">
              <a:lnSpc>
                <a:spcPct val="125000"/>
              </a:lnSpc>
              <a:spcBef>
                <a:spcPts val="0"/>
              </a:spcBef>
              <a:spcAft>
                <a:spcPts val="0"/>
              </a:spcAft>
              <a:defRPr/>
            </a:pPr>
            <a:r>
              <a:rPr kumimoji="0" lang="zh-CN" altLang="en-US" sz="1400" kern="0" dirty="0">
                <a:solidFill>
                  <a:srgbClr val="47393A"/>
                </a:solidFill>
                <a:latin typeface="微软雅黑" panose="020B0503020204020204" pitchFamily="34" charset="-122"/>
                <a:ea typeface="微软雅黑" panose="020B0503020204020204" pitchFamily="34" charset="-122"/>
                <a:cs typeface="OPPOSans M" panose="00020600040101010101" pitchFamily="18" charset="-122"/>
              </a:rPr>
              <a:t>是项目面临的</a:t>
            </a:r>
            <a:endParaRPr kumimoji="0" lang="en-US" altLang="zh-CN" sz="1400" kern="0" dirty="0">
              <a:solidFill>
                <a:srgbClr val="47393A"/>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47" name="箭头: 左弧形 46">
            <a:extLst>
              <a:ext uri="{FF2B5EF4-FFF2-40B4-BE49-F238E27FC236}">
                <a16:creationId xmlns:a16="http://schemas.microsoft.com/office/drawing/2014/main" id="{D10A0305-0C2C-186F-6228-41182A203885}"/>
              </a:ext>
            </a:extLst>
          </p:cNvPr>
          <p:cNvSpPr/>
          <p:nvPr/>
        </p:nvSpPr>
        <p:spPr>
          <a:xfrm>
            <a:off x="9810612" y="3315077"/>
            <a:ext cx="358177" cy="1213038"/>
          </a:xfrm>
          <a:prstGeom prst="curvedRightArrow">
            <a:avLst/>
          </a:prstGeom>
          <a:gradFill flip="none" rotWithShape="1">
            <a:gsLst>
              <a:gs pos="0">
                <a:srgbClr val="8BBAD4"/>
              </a:gs>
              <a:gs pos="98000">
                <a:srgbClr val="2F557A"/>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文本框 47">
            <a:extLst>
              <a:ext uri="{FF2B5EF4-FFF2-40B4-BE49-F238E27FC236}">
                <a16:creationId xmlns:a16="http://schemas.microsoft.com/office/drawing/2014/main" id="{FC2FA63D-1F62-1417-3199-1FD9F41EB879}"/>
              </a:ext>
            </a:extLst>
          </p:cNvPr>
          <p:cNvSpPr txBox="1"/>
          <p:nvPr/>
        </p:nvSpPr>
        <p:spPr>
          <a:xfrm>
            <a:off x="10092991" y="4580357"/>
            <a:ext cx="1005403" cy="338554"/>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B4F80"/>
                </a:solidFill>
                <a:effectLst/>
                <a:uLnTx/>
                <a:uFillTx/>
                <a:latin typeface="思源宋体 CN Heavy"/>
                <a:ea typeface="思源宋体 CN Heavy"/>
                <a:cs typeface="+mn-cs"/>
              </a:rPr>
              <a:t>主要困难</a:t>
            </a:r>
          </a:p>
        </p:txBody>
      </p:sp>
      <p:sp>
        <p:nvSpPr>
          <p:cNvPr id="50" name="矩形: 圆角 49">
            <a:extLst>
              <a:ext uri="{FF2B5EF4-FFF2-40B4-BE49-F238E27FC236}">
                <a16:creationId xmlns:a16="http://schemas.microsoft.com/office/drawing/2014/main" id="{581DEC15-68F2-24EC-3FFC-1B9EC655237D}"/>
              </a:ext>
            </a:extLst>
          </p:cNvPr>
          <p:cNvSpPr/>
          <p:nvPr/>
        </p:nvSpPr>
        <p:spPr>
          <a:xfrm>
            <a:off x="339090" y="1789430"/>
            <a:ext cx="11513820" cy="665535"/>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1" name="矩形 50">
            <a:extLst>
              <a:ext uri="{FF2B5EF4-FFF2-40B4-BE49-F238E27FC236}">
                <a16:creationId xmlns:a16="http://schemas.microsoft.com/office/drawing/2014/main" id="{87D351B8-E597-BACA-E4AD-E6612BF33676}"/>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2" name="文本框 51">
            <a:extLst>
              <a:ext uri="{FF2B5EF4-FFF2-40B4-BE49-F238E27FC236}">
                <a16:creationId xmlns:a16="http://schemas.microsoft.com/office/drawing/2014/main" id="{067CA0E6-9912-09D6-A538-832E5A27F0C6}"/>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3" name="文本框 52">
            <a:extLst>
              <a:ext uri="{FF2B5EF4-FFF2-40B4-BE49-F238E27FC236}">
                <a16:creationId xmlns:a16="http://schemas.microsoft.com/office/drawing/2014/main" id="{DF73AA40-1143-017D-29BB-E6C5997DEBD8}"/>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工程背景</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80859D8A-1E2B-B10C-E155-1FFB515DBD4B}"/>
              </a:ext>
            </a:extLst>
          </p:cNvPr>
          <p:cNvSpPr txBox="1"/>
          <p:nvPr/>
        </p:nvSpPr>
        <p:spPr>
          <a:xfrm>
            <a:off x="599708" y="2003284"/>
            <a:ext cx="10922000" cy="276999"/>
          </a:xfrm>
          <a:prstGeom prst="rect">
            <a:avLst/>
          </a:prstGeom>
          <a:noFill/>
        </p:spPr>
        <p:txBody>
          <a:bodyPr vert="horz" wrap="square" lIns="0" tIns="0" rIns="0" bIns="0" rtlCol="0">
            <a:noAutofit/>
          </a:bodyPr>
          <a:lstStyle/>
          <a:p>
            <a:r>
              <a:rPr lang="zh-CN" altLang="en-US" dirty="0">
                <a:solidFill>
                  <a:srgbClr val="000000"/>
                </a:solidFill>
                <a:latin typeface="等线" panose="02010600030101010101" pitchFamily="2" charset="-122"/>
                <a:ea typeface="等线" panose="02010600030101010101" pitchFamily="2" charset="-122"/>
              </a:rPr>
              <a:t>选用激光</a:t>
            </a:r>
            <a:r>
              <a:rPr lang="en-US" altLang="zh-CN" dirty="0">
                <a:solidFill>
                  <a:srgbClr val="000000"/>
                </a:solidFill>
                <a:latin typeface="等线" panose="02010600030101010101" pitchFamily="2" charset="-122"/>
                <a:ea typeface="等线" panose="02010600030101010101" pitchFamily="2" charset="-122"/>
              </a:rPr>
              <a:t>-</a:t>
            </a:r>
            <a:r>
              <a:rPr lang="zh-CN" altLang="en-US" dirty="0">
                <a:solidFill>
                  <a:srgbClr val="000000"/>
                </a:solidFill>
                <a:latin typeface="等线" panose="02010600030101010101" pitchFamily="2" charset="-122"/>
                <a:ea typeface="等线" panose="02010600030101010101" pitchFamily="2" charset="-122"/>
              </a:rPr>
              <a:t>电弧复合焊可以极大改进起重机吊臂焊接制造的质量和效率。但是其对成形稳定性要求极高</a:t>
            </a:r>
          </a:p>
        </p:txBody>
      </p:sp>
      <p:sp>
        <p:nvSpPr>
          <p:cNvPr id="56" name="文本框 55">
            <a:extLst>
              <a:ext uri="{FF2B5EF4-FFF2-40B4-BE49-F238E27FC236}">
                <a16:creationId xmlns:a16="http://schemas.microsoft.com/office/drawing/2014/main" id="{77F58572-5F3B-CE91-C1A6-C43237D9F405}"/>
              </a:ext>
            </a:extLst>
          </p:cNvPr>
          <p:cNvSpPr txBox="1"/>
          <p:nvPr/>
        </p:nvSpPr>
        <p:spPr>
          <a:xfrm>
            <a:off x="8001601" y="5367489"/>
            <a:ext cx="3570014" cy="967541"/>
          </a:xfrm>
          <a:prstGeom prst="rect">
            <a:avLst/>
          </a:prstGeom>
          <a:noFill/>
        </p:spPr>
        <p:txBody>
          <a:bodyPr vert="horz" wrap="square" lIns="0" tIns="0" rIns="0" bIns="0" rtlCol="0">
            <a:noAutofit/>
          </a:bodyPr>
          <a:lstStyle/>
          <a:p>
            <a:pPr algn="just"/>
            <a:r>
              <a:rPr lang="zh-CN" altLang="zh-CN" sz="1600" dirty="0"/>
              <a:t>咬边缺陷制约了复合焊在工程机械</a:t>
            </a:r>
            <a:r>
              <a:rPr lang="zh-CN" altLang="en-US" sz="1600" dirty="0"/>
              <a:t>等</a:t>
            </a:r>
            <a:r>
              <a:rPr lang="zh-CN" altLang="zh-CN" sz="1600" dirty="0"/>
              <a:t>大型承载结构中的应用，揭示其机理并建立控制方法，是推进工程化应用的关键。</a:t>
            </a:r>
            <a:endParaRPr lang="zh-CN" altLang="en-US" sz="1600" dirty="0">
              <a:solidFill>
                <a:srgbClr val="00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5956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5ABB4-93FE-90F0-F849-CD5003D93A1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80E7212-6972-B0C0-5E4D-1C26DA94575E}"/>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揭示热源布置的关键作用</a:t>
            </a:r>
          </a:p>
        </p:txBody>
      </p:sp>
      <p:sp>
        <p:nvSpPr>
          <p:cNvPr id="2" name="文本框 1">
            <a:extLst>
              <a:ext uri="{FF2B5EF4-FFF2-40B4-BE49-F238E27FC236}">
                <a16:creationId xmlns:a16="http://schemas.microsoft.com/office/drawing/2014/main" id="{A677AADA-18B9-66F8-FA9E-6B6C1668BFF0}"/>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 name="直接连接符 2">
            <a:extLst>
              <a:ext uri="{FF2B5EF4-FFF2-40B4-BE49-F238E27FC236}">
                <a16:creationId xmlns:a16="http://schemas.microsoft.com/office/drawing/2014/main" id="{C45189F5-EAC3-07F2-C5B8-AA0DF65BDECB}"/>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12C4DC40-2D81-CEE1-8365-C6C5DF076705}"/>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pic>
        <p:nvPicPr>
          <p:cNvPr id="7" name="图片 6">
            <a:extLst>
              <a:ext uri="{FF2B5EF4-FFF2-40B4-BE49-F238E27FC236}">
                <a16:creationId xmlns:a16="http://schemas.microsoft.com/office/drawing/2014/main" id="{9AB228C2-473E-7834-97AC-4F530C872B83}"/>
              </a:ext>
            </a:extLst>
          </p:cNvPr>
          <p:cNvPicPr>
            <a:picLocks noChangeAspect="1"/>
          </p:cNvPicPr>
          <p:nvPr/>
        </p:nvPicPr>
        <p:blipFill>
          <a:blip r:embed="rId3"/>
          <a:srcRect t="27124"/>
          <a:stretch/>
        </p:blipFill>
        <p:spPr>
          <a:xfrm>
            <a:off x="5368476" y="1503367"/>
            <a:ext cx="4412584" cy="3779828"/>
          </a:xfrm>
          <a:prstGeom prst="rect">
            <a:avLst/>
          </a:prstGeom>
        </p:spPr>
      </p:pic>
      <p:sp>
        <p:nvSpPr>
          <p:cNvPr id="8" name="文本框 7">
            <a:extLst>
              <a:ext uri="{FF2B5EF4-FFF2-40B4-BE49-F238E27FC236}">
                <a16:creationId xmlns:a16="http://schemas.microsoft.com/office/drawing/2014/main" id="{806CFF69-5CE0-2EC6-8C8F-F2CBAEC6BF15}"/>
              </a:ext>
            </a:extLst>
          </p:cNvPr>
          <p:cNvSpPr txBox="1"/>
          <p:nvPr/>
        </p:nvSpPr>
        <p:spPr>
          <a:xfrm>
            <a:off x="6051194" y="5283194"/>
            <a:ext cx="3308407" cy="275717"/>
          </a:xfrm>
          <a:prstGeom prst="rect">
            <a:avLst/>
          </a:prstGeom>
          <a:noFill/>
        </p:spPr>
        <p:txBody>
          <a:bodyPr wrap="square">
            <a:spAutoFit/>
          </a:bodyPr>
          <a:lstStyle/>
          <a:p>
            <a:pPr algn="ctr">
              <a:lnSpc>
                <a:spcPct val="150000"/>
              </a:lnSpc>
            </a:pPr>
            <a:r>
              <a:rPr lang="zh-CN" altLang="en-US"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图</a:t>
            </a:r>
            <a:r>
              <a:rPr lang="en-US" altLang="zh-CN"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2 </a:t>
            </a:r>
            <a:r>
              <a:rPr lang="zh-CN" altLang="en-US"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两种引导模式下工艺窗口分析</a:t>
            </a:r>
          </a:p>
        </p:txBody>
      </p:sp>
      <p:pic>
        <p:nvPicPr>
          <p:cNvPr id="6" name="图片 5">
            <a:extLst>
              <a:ext uri="{FF2B5EF4-FFF2-40B4-BE49-F238E27FC236}">
                <a16:creationId xmlns:a16="http://schemas.microsoft.com/office/drawing/2014/main" id="{A522A278-9AEC-44FA-EF3D-FB3CCB346949}"/>
              </a:ext>
            </a:extLst>
          </p:cNvPr>
          <p:cNvPicPr>
            <a:picLocks noChangeAspect="1"/>
          </p:cNvPicPr>
          <p:nvPr/>
        </p:nvPicPr>
        <p:blipFill>
          <a:blip r:embed="rId4" cstate="print">
            <a:extLst>
              <a:ext uri="{28A0092B-C50C-407E-A947-70E740481C1C}">
                <a14:useLocalDpi xmlns:a14="http://schemas.microsoft.com/office/drawing/2010/main" val="0"/>
              </a:ext>
            </a:extLst>
          </a:blip>
          <a:srcRect l="699" r="699"/>
          <a:stretch/>
        </p:blipFill>
        <p:spPr bwMode="auto">
          <a:xfrm>
            <a:off x="417214" y="1713033"/>
            <a:ext cx="4903933" cy="3440818"/>
          </a:xfrm>
          <a:prstGeom prst="rect">
            <a:avLst/>
          </a:prstGeom>
          <a:ln>
            <a:noFill/>
          </a:ln>
          <a:extLst>
            <a:ext uri="{53640926-AAD7-44D8-BBD7-CCE9431645EC}">
              <a14:shadowObscured xmlns:a14="http://schemas.microsoft.com/office/drawing/2010/main"/>
            </a:ext>
          </a:extLst>
        </p:spPr>
      </p:pic>
      <p:sp>
        <p:nvSpPr>
          <p:cNvPr id="10" name="文本框 9">
            <a:extLst>
              <a:ext uri="{FF2B5EF4-FFF2-40B4-BE49-F238E27FC236}">
                <a16:creationId xmlns:a16="http://schemas.microsoft.com/office/drawing/2014/main" id="{E232DEDC-29FC-3FB3-CA7E-FB6378BD8E64}"/>
              </a:ext>
            </a:extLst>
          </p:cNvPr>
          <p:cNvSpPr txBox="1"/>
          <p:nvPr/>
        </p:nvSpPr>
        <p:spPr>
          <a:xfrm>
            <a:off x="1620247" y="5283195"/>
            <a:ext cx="2497866" cy="275717"/>
          </a:xfrm>
          <a:prstGeom prst="rect">
            <a:avLst/>
          </a:prstGeom>
          <a:noFill/>
        </p:spPr>
        <p:txBody>
          <a:bodyPr wrap="square">
            <a:spAutoFit/>
          </a:bodyPr>
          <a:lstStyle/>
          <a:p>
            <a:pPr>
              <a:lnSpc>
                <a:spcPct val="150000"/>
              </a:lnSpc>
            </a:pPr>
            <a:r>
              <a:rPr lang="zh-CN" altLang="en-US"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图</a:t>
            </a:r>
            <a:r>
              <a:rPr lang="en-US" altLang="zh-CN"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1 </a:t>
            </a:r>
            <a:r>
              <a:rPr lang="zh-CN" altLang="en-US" sz="900" b="0" kern="600" spc="300" dirty="0">
                <a:solidFill>
                  <a:schemeClr val="tx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rPr>
              <a:t>焊接设备与高速摄像示意图</a:t>
            </a:r>
            <a:endParaRPr lang="zh-CN" altLang="en-US" sz="900" b="0" kern="600" spc="300" dirty="0">
              <a:solidFill>
                <a:schemeClr val="accent2">
                  <a:lumMod val="75000"/>
                </a:schemeClr>
              </a:solidFill>
              <a:latin typeface="思源宋体 CN Heavy" panose="02020900000000000000" pitchFamily="18" charset="-122"/>
              <a:ea typeface="思源宋体 CN Heavy" panose="02020900000000000000" pitchFamily="18" charset="-122"/>
              <a:cs typeface="Times New Roman" panose="02020603050405020304" pitchFamily="18" charset="0"/>
            </a:endParaRPr>
          </a:p>
        </p:txBody>
      </p:sp>
      <p:sp>
        <p:nvSpPr>
          <p:cNvPr id="11" name="矩形: 圆角 10">
            <a:extLst>
              <a:ext uri="{FF2B5EF4-FFF2-40B4-BE49-F238E27FC236}">
                <a16:creationId xmlns:a16="http://schemas.microsoft.com/office/drawing/2014/main" id="{7A9AAA9D-A3B5-46A4-1A7E-B38B06D8A5E2}"/>
              </a:ext>
            </a:extLst>
          </p:cNvPr>
          <p:cNvSpPr/>
          <p:nvPr/>
        </p:nvSpPr>
        <p:spPr>
          <a:xfrm>
            <a:off x="339090" y="5775888"/>
            <a:ext cx="9357332" cy="665535"/>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矩形 12">
            <a:extLst>
              <a:ext uri="{FF2B5EF4-FFF2-40B4-BE49-F238E27FC236}">
                <a16:creationId xmlns:a16="http://schemas.microsoft.com/office/drawing/2014/main" id="{D9566CA5-6294-408D-6606-86ACEE4164C1}"/>
              </a:ext>
            </a:extLst>
          </p:cNvPr>
          <p:cNvSpPr/>
          <p:nvPr/>
        </p:nvSpPr>
        <p:spPr>
          <a:xfrm>
            <a:off x="523239" y="5528238"/>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4" name="文本框 13">
            <a:extLst>
              <a:ext uri="{FF2B5EF4-FFF2-40B4-BE49-F238E27FC236}">
                <a16:creationId xmlns:a16="http://schemas.microsoft.com/office/drawing/2014/main" id="{84B0FC50-B79A-FE57-BC4C-98FED04A6DAF}"/>
              </a:ext>
            </a:extLst>
          </p:cNvPr>
          <p:cNvSpPr txBox="1"/>
          <p:nvPr/>
        </p:nvSpPr>
        <p:spPr>
          <a:xfrm>
            <a:off x="523240" y="5601897"/>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OUTCOMES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09AD35BD-982A-C15F-E3F6-D3988248C063}"/>
              </a:ext>
            </a:extLst>
          </p:cNvPr>
          <p:cNvSpPr txBox="1"/>
          <p:nvPr/>
        </p:nvSpPr>
        <p:spPr>
          <a:xfrm>
            <a:off x="478790" y="5532048"/>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成果</a:t>
            </a:r>
          </a:p>
        </p:txBody>
      </p:sp>
      <p:sp>
        <p:nvSpPr>
          <p:cNvPr id="17" name="矩形: 圆角 16">
            <a:extLst>
              <a:ext uri="{FF2B5EF4-FFF2-40B4-BE49-F238E27FC236}">
                <a16:creationId xmlns:a16="http://schemas.microsoft.com/office/drawing/2014/main" id="{475772FF-A2DD-A0BB-819F-049224F93DDE}"/>
              </a:ext>
            </a:extLst>
          </p:cNvPr>
          <p:cNvSpPr/>
          <p:nvPr/>
        </p:nvSpPr>
        <p:spPr>
          <a:xfrm>
            <a:off x="9827001" y="1680057"/>
            <a:ext cx="2025678" cy="4761366"/>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8" name="矩形 17">
            <a:extLst>
              <a:ext uri="{FF2B5EF4-FFF2-40B4-BE49-F238E27FC236}">
                <a16:creationId xmlns:a16="http://schemas.microsoft.com/office/drawing/2014/main" id="{6032BC5F-A28A-62CB-89C9-567782AF6861}"/>
              </a:ext>
            </a:extLst>
          </p:cNvPr>
          <p:cNvSpPr/>
          <p:nvPr/>
        </p:nvSpPr>
        <p:spPr>
          <a:xfrm>
            <a:off x="9927532" y="1432309"/>
            <a:ext cx="1509431" cy="44192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9" name="文本框 18">
            <a:extLst>
              <a:ext uri="{FF2B5EF4-FFF2-40B4-BE49-F238E27FC236}">
                <a16:creationId xmlns:a16="http://schemas.microsoft.com/office/drawing/2014/main" id="{740EE5DB-B032-96DE-856A-7ED6DEEC92FF}"/>
              </a:ext>
            </a:extLst>
          </p:cNvPr>
          <p:cNvSpPr txBox="1"/>
          <p:nvPr/>
        </p:nvSpPr>
        <p:spPr>
          <a:xfrm>
            <a:off x="9927532" y="1506647"/>
            <a:ext cx="1835810" cy="369332"/>
          </a:xfrm>
          <a:prstGeom prst="rect">
            <a:avLst/>
          </a:prstGeom>
          <a:noFill/>
        </p:spPr>
        <p:txBody>
          <a:bodyPr wrap="square" rtlCol="0">
            <a:spAutoFit/>
          </a:bodyPr>
          <a:lstStyle/>
          <a:p>
            <a:pPr defTabSz="457200" fontAlgn="auto">
              <a:spcBef>
                <a:spcPts val="0"/>
              </a:spcBef>
              <a:spcAft>
                <a:spcPts val="0"/>
              </a:spcAft>
            </a:pPr>
            <a:r>
              <a:rPr lang="en-US" altLang="zh-CN">
                <a:solidFill>
                  <a:srgbClr val="E7E6E6"/>
                </a:solidFill>
                <a:latin typeface="Times New Roman" panose="02020603050405020304" pitchFamily="18" charset="0"/>
                <a:cs typeface="Times New Roman" panose="02020603050405020304" pitchFamily="18" charset="0"/>
              </a:rPr>
              <a:t>APPROACH</a:t>
            </a:r>
            <a:endParaRPr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5218F882-D22B-80DD-B04C-9AF99A55EFD5}"/>
              </a:ext>
            </a:extLst>
          </p:cNvPr>
          <p:cNvSpPr txBox="1"/>
          <p:nvPr/>
        </p:nvSpPr>
        <p:spPr>
          <a:xfrm>
            <a:off x="9882920" y="1436341"/>
            <a:ext cx="1344652" cy="369332"/>
          </a:xfrm>
          <a:prstGeom prst="rect">
            <a:avLst/>
          </a:prstGeom>
          <a:noFill/>
        </p:spPr>
        <p:txBody>
          <a:bodyPr wrap="square" rtlCol="0">
            <a:spAutoFit/>
          </a:bodyPr>
          <a:lstStyle/>
          <a:p>
            <a:pPr defTabSz="457200" fontAlgn="auto">
              <a:spcBef>
                <a:spcPts val="0"/>
              </a:spcBef>
              <a:spcAft>
                <a:spcPts val="0"/>
              </a:spcAft>
            </a:pPr>
            <a:r>
              <a:rPr lang="zh-CN" altLang="en-US"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研究内容</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2" name="文本框 31">
            <a:extLst>
              <a:ext uri="{FF2B5EF4-FFF2-40B4-BE49-F238E27FC236}">
                <a16:creationId xmlns:a16="http://schemas.microsoft.com/office/drawing/2014/main" id="{B6EA036A-F7BA-DAFA-EEFE-B23E63706C32}"/>
              </a:ext>
            </a:extLst>
          </p:cNvPr>
          <p:cNvSpPr txBox="1"/>
          <p:nvPr/>
        </p:nvSpPr>
        <p:spPr>
          <a:xfrm>
            <a:off x="9944100" y="1993900"/>
            <a:ext cx="1778000" cy="279400"/>
          </a:xfrm>
          <a:prstGeom prst="rect">
            <a:avLst/>
          </a:prstGeom>
          <a:noFill/>
        </p:spPr>
        <p:txBody>
          <a:bodyPr vert="horz" wrap="square" lIns="0" tIns="0" rIns="0" bIns="0" rtlCol="0">
            <a:noAutofit/>
          </a:bodyPr>
          <a:lstStyle/>
          <a:p>
            <a:r>
              <a:rPr lang="zh-CN" altLang="en-US" sz="1400">
                <a:solidFill>
                  <a:srgbClr val="000000"/>
                </a:solidFill>
                <a:latin typeface="等线" panose="02010600030101010101" pitchFamily="2" charset="-122"/>
                <a:ea typeface="等线" panose="02010600030101010101" pitchFamily="2" charset="-122"/>
              </a:rPr>
              <a:t>识别关键因素</a:t>
            </a:r>
          </a:p>
        </p:txBody>
      </p:sp>
      <p:sp>
        <p:nvSpPr>
          <p:cNvPr id="33" name="文本框 32">
            <a:extLst>
              <a:ext uri="{FF2B5EF4-FFF2-40B4-BE49-F238E27FC236}">
                <a16:creationId xmlns:a16="http://schemas.microsoft.com/office/drawing/2014/main" id="{BA156763-2498-8F9F-B8ED-BF86C0FEE3A5}"/>
              </a:ext>
            </a:extLst>
          </p:cNvPr>
          <p:cNvSpPr txBox="1"/>
          <p:nvPr/>
        </p:nvSpPr>
        <p:spPr>
          <a:xfrm>
            <a:off x="9944100" y="2349500"/>
            <a:ext cx="1778000" cy="1117600"/>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将引导模式、送丝角度与光丝间距统一理解为热源空间布置，识别其对激光</a:t>
            </a:r>
            <a:r>
              <a:rPr lang="en-US" altLang="zh-CN" sz="1200" dirty="0">
                <a:solidFill>
                  <a:srgbClr val="2F5597"/>
                </a:solidFill>
                <a:latin typeface="等线" panose="02010600030101010101" pitchFamily="2" charset="-122"/>
                <a:ea typeface="等线" panose="02010600030101010101" pitchFamily="2" charset="-122"/>
              </a:rPr>
              <a:t>—</a:t>
            </a:r>
            <a:r>
              <a:rPr lang="zh-CN" altLang="en-US" sz="1200" dirty="0">
                <a:solidFill>
                  <a:srgbClr val="2F5597"/>
                </a:solidFill>
                <a:latin typeface="等线" panose="02010600030101010101" pitchFamily="2" charset="-122"/>
                <a:ea typeface="等线" panose="02010600030101010101" pitchFamily="2" charset="-122"/>
              </a:rPr>
              <a:t>电弧耦合的关键作用。</a:t>
            </a:r>
          </a:p>
        </p:txBody>
      </p:sp>
      <p:sp>
        <p:nvSpPr>
          <p:cNvPr id="34" name="文本框 33">
            <a:extLst>
              <a:ext uri="{FF2B5EF4-FFF2-40B4-BE49-F238E27FC236}">
                <a16:creationId xmlns:a16="http://schemas.microsoft.com/office/drawing/2014/main" id="{3A6E124D-7098-C44D-D8EA-6B944074EE62}"/>
              </a:ext>
            </a:extLst>
          </p:cNvPr>
          <p:cNvSpPr txBox="1"/>
          <p:nvPr/>
        </p:nvSpPr>
        <p:spPr>
          <a:xfrm>
            <a:off x="9944100" y="3530600"/>
            <a:ext cx="1778000" cy="279400"/>
          </a:xfrm>
          <a:prstGeom prst="rect">
            <a:avLst/>
          </a:prstGeom>
          <a:noFill/>
        </p:spPr>
        <p:txBody>
          <a:bodyPr vert="horz" wrap="square" lIns="0" tIns="0" rIns="0" bIns="0" rtlCol="0">
            <a:noAutofit/>
          </a:bodyPr>
          <a:lstStyle/>
          <a:p>
            <a:r>
              <a:rPr lang="zh-CN" altLang="en-US" sz="1400">
                <a:solidFill>
                  <a:srgbClr val="000000"/>
                </a:solidFill>
                <a:latin typeface="等线" panose="02010600030101010101" pitchFamily="2" charset="-122"/>
                <a:ea typeface="等线" panose="02010600030101010101" pitchFamily="2" charset="-122"/>
              </a:rPr>
              <a:t>解释机制与规律</a:t>
            </a:r>
          </a:p>
        </p:txBody>
      </p:sp>
      <p:sp>
        <p:nvSpPr>
          <p:cNvPr id="35" name="文本框 34">
            <a:extLst>
              <a:ext uri="{FF2B5EF4-FFF2-40B4-BE49-F238E27FC236}">
                <a16:creationId xmlns:a16="http://schemas.microsoft.com/office/drawing/2014/main" id="{D0BD9445-2643-B154-A493-AC672AFAC024}"/>
              </a:ext>
            </a:extLst>
          </p:cNvPr>
          <p:cNvSpPr txBox="1"/>
          <p:nvPr/>
        </p:nvSpPr>
        <p:spPr>
          <a:xfrm>
            <a:off x="9944100" y="3886200"/>
            <a:ext cx="1778000" cy="1117600"/>
          </a:xfrm>
          <a:prstGeom prst="rect">
            <a:avLst/>
          </a:prstGeom>
          <a:noFill/>
        </p:spPr>
        <p:txBody>
          <a:bodyPr vert="horz" wrap="square" lIns="0" tIns="0" rIns="0" bIns="0" rtlCol="0">
            <a:noAutofit/>
          </a:bodyPr>
          <a:lstStyle/>
          <a:p>
            <a:r>
              <a:rPr lang="zh-CN" altLang="en-US" sz="1200">
                <a:solidFill>
                  <a:srgbClr val="2F5597"/>
                </a:solidFill>
                <a:latin typeface="等线" panose="02010600030101010101" pitchFamily="2" charset="-122"/>
                <a:ea typeface="等线" panose="02010600030101010101" pitchFamily="2" charset="-122"/>
              </a:rPr>
              <a:t>研究不同热源布置下的咬边形成机制，绘制工艺窗口，解释参数作用规律随布置改变的原因。</a:t>
            </a:r>
          </a:p>
        </p:txBody>
      </p:sp>
      <p:sp>
        <p:nvSpPr>
          <p:cNvPr id="36" name="文本框 35">
            <a:extLst>
              <a:ext uri="{FF2B5EF4-FFF2-40B4-BE49-F238E27FC236}">
                <a16:creationId xmlns:a16="http://schemas.microsoft.com/office/drawing/2014/main" id="{C2FD7AFE-4839-A89C-C4D8-DF9A125EBA96}"/>
              </a:ext>
            </a:extLst>
          </p:cNvPr>
          <p:cNvSpPr txBox="1"/>
          <p:nvPr/>
        </p:nvSpPr>
        <p:spPr>
          <a:xfrm>
            <a:off x="9944100" y="5067300"/>
            <a:ext cx="1778000" cy="279400"/>
          </a:xfrm>
          <a:prstGeom prst="rect">
            <a:avLst/>
          </a:prstGeom>
          <a:noFill/>
        </p:spPr>
        <p:txBody>
          <a:bodyPr vert="horz" wrap="square" lIns="0" tIns="0" rIns="0" bIns="0" rtlCol="0">
            <a:noAutofit/>
          </a:bodyPr>
          <a:lstStyle/>
          <a:p>
            <a:r>
              <a:rPr lang="zh-CN" altLang="en-US" sz="1400">
                <a:solidFill>
                  <a:srgbClr val="000000"/>
                </a:solidFill>
                <a:latin typeface="等线" panose="02010600030101010101" pitchFamily="2" charset="-122"/>
                <a:ea typeface="等线" panose="02010600030101010101" pitchFamily="2" charset="-122"/>
              </a:rPr>
              <a:t>指导现场优化</a:t>
            </a:r>
          </a:p>
        </p:txBody>
      </p:sp>
      <p:sp>
        <p:nvSpPr>
          <p:cNvPr id="37" name="文本框 36">
            <a:extLst>
              <a:ext uri="{FF2B5EF4-FFF2-40B4-BE49-F238E27FC236}">
                <a16:creationId xmlns:a16="http://schemas.microsoft.com/office/drawing/2014/main" id="{9C9D25A2-B57D-9611-2A06-C524C8293EEE}"/>
              </a:ext>
            </a:extLst>
          </p:cNvPr>
          <p:cNvSpPr txBox="1"/>
          <p:nvPr/>
        </p:nvSpPr>
        <p:spPr>
          <a:xfrm>
            <a:off x="9944100" y="5422900"/>
            <a:ext cx="1778000" cy="952500"/>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依据咬边表现及形成机制，结合现场装备条件，针对性调整热源布置与工艺参数。</a:t>
            </a:r>
          </a:p>
        </p:txBody>
      </p:sp>
      <p:sp>
        <p:nvSpPr>
          <p:cNvPr id="38" name="文本框 37">
            <a:extLst>
              <a:ext uri="{FF2B5EF4-FFF2-40B4-BE49-F238E27FC236}">
                <a16:creationId xmlns:a16="http://schemas.microsoft.com/office/drawing/2014/main" id="{006D9619-0199-C4CA-84F6-53720DA9376A}"/>
              </a:ext>
            </a:extLst>
          </p:cNvPr>
          <p:cNvSpPr txBox="1"/>
          <p:nvPr/>
        </p:nvSpPr>
        <p:spPr>
          <a:xfrm>
            <a:off x="596900" y="5930900"/>
            <a:ext cx="8915400" cy="241300"/>
          </a:xfrm>
          <a:prstGeom prst="rect">
            <a:avLst/>
          </a:prstGeom>
          <a:noFill/>
        </p:spPr>
        <p:txBody>
          <a:bodyPr vert="horz" wrap="square" lIns="0" tIns="0" rIns="0" bIns="0" rtlCol="0">
            <a:noAutofit/>
          </a:bodyPr>
          <a:lstStyle/>
          <a:p>
            <a:r>
              <a:rPr lang="zh-CN" altLang="en-US" sz="1300" dirty="0">
                <a:solidFill>
                  <a:srgbClr val="000000"/>
                </a:solidFill>
                <a:latin typeface="等线" panose="02010600030101010101" pitchFamily="2" charset="-122"/>
                <a:ea typeface="等线" panose="02010600030101010101" pitchFamily="2" charset="-122"/>
              </a:rPr>
              <a:t>论文成果：一篇</a:t>
            </a:r>
            <a:r>
              <a:rPr lang="en-US" altLang="zh-CN" sz="1300" dirty="0">
                <a:solidFill>
                  <a:srgbClr val="000000"/>
                </a:solidFill>
                <a:latin typeface="等线" panose="02010600030101010101" pitchFamily="2" charset="-122"/>
                <a:ea typeface="等线" panose="02010600030101010101" pitchFamily="2" charset="-122"/>
              </a:rPr>
              <a:t>Journal of Laser Applications</a:t>
            </a:r>
            <a:r>
              <a:rPr lang="zh-CN" altLang="en-US" sz="1300" dirty="0">
                <a:solidFill>
                  <a:srgbClr val="000000"/>
                </a:solidFill>
                <a:latin typeface="等线" panose="02010600030101010101" pitchFamily="2" charset="-122"/>
                <a:ea typeface="等线" panose="02010600030101010101" pitchFamily="2" charset="-122"/>
              </a:rPr>
              <a:t>（学生一作），两篇</a:t>
            </a:r>
            <a:r>
              <a:rPr lang="en-US" altLang="zh-CN" sz="1300" dirty="0">
                <a:solidFill>
                  <a:srgbClr val="000000"/>
                </a:solidFill>
                <a:latin typeface="等线" panose="02010600030101010101" pitchFamily="2" charset="-122"/>
                <a:ea typeface="等线" panose="02010600030101010101" pitchFamily="2" charset="-122"/>
              </a:rPr>
              <a:t>《</a:t>
            </a:r>
            <a:r>
              <a:rPr lang="zh-CN" altLang="en-US" sz="1300" dirty="0">
                <a:solidFill>
                  <a:srgbClr val="000000"/>
                </a:solidFill>
                <a:latin typeface="等线" panose="02010600030101010101" pitchFamily="2" charset="-122"/>
                <a:ea typeface="等线" panose="02010600030101010101" pitchFamily="2" charset="-122"/>
              </a:rPr>
              <a:t>焊接</a:t>
            </a:r>
            <a:r>
              <a:rPr lang="en-US" altLang="zh-CN" sz="1300" dirty="0">
                <a:solidFill>
                  <a:srgbClr val="000000"/>
                </a:solidFill>
                <a:latin typeface="等线" panose="02010600030101010101" pitchFamily="2" charset="-122"/>
                <a:ea typeface="等线" panose="02010600030101010101" pitchFamily="2" charset="-122"/>
              </a:rPr>
              <a:t>》</a:t>
            </a:r>
            <a:r>
              <a:rPr lang="zh-CN" altLang="en-US" sz="1300" dirty="0">
                <a:solidFill>
                  <a:srgbClr val="000000"/>
                </a:solidFill>
                <a:latin typeface="等线" panose="02010600030101010101" pitchFamily="2" charset="-122"/>
                <a:ea typeface="等线" panose="02010600030101010101" pitchFamily="2" charset="-122"/>
              </a:rPr>
              <a:t>（一作）</a:t>
            </a:r>
          </a:p>
        </p:txBody>
      </p:sp>
      <p:sp>
        <p:nvSpPr>
          <p:cNvPr id="39" name="文本框 38">
            <a:extLst>
              <a:ext uri="{FF2B5EF4-FFF2-40B4-BE49-F238E27FC236}">
                <a16:creationId xmlns:a16="http://schemas.microsoft.com/office/drawing/2014/main" id="{61098ED0-DEEE-BD89-D619-978731AC6DC9}"/>
              </a:ext>
            </a:extLst>
          </p:cNvPr>
          <p:cNvSpPr txBox="1"/>
          <p:nvPr/>
        </p:nvSpPr>
        <p:spPr>
          <a:xfrm>
            <a:off x="596900" y="6184900"/>
            <a:ext cx="8915400" cy="241300"/>
          </a:xfrm>
          <a:prstGeom prst="rect">
            <a:avLst/>
          </a:prstGeom>
          <a:noFill/>
        </p:spPr>
        <p:txBody>
          <a:bodyPr vert="horz" wrap="square" lIns="0" tIns="0" rIns="0" bIns="0" rtlCol="0">
            <a:noAutofit/>
          </a:bodyPr>
          <a:lstStyle/>
          <a:p>
            <a:r>
              <a:rPr lang="zh-CN" altLang="en-US" sz="1300" dirty="0">
                <a:solidFill>
                  <a:srgbClr val="000000"/>
                </a:solidFill>
                <a:latin typeface="等线" panose="02010600030101010101" pitchFamily="2" charset="-122"/>
                <a:ea typeface="等线" panose="02010600030101010101" pitchFamily="2" charset="-122"/>
              </a:rPr>
              <a:t>工程应用：用于三一、徐工、坚朗等项目，解决现场设备的焊接质量尤其是咬边问题</a:t>
            </a:r>
          </a:p>
        </p:txBody>
      </p:sp>
    </p:spTree>
    <p:extLst>
      <p:ext uri="{BB962C8B-B14F-4D97-AF65-F5344CB8AC3E}">
        <p14:creationId xmlns:p14="http://schemas.microsoft.com/office/powerpoint/2010/main" val="1866040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A2B-877C-E2D9-FADB-EB27F01A0714}"/>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526210E-9B3D-70FD-B00F-E8CA8BF8F08D}"/>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三一起重机臂架激光</a:t>
            </a:r>
            <a:r>
              <a:rPr lang="en-US" altLang="zh-CN" sz="2400" b="1" spc="-150" dirty="0">
                <a:solidFill>
                  <a:schemeClr val="bg1"/>
                </a:solidFill>
                <a:latin typeface="汉仪文润宋韵 U" pitchFamily="2" charset="-122"/>
                <a:ea typeface="汉仪文润宋韵 U" pitchFamily="2" charset="-122"/>
              </a:rPr>
              <a:t>—</a:t>
            </a:r>
            <a:r>
              <a:rPr lang="zh-CN" altLang="en-US" sz="2400" b="1" spc="-150" dirty="0">
                <a:solidFill>
                  <a:schemeClr val="bg1"/>
                </a:solidFill>
                <a:latin typeface="汉仪文润宋韵 U" pitchFamily="2" charset="-122"/>
                <a:ea typeface="汉仪文润宋韵 U" pitchFamily="2" charset="-122"/>
              </a:rPr>
              <a:t>电弧复合焊工作站</a:t>
            </a:r>
          </a:p>
        </p:txBody>
      </p:sp>
      <p:pic>
        <p:nvPicPr>
          <p:cNvPr id="9" name="图片 8">
            <a:extLst>
              <a:ext uri="{FF2B5EF4-FFF2-40B4-BE49-F238E27FC236}">
                <a16:creationId xmlns:a16="http://schemas.microsoft.com/office/drawing/2014/main" id="{C3B29831-3E80-C949-902F-37D738B68A4B}"/>
              </a:ext>
            </a:extLst>
          </p:cNvPr>
          <p:cNvPicPr>
            <a:picLocks noChangeAspect="1"/>
          </p:cNvPicPr>
          <p:nvPr/>
        </p:nvPicPr>
        <p:blipFill>
          <a:blip r:embed="rId3"/>
          <a:stretch>
            <a:fillRect/>
          </a:stretch>
        </p:blipFill>
        <p:spPr>
          <a:xfrm>
            <a:off x="339090" y="1752600"/>
            <a:ext cx="9334500" cy="4521936"/>
          </a:xfrm>
          <a:prstGeom prst="rect">
            <a:avLst/>
          </a:prstGeom>
        </p:spPr>
      </p:pic>
      <p:sp>
        <p:nvSpPr>
          <p:cNvPr id="29" name="矩形: 圆角 28">
            <a:extLst>
              <a:ext uri="{FF2B5EF4-FFF2-40B4-BE49-F238E27FC236}">
                <a16:creationId xmlns:a16="http://schemas.microsoft.com/office/drawing/2014/main" id="{A44E74BE-1A84-139A-7DD8-7E060D28891A}"/>
              </a:ext>
            </a:extLst>
          </p:cNvPr>
          <p:cNvSpPr/>
          <p:nvPr/>
        </p:nvSpPr>
        <p:spPr>
          <a:xfrm>
            <a:off x="9827260" y="1789430"/>
            <a:ext cx="2025650" cy="4279356"/>
          </a:xfrm>
          <a:prstGeom prst="roundRect">
            <a:avLst>
              <a:gd name="adj" fmla="val 158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矩形 29">
            <a:extLst>
              <a:ext uri="{FF2B5EF4-FFF2-40B4-BE49-F238E27FC236}">
                <a16:creationId xmlns:a16="http://schemas.microsoft.com/office/drawing/2014/main" id="{6BFA07B0-F11D-86F5-D1FA-49B80BCD5943}"/>
              </a:ext>
            </a:extLst>
          </p:cNvPr>
          <p:cNvSpPr/>
          <p:nvPr/>
        </p:nvSpPr>
        <p:spPr>
          <a:xfrm>
            <a:off x="9927589" y="1541780"/>
            <a:ext cx="1510030" cy="44196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1" name="文本框 30">
            <a:extLst>
              <a:ext uri="{FF2B5EF4-FFF2-40B4-BE49-F238E27FC236}">
                <a16:creationId xmlns:a16="http://schemas.microsoft.com/office/drawing/2014/main" id="{88E16AA8-CFB7-E736-D5C6-78248D07555E}"/>
              </a:ext>
            </a:extLst>
          </p:cNvPr>
          <p:cNvSpPr txBox="1"/>
          <p:nvPr/>
        </p:nvSpPr>
        <p:spPr>
          <a:xfrm>
            <a:off x="9927590" y="1615440"/>
            <a:ext cx="1836420" cy="36957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OUTCOMES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0" name="文本框 39">
            <a:extLst>
              <a:ext uri="{FF2B5EF4-FFF2-40B4-BE49-F238E27FC236}">
                <a16:creationId xmlns:a16="http://schemas.microsoft.com/office/drawing/2014/main" id="{207EFB90-333B-1023-2B08-01AC25A9D9DC}"/>
              </a:ext>
            </a:extLst>
          </p:cNvPr>
          <p:cNvSpPr txBox="1"/>
          <p:nvPr/>
        </p:nvSpPr>
        <p:spPr>
          <a:xfrm>
            <a:off x="9883140" y="1545590"/>
            <a:ext cx="1841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项目成效</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1" name="文本框 40">
            <a:extLst>
              <a:ext uri="{FF2B5EF4-FFF2-40B4-BE49-F238E27FC236}">
                <a16:creationId xmlns:a16="http://schemas.microsoft.com/office/drawing/2014/main" id="{F42274C6-20DE-77F9-40E7-0CDEB14D7807}"/>
              </a:ext>
            </a:extLst>
          </p:cNvPr>
          <p:cNvSpPr txBox="1"/>
          <p:nvPr/>
        </p:nvSpPr>
        <p:spPr>
          <a:xfrm>
            <a:off x="9944100" y="2146300"/>
            <a:ext cx="1778000" cy="276999"/>
          </a:xfrm>
          <a:prstGeom prst="rect">
            <a:avLst/>
          </a:prstGeom>
          <a:noFill/>
        </p:spPr>
        <p:txBody>
          <a:bodyPr vert="horz" wrap="square" lIns="0" tIns="0" rIns="0" bIns="0" rtlCol="0">
            <a:noAutofit/>
          </a:bodyPr>
          <a:lstStyle/>
          <a:p>
            <a:r>
              <a:rPr lang="zh-CN" altLang="en-US" sz="1400">
                <a:solidFill>
                  <a:srgbClr val="000000"/>
                </a:solidFill>
                <a:latin typeface="等线" panose="02010600030101010101" pitchFamily="2" charset="-122"/>
                <a:ea typeface="等线" panose="02010600030101010101" pitchFamily="2" charset="-122"/>
              </a:rPr>
              <a:t>项目情况</a:t>
            </a:r>
          </a:p>
        </p:txBody>
      </p:sp>
      <p:sp>
        <p:nvSpPr>
          <p:cNvPr id="42" name="文本框 41">
            <a:extLst>
              <a:ext uri="{FF2B5EF4-FFF2-40B4-BE49-F238E27FC236}">
                <a16:creationId xmlns:a16="http://schemas.microsoft.com/office/drawing/2014/main" id="{F698B9A7-C47A-948F-A69C-049021BCE047}"/>
              </a:ext>
            </a:extLst>
          </p:cNvPr>
          <p:cNvSpPr txBox="1"/>
          <p:nvPr/>
        </p:nvSpPr>
        <p:spPr>
          <a:xfrm>
            <a:off x="9944100" y="2565400"/>
            <a:ext cx="1778000" cy="276999"/>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实现中型起重机吊臂超长焊缝的单面焊双面成型</a:t>
            </a:r>
          </a:p>
        </p:txBody>
      </p:sp>
      <p:sp>
        <p:nvSpPr>
          <p:cNvPr id="43" name="文本框 42">
            <a:extLst>
              <a:ext uri="{FF2B5EF4-FFF2-40B4-BE49-F238E27FC236}">
                <a16:creationId xmlns:a16="http://schemas.microsoft.com/office/drawing/2014/main" id="{98783AE0-1922-0E53-861E-5C9068A55B54}"/>
              </a:ext>
            </a:extLst>
          </p:cNvPr>
          <p:cNvSpPr txBox="1"/>
          <p:nvPr/>
        </p:nvSpPr>
        <p:spPr>
          <a:xfrm>
            <a:off x="9944100" y="3825604"/>
            <a:ext cx="1778000" cy="482600"/>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焊接效率提高</a:t>
            </a:r>
            <a:r>
              <a:rPr lang="en-US" altLang="zh-CN" sz="1200" dirty="0">
                <a:solidFill>
                  <a:srgbClr val="2F5597"/>
                </a:solidFill>
                <a:latin typeface="等线" panose="02010600030101010101" pitchFamily="2" charset="-122"/>
                <a:ea typeface="等线" panose="02010600030101010101" pitchFamily="2" charset="-122"/>
              </a:rPr>
              <a:t>60%</a:t>
            </a:r>
            <a:r>
              <a:rPr lang="zh-CN" altLang="en-US" sz="1200" dirty="0">
                <a:solidFill>
                  <a:srgbClr val="2F5597"/>
                </a:solidFill>
                <a:latin typeface="等线" panose="02010600030101010101" pitchFamily="2" charset="-122"/>
                <a:ea typeface="等线" panose="02010600030101010101" pitchFamily="2" charset="-122"/>
              </a:rPr>
              <a:t>以上，焊接变形显著降低。吊臂焊接提质增效</a:t>
            </a:r>
          </a:p>
        </p:txBody>
      </p:sp>
      <p:cxnSp>
        <p:nvCxnSpPr>
          <p:cNvPr id="44" name="直接连接符 43">
            <a:extLst>
              <a:ext uri="{FF2B5EF4-FFF2-40B4-BE49-F238E27FC236}">
                <a16:creationId xmlns:a16="http://schemas.microsoft.com/office/drawing/2014/main" id="{2340674E-1926-CCFF-1982-BFAAB77AAEB7}"/>
              </a:ext>
            </a:extLst>
          </p:cNvPr>
          <p:cNvCxnSpPr>
            <a:cxnSpLocks/>
          </p:cNvCxnSpPr>
          <p:nvPr/>
        </p:nvCxnSpPr>
        <p:spPr>
          <a:xfrm>
            <a:off x="9944100" y="4627154"/>
            <a:ext cx="1778000" cy="0"/>
          </a:xfrm>
          <a:prstGeom prst="line">
            <a:avLst/>
          </a:prstGeom>
          <a:noFill/>
          <a:ln w="6350" cap="flat" cmpd="sng" algn="ctr">
            <a:solidFill>
              <a:sysClr val="windowText" lastClr="000000"/>
            </a:solidFill>
            <a:prstDash val="lgDashDotDot"/>
            <a:miter lim="800000"/>
          </a:ln>
          <a:effectLst/>
        </p:spPr>
      </p:cxnSp>
      <p:sp>
        <p:nvSpPr>
          <p:cNvPr id="45" name="文本框 44">
            <a:extLst>
              <a:ext uri="{FF2B5EF4-FFF2-40B4-BE49-F238E27FC236}">
                <a16:creationId xmlns:a16="http://schemas.microsoft.com/office/drawing/2014/main" id="{2BB0C34D-E93F-8D60-84B4-92F2403A2D46}"/>
              </a:ext>
            </a:extLst>
          </p:cNvPr>
          <p:cNvSpPr txBox="1"/>
          <p:nvPr/>
        </p:nvSpPr>
        <p:spPr>
          <a:xfrm>
            <a:off x="9944100" y="4699000"/>
            <a:ext cx="1778000" cy="276999"/>
          </a:xfrm>
          <a:prstGeom prst="rect">
            <a:avLst/>
          </a:prstGeom>
          <a:noFill/>
        </p:spPr>
        <p:txBody>
          <a:bodyPr vert="horz" wrap="square" lIns="0" tIns="0" rIns="0" bIns="0" rtlCol="0">
            <a:noAutofit/>
          </a:bodyPr>
          <a:lstStyle/>
          <a:p>
            <a:r>
              <a:rPr lang="zh-CN" altLang="en-US" sz="1400">
                <a:solidFill>
                  <a:srgbClr val="000000"/>
                </a:solidFill>
                <a:latin typeface="等线" panose="02010600030101010101" pitchFamily="2" charset="-122"/>
                <a:ea typeface="等线" panose="02010600030101010101" pitchFamily="2" charset="-122"/>
              </a:rPr>
              <a:t>项目亮点</a:t>
            </a:r>
          </a:p>
        </p:txBody>
      </p:sp>
      <p:sp>
        <p:nvSpPr>
          <p:cNvPr id="46" name="文本框 45">
            <a:extLst>
              <a:ext uri="{FF2B5EF4-FFF2-40B4-BE49-F238E27FC236}">
                <a16:creationId xmlns:a16="http://schemas.microsoft.com/office/drawing/2014/main" id="{CFCFB7B4-179B-CC6D-42BC-D2ACF393293E}"/>
              </a:ext>
            </a:extLst>
          </p:cNvPr>
          <p:cNvSpPr txBox="1"/>
          <p:nvPr/>
        </p:nvSpPr>
        <p:spPr>
          <a:xfrm>
            <a:off x="9944100" y="5118100"/>
            <a:ext cx="1778000" cy="276999"/>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国内</a:t>
            </a:r>
            <a:r>
              <a:rPr lang="zh-CN" altLang="en-US" sz="1200" b="1" dirty="0">
                <a:solidFill>
                  <a:srgbClr val="2F5597"/>
                </a:solidFill>
                <a:latin typeface="等线" panose="02010600030101010101" pitchFamily="2" charset="-122"/>
                <a:ea typeface="等线" panose="02010600030101010101" pitchFamily="2" charset="-122"/>
              </a:rPr>
              <a:t>首个</a:t>
            </a:r>
            <a:r>
              <a:rPr lang="zh-CN" altLang="en-US" sz="1200" dirty="0">
                <a:solidFill>
                  <a:srgbClr val="2F5597"/>
                </a:solidFill>
                <a:latin typeface="等线" panose="02010600030101010101" pitchFamily="2" charset="-122"/>
                <a:ea typeface="等线" panose="02010600030101010101" pitchFamily="2" charset="-122"/>
              </a:rPr>
              <a:t>激光</a:t>
            </a:r>
            <a:r>
              <a:rPr lang="en-US" altLang="zh-CN" sz="1200" dirty="0">
                <a:solidFill>
                  <a:srgbClr val="2F5597"/>
                </a:solidFill>
                <a:latin typeface="等线" panose="02010600030101010101" pitchFamily="2" charset="-122"/>
                <a:ea typeface="等线" panose="02010600030101010101" pitchFamily="2" charset="-122"/>
              </a:rPr>
              <a:t>—</a:t>
            </a:r>
            <a:r>
              <a:rPr lang="zh-CN" altLang="en-US" sz="1200" dirty="0">
                <a:solidFill>
                  <a:srgbClr val="2F5597"/>
                </a:solidFill>
                <a:latin typeface="等线" panose="02010600030101010101" pitchFamily="2" charset="-122"/>
                <a:ea typeface="等线" panose="02010600030101010101" pitchFamily="2" charset="-122"/>
              </a:rPr>
              <a:t>电弧复合横焊工作站，克服了复合焊横焊咬边缺陷问题</a:t>
            </a:r>
          </a:p>
        </p:txBody>
      </p:sp>
      <p:sp>
        <p:nvSpPr>
          <p:cNvPr id="47" name="文本框 46">
            <a:extLst>
              <a:ext uri="{FF2B5EF4-FFF2-40B4-BE49-F238E27FC236}">
                <a16:creationId xmlns:a16="http://schemas.microsoft.com/office/drawing/2014/main" id="{01CFD13A-6CA9-E85F-21F2-DB2A013BE565}"/>
              </a:ext>
            </a:extLst>
          </p:cNvPr>
          <p:cNvSpPr txBox="1"/>
          <p:nvPr/>
        </p:nvSpPr>
        <p:spPr>
          <a:xfrm>
            <a:off x="339090" y="6235888"/>
            <a:ext cx="9334500" cy="276999"/>
          </a:xfrm>
          <a:prstGeom prst="rect">
            <a:avLst/>
          </a:prstGeom>
          <a:noFill/>
        </p:spPr>
        <p:txBody>
          <a:bodyPr vert="horz" wrap="square" lIns="0" tIns="0" rIns="0" bIns="0" rtlCol="0">
            <a:noAutofit/>
          </a:bodyPr>
          <a:lstStyle/>
          <a:p>
            <a:pPr algn="ctr"/>
            <a:r>
              <a:rPr lang="zh-CN" altLang="en-US" sz="1200" dirty="0">
                <a:solidFill>
                  <a:srgbClr val="2F5597"/>
                </a:solidFill>
                <a:latin typeface="等线" panose="02010600030101010101" pitchFamily="2" charset="-122"/>
                <a:ea typeface="等线" panose="02010600030101010101" pitchFamily="2" charset="-122"/>
              </a:rPr>
              <a:t>本人设计的项目海报，用于三一灯塔工厂工作站参观展示</a:t>
            </a:r>
          </a:p>
        </p:txBody>
      </p:sp>
      <p:sp>
        <p:nvSpPr>
          <p:cNvPr id="48" name="文本框 47">
            <a:extLst>
              <a:ext uri="{FF2B5EF4-FFF2-40B4-BE49-F238E27FC236}">
                <a16:creationId xmlns:a16="http://schemas.microsoft.com/office/drawing/2014/main" id="{67C3F24A-D4CD-264D-D76C-0DD63E77CC35}"/>
              </a:ext>
            </a:extLst>
          </p:cNvPr>
          <p:cNvSpPr txBox="1"/>
          <p:nvPr/>
        </p:nvSpPr>
        <p:spPr>
          <a:xfrm>
            <a:off x="9951085" y="3086239"/>
            <a:ext cx="1778000" cy="739365"/>
          </a:xfrm>
          <a:prstGeom prst="rect">
            <a:avLst/>
          </a:prstGeom>
          <a:noFill/>
        </p:spPr>
        <p:txBody>
          <a:bodyPr vert="horz" wrap="square" lIns="0" tIns="0" rIns="0" bIns="0" rtlCol="0">
            <a:noAutofit/>
          </a:bodyPr>
          <a:lstStyle/>
          <a:p>
            <a:r>
              <a:rPr lang="zh-CN" altLang="en-US" sz="1200" dirty="0">
                <a:solidFill>
                  <a:srgbClr val="2F5597"/>
                </a:solidFill>
                <a:latin typeface="等线" panose="02010600030101010101" pitchFamily="2" charset="-122"/>
                <a:ea typeface="等线" panose="02010600030101010101" pitchFamily="2" charset="-122"/>
              </a:rPr>
              <a:t>减少开坡口、翻转等工序，简化流程，提升产线自动化与集成化水平。</a:t>
            </a:r>
          </a:p>
        </p:txBody>
      </p:sp>
      <p:sp>
        <p:nvSpPr>
          <p:cNvPr id="49" name="文本框 48">
            <a:extLst>
              <a:ext uri="{FF2B5EF4-FFF2-40B4-BE49-F238E27FC236}">
                <a16:creationId xmlns:a16="http://schemas.microsoft.com/office/drawing/2014/main" id="{25FD6898-9BE3-5AB7-37C2-32FA049F047B}"/>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4B314722-317A-D243-7658-A045B295D9A6}"/>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F27C8E17-F67A-9639-5D16-A922DBFFA8F3}"/>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Tree>
    <p:extLst>
      <p:ext uri="{BB962C8B-B14F-4D97-AF65-F5344CB8AC3E}">
        <p14:creationId xmlns:p14="http://schemas.microsoft.com/office/powerpoint/2010/main" val="684682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FD422-4C15-010F-11CA-5E88069F860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483EBCF-312C-B57A-D2B2-C1294602DE73}"/>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参与可靠性平台建设项目，使我开始不只关注试验数据</a:t>
            </a:r>
          </a:p>
        </p:txBody>
      </p:sp>
      <p:grpSp>
        <p:nvGrpSpPr>
          <p:cNvPr id="251" name="组合 250">
            <a:extLst>
              <a:ext uri="{FF2B5EF4-FFF2-40B4-BE49-F238E27FC236}">
                <a16:creationId xmlns:a16="http://schemas.microsoft.com/office/drawing/2014/main" id="{43806BDB-FA08-BF4A-E0E0-B5816BB7D277}"/>
              </a:ext>
            </a:extLst>
          </p:cNvPr>
          <p:cNvGrpSpPr>
            <a:grpSpLocks noChangeAspect="1"/>
          </p:cNvGrpSpPr>
          <p:nvPr/>
        </p:nvGrpSpPr>
        <p:grpSpPr>
          <a:xfrm>
            <a:off x="527297" y="2319773"/>
            <a:ext cx="1917700" cy="4036554"/>
            <a:chOff x="1294546" y="5597204"/>
            <a:chExt cx="2529034" cy="6299772"/>
          </a:xfrm>
        </p:grpSpPr>
        <p:grpSp>
          <p:nvGrpSpPr>
            <p:cNvPr id="252" name="组合 251">
              <a:extLst>
                <a:ext uri="{FF2B5EF4-FFF2-40B4-BE49-F238E27FC236}">
                  <a16:creationId xmlns:a16="http://schemas.microsoft.com/office/drawing/2014/main" id="{62DA9530-72E8-E12F-E02F-37187A6DB278}"/>
                </a:ext>
              </a:extLst>
            </p:cNvPr>
            <p:cNvGrpSpPr/>
            <p:nvPr/>
          </p:nvGrpSpPr>
          <p:grpSpPr>
            <a:xfrm>
              <a:off x="1294546" y="5597204"/>
              <a:ext cx="2525507" cy="3573204"/>
              <a:chOff x="1046817" y="5442829"/>
              <a:chExt cx="2525507" cy="4137377"/>
            </a:xfrm>
          </p:grpSpPr>
          <p:pic>
            <p:nvPicPr>
              <p:cNvPr id="254" name="Picture 2" descr="F:\5-摩擦焊技术文件\7-焊机图片\惯性焊\600吨.jpg">
                <a:extLst>
                  <a:ext uri="{FF2B5EF4-FFF2-40B4-BE49-F238E27FC236}">
                    <a16:creationId xmlns:a16="http://schemas.microsoft.com/office/drawing/2014/main" id="{D36BC010-B482-EF46-F473-F01EF43CA9A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27" t="14468" r="16884" b="18285"/>
              <a:stretch>
                <a:fillRect/>
              </a:stretch>
            </p:blipFill>
            <p:spPr bwMode="auto">
              <a:xfrm>
                <a:off x="1046817" y="5442829"/>
                <a:ext cx="2525507" cy="1571824"/>
              </a:xfrm>
              <a:prstGeom prst="rect">
                <a:avLst/>
              </a:prstGeom>
              <a:extLst>
                <a:ext uri="{909E8E84-426E-40DD-AFC4-6F175D3DCCD1}">
                  <a14:hiddenFill xmlns:a14="http://schemas.microsoft.com/office/drawing/2010/main">
                    <a:solidFill>
                      <a:srgbClr val="FFFFFF"/>
                    </a:solidFill>
                  </a14:hiddenFill>
                </a:ext>
              </a:extLst>
            </p:spPr>
          </p:pic>
          <p:pic>
            <p:nvPicPr>
              <p:cNvPr id="255" name="Picture 2" descr="D:\02--纵向及报奖\设备基础能力照片\IMG_20211211_114923.jpg">
                <a:extLst>
                  <a:ext uri="{FF2B5EF4-FFF2-40B4-BE49-F238E27FC236}">
                    <a16:creationId xmlns:a16="http://schemas.microsoft.com/office/drawing/2014/main" id="{5356579E-DD33-4737-7DDA-97B9093367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6817" y="7433612"/>
                <a:ext cx="2513477" cy="2146594"/>
              </a:xfrm>
              <a:prstGeom prst="rect">
                <a:avLst/>
              </a:prstGeom>
              <a:extLst>
                <a:ext uri="{909E8E84-426E-40DD-AFC4-6F175D3DCCD1}">
                  <a14:hiddenFill xmlns:a14="http://schemas.microsoft.com/office/drawing/2010/main">
                    <a:solidFill>
                      <a:srgbClr val="FFFFFF"/>
                    </a:solidFill>
                  </a14:hiddenFill>
                </a:ext>
              </a:extLst>
            </p:spPr>
          </p:pic>
        </p:grpSp>
        <p:pic>
          <p:nvPicPr>
            <p:cNvPr id="253" name="Picture 2" descr="https://www.laserfair.cn/upload/202007/1595215967255756.png">
              <a:extLst>
                <a:ext uri="{FF2B5EF4-FFF2-40B4-BE49-F238E27FC236}">
                  <a16:creationId xmlns:a16="http://schemas.microsoft.com/office/drawing/2014/main" id="{B559B80E-225B-A0A8-AF22-9C47555E20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448" t="8394" r="20411" b="7674"/>
            <a:stretch/>
          </p:blipFill>
          <p:spPr bwMode="auto">
            <a:xfrm>
              <a:off x="1294546" y="9534103"/>
              <a:ext cx="2529034" cy="2362873"/>
            </a:xfrm>
            <a:prstGeom prst="rect">
              <a:avLst/>
            </a:prstGeom>
            <a:extLst>
              <a:ext uri="{909E8E84-426E-40DD-AFC4-6F175D3DCCD1}">
                <a14:hiddenFill xmlns:a14="http://schemas.microsoft.com/office/drawing/2010/main">
                  <a:solidFill>
                    <a:srgbClr val="FFFFFF"/>
                  </a:solidFill>
                </a14:hiddenFill>
              </a:ext>
            </a:extLst>
          </p:spPr>
        </p:pic>
      </p:grpSp>
      <p:sp>
        <p:nvSpPr>
          <p:cNvPr id="341" name="矩形 340">
            <a:extLst>
              <a:ext uri="{FF2B5EF4-FFF2-40B4-BE49-F238E27FC236}">
                <a16:creationId xmlns:a16="http://schemas.microsoft.com/office/drawing/2014/main" id="{D3B17D0F-09B1-26AE-9EBF-26AD0DB6801E}"/>
              </a:ext>
            </a:extLst>
          </p:cNvPr>
          <p:cNvSpPr>
            <a:spLocks/>
          </p:cNvSpPr>
          <p:nvPr/>
        </p:nvSpPr>
        <p:spPr>
          <a:xfrm>
            <a:off x="444499" y="1422400"/>
            <a:ext cx="17145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42" name="文本框 341">
            <a:extLst>
              <a:ext uri="{FF2B5EF4-FFF2-40B4-BE49-F238E27FC236}">
                <a16:creationId xmlns:a16="http://schemas.microsoft.com/office/drawing/2014/main" id="{C9F512DA-589D-6806-B30D-2E06C2DC9D92}"/>
              </a:ext>
            </a:extLst>
          </p:cNvPr>
          <p:cNvSpPr txBox="1">
            <a:spLocks/>
          </p:cNvSpPr>
          <p:nvPr/>
        </p:nvSpPr>
        <p:spPr>
          <a:xfrm>
            <a:off x="469900" y="1498600"/>
            <a:ext cx="22860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EQUIPMENT</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43" name="文本框 342">
            <a:extLst>
              <a:ext uri="{FF2B5EF4-FFF2-40B4-BE49-F238E27FC236}">
                <a16:creationId xmlns:a16="http://schemas.microsoft.com/office/drawing/2014/main" id="{9109C94D-984D-4429-AA2A-F35CB6298DC1}"/>
              </a:ext>
            </a:extLst>
          </p:cNvPr>
          <p:cNvSpPr txBox="1">
            <a:spLocks/>
          </p:cNvSpPr>
          <p:nvPr/>
        </p:nvSpPr>
        <p:spPr>
          <a:xfrm>
            <a:off x="469900" y="1447800"/>
            <a:ext cx="17145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项目对象</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44" name="文本框 343">
            <a:extLst>
              <a:ext uri="{FF2B5EF4-FFF2-40B4-BE49-F238E27FC236}">
                <a16:creationId xmlns:a16="http://schemas.microsoft.com/office/drawing/2014/main" id="{DB68E983-D128-DE1B-0B24-7E2F64907FDC}"/>
              </a:ext>
            </a:extLst>
          </p:cNvPr>
          <p:cNvSpPr txBox="1"/>
          <p:nvPr/>
        </p:nvSpPr>
        <p:spPr>
          <a:xfrm>
            <a:off x="571500" y="1882161"/>
            <a:ext cx="2336800" cy="276999"/>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焊接装备与关键部件</a:t>
            </a:r>
          </a:p>
        </p:txBody>
      </p:sp>
      <p:sp>
        <p:nvSpPr>
          <p:cNvPr id="345" name="矩形: 圆角 344">
            <a:extLst>
              <a:ext uri="{FF2B5EF4-FFF2-40B4-BE49-F238E27FC236}">
                <a16:creationId xmlns:a16="http://schemas.microsoft.com/office/drawing/2014/main" id="{BD5D4616-5EF8-2404-A208-CB7F45677D11}"/>
              </a:ext>
            </a:extLst>
          </p:cNvPr>
          <p:cNvSpPr>
            <a:spLocks/>
          </p:cNvSpPr>
          <p:nvPr/>
        </p:nvSpPr>
        <p:spPr>
          <a:xfrm>
            <a:off x="2908300" y="1676400"/>
            <a:ext cx="8940800" cy="4773386"/>
          </a:xfrm>
          <a:prstGeom prst="roundRect">
            <a:avLst>
              <a:gd name="adj" fmla="val 1434"/>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46" name="矩形 345">
            <a:extLst>
              <a:ext uri="{FF2B5EF4-FFF2-40B4-BE49-F238E27FC236}">
                <a16:creationId xmlns:a16="http://schemas.microsoft.com/office/drawing/2014/main" id="{E797201C-C3BB-369B-4170-3EEA3E7DA047}"/>
              </a:ext>
            </a:extLst>
          </p:cNvPr>
          <p:cNvSpPr>
            <a:spLocks/>
          </p:cNvSpPr>
          <p:nvPr/>
        </p:nvSpPr>
        <p:spPr>
          <a:xfrm>
            <a:off x="3073399" y="1422400"/>
            <a:ext cx="20066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47" name="文本框 346">
            <a:extLst>
              <a:ext uri="{FF2B5EF4-FFF2-40B4-BE49-F238E27FC236}">
                <a16:creationId xmlns:a16="http://schemas.microsoft.com/office/drawing/2014/main" id="{081C79B8-7A46-7C4B-7825-74CE05BECE39}"/>
              </a:ext>
            </a:extLst>
          </p:cNvPr>
          <p:cNvSpPr txBox="1">
            <a:spLocks/>
          </p:cNvSpPr>
          <p:nvPr/>
        </p:nvSpPr>
        <p:spPr>
          <a:xfrm>
            <a:off x="3098800" y="1498600"/>
            <a:ext cx="25781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PLATFORM</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48" name="文本框 347">
            <a:extLst>
              <a:ext uri="{FF2B5EF4-FFF2-40B4-BE49-F238E27FC236}">
                <a16:creationId xmlns:a16="http://schemas.microsoft.com/office/drawing/2014/main" id="{8E5E3B00-0146-86ED-6245-BD10A64EFF91}"/>
              </a:ext>
            </a:extLst>
          </p:cNvPr>
          <p:cNvSpPr txBox="1">
            <a:spLocks/>
          </p:cNvSpPr>
          <p:nvPr/>
        </p:nvSpPr>
        <p:spPr>
          <a:xfrm>
            <a:off x="3098800" y="1447800"/>
            <a:ext cx="20066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平台建设内容</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grpSp>
        <p:nvGrpSpPr>
          <p:cNvPr id="409" name="组合 408">
            <a:extLst>
              <a:ext uri="{FF2B5EF4-FFF2-40B4-BE49-F238E27FC236}">
                <a16:creationId xmlns:a16="http://schemas.microsoft.com/office/drawing/2014/main" id="{81FD3720-FC82-3AC1-871C-8E0563EE4467}"/>
              </a:ext>
            </a:extLst>
          </p:cNvPr>
          <p:cNvGrpSpPr/>
          <p:nvPr/>
        </p:nvGrpSpPr>
        <p:grpSpPr>
          <a:xfrm>
            <a:off x="3219203" y="1850327"/>
            <a:ext cx="8380186" cy="4444618"/>
            <a:chOff x="3098800" y="2070100"/>
            <a:chExt cx="7305362" cy="3874561"/>
          </a:xfrm>
        </p:grpSpPr>
        <p:sp>
          <p:nvSpPr>
            <p:cNvPr id="360" name="椭圆 359">
              <a:extLst>
                <a:ext uri="{FF2B5EF4-FFF2-40B4-BE49-F238E27FC236}">
                  <a16:creationId xmlns:a16="http://schemas.microsoft.com/office/drawing/2014/main" id="{884514D3-622E-86FD-1023-D126B571811E}"/>
                </a:ext>
              </a:extLst>
            </p:cNvPr>
            <p:cNvSpPr/>
            <p:nvPr/>
          </p:nvSpPr>
          <p:spPr>
            <a:xfrm>
              <a:off x="3208711" y="3593581"/>
              <a:ext cx="604642" cy="602936"/>
            </a:xfrm>
            <a:prstGeom prst="ellipse">
              <a:avLst/>
            </a:prstGeom>
            <a:solidFill>
              <a:srgbClr val="005BAC"/>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100" b="1" i="0" u="none" strike="noStrike" kern="0" cap="none" spc="40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1" name="椭圆 360">
              <a:extLst>
                <a:ext uri="{FF2B5EF4-FFF2-40B4-BE49-F238E27FC236}">
                  <a16:creationId xmlns:a16="http://schemas.microsoft.com/office/drawing/2014/main" id="{CDC8E668-1E08-8163-8989-D01542EF968A}"/>
                </a:ext>
              </a:extLst>
            </p:cNvPr>
            <p:cNvSpPr/>
            <p:nvPr/>
          </p:nvSpPr>
          <p:spPr>
            <a:xfrm>
              <a:off x="3208711" y="4404777"/>
              <a:ext cx="604642" cy="602936"/>
            </a:xfrm>
            <a:prstGeom prst="ellipse">
              <a:avLst/>
            </a:prstGeom>
            <a:solidFill>
              <a:srgbClr val="005BAC"/>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100" b="1" i="0" u="none" strike="noStrike" kern="0" cap="none" spc="40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2" name="椭圆 361">
              <a:extLst>
                <a:ext uri="{FF2B5EF4-FFF2-40B4-BE49-F238E27FC236}">
                  <a16:creationId xmlns:a16="http://schemas.microsoft.com/office/drawing/2014/main" id="{92ADAA28-ACBD-B625-8C56-565C27D63587}"/>
                </a:ext>
              </a:extLst>
            </p:cNvPr>
            <p:cNvSpPr/>
            <p:nvPr/>
          </p:nvSpPr>
          <p:spPr>
            <a:xfrm>
              <a:off x="3208711" y="5274276"/>
              <a:ext cx="604642" cy="602936"/>
            </a:xfrm>
            <a:prstGeom prst="ellipse">
              <a:avLst/>
            </a:prstGeom>
            <a:solidFill>
              <a:srgbClr val="005BAC"/>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100" b="1" i="0" u="none" strike="noStrike" kern="0" cap="none" spc="40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3" name="圆角矩形 73">
              <a:extLst>
                <a:ext uri="{FF2B5EF4-FFF2-40B4-BE49-F238E27FC236}">
                  <a16:creationId xmlns:a16="http://schemas.microsoft.com/office/drawing/2014/main" id="{4EAC7D03-4308-7875-1F85-B859BEDD5C7B}"/>
                </a:ext>
              </a:extLst>
            </p:cNvPr>
            <p:cNvSpPr/>
            <p:nvPr/>
          </p:nvSpPr>
          <p:spPr>
            <a:xfrm>
              <a:off x="3503845" y="2070100"/>
              <a:ext cx="5811954" cy="258788"/>
            </a:xfrm>
            <a:prstGeom prst="roundRect">
              <a:avLst/>
            </a:prstGeom>
            <a:solidFill>
              <a:srgbClr val="005BAC"/>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100" b="1" i="0" u="none" strike="noStrike" kern="0" cap="none" spc="40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课题</a:t>
              </a:r>
              <a:r>
                <a:rPr kumimoji="1" lang="en-US" altLang="zh-CN" sz="1100" b="1" i="0" u="none" strike="noStrike" kern="0" cap="none" spc="40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1" lang="zh-CN" altLang="en-US" sz="1100" b="1" i="0" u="none" strike="noStrike" kern="0" cap="none" spc="40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：典型等材装备及关键部件质量与可靠性服务平台</a:t>
              </a:r>
            </a:p>
          </p:txBody>
        </p:sp>
        <p:sp>
          <p:nvSpPr>
            <p:cNvPr id="364" name="矩形 363">
              <a:extLst>
                <a:ext uri="{FF2B5EF4-FFF2-40B4-BE49-F238E27FC236}">
                  <a16:creationId xmlns:a16="http://schemas.microsoft.com/office/drawing/2014/main" id="{34E46383-3198-7103-A617-EFE6BEE2C022}"/>
                </a:ext>
              </a:extLst>
            </p:cNvPr>
            <p:cNvSpPr/>
            <p:nvPr/>
          </p:nvSpPr>
          <p:spPr>
            <a:xfrm>
              <a:off x="7649087" y="2475205"/>
              <a:ext cx="1666712" cy="999890"/>
            </a:xfrm>
            <a:prstGeom prst="rect">
              <a:avLst/>
            </a:prstGeom>
            <a:solidFill>
              <a:sysClr val="window" lastClr="FFFFFF">
                <a:lumMod val="95000"/>
              </a:sysClr>
            </a:solidFill>
            <a:ln w="12700" cap="flat" cmpd="sng" algn="ctr">
              <a:solidFill>
                <a:srgbClr val="C0504D"/>
              </a:solidFill>
              <a:prstDash val="sys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5" name="圆角矩形 83">
              <a:extLst>
                <a:ext uri="{FF2B5EF4-FFF2-40B4-BE49-F238E27FC236}">
                  <a16:creationId xmlns:a16="http://schemas.microsoft.com/office/drawing/2014/main" id="{7ACF0559-2ED4-5969-5688-627B2373BECB}"/>
                </a:ext>
              </a:extLst>
            </p:cNvPr>
            <p:cNvSpPr/>
            <p:nvPr/>
          </p:nvSpPr>
          <p:spPr>
            <a:xfrm>
              <a:off x="7790720" y="2449072"/>
              <a:ext cx="1390173" cy="216982"/>
            </a:xfrm>
            <a:prstGeom prst="roundRect">
              <a:avLst/>
            </a:prstGeom>
            <a:solidFill>
              <a:srgbClr val="F79646">
                <a:lumMod val="60000"/>
                <a:lumOff val="40000"/>
              </a:srgbClr>
            </a:solidFill>
            <a:ln w="12700" cap="flat" cmpd="sng" algn="ctr">
              <a:solidFill>
                <a:srgbClr val="F79646">
                  <a:lumMod val="40000"/>
                  <a:lumOff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数据库系统</a:t>
              </a:r>
            </a:p>
          </p:txBody>
        </p:sp>
        <p:sp>
          <p:nvSpPr>
            <p:cNvPr id="366" name="圆角矩形 84">
              <a:extLst>
                <a:ext uri="{FF2B5EF4-FFF2-40B4-BE49-F238E27FC236}">
                  <a16:creationId xmlns:a16="http://schemas.microsoft.com/office/drawing/2014/main" id="{3FDD7380-56BF-817C-743D-6C03203B0129}"/>
                </a:ext>
              </a:extLst>
            </p:cNvPr>
            <p:cNvSpPr/>
            <p:nvPr/>
          </p:nvSpPr>
          <p:spPr>
            <a:xfrm>
              <a:off x="8580619" y="2804004"/>
              <a:ext cx="244645" cy="543235"/>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材料数据库</a:t>
              </a:r>
            </a:p>
          </p:txBody>
        </p:sp>
        <p:sp>
          <p:nvSpPr>
            <p:cNvPr id="367" name="圆角矩形 85">
              <a:extLst>
                <a:ext uri="{FF2B5EF4-FFF2-40B4-BE49-F238E27FC236}">
                  <a16:creationId xmlns:a16="http://schemas.microsoft.com/office/drawing/2014/main" id="{1445D111-CADB-A22F-7B63-CF6A9E02DB31}"/>
                </a:ext>
              </a:extLst>
            </p:cNvPr>
            <p:cNvSpPr/>
            <p:nvPr/>
          </p:nvSpPr>
          <p:spPr>
            <a:xfrm>
              <a:off x="7685283" y="2808097"/>
              <a:ext cx="251591" cy="543235"/>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可靠性数据库</a:t>
              </a:r>
            </a:p>
          </p:txBody>
        </p:sp>
        <p:sp>
          <p:nvSpPr>
            <p:cNvPr id="368" name="圆角矩形 86">
              <a:extLst>
                <a:ext uri="{FF2B5EF4-FFF2-40B4-BE49-F238E27FC236}">
                  <a16:creationId xmlns:a16="http://schemas.microsoft.com/office/drawing/2014/main" id="{3A56DB91-2AC9-87D0-2881-C8C74D103CBB}"/>
                </a:ext>
              </a:extLst>
            </p:cNvPr>
            <p:cNvSpPr/>
            <p:nvPr/>
          </p:nvSpPr>
          <p:spPr>
            <a:xfrm>
              <a:off x="8987430" y="2808220"/>
              <a:ext cx="295469" cy="543235"/>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数据共享与服务</a:t>
              </a:r>
            </a:p>
          </p:txBody>
        </p:sp>
        <p:sp>
          <p:nvSpPr>
            <p:cNvPr id="369" name="左右箭头 94">
              <a:extLst>
                <a:ext uri="{FF2B5EF4-FFF2-40B4-BE49-F238E27FC236}">
                  <a16:creationId xmlns:a16="http://schemas.microsoft.com/office/drawing/2014/main" id="{A0722A5B-1ABC-0A72-17B4-73EFE598CD55}"/>
                </a:ext>
              </a:extLst>
            </p:cNvPr>
            <p:cNvSpPr/>
            <p:nvPr/>
          </p:nvSpPr>
          <p:spPr>
            <a:xfrm>
              <a:off x="7457273" y="2982628"/>
              <a:ext cx="173820" cy="81702"/>
            </a:xfrm>
            <a:prstGeom prst="leftRightArrow">
              <a:avLst/>
            </a:prstGeom>
            <a:solidFill>
              <a:srgbClr val="4F81BD"/>
            </a:solidFill>
            <a:ln w="12700" cap="flat" cmpd="sng" algn="ctr">
              <a:solidFill>
                <a:srgbClr val="4F81BD">
                  <a:shade val="50000"/>
                </a:srgbClr>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70" name="左箭头 95">
              <a:extLst>
                <a:ext uri="{FF2B5EF4-FFF2-40B4-BE49-F238E27FC236}">
                  <a16:creationId xmlns:a16="http://schemas.microsoft.com/office/drawing/2014/main" id="{3C726FC4-CAEA-D925-C710-D8DB9D08B95A}"/>
                </a:ext>
              </a:extLst>
            </p:cNvPr>
            <p:cNvSpPr/>
            <p:nvPr/>
          </p:nvSpPr>
          <p:spPr>
            <a:xfrm flipH="1">
              <a:off x="5414733" y="2991069"/>
              <a:ext cx="120002" cy="110205"/>
            </a:xfrm>
            <a:prstGeom prst="leftArrow">
              <a:avLst/>
            </a:prstGeom>
            <a:solidFill>
              <a:srgbClr val="0099FF"/>
            </a:solidFill>
            <a:ln w="12700" cap="flat" cmpd="sng" algn="ctr">
              <a:solidFill>
                <a:srgbClr val="4F81BD">
                  <a:shade val="50000"/>
                </a:srgbClr>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71" name="矩形 370">
              <a:extLst>
                <a:ext uri="{FF2B5EF4-FFF2-40B4-BE49-F238E27FC236}">
                  <a16:creationId xmlns:a16="http://schemas.microsoft.com/office/drawing/2014/main" id="{50473F8B-F1BC-1E83-3BCE-A65AA6E88FBA}"/>
                </a:ext>
              </a:extLst>
            </p:cNvPr>
            <p:cNvSpPr/>
            <p:nvPr/>
          </p:nvSpPr>
          <p:spPr>
            <a:xfrm>
              <a:off x="3503845" y="2475205"/>
              <a:ext cx="1926634" cy="993856"/>
            </a:xfrm>
            <a:prstGeom prst="rect">
              <a:avLst/>
            </a:prstGeom>
            <a:solidFill>
              <a:sysClr val="window" lastClr="FFFFFF">
                <a:lumMod val="95000"/>
              </a:sysClr>
            </a:solidFill>
            <a:ln w="12700" cap="flat" cmpd="sng" algn="ctr">
              <a:solidFill>
                <a:srgbClr val="C0504D"/>
              </a:solidFill>
              <a:prstDash val="sys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72" name="圆角矩形 97">
              <a:extLst>
                <a:ext uri="{FF2B5EF4-FFF2-40B4-BE49-F238E27FC236}">
                  <a16:creationId xmlns:a16="http://schemas.microsoft.com/office/drawing/2014/main" id="{892728CB-365E-B27A-1C10-B78AB9A79692}"/>
                </a:ext>
              </a:extLst>
            </p:cNvPr>
            <p:cNvSpPr/>
            <p:nvPr/>
          </p:nvSpPr>
          <p:spPr>
            <a:xfrm>
              <a:off x="3622445" y="2448541"/>
              <a:ext cx="1681476" cy="231420"/>
            </a:xfrm>
            <a:prstGeom prst="roundRect">
              <a:avLst/>
            </a:prstGeom>
            <a:solidFill>
              <a:srgbClr val="F79646">
                <a:lumMod val="60000"/>
                <a:lumOff val="40000"/>
              </a:srgbClr>
            </a:solidFill>
            <a:ln w="12700" cap="flat" cmpd="sng" algn="ctr">
              <a:solidFill>
                <a:srgbClr val="F79646">
                  <a:lumMod val="40000"/>
                  <a:lumOff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数据采集及处理单元</a:t>
              </a:r>
            </a:p>
          </p:txBody>
        </p:sp>
        <p:grpSp>
          <p:nvGrpSpPr>
            <p:cNvPr id="373" name="组合 372">
              <a:extLst>
                <a:ext uri="{FF2B5EF4-FFF2-40B4-BE49-F238E27FC236}">
                  <a16:creationId xmlns:a16="http://schemas.microsoft.com/office/drawing/2014/main" id="{D9E7E081-F74A-F374-68C4-2378181262A5}"/>
                </a:ext>
              </a:extLst>
            </p:cNvPr>
            <p:cNvGrpSpPr/>
            <p:nvPr/>
          </p:nvGrpSpPr>
          <p:grpSpPr>
            <a:xfrm>
              <a:off x="4346999" y="2737174"/>
              <a:ext cx="929380" cy="652490"/>
              <a:chOff x="3227076" y="2640640"/>
              <a:chExt cx="1663336" cy="1305276"/>
            </a:xfrm>
          </p:grpSpPr>
          <p:sp>
            <p:nvSpPr>
              <p:cNvPr id="374" name="圆角矩形 126">
                <a:extLst>
                  <a:ext uri="{FF2B5EF4-FFF2-40B4-BE49-F238E27FC236}">
                    <a16:creationId xmlns:a16="http://schemas.microsoft.com/office/drawing/2014/main" id="{937B9164-5D14-4C4E-52F1-E51C52601B13}"/>
                  </a:ext>
                </a:extLst>
              </p:cNvPr>
              <p:cNvSpPr/>
              <p:nvPr/>
            </p:nvSpPr>
            <p:spPr>
              <a:xfrm>
                <a:off x="3227076" y="2640640"/>
                <a:ext cx="444320" cy="1305276"/>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运行数据实时采集系统</a:t>
                </a:r>
              </a:p>
            </p:txBody>
          </p:sp>
          <p:sp>
            <p:nvSpPr>
              <p:cNvPr id="375" name="圆角矩形 127">
                <a:extLst>
                  <a:ext uri="{FF2B5EF4-FFF2-40B4-BE49-F238E27FC236}">
                    <a16:creationId xmlns:a16="http://schemas.microsoft.com/office/drawing/2014/main" id="{0C1482C7-2C43-4D99-D14F-0B364BC2A93E}"/>
                  </a:ext>
                </a:extLst>
              </p:cNvPr>
              <p:cNvSpPr/>
              <p:nvPr/>
            </p:nvSpPr>
            <p:spPr>
              <a:xfrm>
                <a:off x="3907091" y="3486234"/>
                <a:ext cx="983321" cy="379700"/>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系统下位机</a:t>
                </a:r>
              </a:p>
            </p:txBody>
          </p:sp>
          <p:sp>
            <p:nvSpPr>
              <p:cNvPr id="376" name="圆角矩形 128">
                <a:extLst>
                  <a:ext uri="{FF2B5EF4-FFF2-40B4-BE49-F238E27FC236}">
                    <a16:creationId xmlns:a16="http://schemas.microsoft.com/office/drawing/2014/main" id="{87A131A5-38C4-DF80-34FF-46A010B18E7E}"/>
                  </a:ext>
                </a:extLst>
              </p:cNvPr>
              <p:cNvSpPr/>
              <p:nvPr/>
            </p:nvSpPr>
            <p:spPr>
              <a:xfrm>
                <a:off x="3872242" y="2713282"/>
                <a:ext cx="1018168" cy="387568"/>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系统上位机</a:t>
                </a:r>
              </a:p>
            </p:txBody>
          </p:sp>
          <p:sp>
            <p:nvSpPr>
              <p:cNvPr id="377" name="左大括号 376">
                <a:extLst>
                  <a:ext uri="{FF2B5EF4-FFF2-40B4-BE49-F238E27FC236}">
                    <a16:creationId xmlns:a16="http://schemas.microsoft.com/office/drawing/2014/main" id="{92FAA690-B5E9-454A-A61C-2B0A489659FB}"/>
                  </a:ext>
                </a:extLst>
              </p:cNvPr>
              <p:cNvSpPr/>
              <p:nvPr/>
            </p:nvSpPr>
            <p:spPr>
              <a:xfrm>
                <a:off x="3742621" y="2653755"/>
                <a:ext cx="87610" cy="1270299"/>
              </a:xfrm>
              <a:prstGeom prst="leftBrace">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78" name="左右箭头 130">
                <a:extLst>
                  <a:ext uri="{FF2B5EF4-FFF2-40B4-BE49-F238E27FC236}">
                    <a16:creationId xmlns:a16="http://schemas.microsoft.com/office/drawing/2014/main" id="{4CE1692F-EA96-1EAD-567D-5CE4510E0393}"/>
                  </a:ext>
                </a:extLst>
              </p:cNvPr>
              <p:cNvSpPr/>
              <p:nvPr/>
            </p:nvSpPr>
            <p:spPr>
              <a:xfrm rot="5400000">
                <a:off x="3971426" y="3209607"/>
                <a:ext cx="322289" cy="172888"/>
              </a:xfrm>
              <a:prstGeom prst="leftRightArrow">
                <a:avLst/>
              </a:prstGeom>
              <a:solidFill>
                <a:srgbClr val="4F81BD"/>
              </a:solidFill>
              <a:ln w="12700" cap="flat" cmpd="sng" algn="ctr">
                <a:solidFill>
                  <a:srgbClr val="4F81BD">
                    <a:shade val="50000"/>
                  </a:srgbClr>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79" name="TextBox 131">
                <a:extLst>
                  <a:ext uri="{FF2B5EF4-FFF2-40B4-BE49-F238E27FC236}">
                    <a16:creationId xmlns:a16="http://schemas.microsoft.com/office/drawing/2014/main" id="{2D57F057-7463-E82F-B9FB-D26DD00C59C5}"/>
                  </a:ext>
                </a:extLst>
              </p:cNvPr>
              <p:cNvSpPr txBox="1"/>
              <p:nvPr/>
            </p:nvSpPr>
            <p:spPr>
              <a:xfrm>
                <a:off x="4195116" y="3211535"/>
                <a:ext cx="659331" cy="161018"/>
              </a:xfrm>
              <a:prstGeom prst="rect">
                <a:avLst/>
              </a:prstGeom>
              <a:noFill/>
            </p:spPr>
            <p:txBody>
              <a:bodyPr wrap="square" lIns="0" tIns="0" rIns="0" bIns="0" rtlCol="0" anchor="ctr" anchorCtr="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600" b="1" i="0" u="none" strike="noStrike" kern="0" cap="none" spc="0" normalizeH="0" baseline="0" noProof="0" dirty="0">
                    <a:ln>
                      <a:noFill/>
                    </a:ln>
                    <a:solidFill>
                      <a:prstClr val="black"/>
                    </a:solidFill>
                    <a:effectLst/>
                    <a:uLnTx/>
                    <a:uFillTx/>
                    <a:latin typeface="Tahoma" panose="020B0604030504040204" charset="0"/>
                    <a:ea typeface="宋体" panose="02010600030101010101" pitchFamily="2" charset="-122"/>
                  </a:rPr>
                  <a:t>通讯协议</a:t>
                </a:r>
              </a:p>
            </p:txBody>
          </p:sp>
        </p:grpSp>
        <p:cxnSp>
          <p:nvCxnSpPr>
            <p:cNvPr id="380" name="直接连接符 379">
              <a:extLst>
                <a:ext uri="{FF2B5EF4-FFF2-40B4-BE49-F238E27FC236}">
                  <a16:creationId xmlns:a16="http://schemas.microsoft.com/office/drawing/2014/main" id="{F725E05F-2705-2B16-E92E-816466AE1179}"/>
                </a:ext>
              </a:extLst>
            </p:cNvPr>
            <p:cNvCxnSpPr>
              <a:stCxn id="372" idx="3"/>
            </p:cNvCxnSpPr>
            <p:nvPr/>
          </p:nvCxnSpPr>
          <p:spPr>
            <a:xfrm>
              <a:off x="5303921" y="2564251"/>
              <a:ext cx="0" cy="0"/>
            </a:xfrm>
            <a:prstGeom prst="line">
              <a:avLst/>
            </a:prstGeom>
            <a:noFill/>
            <a:ln w="6350" cap="flat" cmpd="sng" algn="ctr">
              <a:solidFill>
                <a:srgbClr val="4F81BD"/>
              </a:solidFill>
              <a:prstDash val="solid"/>
              <a:miter lim="800000"/>
            </a:ln>
            <a:effectLst/>
          </p:spPr>
        </p:cxnSp>
        <p:sp>
          <p:nvSpPr>
            <p:cNvPr id="381" name="加号 380">
              <a:extLst>
                <a:ext uri="{FF2B5EF4-FFF2-40B4-BE49-F238E27FC236}">
                  <a16:creationId xmlns:a16="http://schemas.microsoft.com/office/drawing/2014/main" id="{0A053B09-B46A-43BE-945A-59B3231986EA}"/>
                </a:ext>
              </a:extLst>
            </p:cNvPr>
            <p:cNvSpPr/>
            <p:nvPr/>
          </p:nvSpPr>
          <p:spPr>
            <a:xfrm>
              <a:off x="8363663" y="2981521"/>
              <a:ext cx="168455" cy="148559"/>
            </a:xfrm>
            <a:prstGeom prst="mathPlus">
              <a:avLst/>
            </a:prstGeom>
            <a:solidFill>
              <a:srgbClr val="C0000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2" name="加号 381">
              <a:extLst>
                <a:ext uri="{FF2B5EF4-FFF2-40B4-BE49-F238E27FC236}">
                  <a16:creationId xmlns:a16="http://schemas.microsoft.com/office/drawing/2014/main" id="{96A61017-3652-8E0C-AFC7-9BA7248B4860}"/>
                </a:ext>
              </a:extLst>
            </p:cNvPr>
            <p:cNvSpPr/>
            <p:nvPr/>
          </p:nvSpPr>
          <p:spPr>
            <a:xfrm>
              <a:off x="8823282" y="2980350"/>
              <a:ext cx="168455" cy="148559"/>
            </a:xfrm>
            <a:prstGeom prst="mathPlus">
              <a:avLst/>
            </a:prstGeom>
            <a:solidFill>
              <a:srgbClr val="C0000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3" name="圆角矩形 102">
              <a:extLst>
                <a:ext uri="{FF2B5EF4-FFF2-40B4-BE49-F238E27FC236}">
                  <a16:creationId xmlns:a16="http://schemas.microsoft.com/office/drawing/2014/main" id="{2894B557-B09F-D492-9D68-F76FBFE64C0B}"/>
                </a:ext>
              </a:extLst>
            </p:cNvPr>
            <p:cNvSpPr/>
            <p:nvPr/>
          </p:nvSpPr>
          <p:spPr>
            <a:xfrm>
              <a:off x="8101024" y="2792991"/>
              <a:ext cx="244645" cy="543235"/>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工艺数据库</a:t>
              </a:r>
            </a:p>
          </p:txBody>
        </p:sp>
        <p:sp>
          <p:nvSpPr>
            <p:cNvPr id="384" name="加号 383">
              <a:extLst>
                <a:ext uri="{FF2B5EF4-FFF2-40B4-BE49-F238E27FC236}">
                  <a16:creationId xmlns:a16="http://schemas.microsoft.com/office/drawing/2014/main" id="{E47433AC-4665-56E4-3825-D18A83D74038}"/>
                </a:ext>
              </a:extLst>
            </p:cNvPr>
            <p:cNvSpPr/>
            <p:nvPr/>
          </p:nvSpPr>
          <p:spPr>
            <a:xfrm>
              <a:off x="7936874" y="2980350"/>
              <a:ext cx="168455" cy="148559"/>
            </a:xfrm>
            <a:prstGeom prst="mathPlus">
              <a:avLst/>
            </a:prstGeom>
            <a:solidFill>
              <a:srgbClr val="C0000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385" name="组合 384">
              <a:extLst>
                <a:ext uri="{FF2B5EF4-FFF2-40B4-BE49-F238E27FC236}">
                  <a16:creationId xmlns:a16="http://schemas.microsoft.com/office/drawing/2014/main" id="{75BC5B65-D175-D37E-86C3-D940DB020B18}"/>
                </a:ext>
              </a:extLst>
            </p:cNvPr>
            <p:cNvGrpSpPr/>
            <p:nvPr/>
          </p:nvGrpSpPr>
          <p:grpSpPr>
            <a:xfrm>
              <a:off x="5546408" y="2449786"/>
              <a:ext cx="1894166" cy="1025308"/>
              <a:chOff x="3346476" y="2065735"/>
              <a:chExt cx="2596625" cy="2051079"/>
            </a:xfrm>
          </p:grpSpPr>
          <p:sp>
            <p:nvSpPr>
              <p:cNvPr id="386" name="矩形 385">
                <a:extLst>
                  <a:ext uri="{FF2B5EF4-FFF2-40B4-BE49-F238E27FC236}">
                    <a16:creationId xmlns:a16="http://schemas.microsoft.com/office/drawing/2014/main" id="{616CD2EE-CB8C-32B6-1424-884DC2ACC4EA}"/>
                  </a:ext>
                </a:extLst>
              </p:cNvPr>
              <p:cNvSpPr/>
              <p:nvPr/>
            </p:nvSpPr>
            <p:spPr>
              <a:xfrm>
                <a:off x="3346476" y="2116583"/>
                <a:ext cx="2596625" cy="2000231"/>
              </a:xfrm>
              <a:prstGeom prst="rect">
                <a:avLst/>
              </a:prstGeom>
              <a:solidFill>
                <a:sysClr val="window" lastClr="FFFFFF">
                  <a:lumMod val="95000"/>
                </a:sysClr>
              </a:solidFill>
              <a:ln w="12700" cap="flat" cmpd="sng" algn="ctr">
                <a:solidFill>
                  <a:srgbClr val="C0504D"/>
                </a:solidFill>
                <a:prstDash val="sysDash"/>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7" name="圆角矩形 117">
                <a:extLst>
                  <a:ext uri="{FF2B5EF4-FFF2-40B4-BE49-F238E27FC236}">
                    <a16:creationId xmlns:a16="http://schemas.microsoft.com/office/drawing/2014/main" id="{F516E508-1070-456B-FF90-6C9DAD7EE938}"/>
                  </a:ext>
                </a:extLst>
              </p:cNvPr>
              <p:cNvSpPr/>
              <p:nvPr/>
            </p:nvSpPr>
            <p:spPr>
              <a:xfrm>
                <a:off x="3473537" y="2065735"/>
                <a:ext cx="2305059" cy="434064"/>
              </a:xfrm>
              <a:prstGeom prst="roundRect">
                <a:avLst/>
              </a:prstGeom>
              <a:solidFill>
                <a:srgbClr val="F79646">
                  <a:lumMod val="60000"/>
                  <a:lumOff val="40000"/>
                </a:srgbClr>
              </a:solidFill>
              <a:ln w="12700" cap="flat" cmpd="sng" algn="ctr">
                <a:solidFill>
                  <a:srgbClr val="F79646">
                    <a:lumMod val="40000"/>
                    <a:lumOff val="60000"/>
                  </a:srgbClr>
                </a:solid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可靠性评价系统</a:t>
                </a:r>
              </a:p>
            </p:txBody>
          </p:sp>
          <p:sp>
            <p:nvSpPr>
              <p:cNvPr id="388" name="圆角矩形 118">
                <a:extLst>
                  <a:ext uri="{FF2B5EF4-FFF2-40B4-BE49-F238E27FC236}">
                    <a16:creationId xmlns:a16="http://schemas.microsoft.com/office/drawing/2014/main" id="{AF48A975-8AEF-1A6C-E7DB-CB6278A53A1D}"/>
                  </a:ext>
                </a:extLst>
              </p:cNvPr>
              <p:cNvSpPr/>
              <p:nvPr/>
            </p:nvSpPr>
            <p:spPr>
              <a:xfrm>
                <a:off x="3572230" y="2521720"/>
                <a:ext cx="471346" cy="1283416"/>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故障影响及危害分析表</a:t>
                </a:r>
              </a:p>
            </p:txBody>
          </p:sp>
          <p:sp>
            <p:nvSpPr>
              <p:cNvPr id="389" name="圆角矩形 119">
                <a:extLst>
                  <a:ext uri="{FF2B5EF4-FFF2-40B4-BE49-F238E27FC236}">
                    <a16:creationId xmlns:a16="http://schemas.microsoft.com/office/drawing/2014/main" id="{2E3B0BD7-DF75-B708-3FD6-65A47F1373BA}"/>
                  </a:ext>
                </a:extLst>
              </p:cNvPr>
              <p:cNvSpPr/>
              <p:nvPr/>
            </p:nvSpPr>
            <p:spPr>
              <a:xfrm>
                <a:off x="4136119" y="2521720"/>
                <a:ext cx="261361" cy="1283416"/>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故障树分析</a:t>
                </a:r>
              </a:p>
            </p:txBody>
          </p:sp>
          <p:sp>
            <p:nvSpPr>
              <p:cNvPr id="390" name="圆角矩形 120">
                <a:extLst>
                  <a:ext uri="{FF2B5EF4-FFF2-40B4-BE49-F238E27FC236}">
                    <a16:creationId xmlns:a16="http://schemas.microsoft.com/office/drawing/2014/main" id="{A58A20F2-0A18-A7D5-7042-5BACEFEA503F}"/>
                  </a:ext>
                </a:extLst>
              </p:cNvPr>
              <p:cNvSpPr/>
              <p:nvPr/>
            </p:nvSpPr>
            <p:spPr>
              <a:xfrm>
                <a:off x="4506291" y="2521720"/>
                <a:ext cx="319024" cy="1283416"/>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故障闭环管理</a:t>
                </a:r>
              </a:p>
            </p:txBody>
          </p:sp>
          <p:sp>
            <p:nvSpPr>
              <p:cNvPr id="391" name="加号 390">
                <a:extLst>
                  <a:ext uri="{FF2B5EF4-FFF2-40B4-BE49-F238E27FC236}">
                    <a16:creationId xmlns:a16="http://schemas.microsoft.com/office/drawing/2014/main" id="{3C95EDBB-9A7B-6B1A-7268-A5C816C7A3DA}"/>
                  </a:ext>
                </a:extLst>
              </p:cNvPr>
              <p:cNvSpPr/>
              <p:nvPr/>
            </p:nvSpPr>
            <p:spPr>
              <a:xfrm>
                <a:off x="4921564" y="3053096"/>
                <a:ext cx="230928" cy="385385"/>
              </a:xfrm>
              <a:prstGeom prst="mathPlus">
                <a:avLst/>
              </a:prstGeom>
              <a:solidFill>
                <a:srgbClr val="C0000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92" name="圆角矩形 122">
                <a:extLst>
                  <a:ext uri="{FF2B5EF4-FFF2-40B4-BE49-F238E27FC236}">
                    <a16:creationId xmlns:a16="http://schemas.microsoft.com/office/drawing/2014/main" id="{C29EEB80-C962-C37D-4304-F571F0399BA3}"/>
                  </a:ext>
                </a:extLst>
              </p:cNvPr>
              <p:cNvSpPr/>
              <p:nvPr/>
            </p:nvSpPr>
            <p:spPr>
              <a:xfrm>
                <a:off x="5245464" y="2521720"/>
                <a:ext cx="319024" cy="1283414"/>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输出稳定性</a:t>
                </a:r>
              </a:p>
            </p:txBody>
          </p:sp>
        </p:grpSp>
        <p:sp>
          <p:nvSpPr>
            <p:cNvPr id="393" name="圆角矩形 108">
              <a:extLst>
                <a:ext uri="{FF2B5EF4-FFF2-40B4-BE49-F238E27FC236}">
                  <a16:creationId xmlns:a16="http://schemas.microsoft.com/office/drawing/2014/main" id="{2379F4A2-4CEF-C413-C266-3474620202B3}"/>
                </a:ext>
              </a:extLst>
            </p:cNvPr>
            <p:cNvSpPr/>
            <p:nvPr/>
          </p:nvSpPr>
          <p:spPr>
            <a:xfrm>
              <a:off x="3745475" y="2743730"/>
              <a:ext cx="248261" cy="652490"/>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故障数据采集及分析表</a:t>
              </a:r>
            </a:p>
          </p:txBody>
        </p:sp>
        <p:sp>
          <p:nvSpPr>
            <p:cNvPr id="394" name="加号 393">
              <a:extLst>
                <a:ext uri="{FF2B5EF4-FFF2-40B4-BE49-F238E27FC236}">
                  <a16:creationId xmlns:a16="http://schemas.microsoft.com/office/drawing/2014/main" id="{0DA8352C-56DA-599C-B333-AA6B8476E9C4}"/>
                </a:ext>
              </a:extLst>
            </p:cNvPr>
            <p:cNvSpPr/>
            <p:nvPr/>
          </p:nvSpPr>
          <p:spPr>
            <a:xfrm>
              <a:off x="4087880" y="3005436"/>
              <a:ext cx="168455" cy="148555"/>
            </a:xfrm>
            <a:prstGeom prst="mathPlus">
              <a:avLst/>
            </a:prstGeom>
            <a:solidFill>
              <a:srgbClr val="C0000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4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95" name="箭头: 下 62">
              <a:extLst>
                <a:ext uri="{FF2B5EF4-FFF2-40B4-BE49-F238E27FC236}">
                  <a16:creationId xmlns:a16="http://schemas.microsoft.com/office/drawing/2014/main" id="{3C44563B-BA92-88A9-D74F-D1D87E104DB3}"/>
                </a:ext>
              </a:extLst>
            </p:cNvPr>
            <p:cNvSpPr/>
            <p:nvPr/>
          </p:nvSpPr>
          <p:spPr>
            <a:xfrm>
              <a:off x="8496942" y="2290478"/>
              <a:ext cx="165825" cy="151077"/>
            </a:xfrm>
            <a:prstGeom prst="downArrow">
              <a:avLst/>
            </a:prstGeom>
            <a:solidFill>
              <a:srgbClr val="0099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6" name="矩形 395">
              <a:extLst>
                <a:ext uri="{FF2B5EF4-FFF2-40B4-BE49-F238E27FC236}">
                  <a16:creationId xmlns:a16="http://schemas.microsoft.com/office/drawing/2014/main" id="{B460EBF0-B755-F860-41B8-7FCE521D5D7B}"/>
                </a:ext>
              </a:extLst>
            </p:cNvPr>
            <p:cNvSpPr/>
            <p:nvPr/>
          </p:nvSpPr>
          <p:spPr>
            <a:xfrm>
              <a:off x="3849369" y="4307246"/>
              <a:ext cx="5899076" cy="751245"/>
            </a:xfrm>
            <a:prstGeom prst="rect">
              <a:avLst/>
            </a:prstGeom>
          </p:spPr>
          <p:txBody>
            <a:bodyPr wrap="square">
              <a:spAutoFit/>
            </a:bodyPr>
            <a:lstStyle/>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① 设计阶段</a:t>
              </a:r>
              <a:r>
                <a:rPr kumimoji="1" lang="en-US" altLang="zh-CN" sz="900" b="1" dirty="0">
                  <a:solidFill>
                    <a:prstClr val="black"/>
                  </a:solidFill>
                  <a:latin typeface="方正小标宋简体" panose="02010601030101010101" pitchFamily="2" charset="-122"/>
                  <a:ea typeface="方正小标宋简体" panose="02010601030101010101" pitchFamily="2" charset="-122"/>
                  <a:sym typeface="+mn-ea"/>
                </a:rPr>
                <a:t>-</a:t>
              </a: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可靠性分配模块：</a:t>
              </a:r>
              <a:r>
                <a:rPr kumimoji="1" lang="zh-CN" altLang="en-US" sz="900" b="1" dirty="0">
                  <a:solidFill>
                    <a:prstClr val="black"/>
                  </a:solidFill>
                  <a:latin typeface="仿宋" pitchFamily="49" charset="-122"/>
                  <a:ea typeface="仿宋" pitchFamily="49" charset="-122"/>
                  <a:sym typeface="+mn-ea"/>
                </a:rPr>
                <a:t>根据设备无故障运行时间要求，完成子系统平均无故障时间的分配（故障数据</a:t>
              </a:r>
              <a:r>
                <a:rPr kumimoji="1" lang="en-US" altLang="zh-CN" sz="900" b="1" dirty="0">
                  <a:solidFill>
                    <a:prstClr val="black"/>
                  </a:solidFill>
                  <a:latin typeface="仿宋" pitchFamily="49" charset="-122"/>
                  <a:ea typeface="仿宋" pitchFamily="49" charset="-122"/>
                  <a:sym typeface="+mn-ea"/>
                </a:rPr>
                <a:t>+</a:t>
              </a:r>
              <a:r>
                <a:rPr kumimoji="1" lang="zh-CN" altLang="en-US" sz="900" b="1" dirty="0">
                  <a:solidFill>
                    <a:prstClr val="black"/>
                  </a:solidFill>
                  <a:latin typeface="仿宋" pitchFamily="49" charset="-122"/>
                  <a:ea typeface="仿宋" pitchFamily="49" charset="-122"/>
                  <a:sym typeface="+mn-ea"/>
                </a:rPr>
                <a:t>专家打分）；</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② 服役阶段</a:t>
              </a:r>
              <a:r>
                <a:rPr kumimoji="1" lang="en-US" altLang="zh-CN" sz="900" b="1" dirty="0">
                  <a:solidFill>
                    <a:prstClr val="black"/>
                  </a:solidFill>
                  <a:latin typeface="方正小标宋简体" panose="02010601030101010101" pitchFamily="2" charset="-122"/>
                  <a:ea typeface="方正小标宋简体" panose="02010601030101010101" pitchFamily="2" charset="-122"/>
                  <a:sym typeface="+mn-ea"/>
                </a:rPr>
                <a:t>-</a:t>
              </a: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可靠性评估模块</a:t>
              </a:r>
              <a:r>
                <a:rPr kumimoji="1" lang="zh-CN" altLang="en-US" sz="900" b="1" dirty="0">
                  <a:solidFill>
                    <a:prstClr val="black"/>
                  </a:solidFill>
                  <a:latin typeface="仿宋" pitchFamily="49" charset="-122"/>
                  <a:ea typeface="仿宋" pitchFamily="49" charset="-122"/>
                  <a:sym typeface="+mn-ea"/>
                </a:rPr>
                <a:t>：根据设备服役过程积累的数据对设备的平均无故障运行时间进行计算（故障数据</a:t>
              </a:r>
              <a:r>
                <a:rPr kumimoji="1" lang="en-US" altLang="zh-CN" sz="900" b="1" dirty="0">
                  <a:solidFill>
                    <a:prstClr val="black"/>
                  </a:solidFill>
                  <a:latin typeface="仿宋" pitchFamily="49" charset="-122"/>
                  <a:ea typeface="仿宋" pitchFamily="49" charset="-122"/>
                  <a:sym typeface="+mn-ea"/>
                </a:rPr>
                <a:t>+</a:t>
              </a:r>
              <a:r>
                <a:rPr kumimoji="1" lang="zh-CN" altLang="en-US" sz="900" b="1" dirty="0">
                  <a:solidFill>
                    <a:prstClr val="black"/>
                  </a:solidFill>
                  <a:latin typeface="仿宋" pitchFamily="49" charset="-122"/>
                  <a:ea typeface="仿宋" pitchFamily="49" charset="-122"/>
                  <a:sym typeface="+mn-ea"/>
                </a:rPr>
                <a:t>专家打分）；</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③ 全流程</a:t>
              </a:r>
              <a:r>
                <a:rPr kumimoji="1" lang="en-US" altLang="zh-CN" sz="900" b="1" dirty="0">
                  <a:solidFill>
                    <a:prstClr val="black"/>
                  </a:solidFill>
                  <a:latin typeface="方正小标宋简体" panose="02010601030101010101" pitchFamily="2" charset="-122"/>
                  <a:ea typeface="方正小标宋简体" panose="02010601030101010101" pitchFamily="2" charset="-122"/>
                  <a:sym typeface="+mn-ea"/>
                </a:rPr>
                <a:t>-FMECA+FAT:</a:t>
              </a: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 </a:t>
              </a:r>
              <a:r>
                <a:rPr kumimoji="1" lang="zh-CN" altLang="en-US" sz="900" b="1" dirty="0">
                  <a:solidFill>
                    <a:prstClr val="black"/>
                  </a:solidFill>
                  <a:latin typeface="仿宋" pitchFamily="49" charset="-122"/>
                  <a:ea typeface="仿宋" pitchFamily="49" charset="-122"/>
                  <a:sym typeface="+mn-ea"/>
                </a:rPr>
                <a:t>可实现对焊接装备及关键功能部件全流程（设计、服役）遇到的故障进行分析，找出故障产生机理，制定解决措施，提升装备可靠性</a:t>
              </a:r>
              <a:r>
                <a:rPr kumimoji="1" lang="en-US" altLang="zh-CN" sz="900" b="1" dirty="0">
                  <a:solidFill>
                    <a:prstClr val="black"/>
                  </a:solidFill>
                  <a:latin typeface="仿宋" pitchFamily="49" charset="-122"/>
                  <a:ea typeface="仿宋" pitchFamily="49" charset="-122"/>
                  <a:sym typeface="+mn-ea"/>
                </a:rPr>
                <a:t>;</a:t>
              </a:r>
            </a:p>
            <a:p>
              <a:pPr marL="54000" indent="-108000" fontAlgn="base">
                <a:spcBef>
                  <a:spcPct val="0"/>
                </a:spcBef>
                <a:spcAft>
                  <a:spcPts val="225"/>
                </a:spcAft>
                <a:buClr>
                  <a:srgbClr val="FF0000"/>
                </a:buClr>
                <a:buFont typeface="Wingdings" pitchFamily="2" charset="2"/>
                <a:buChar char="Ø"/>
              </a:pPr>
              <a:r>
                <a:rPr kumimoji="1" lang="en-US" altLang="zh-CN" sz="900" b="1" dirty="0">
                  <a:solidFill>
                    <a:prstClr val="black"/>
                  </a:solidFill>
                  <a:latin typeface="方正小标宋简体" panose="02010601030101010101" pitchFamily="2" charset="-122"/>
                  <a:ea typeface="方正小标宋简体" panose="02010601030101010101" pitchFamily="2" charset="-122"/>
                  <a:sym typeface="+mn-ea"/>
                </a:rPr>
                <a:t>④ </a:t>
              </a: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输出稳定性：</a:t>
              </a:r>
              <a:r>
                <a:rPr kumimoji="1" lang="zh-CN" altLang="en-US" sz="900" b="1" dirty="0">
                  <a:solidFill>
                    <a:prstClr val="black"/>
                  </a:solidFill>
                  <a:latin typeface="仿宋" pitchFamily="49" charset="-122"/>
                  <a:ea typeface="仿宋" pitchFamily="49" charset="-122"/>
                  <a:sym typeface="+mn-ea"/>
                </a:rPr>
                <a:t>激光焊接方向在设备无故障的情况下，根据数据波动或退化给出判断，属于可靠性诊断。</a:t>
              </a:r>
              <a:endParaRPr kumimoji="1" lang="en-US" altLang="zh-CN" sz="900" b="1" dirty="0">
                <a:solidFill>
                  <a:prstClr val="black"/>
                </a:solidFill>
                <a:latin typeface="仿宋" pitchFamily="49" charset="-122"/>
                <a:ea typeface="仿宋" pitchFamily="49" charset="-122"/>
                <a:sym typeface="+mn-ea"/>
              </a:endParaRPr>
            </a:p>
          </p:txBody>
        </p:sp>
        <p:sp>
          <p:nvSpPr>
            <p:cNvPr id="397" name="矩形 396">
              <a:extLst>
                <a:ext uri="{FF2B5EF4-FFF2-40B4-BE49-F238E27FC236}">
                  <a16:creationId xmlns:a16="http://schemas.microsoft.com/office/drawing/2014/main" id="{22094363-53FC-8F96-BF6C-91FD8BA60BD9}"/>
                </a:ext>
              </a:extLst>
            </p:cNvPr>
            <p:cNvSpPr/>
            <p:nvPr/>
          </p:nvSpPr>
          <p:spPr>
            <a:xfrm>
              <a:off x="3849369" y="3735566"/>
              <a:ext cx="6467071" cy="344321"/>
            </a:xfrm>
            <a:prstGeom prst="rect">
              <a:avLst/>
            </a:prstGeom>
          </p:spPr>
          <p:txBody>
            <a:bodyPr wrap="square">
              <a:spAutoFit/>
            </a:bodyPr>
            <a:lstStyle/>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① 故障记录与分析表：</a:t>
              </a:r>
              <a:r>
                <a:rPr kumimoji="1" lang="zh-CN" altLang="en-US" sz="900" b="1" dirty="0">
                  <a:solidFill>
                    <a:prstClr val="black"/>
                  </a:solidFill>
                  <a:latin typeface="仿宋" pitchFamily="49" charset="-122"/>
                  <a:ea typeface="仿宋" pitchFamily="49" charset="-122"/>
                  <a:sym typeface="+mn-ea"/>
                </a:rPr>
                <a:t>完成对服役设备及关键功能部件故障发生时间、故障模式及故障分析原因等的记录；</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en-US" altLang="zh-CN" sz="900" b="1" dirty="0">
                  <a:solidFill>
                    <a:prstClr val="black"/>
                  </a:solidFill>
                  <a:latin typeface="方正小标宋简体" panose="02010601030101010101" pitchFamily="2" charset="-122"/>
                  <a:ea typeface="方正小标宋简体" panose="02010601030101010101" pitchFamily="2" charset="-122"/>
                  <a:sym typeface="+mn-ea"/>
                </a:rPr>
                <a:t>② </a:t>
              </a: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实时数据采集模块：</a:t>
              </a:r>
              <a:r>
                <a:rPr kumimoji="1" lang="zh-CN" altLang="en-US" sz="900" b="1" dirty="0">
                  <a:solidFill>
                    <a:prstClr val="black"/>
                  </a:solidFill>
                  <a:latin typeface="仿宋" pitchFamily="49" charset="-122"/>
                  <a:ea typeface="仿宋" pitchFamily="49" charset="-122"/>
                  <a:sym typeface="+mn-ea"/>
                </a:rPr>
                <a:t>搭建设备运行数据自动采集、存储和处理模块，实现对设备及功能部件故障数据的自动记录。</a:t>
              </a:r>
            </a:p>
          </p:txBody>
        </p:sp>
        <p:sp>
          <p:nvSpPr>
            <p:cNvPr id="398" name="矩形 397">
              <a:extLst>
                <a:ext uri="{FF2B5EF4-FFF2-40B4-BE49-F238E27FC236}">
                  <a16:creationId xmlns:a16="http://schemas.microsoft.com/office/drawing/2014/main" id="{562D7C86-D784-906C-AD39-00F96B644D41}"/>
                </a:ext>
              </a:extLst>
            </p:cNvPr>
            <p:cNvSpPr/>
            <p:nvPr/>
          </p:nvSpPr>
          <p:spPr>
            <a:xfrm>
              <a:off x="3849369" y="5280682"/>
              <a:ext cx="6554793" cy="630509"/>
            </a:xfrm>
            <a:prstGeom prst="rect">
              <a:avLst/>
            </a:prstGeom>
          </p:spPr>
          <p:txBody>
            <a:bodyPr wrap="square">
              <a:spAutoFit/>
            </a:bodyPr>
            <a:lstStyle/>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① 可靠性数据库：</a:t>
              </a:r>
              <a:r>
                <a:rPr kumimoji="1" lang="zh-CN" altLang="en-US" sz="900" b="1" dirty="0">
                  <a:solidFill>
                    <a:prstClr val="black"/>
                  </a:solidFill>
                  <a:latin typeface="仿宋" pitchFamily="49" charset="-122"/>
                  <a:ea typeface="仿宋" pitchFamily="49" charset="-122"/>
                  <a:sym typeface="+mn-ea"/>
                </a:rPr>
                <a:t>储存经过试验获得的特定产品、特定设备下影响输出稳定性关键要素的允许波动值或退化值区间；</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② 工艺数据库：</a:t>
              </a:r>
              <a:r>
                <a:rPr kumimoji="1" lang="zh-CN" altLang="en-US" sz="900" b="1" dirty="0">
                  <a:solidFill>
                    <a:prstClr val="black"/>
                  </a:solidFill>
                  <a:latin typeface="仿宋" pitchFamily="49" charset="-122"/>
                  <a:ea typeface="仿宋" pitchFamily="49" charset="-122"/>
                  <a:sym typeface="+mn-ea"/>
                </a:rPr>
                <a:t>储存经试验获得的特定产品，特定设备下的合格产品加工所需的工艺参数区间；</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③ 材料数据库：</a:t>
              </a:r>
              <a:r>
                <a:rPr kumimoji="1" lang="zh-CN" altLang="en-US" sz="900" b="1" dirty="0">
                  <a:solidFill>
                    <a:prstClr val="black"/>
                  </a:solidFill>
                  <a:latin typeface="仿宋" pitchFamily="49" charset="-122"/>
                  <a:ea typeface="仿宋" pitchFamily="49" charset="-122"/>
                  <a:sym typeface="+mn-ea"/>
                </a:rPr>
                <a:t>用于储存焊接模拟用材料的热物理参数；</a:t>
              </a:r>
              <a:endParaRPr kumimoji="1" lang="en-US" altLang="zh-CN" sz="900" b="1" dirty="0">
                <a:solidFill>
                  <a:prstClr val="black"/>
                </a:solidFill>
                <a:latin typeface="仿宋" pitchFamily="49" charset="-122"/>
                <a:ea typeface="仿宋" pitchFamily="49" charset="-122"/>
                <a:sym typeface="+mn-ea"/>
              </a:endParaRPr>
            </a:p>
            <a:p>
              <a:pPr marL="54000" indent="-108000" fontAlgn="base">
                <a:spcBef>
                  <a:spcPct val="0"/>
                </a:spcBef>
                <a:spcAft>
                  <a:spcPts val="225"/>
                </a:spcAft>
                <a:buClr>
                  <a:srgbClr val="FF0000"/>
                </a:buClr>
                <a:buFont typeface="Wingdings" pitchFamily="2" charset="2"/>
                <a:buChar char="Ø"/>
              </a:pPr>
              <a:r>
                <a:rPr kumimoji="1" lang="zh-CN" altLang="en-US" sz="900" b="1" dirty="0">
                  <a:solidFill>
                    <a:prstClr val="black"/>
                  </a:solidFill>
                  <a:latin typeface="方正小标宋简体" panose="02010601030101010101" pitchFamily="2" charset="-122"/>
                  <a:ea typeface="方正小标宋简体" panose="02010601030101010101" pitchFamily="2" charset="-122"/>
                  <a:sym typeface="+mn-ea"/>
                </a:rPr>
                <a:t>④ 共享能力建设：</a:t>
              </a:r>
              <a:r>
                <a:rPr kumimoji="1" lang="zh-CN" altLang="en-US" sz="900" b="1" dirty="0">
                  <a:solidFill>
                    <a:prstClr val="black"/>
                  </a:solidFill>
                  <a:latin typeface="仿宋" pitchFamily="49" charset="-122"/>
                  <a:ea typeface="仿宋" pitchFamily="49" charset="-122"/>
                  <a:sym typeface="+mn-ea"/>
                </a:rPr>
                <a:t>实现与</a:t>
              </a:r>
              <a:r>
                <a:rPr kumimoji="1" lang="en-US" altLang="zh-CN" sz="900" b="1" dirty="0">
                  <a:solidFill>
                    <a:prstClr val="black"/>
                  </a:solidFill>
                  <a:latin typeface="仿宋" pitchFamily="49" charset="-122"/>
                  <a:ea typeface="仿宋" pitchFamily="49" charset="-122"/>
                  <a:sym typeface="+mn-ea"/>
                </a:rPr>
                <a:t>PLC</a:t>
              </a:r>
              <a:r>
                <a:rPr kumimoji="1" lang="zh-CN" altLang="en-US" sz="900" b="1" dirty="0">
                  <a:solidFill>
                    <a:prstClr val="black"/>
                  </a:solidFill>
                  <a:latin typeface="仿宋" pitchFamily="49" charset="-122"/>
                  <a:ea typeface="仿宋" pitchFamily="49" charset="-122"/>
                  <a:sym typeface="+mn-ea"/>
                </a:rPr>
                <a:t>控制系统的关联，为设备与关键功能部件的可靠性判定提供数据支撑。</a:t>
              </a:r>
            </a:p>
          </p:txBody>
        </p:sp>
        <p:sp>
          <p:nvSpPr>
            <p:cNvPr id="399" name="圆角矩形 64">
              <a:extLst>
                <a:ext uri="{FF2B5EF4-FFF2-40B4-BE49-F238E27FC236}">
                  <a16:creationId xmlns:a16="http://schemas.microsoft.com/office/drawing/2014/main" id="{7D57E2EA-06A4-DF0D-E728-3286BB920C2D}"/>
                </a:ext>
              </a:extLst>
            </p:cNvPr>
            <p:cNvSpPr/>
            <p:nvPr/>
          </p:nvSpPr>
          <p:spPr>
            <a:xfrm>
              <a:off x="5709090" y="3363734"/>
              <a:ext cx="956671" cy="145259"/>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设备可靠性评价</a:t>
              </a:r>
            </a:p>
          </p:txBody>
        </p:sp>
        <p:sp>
          <p:nvSpPr>
            <p:cNvPr id="400" name="圆角矩形 67">
              <a:extLst>
                <a:ext uri="{FF2B5EF4-FFF2-40B4-BE49-F238E27FC236}">
                  <a16:creationId xmlns:a16="http://schemas.microsoft.com/office/drawing/2014/main" id="{CF685AEF-BC03-4F48-CF16-280B8F9D272D}"/>
                </a:ext>
              </a:extLst>
            </p:cNvPr>
            <p:cNvSpPr/>
            <p:nvPr/>
          </p:nvSpPr>
          <p:spPr>
            <a:xfrm>
              <a:off x="6686258" y="3361478"/>
              <a:ext cx="733022" cy="149771"/>
            </a:xfrm>
            <a:prstGeom prst="roundRect">
              <a:avLst/>
            </a:prstGeom>
            <a:solidFill>
              <a:srgbClr val="4BACC6">
                <a:lumMod val="20000"/>
                <a:lumOff val="80000"/>
              </a:srgbClr>
            </a:solidFill>
            <a:ln w="12700" cap="flat" cmpd="sng" algn="ctr">
              <a:solidFill>
                <a:sysClr val="windowText" lastClr="000000"/>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工艺可靠性评价</a:t>
              </a:r>
            </a:p>
          </p:txBody>
        </p:sp>
        <p:sp>
          <p:nvSpPr>
            <p:cNvPr id="401" name="箭头: 下 62">
              <a:extLst>
                <a:ext uri="{FF2B5EF4-FFF2-40B4-BE49-F238E27FC236}">
                  <a16:creationId xmlns:a16="http://schemas.microsoft.com/office/drawing/2014/main" id="{7D2C0FC0-095E-668B-C0C7-1E5B8226D725}"/>
                </a:ext>
              </a:extLst>
            </p:cNvPr>
            <p:cNvSpPr/>
            <p:nvPr/>
          </p:nvSpPr>
          <p:spPr>
            <a:xfrm>
              <a:off x="6396920" y="2293901"/>
              <a:ext cx="165825" cy="151077"/>
            </a:xfrm>
            <a:prstGeom prst="downArrow">
              <a:avLst/>
            </a:prstGeom>
            <a:solidFill>
              <a:srgbClr val="0099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2" name="箭头: 下 62">
              <a:extLst>
                <a:ext uri="{FF2B5EF4-FFF2-40B4-BE49-F238E27FC236}">
                  <a16:creationId xmlns:a16="http://schemas.microsoft.com/office/drawing/2014/main" id="{C9E83C9D-4085-8A92-E8AB-187A7E1A472A}"/>
                </a:ext>
              </a:extLst>
            </p:cNvPr>
            <p:cNvSpPr/>
            <p:nvPr/>
          </p:nvSpPr>
          <p:spPr>
            <a:xfrm>
              <a:off x="4379810" y="2280805"/>
              <a:ext cx="165825" cy="151077"/>
            </a:xfrm>
            <a:prstGeom prst="downArrow">
              <a:avLst/>
            </a:prstGeom>
            <a:solidFill>
              <a:srgbClr val="0099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3" name="矩形: 圆角 402">
              <a:extLst>
                <a:ext uri="{FF2B5EF4-FFF2-40B4-BE49-F238E27FC236}">
                  <a16:creationId xmlns:a16="http://schemas.microsoft.com/office/drawing/2014/main" id="{B9AB3B43-5B22-4726-537D-C8AAD1F96489}"/>
                </a:ext>
              </a:extLst>
            </p:cNvPr>
            <p:cNvSpPr/>
            <p:nvPr/>
          </p:nvSpPr>
          <p:spPr>
            <a:xfrm>
              <a:off x="3126443" y="3619476"/>
              <a:ext cx="6636492" cy="561983"/>
            </a:xfrm>
            <a:prstGeom prst="roundRect">
              <a:avLst>
                <a:gd name="adj" fmla="val 11761"/>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Dot"/>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4" name="矩形: 圆角 403">
              <a:extLst>
                <a:ext uri="{FF2B5EF4-FFF2-40B4-BE49-F238E27FC236}">
                  <a16:creationId xmlns:a16="http://schemas.microsoft.com/office/drawing/2014/main" id="{80856368-F396-A1B0-FAB6-85981919B4CF}"/>
                </a:ext>
              </a:extLst>
            </p:cNvPr>
            <p:cNvSpPr/>
            <p:nvPr/>
          </p:nvSpPr>
          <p:spPr>
            <a:xfrm>
              <a:off x="3126443" y="4256462"/>
              <a:ext cx="6636492" cy="874311"/>
            </a:xfrm>
            <a:prstGeom prst="roundRect">
              <a:avLst>
                <a:gd name="adj" fmla="val 7403"/>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Dot"/>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5" name="矩形: 圆角 404">
              <a:extLst>
                <a:ext uri="{FF2B5EF4-FFF2-40B4-BE49-F238E27FC236}">
                  <a16:creationId xmlns:a16="http://schemas.microsoft.com/office/drawing/2014/main" id="{066671DE-7AB3-A200-911D-C4B18E326EEB}"/>
                </a:ext>
              </a:extLst>
            </p:cNvPr>
            <p:cNvSpPr/>
            <p:nvPr/>
          </p:nvSpPr>
          <p:spPr>
            <a:xfrm>
              <a:off x="3126443" y="5206827"/>
              <a:ext cx="6636492" cy="737834"/>
            </a:xfrm>
            <a:prstGeom prst="roundRect">
              <a:avLst>
                <a:gd name="adj" fmla="val 9696"/>
              </a:avLst>
            </a:prstGeom>
            <a:noFill/>
            <a:ln w="127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Dot"/>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6" name="矩形 405">
              <a:extLst>
                <a:ext uri="{FF2B5EF4-FFF2-40B4-BE49-F238E27FC236}">
                  <a16:creationId xmlns:a16="http://schemas.microsoft.com/office/drawing/2014/main" id="{201E9A02-7267-4156-5419-9367B085AC5F}"/>
                </a:ext>
              </a:extLst>
            </p:cNvPr>
            <p:cNvSpPr/>
            <p:nvPr/>
          </p:nvSpPr>
          <p:spPr>
            <a:xfrm>
              <a:off x="3098800" y="3728296"/>
              <a:ext cx="794993" cy="321962"/>
            </a:xfrm>
            <a:prstGeom prst="rect">
              <a:avLst/>
            </a:prstGeom>
            <a:ln w="19050">
              <a:noFill/>
              <a:prstDash val="dash"/>
            </a:ln>
          </p:spPr>
          <p:txBody>
            <a:bodyPr wrap="square">
              <a:spAutoFit/>
            </a:bodyPr>
            <a:lstStyle/>
            <a:p>
              <a:pPr marL="54000" algn="ctr" fontAlgn="base">
                <a:spcBef>
                  <a:spcPct val="0"/>
                </a:spcBef>
                <a:spcAft>
                  <a:spcPts val="450"/>
                </a:spcAft>
                <a:buClr>
                  <a:srgbClr val="005BAC"/>
                </a:buClr>
              </a:pPr>
              <a:r>
                <a:rPr kumimoji="1" lang="zh-CN" altLang="en-US" sz="900" b="1" dirty="0">
                  <a:solidFill>
                    <a:prstClr val="white"/>
                  </a:solidFill>
                  <a:latin typeface="微软雅黑" panose="020B0503020204020204" pitchFamily="34" charset="-122"/>
                  <a:ea typeface="微软雅黑" panose="020B0503020204020204" pitchFamily="34" charset="-122"/>
                  <a:sym typeface="+mn-ea"/>
                </a:rPr>
                <a:t>数据采集及处理单元</a:t>
              </a:r>
              <a:endParaRPr kumimoji="1" lang="en-US" altLang="zh-CN" sz="900" b="1" dirty="0">
                <a:solidFill>
                  <a:prstClr val="white"/>
                </a:solidFill>
                <a:latin typeface="微软雅黑" panose="020B0503020204020204" pitchFamily="34" charset="-122"/>
                <a:ea typeface="微软雅黑" panose="020B0503020204020204" pitchFamily="34" charset="-122"/>
                <a:sym typeface="+mn-ea"/>
              </a:endParaRPr>
            </a:p>
          </p:txBody>
        </p:sp>
        <p:sp>
          <p:nvSpPr>
            <p:cNvPr id="407" name="矩形 406">
              <a:extLst>
                <a:ext uri="{FF2B5EF4-FFF2-40B4-BE49-F238E27FC236}">
                  <a16:creationId xmlns:a16="http://schemas.microsoft.com/office/drawing/2014/main" id="{6BD8BA71-60C0-A8F9-249C-E9469154BCD4}"/>
                </a:ext>
              </a:extLst>
            </p:cNvPr>
            <p:cNvSpPr/>
            <p:nvPr/>
          </p:nvSpPr>
          <p:spPr>
            <a:xfrm>
              <a:off x="3141530" y="4519130"/>
              <a:ext cx="709532" cy="321962"/>
            </a:xfrm>
            <a:prstGeom prst="rect">
              <a:avLst/>
            </a:prstGeom>
            <a:ln w="19050">
              <a:noFill/>
              <a:prstDash val="dash"/>
            </a:ln>
          </p:spPr>
          <p:txBody>
            <a:bodyPr wrap="square">
              <a:spAutoFit/>
            </a:bodyPr>
            <a:lstStyle/>
            <a:p>
              <a:pPr marL="54000" algn="ctr" fontAlgn="base">
                <a:spcBef>
                  <a:spcPct val="0"/>
                </a:spcBef>
                <a:buClr>
                  <a:srgbClr val="005BAC"/>
                </a:buClr>
              </a:pPr>
              <a:r>
                <a:rPr kumimoji="1" lang="zh-CN" altLang="en-US" sz="900" b="1" dirty="0">
                  <a:solidFill>
                    <a:prstClr val="white"/>
                  </a:solidFill>
                  <a:latin typeface="微软雅黑" panose="020B0503020204020204" pitchFamily="34" charset="-122"/>
                  <a:ea typeface="微软雅黑" panose="020B0503020204020204" pitchFamily="34" charset="-122"/>
                  <a:sym typeface="+mn-ea"/>
                </a:rPr>
                <a:t>可靠性</a:t>
              </a:r>
              <a:endParaRPr kumimoji="1" lang="en-US" altLang="zh-CN" sz="900" b="1" dirty="0">
                <a:solidFill>
                  <a:prstClr val="white"/>
                </a:solidFill>
                <a:latin typeface="微软雅黑" panose="020B0503020204020204" pitchFamily="34" charset="-122"/>
                <a:ea typeface="微软雅黑" panose="020B0503020204020204" pitchFamily="34" charset="-122"/>
                <a:sym typeface="+mn-ea"/>
              </a:endParaRPr>
            </a:p>
            <a:p>
              <a:pPr marL="54000" algn="ctr" fontAlgn="base">
                <a:spcBef>
                  <a:spcPct val="0"/>
                </a:spcBef>
                <a:buClr>
                  <a:srgbClr val="005BAC"/>
                </a:buClr>
              </a:pPr>
              <a:r>
                <a:rPr kumimoji="1" lang="zh-CN" altLang="en-US" sz="900" b="1" dirty="0">
                  <a:solidFill>
                    <a:prstClr val="white"/>
                  </a:solidFill>
                  <a:latin typeface="微软雅黑" panose="020B0503020204020204" pitchFamily="34" charset="-122"/>
                  <a:ea typeface="微软雅黑" panose="020B0503020204020204" pitchFamily="34" charset="-122"/>
                  <a:sym typeface="+mn-ea"/>
                </a:rPr>
                <a:t>评价系统</a:t>
              </a:r>
            </a:p>
          </p:txBody>
        </p:sp>
        <p:sp>
          <p:nvSpPr>
            <p:cNvPr id="408" name="矩形 407">
              <a:extLst>
                <a:ext uri="{FF2B5EF4-FFF2-40B4-BE49-F238E27FC236}">
                  <a16:creationId xmlns:a16="http://schemas.microsoft.com/office/drawing/2014/main" id="{7F426496-1345-6BDC-907D-D1BD38EDAE63}"/>
                </a:ext>
              </a:extLst>
            </p:cNvPr>
            <p:cNvSpPr/>
            <p:nvPr/>
          </p:nvSpPr>
          <p:spPr>
            <a:xfrm>
              <a:off x="3098800" y="5415697"/>
              <a:ext cx="794993" cy="321962"/>
            </a:xfrm>
            <a:prstGeom prst="rect">
              <a:avLst/>
            </a:prstGeom>
            <a:ln w="19050">
              <a:noFill/>
              <a:prstDash val="dash"/>
            </a:ln>
          </p:spPr>
          <p:txBody>
            <a:bodyPr wrap="square">
              <a:spAutoFit/>
            </a:bodyPr>
            <a:lstStyle/>
            <a:p>
              <a:pPr marL="54000" algn="ctr" fontAlgn="base">
                <a:spcBef>
                  <a:spcPct val="0"/>
                </a:spcBef>
                <a:buClr>
                  <a:srgbClr val="005BAC"/>
                </a:buClr>
              </a:pPr>
              <a:r>
                <a:rPr kumimoji="1" lang="zh-CN" altLang="en-US" sz="900" b="1" dirty="0">
                  <a:solidFill>
                    <a:prstClr val="white"/>
                  </a:solidFill>
                  <a:latin typeface="微软雅黑" panose="020B0503020204020204" pitchFamily="34" charset="-122"/>
                  <a:ea typeface="微软雅黑" panose="020B0503020204020204" pitchFamily="34" charset="-122"/>
                  <a:sym typeface="+mn-ea"/>
                </a:rPr>
                <a:t>数据库</a:t>
              </a:r>
              <a:endParaRPr kumimoji="1" lang="en-US" altLang="zh-CN" sz="900" b="1" dirty="0">
                <a:solidFill>
                  <a:prstClr val="white"/>
                </a:solidFill>
                <a:latin typeface="微软雅黑" panose="020B0503020204020204" pitchFamily="34" charset="-122"/>
                <a:ea typeface="微软雅黑" panose="020B0503020204020204" pitchFamily="34" charset="-122"/>
                <a:sym typeface="+mn-ea"/>
              </a:endParaRPr>
            </a:p>
            <a:p>
              <a:pPr marL="54000" algn="ctr" fontAlgn="base">
                <a:spcBef>
                  <a:spcPct val="0"/>
                </a:spcBef>
                <a:buClr>
                  <a:srgbClr val="005BAC"/>
                </a:buClr>
              </a:pPr>
              <a:r>
                <a:rPr kumimoji="1" lang="zh-CN" altLang="en-US" sz="900" b="1" dirty="0">
                  <a:solidFill>
                    <a:prstClr val="white"/>
                  </a:solidFill>
                  <a:latin typeface="微软雅黑" panose="020B0503020204020204" pitchFamily="34" charset="-122"/>
                  <a:ea typeface="微软雅黑" panose="020B0503020204020204" pitchFamily="34" charset="-122"/>
                  <a:sym typeface="+mn-ea"/>
                </a:rPr>
                <a:t>系统</a:t>
              </a:r>
            </a:p>
          </p:txBody>
        </p:sp>
      </p:grpSp>
      <p:sp>
        <p:nvSpPr>
          <p:cNvPr id="410" name="文本框 409">
            <a:extLst>
              <a:ext uri="{FF2B5EF4-FFF2-40B4-BE49-F238E27FC236}">
                <a16:creationId xmlns:a16="http://schemas.microsoft.com/office/drawing/2014/main" id="{99CDC4A7-C6A4-AC98-D952-55D5DE79783B}"/>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411" name="直接连接符 410">
            <a:extLst>
              <a:ext uri="{FF2B5EF4-FFF2-40B4-BE49-F238E27FC236}">
                <a16:creationId xmlns:a16="http://schemas.microsoft.com/office/drawing/2014/main" id="{3AEE27D6-8BB6-6B12-DDCF-1D93B7C0D787}"/>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2" name="文本框 411">
            <a:extLst>
              <a:ext uri="{FF2B5EF4-FFF2-40B4-BE49-F238E27FC236}">
                <a16:creationId xmlns:a16="http://schemas.microsoft.com/office/drawing/2014/main" id="{3FFED879-159F-F43D-DA76-F67F5DD73CA8}"/>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Tree>
    <p:extLst>
      <p:ext uri="{BB962C8B-B14F-4D97-AF65-F5344CB8AC3E}">
        <p14:creationId xmlns:p14="http://schemas.microsoft.com/office/powerpoint/2010/main" val="1877309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FC7AD-48EB-99F3-BFD8-DEFB67EC9184}"/>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4E79E47-ABFA-307D-8640-4FE32B911D31}"/>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焊接装备的可靠性评价，尤其是熔化焊，还需关注是否能稳定产出合格焊接接头</a:t>
            </a:r>
          </a:p>
        </p:txBody>
      </p:sp>
      <p:grpSp>
        <p:nvGrpSpPr>
          <p:cNvPr id="295" name="组合 294">
            <a:extLst>
              <a:ext uri="{FF2B5EF4-FFF2-40B4-BE49-F238E27FC236}">
                <a16:creationId xmlns:a16="http://schemas.microsoft.com/office/drawing/2014/main" id="{18789D18-870A-36FA-1922-2F1ACBC16D1F}"/>
              </a:ext>
            </a:extLst>
          </p:cNvPr>
          <p:cNvGrpSpPr>
            <a:grpSpLocks noChangeAspect="1"/>
          </p:cNvGrpSpPr>
          <p:nvPr/>
        </p:nvGrpSpPr>
        <p:grpSpPr>
          <a:xfrm>
            <a:off x="431800" y="2095500"/>
            <a:ext cx="3454400" cy="2600145"/>
            <a:chOff x="335360" y="1502875"/>
            <a:chExt cx="5597132" cy="4212990"/>
          </a:xfrm>
        </p:grpSpPr>
        <p:pic>
          <p:nvPicPr>
            <p:cNvPr id="296" name="Picture 2" descr="https://ts1.cn.mm.bing.net/th/id/R-C.563f2928c8a3b4843a34e96f54f9a0ac?rik=jC7ByDhZoSqUfw&amp;pid=ImgRaw&amp;r=0">
              <a:extLst>
                <a:ext uri="{FF2B5EF4-FFF2-40B4-BE49-F238E27FC236}">
                  <a16:creationId xmlns:a16="http://schemas.microsoft.com/office/drawing/2014/main" id="{D21EAD86-A249-B0EB-83BB-AFEAF9BD16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5570" y="1502875"/>
              <a:ext cx="3706922" cy="24702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97" name="Picture 4" descr="https://www.mwelding.com.cn/resource/images/efb3d8d0c9a7479985db250bb8a78cb1_2.jpg">
              <a:extLst>
                <a:ext uri="{FF2B5EF4-FFF2-40B4-BE49-F238E27FC236}">
                  <a16:creationId xmlns:a16="http://schemas.microsoft.com/office/drawing/2014/main" id="{BEE61785-861D-DEE6-241F-944278B1B7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360" y="3214997"/>
              <a:ext cx="3334490" cy="25008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
        <p:nvSpPr>
          <p:cNvPr id="304" name="矩形 303">
            <a:extLst>
              <a:ext uri="{FF2B5EF4-FFF2-40B4-BE49-F238E27FC236}">
                <a16:creationId xmlns:a16="http://schemas.microsoft.com/office/drawing/2014/main" id="{1275B0CE-2E01-B102-11A5-CB87E62817F1}"/>
              </a:ext>
            </a:extLst>
          </p:cNvPr>
          <p:cNvSpPr>
            <a:spLocks/>
          </p:cNvSpPr>
          <p:nvPr/>
        </p:nvSpPr>
        <p:spPr>
          <a:xfrm>
            <a:off x="469899" y="1612900"/>
            <a:ext cx="17018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5" name="文本框 304">
            <a:extLst>
              <a:ext uri="{FF2B5EF4-FFF2-40B4-BE49-F238E27FC236}">
                <a16:creationId xmlns:a16="http://schemas.microsoft.com/office/drawing/2014/main" id="{58E539D1-D24C-E2E8-0A69-3E5202101A8B}"/>
              </a:ext>
            </a:extLst>
          </p:cNvPr>
          <p:cNvSpPr txBox="1">
            <a:spLocks/>
          </p:cNvSpPr>
          <p:nvPr/>
        </p:nvSpPr>
        <p:spPr>
          <a:xfrm>
            <a:off x="495300" y="1689100"/>
            <a:ext cx="22733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ASSESSMENT</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6" name="文本框 305">
            <a:extLst>
              <a:ext uri="{FF2B5EF4-FFF2-40B4-BE49-F238E27FC236}">
                <a16:creationId xmlns:a16="http://schemas.microsoft.com/office/drawing/2014/main" id="{3F7D42AC-3F8F-9D51-90AE-3DDF69427C4B}"/>
              </a:ext>
            </a:extLst>
          </p:cNvPr>
          <p:cNvSpPr txBox="1">
            <a:spLocks/>
          </p:cNvSpPr>
          <p:nvPr/>
        </p:nvSpPr>
        <p:spPr>
          <a:xfrm>
            <a:off x="495300" y="1638300"/>
            <a:ext cx="17018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评价依据</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7" name="文本框 306">
            <a:extLst>
              <a:ext uri="{FF2B5EF4-FFF2-40B4-BE49-F238E27FC236}">
                <a16:creationId xmlns:a16="http://schemas.microsoft.com/office/drawing/2014/main" id="{6AC62C61-DA0B-A789-3C38-9677AED80DC4}"/>
              </a:ext>
            </a:extLst>
          </p:cNvPr>
          <p:cNvSpPr txBox="1"/>
          <p:nvPr/>
        </p:nvSpPr>
        <p:spPr>
          <a:xfrm>
            <a:off x="457200" y="4927600"/>
            <a:ext cx="3556000" cy="276999"/>
          </a:xfrm>
          <a:prstGeom prst="rect">
            <a:avLst/>
          </a:prstGeom>
          <a:noFill/>
        </p:spPr>
        <p:txBody>
          <a:bodyPr vert="horz" wrap="square" lIns="0" tIns="0" rIns="0" bIns="0" rtlCol="0">
            <a:noAutofit/>
          </a:bodyPr>
          <a:lstStyle/>
          <a:p>
            <a:r>
              <a:rPr lang="zh-CN" altLang="en-US" sz="1700" dirty="0">
                <a:solidFill>
                  <a:srgbClr val="000000"/>
                </a:solidFill>
                <a:latin typeface="微软雅黑" panose="020B0503020204020204" pitchFamily="34" charset="-122"/>
              </a:rPr>
              <a:t>产品焊接质量，是评价的落脚点</a:t>
            </a:r>
          </a:p>
        </p:txBody>
      </p:sp>
      <p:sp>
        <p:nvSpPr>
          <p:cNvPr id="308" name="文本框 307">
            <a:extLst>
              <a:ext uri="{FF2B5EF4-FFF2-40B4-BE49-F238E27FC236}">
                <a16:creationId xmlns:a16="http://schemas.microsoft.com/office/drawing/2014/main" id="{EE2310B6-6853-ADAD-4053-7225852C2664}"/>
              </a:ext>
            </a:extLst>
          </p:cNvPr>
          <p:cNvSpPr txBox="1"/>
          <p:nvPr/>
        </p:nvSpPr>
        <p:spPr>
          <a:xfrm>
            <a:off x="469900" y="5587999"/>
            <a:ext cx="3556000" cy="723900"/>
          </a:xfrm>
          <a:prstGeom prst="rect">
            <a:avLst/>
          </a:prstGeom>
          <a:noFill/>
        </p:spPr>
        <p:txBody>
          <a:bodyPr vert="horz" wrap="square" lIns="0" tIns="0" rIns="0" bIns="0" rtlCol="0">
            <a:noAutofit/>
          </a:bodyPr>
          <a:lstStyle/>
          <a:p>
            <a:r>
              <a:rPr lang="zh-CN" altLang="en-US" sz="1500" dirty="0">
                <a:solidFill>
                  <a:srgbClr val="2F5597"/>
                </a:solidFill>
                <a:latin typeface="微软雅黑" panose="020B0503020204020204" pitchFamily="34" charset="-122"/>
              </a:rPr>
              <a:t>结合具体工艺及质量要求，</a:t>
            </a:r>
          </a:p>
          <a:p>
            <a:r>
              <a:rPr lang="zh-CN" altLang="en-US" sz="1500" dirty="0">
                <a:solidFill>
                  <a:srgbClr val="2F5597"/>
                </a:solidFill>
                <a:latin typeface="微软雅黑" panose="020B0503020204020204" pitchFamily="34" charset="-122"/>
              </a:rPr>
              <a:t>确定装备与关键功能部件</a:t>
            </a:r>
          </a:p>
          <a:p>
            <a:r>
              <a:rPr lang="zh-CN" altLang="en-US" sz="1500" dirty="0">
                <a:solidFill>
                  <a:srgbClr val="2F5597"/>
                </a:solidFill>
                <a:latin typeface="微软雅黑" panose="020B0503020204020204" pitchFamily="34" charset="-122"/>
              </a:rPr>
              <a:t>需要评价的可靠性内容。</a:t>
            </a:r>
          </a:p>
        </p:txBody>
      </p:sp>
      <p:sp>
        <p:nvSpPr>
          <p:cNvPr id="309" name="矩形: 圆角 308">
            <a:extLst>
              <a:ext uri="{FF2B5EF4-FFF2-40B4-BE49-F238E27FC236}">
                <a16:creationId xmlns:a16="http://schemas.microsoft.com/office/drawing/2014/main" id="{EB986479-689B-4852-BD85-7010170D5DDB}"/>
              </a:ext>
            </a:extLst>
          </p:cNvPr>
          <p:cNvSpPr>
            <a:spLocks/>
          </p:cNvSpPr>
          <p:nvPr/>
        </p:nvSpPr>
        <p:spPr>
          <a:xfrm>
            <a:off x="4305300" y="1866900"/>
            <a:ext cx="7543800" cy="2438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10" name="矩形 309">
            <a:extLst>
              <a:ext uri="{FF2B5EF4-FFF2-40B4-BE49-F238E27FC236}">
                <a16:creationId xmlns:a16="http://schemas.microsoft.com/office/drawing/2014/main" id="{12ECD6EB-A431-F187-BB69-E4C2AE937F0A}"/>
              </a:ext>
            </a:extLst>
          </p:cNvPr>
          <p:cNvSpPr>
            <a:spLocks/>
          </p:cNvSpPr>
          <p:nvPr/>
        </p:nvSpPr>
        <p:spPr>
          <a:xfrm>
            <a:off x="4470399" y="1612900"/>
            <a:ext cx="18161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11" name="文本框 310">
            <a:extLst>
              <a:ext uri="{FF2B5EF4-FFF2-40B4-BE49-F238E27FC236}">
                <a16:creationId xmlns:a16="http://schemas.microsoft.com/office/drawing/2014/main" id="{63C52644-AEBD-BD24-05B9-A484C22FE6C8}"/>
              </a:ext>
            </a:extLst>
          </p:cNvPr>
          <p:cNvSpPr txBox="1">
            <a:spLocks/>
          </p:cNvSpPr>
          <p:nvPr/>
        </p:nvSpPr>
        <p:spPr>
          <a:xfrm>
            <a:off x="4495800" y="1689100"/>
            <a:ext cx="23876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LASER WELDING</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2" name="文本框 311">
            <a:extLst>
              <a:ext uri="{FF2B5EF4-FFF2-40B4-BE49-F238E27FC236}">
                <a16:creationId xmlns:a16="http://schemas.microsoft.com/office/drawing/2014/main" id="{C00D70DD-64EB-71BC-6840-074DD6A0EDCA}"/>
              </a:ext>
            </a:extLst>
          </p:cNvPr>
          <p:cNvSpPr txBox="1">
            <a:spLocks/>
          </p:cNvSpPr>
          <p:nvPr/>
        </p:nvSpPr>
        <p:spPr>
          <a:xfrm>
            <a:off x="4495800" y="1638300"/>
            <a:ext cx="18161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激光焊接</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3" name="文本框 312">
            <a:extLst>
              <a:ext uri="{FF2B5EF4-FFF2-40B4-BE49-F238E27FC236}">
                <a16:creationId xmlns:a16="http://schemas.microsoft.com/office/drawing/2014/main" id="{B4277F77-6A75-1B6D-4752-029FEE9DB443}"/>
              </a:ext>
            </a:extLst>
          </p:cNvPr>
          <p:cNvSpPr txBox="1"/>
          <p:nvPr/>
        </p:nvSpPr>
        <p:spPr>
          <a:xfrm>
            <a:off x="4572000" y="2120899"/>
            <a:ext cx="70231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装备不出现故障，也容易因输出能量衰减、输出介质（气、水等）或能量（电流</a:t>
            </a:r>
            <a:r>
              <a:rPr lang="en-US" altLang="zh-CN" sz="1400" dirty="0">
                <a:solidFill>
                  <a:srgbClr val="000000"/>
                </a:solidFill>
                <a:latin typeface="微软雅黑" panose="020B0503020204020204" pitchFamily="34" charset="-122"/>
              </a:rPr>
              <a:t>/</a:t>
            </a:r>
            <a:r>
              <a:rPr lang="zh-CN" altLang="en-US" sz="1400" dirty="0">
                <a:solidFill>
                  <a:srgbClr val="000000"/>
                </a:solidFill>
                <a:latin typeface="微软雅黑" panose="020B0503020204020204" pitchFamily="34" charset="-122"/>
              </a:rPr>
              <a:t>电压、激光功率）波动，导致焊接产品质量不合格。</a:t>
            </a:r>
          </a:p>
        </p:txBody>
      </p:sp>
      <p:sp>
        <p:nvSpPr>
          <p:cNvPr id="314" name="文本框 313">
            <a:extLst>
              <a:ext uri="{FF2B5EF4-FFF2-40B4-BE49-F238E27FC236}">
                <a16:creationId xmlns:a16="http://schemas.microsoft.com/office/drawing/2014/main" id="{7AA9261E-5028-FF97-A690-57C2B7F5F122}"/>
              </a:ext>
            </a:extLst>
          </p:cNvPr>
          <p:cNvSpPr txBox="1"/>
          <p:nvPr/>
        </p:nvSpPr>
        <p:spPr>
          <a:xfrm>
            <a:off x="4597400" y="3225800"/>
            <a:ext cx="1422400" cy="276999"/>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装备可靠性</a:t>
            </a:r>
          </a:p>
        </p:txBody>
      </p:sp>
      <p:cxnSp>
        <p:nvCxnSpPr>
          <p:cNvPr id="315" name="直接连接符 314">
            <a:extLst>
              <a:ext uri="{FF2B5EF4-FFF2-40B4-BE49-F238E27FC236}">
                <a16:creationId xmlns:a16="http://schemas.microsoft.com/office/drawing/2014/main" id="{0CF916B4-53EF-6607-C61D-A534F72CC0D1}"/>
              </a:ext>
            </a:extLst>
          </p:cNvPr>
          <p:cNvCxnSpPr/>
          <p:nvPr/>
        </p:nvCxnSpPr>
        <p:spPr>
          <a:xfrm>
            <a:off x="6019800" y="3378200"/>
            <a:ext cx="203200" cy="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4B62A107-6211-B2A6-2477-EFAF2BC22412}"/>
              </a:ext>
            </a:extLst>
          </p:cNvPr>
          <p:cNvCxnSpPr/>
          <p:nvPr/>
        </p:nvCxnSpPr>
        <p:spPr>
          <a:xfrm>
            <a:off x="6223000" y="2971800"/>
            <a:ext cx="0" cy="83820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860E3740-ABA2-C4E8-C7F7-A7554C19D27F}"/>
              </a:ext>
            </a:extLst>
          </p:cNvPr>
          <p:cNvCxnSpPr/>
          <p:nvPr/>
        </p:nvCxnSpPr>
        <p:spPr>
          <a:xfrm>
            <a:off x="6223000" y="2971800"/>
            <a:ext cx="228600" cy="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6B898624-82DB-2435-7CBE-224FA3380032}"/>
              </a:ext>
            </a:extLst>
          </p:cNvPr>
          <p:cNvCxnSpPr/>
          <p:nvPr/>
        </p:nvCxnSpPr>
        <p:spPr>
          <a:xfrm>
            <a:off x="6223000" y="3810000"/>
            <a:ext cx="228600" cy="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sp>
        <p:nvSpPr>
          <p:cNvPr id="319" name="文本框 318">
            <a:extLst>
              <a:ext uri="{FF2B5EF4-FFF2-40B4-BE49-F238E27FC236}">
                <a16:creationId xmlns:a16="http://schemas.microsoft.com/office/drawing/2014/main" id="{0EB73966-2D21-EC01-B505-E97A064D2D81}"/>
              </a:ext>
            </a:extLst>
          </p:cNvPr>
          <p:cNvSpPr txBox="1"/>
          <p:nvPr/>
        </p:nvSpPr>
        <p:spPr>
          <a:xfrm>
            <a:off x="6553200" y="2819400"/>
            <a:ext cx="1651000" cy="276999"/>
          </a:xfrm>
          <a:prstGeom prst="rect">
            <a:avLst/>
          </a:prstGeom>
          <a:noFill/>
        </p:spPr>
        <p:txBody>
          <a:bodyPr vert="horz" wrap="square" lIns="0" tIns="0" rIns="0" bIns="0" rtlCol="0">
            <a:noAutofit/>
          </a:bodyPr>
          <a:lstStyle/>
          <a:p>
            <a:r>
              <a:rPr lang="zh-CN" altLang="en-US" sz="1600" dirty="0">
                <a:solidFill>
                  <a:srgbClr val="000000"/>
                </a:solidFill>
                <a:latin typeface="微软雅黑" panose="020B0503020204020204" pitchFamily="34" charset="-122"/>
              </a:rPr>
              <a:t>设备可靠性</a:t>
            </a:r>
          </a:p>
        </p:txBody>
      </p:sp>
      <p:sp>
        <p:nvSpPr>
          <p:cNvPr id="320" name="文本框 319">
            <a:extLst>
              <a:ext uri="{FF2B5EF4-FFF2-40B4-BE49-F238E27FC236}">
                <a16:creationId xmlns:a16="http://schemas.microsoft.com/office/drawing/2014/main" id="{4267C54C-0F81-3A5B-93F2-B0110C496456}"/>
              </a:ext>
            </a:extLst>
          </p:cNvPr>
          <p:cNvSpPr txBox="1"/>
          <p:nvPr/>
        </p:nvSpPr>
        <p:spPr>
          <a:xfrm>
            <a:off x="6553200" y="3619500"/>
            <a:ext cx="1651000" cy="276999"/>
          </a:xfrm>
          <a:prstGeom prst="rect">
            <a:avLst/>
          </a:prstGeom>
          <a:noFill/>
        </p:spPr>
        <p:txBody>
          <a:bodyPr vert="horz" wrap="square" lIns="0" tIns="0" rIns="0" bIns="0" rtlCol="0">
            <a:noAutofit/>
          </a:bodyPr>
          <a:lstStyle/>
          <a:p>
            <a:r>
              <a:rPr lang="zh-CN" altLang="en-US" sz="1600" dirty="0">
                <a:solidFill>
                  <a:srgbClr val="2F5597"/>
                </a:solidFill>
                <a:latin typeface="微软雅黑" panose="020B0503020204020204" pitchFamily="34" charset="-122"/>
              </a:rPr>
              <a:t>输出稳定性</a:t>
            </a:r>
          </a:p>
        </p:txBody>
      </p:sp>
      <p:cxnSp>
        <p:nvCxnSpPr>
          <p:cNvPr id="321" name="直接连接符 320">
            <a:extLst>
              <a:ext uri="{FF2B5EF4-FFF2-40B4-BE49-F238E27FC236}">
                <a16:creationId xmlns:a16="http://schemas.microsoft.com/office/drawing/2014/main" id="{22C2F984-5BBA-CF11-307A-D3FA19337A4E}"/>
              </a:ext>
            </a:extLst>
          </p:cNvPr>
          <p:cNvCxnSpPr/>
          <p:nvPr/>
        </p:nvCxnSpPr>
        <p:spPr>
          <a:xfrm>
            <a:off x="8216900" y="2971800"/>
            <a:ext cx="342900" cy="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cxnSp>
        <p:nvCxnSpPr>
          <p:cNvPr id="322" name="直接连接符 321">
            <a:extLst>
              <a:ext uri="{FF2B5EF4-FFF2-40B4-BE49-F238E27FC236}">
                <a16:creationId xmlns:a16="http://schemas.microsoft.com/office/drawing/2014/main" id="{3664C8E5-0942-1658-7EAD-9F6DAF79DF72}"/>
              </a:ext>
            </a:extLst>
          </p:cNvPr>
          <p:cNvCxnSpPr/>
          <p:nvPr/>
        </p:nvCxnSpPr>
        <p:spPr>
          <a:xfrm>
            <a:off x="8216900" y="3771900"/>
            <a:ext cx="342900" cy="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sp>
        <p:nvSpPr>
          <p:cNvPr id="323" name="文本框 322">
            <a:extLst>
              <a:ext uri="{FF2B5EF4-FFF2-40B4-BE49-F238E27FC236}">
                <a16:creationId xmlns:a16="http://schemas.microsoft.com/office/drawing/2014/main" id="{04218A68-5764-7538-3FD5-0A9178A3C65B}"/>
              </a:ext>
            </a:extLst>
          </p:cNvPr>
          <p:cNvSpPr txBox="1"/>
          <p:nvPr/>
        </p:nvSpPr>
        <p:spPr>
          <a:xfrm>
            <a:off x="8775700" y="2755899"/>
            <a:ext cx="26797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传动系统、电气系统</a:t>
            </a:r>
          </a:p>
          <a:p>
            <a:r>
              <a:rPr lang="zh-CN" altLang="en-US" sz="1400" dirty="0">
                <a:solidFill>
                  <a:srgbClr val="000000"/>
                </a:solidFill>
                <a:latin typeface="微软雅黑" panose="020B0503020204020204" pitchFamily="34" charset="-122"/>
              </a:rPr>
              <a:t>控制系统等</a:t>
            </a:r>
          </a:p>
        </p:txBody>
      </p:sp>
      <p:sp>
        <p:nvSpPr>
          <p:cNvPr id="324" name="文本框 323">
            <a:extLst>
              <a:ext uri="{FF2B5EF4-FFF2-40B4-BE49-F238E27FC236}">
                <a16:creationId xmlns:a16="http://schemas.microsoft.com/office/drawing/2014/main" id="{5DA2F10B-6CAE-7F19-827B-BC95362EC0C9}"/>
              </a:ext>
            </a:extLst>
          </p:cNvPr>
          <p:cNvSpPr txBox="1"/>
          <p:nvPr/>
        </p:nvSpPr>
        <p:spPr>
          <a:xfrm>
            <a:off x="8775700" y="3568699"/>
            <a:ext cx="2794000" cy="464820"/>
          </a:xfrm>
          <a:prstGeom prst="rect">
            <a:avLst/>
          </a:prstGeom>
          <a:noFill/>
        </p:spPr>
        <p:txBody>
          <a:bodyPr vert="horz" wrap="square" lIns="0" tIns="0" rIns="0" bIns="0" rtlCol="0">
            <a:noAutofit/>
          </a:bodyPr>
          <a:lstStyle/>
          <a:p>
            <a:r>
              <a:rPr lang="zh-CN" altLang="en-US" sz="1400" dirty="0">
                <a:solidFill>
                  <a:srgbClr val="2F5597"/>
                </a:solidFill>
                <a:latin typeface="微软雅黑" panose="020B0503020204020204" pitchFamily="34" charset="-122"/>
              </a:rPr>
              <a:t>退化性故障、波动性故障</a:t>
            </a:r>
          </a:p>
          <a:p>
            <a:r>
              <a:rPr lang="zh-CN" altLang="en-US" sz="1400" dirty="0">
                <a:solidFill>
                  <a:srgbClr val="2F5597"/>
                </a:solidFill>
                <a:latin typeface="微软雅黑" panose="020B0503020204020204" pitchFamily="34" charset="-122"/>
              </a:rPr>
              <a:t>依据设备运行数据判断</a:t>
            </a:r>
          </a:p>
        </p:txBody>
      </p:sp>
      <p:sp>
        <p:nvSpPr>
          <p:cNvPr id="325" name="矩形: 圆角 324">
            <a:extLst>
              <a:ext uri="{FF2B5EF4-FFF2-40B4-BE49-F238E27FC236}">
                <a16:creationId xmlns:a16="http://schemas.microsoft.com/office/drawing/2014/main" id="{53F995C4-0D0D-BF6F-A12D-37F54A7D994B}"/>
              </a:ext>
            </a:extLst>
          </p:cNvPr>
          <p:cNvSpPr>
            <a:spLocks/>
          </p:cNvSpPr>
          <p:nvPr/>
        </p:nvSpPr>
        <p:spPr>
          <a:xfrm>
            <a:off x="4305300" y="4699000"/>
            <a:ext cx="7543800" cy="16256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26" name="矩形 325">
            <a:extLst>
              <a:ext uri="{FF2B5EF4-FFF2-40B4-BE49-F238E27FC236}">
                <a16:creationId xmlns:a16="http://schemas.microsoft.com/office/drawing/2014/main" id="{1922E63F-3730-3950-AE93-B1AABF4B4A20}"/>
              </a:ext>
            </a:extLst>
          </p:cNvPr>
          <p:cNvSpPr>
            <a:spLocks/>
          </p:cNvSpPr>
          <p:nvPr/>
        </p:nvSpPr>
        <p:spPr>
          <a:xfrm>
            <a:off x="4470399" y="4432300"/>
            <a:ext cx="22987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27" name="文本框 326">
            <a:extLst>
              <a:ext uri="{FF2B5EF4-FFF2-40B4-BE49-F238E27FC236}">
                <a16:creationId xmlns:a16="http://schemas.microsoft.com/office/drawing/2014/main" id="{2CFFF43B-BF8E-91BA-B779-918D33D4CA5B}"/>
              </a:ext>
            </a:extLst>
          </p:cNvPr>
          <p:cNvSpPr txBox="1">
            <a:spLocks/>
          </p:cNvSpPr>
          <p:nvPr/>
        </p:nvSpPr>
        <p:spPr>
          <a:xfrm>
            <a:off x="4495800" y="4508500"/>
            <a:ext cx="28702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FRICTION WELDING</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28" name="文本框 327">
            <a:extLst>
              <a:ext uri="{FF2B5EF4-FFF2-40B4-BE49-F238E27FC236}">
                <a16:creationId xmlns:a16="http://schemas.microsoft.com/office/drawing/2014/main" id="{1D8F105C-067A-C89A-F9FA-B316043BE573}"/>
              </a:ext>
            </a:extLst>
          </p:cNvPr>
          <p:cNvSpPr txBox="1">
            <a:spLocks/>
          </p:cNvSpPr>
          <p:nvPr/>
        </p:nvSpPr>
        <p:spPr>
          <a:xfrm>
            <a:off x="4495800" y="4457700"/>
            <a:ext cx="22987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惯性摩擦焊接</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29" name="文本框 328">
            <a:extLst>
              <a:ext uri="{FF2B5EF4-FFF2-40B4-BE49-F238E27FC236}">
                <a16:creationId xmlns:a16="http://schemas.microsoft.com/office/drawing/2014/main" id="{3D55D75F-E239-6963-ACF1-13FC19EF6A21}"/>
              </a:ext>
            </a:extLst>
          </p:cNvPr>
          <p:cNvSpPr txBox="1"/>
          <p:nvPr/>
        </p:nvSpPr>
        <p:spPr>
          <a:xfrm>
            <a:off x="4572000" y="4953000"/>
            <a:ext cx="7010400" cy="276999"/>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加工过程与机加工相似，焊接质量主要取决于摩擦焊主机本身。</a:t>
            </a:r>
          </a:p>
        </p:txBody>
      </p:sp>
      <p:sp>
        <p:nvSpPr>
          <p:cNvPr id="330" name="文本框 329">
            <a:extLst>
              <a:ext uri="{FF2B5EF4-FFF2-40B4-BE49-F238E27FC236}">
                <a16:creationId xmlns:a16="http://schemas.microsoft.com/office/drawing/2014/main" id="{AB4D6C88-C6BC-91C8-569F-610F89BDF837}"/>
              </a:ext>
            </a:extLst>
          </p:cNvPr>
          <p:cNvSpPr txBox="1"/>
          <p:nvPr/>
        </p:nvSpPr>
        <p:spPr>
          <a:xfrm>
            <a:off x="4597400" y="5664200"/>
            <a:ext cx="1460500" cy="276999"/>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主机可靠性</a:t>
            </a:r>
          </a:p>
        </p:txBody>
      </p:sp>
      <p:cxnSp>
        <p:nvCxnSpPr>
          <p:cNvPr id="331" name="直接连接符 330">
            <a:extLst>
              <a:ext uri="{FF2B5EF4-FFF2-40B4-BE49-F238E27FC236}">
                <a16:creationId xmlns:a16="http://schemas.microsoft.com/office/drawing/2014/main" id="{2BC956B5-75EA-8788-3D39-948D65B5B173}"/>
              </a:ext>
            </a:extLst>
          </p:cNvPr>
          <p:cNvCxnSpPr/>
          <p:nvPr/>
        </p:nvCxnSpPr>
        <p:spPr>
          <a:xfrm>
            <a:off x="6057900" y="5803900"/>
            <a:ext cx="368300" cy="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sp>
        <p:nvSpPr>
          <p:cNvPr id="332" name="文本框 331">
            <a:extLst>
              <a:ext uri="{FF2B5EF4-FFF2-40B4-BE49-F238E27FC236}">
                <a16:creationId xmlns:a16="http://schemas.microsoft.com/office/drawing/2014/main" id="{929A4B92-5EBA-61E2-581C-51E413C3F80D}"/>
              </a:ext>
            </a:extLst>
          </p:cNvPr>
          <p:cNvSpPr txBox="1"/>
          <p:nvPr/>
        </p:nvSpPr>
        <p:spPr>
          <a:xfrm>
            <a:off x="6578600" y="5664200"/>
            <a:ext cx="1600200" cy="276999"/>
          </a:xfrm>
          <a:prstGeom prst="rect">
            <a:avLst/>
          </a:prstGeom>
          <a:noFill/>
        </p:spPr>
        <p:txBody>
          <a:bodyPr vert="horz" wrap="square" lIns="0" tIns="0" rIns="0" bIns="0" rtlCol="0">
            <a:noAutofit/>
          </a:bodyPr>
          <a:lstStyle/>
          <a:p>
            <a:r>
              <a:rPr lang="zh-CN" altLang="en-US" sz="1600" dirty="0">
                <a:solidFill>
                  <a:srgbClr val="000000"/>
                </a:solidFill>
                <a:latin typeface="微软雅黑" panose="020B0503020204020204" pitchFamily="34" charset="-122"/>
              </a:rPr>
              <a:t>设备故障率</a:t>
            </a:r>
          </a:p>
        </p:txBody>
      </p:sp>
      <p:cxnSp>
        <p:nvCxnSpPr>
          <p:cNvPr id="333" name="直接连接符 332">
            <a:extLst>
              <a:ext uri="{FF2B5EF4-FFF2-40B4-BE49-F238E27FC236}">
                <a16:creationId xmlns:a16="http://schemas.microsoft.com/office/drawing/2014/main" id="{1D2560E3-0D8F-19C9-3906-4C102C5729D2}"/>
              </a:ext>
            </a:extLst>
          </p:cNvPr>
          <p:cNvCxnSpPr/>
          <p:nvPr/>
        </p:nvCxnSpPr>
        <p:spPr>
          <a:xfrm>
            <a:off x="8216900" y="5803900"/>
            <a:ext cx="342900" cy="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sp>
        <p:nvSpPr>
          <p:cNvPr id="334" name="文本框 333">
            <a:extLst>
              <a:ext uri="{FF2B5EF4-FFF2-40B4-BE49-F238E27FC236}">
                <a16:creationId xmlns:a16="http://schemas.microsoft.com/office/drawing/2014/main" id="{07E98E1E-F20B-2F13-96E3-0A89CB58225B}"/>
              </a:ext>
            </a:extLst>
          </p:cNvPr>
          <p:cNvSpPr txBox="1"/>
          <p:nvPr/>
        </p:nvSpPr>
        <p:spPr>
          <a:xfrm>
            <a:off x="8788400" y="5549899"/>
            <a:ext cx="26416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主轴系统、尾座系统</a:t>
            </a:r>
          </a:p>
          <a:p>
            <a:r>
              <a:rPr lang="zh-CN" altLang="en-US" sz="1400" dirty="0">
                <a:solidFill>
                  <a:srgbClr val="000000"/>
                </a:solidFill>
                <a:latin typeface="微软雅黑" panose="020B0503020204020204" pitchFamily="34" charset="-122"/>
              </a:rPr>
              <a:t>控制系统等</a:t>
            </a:r>
          </a:p>
        </p:txBody>
      </p:sp>
      <p:sp>
        <p:nvSpPr>
          <p:cNvPr id="335" name="文本框 334">
            <a:extLst>
              <a:ext uri="{FF2B5EF4-FFF2-40B4-BE49-F238E27FC236}">
                <a16:creationId xmlns:a16="http://schemas.microsoft.com/office/drawing/2014/main" id="{0C581551-1BDA-DD2D-29BB-A377F1F91121}"/>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36" name="直接连接符 335">
            <a:extLst>
              <a:ext uri="{FF2B5EF4-FFF2-40B4-BE49-F238E27FC236}">
                <a16:creationId xmlns:a16="http://schemas.microsoft.com/office/drawing/2014/main" id="{FD648A8C-AD67-C7E4-DA48-30035392EC55}"/>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7" name="文本框 336">
            <a:extLst>
              <a:ext uri="{FF2B5EF4-FFF2-40B4-BE49-F238E27FC236}">
                <a16:creationId xmlns:a16="http://schemas.microsoft.com/office/drawing/2014/main" id="{0BA906AD-E1CA-E48E-6207-64068C12F6B3}"/>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Tree>
    <p:extLst>
      <p:ext uri="{BB962C8B-B14F-4D97-AF65-F5344CB8AC3E}">
        <p14:creationId xmlns:p14="http://schemas.microsoft.com/office/powerpoint/2010/main" val="1745908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2B30-1FCC-464E-3BA6-D5822C54AA0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A228739-C1F3-E9C4-3414-55C920C4A0A6}"/>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以试验确定可以满足性能和成形要求的工艺窗口，用运行数据判断输出稳定性</a:t>
            </a:r>
          </a:p>
        </p:txBody>
      </p:sp>
      <p:sp>
        <p:nvSpPr>
          <p:cNvPr id="12" name="矩形: 圆角 11">
            <a:extLst>
              <a:ext uri="{FF2B5EF4-FFF2-40B4-BE49-F238E27FC236}">
                <a16:creationId xmlns:a16="http://schemas.microsoft.com/office/drawing/2014/main" id="{4D2913CA-BFF2-5810-8A37-B1AB2B505B48}"/>
              </a:ext>
            </a:extLst>
          </p:cNvPr>
          <p:cNvSpPr>
            <a:spLocks/>
          </p:cNvSpPr>
          <p:nvPr/>
        </p:nvSpPr>
        <p:spPr>
          <a:xfrm>
            <a:off x="342900" y="1866900"/>
            <a:ext cx="3479800" cy="3962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矩形 12">
            <a:extLst>
              <a:ext uri="{FF2B5EF4-FFF2-40B4-BE49-F238E27FC236}">
                <a16:creationId xmlns:a16="http://schemas.microsoft.com/office/drawing/2014/main" id="{A7515F09-68AC-EFEB-6B66-B238A27A9828}"/>
              </a:ext>
            </a:extLst>
          </p:cNvPr>
          <p:cNvSpPr>
            <a:spLocks/>
          </p:cNvSpPr>
          <p:nvPr/>
        </p:nvSpPr>
        <p:spPr>
          <a:xfrm>
            <a:off x="482599" y="1612900"/>
            <a:ext cx="19939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4" name="文本框 13">
            <a:extLst>
              <a:ext uri="{FF2B5EF4-FFF2-40B4-BE49-F238E27FC236}">
                <a16:creationId xmlns:a16="http://schemas.microsoft.com/office/drawing/2014/main" id="{17E7C8BC-B9C9-6137-0A30-C29DBD0536B9}"/>
              </a:ext>
            </a:extLst>
          </p:cNvPr>
          <p:cNvSpPr txBox="1">
            <a:spLocks/>
          </p:cNvSpPr>
          <p:nvPr/>
        </p:nvSpPr>
        <p:spPr>
          <a:xfrm>
            <a:off x="508000" y="1689100"/>
            <a:ext cx="25654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FLUCTUATION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6054C152-1F1F-F836-8B52-837D594C06E7}"/>
              </a:ext>
            </a:extLst>
          </p:cNvPr>
          <p:cNvSpPr txBox="1">
            <a:spLocks/>
          </p:cNvSpPr>
          <p:nvPr/>
        </p:nvSpPr>
        <p:spPr>
          <a:xfrm>
            <a:off x="508000" y="1638300"/>
            <a:ext cx="19939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波动性要素</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6" name="矩形: 圆角 15">
            <a:extLst>
              <a:ext uri="{FF2B5EF4-FFF2-40B4-BE49-F238E27FC236}">
                <a16:creationId xmlns:a16="http://schemas.microsoft.com/office/drawing/2014/main" id="{BAE1325E-742F-FC83-0ADC-A22A4AE5DFBD}"/>
              </a:ext>
            </a:extLst>
          </p:cNvPr>
          <p:cNvSpPr>
            <a:spLocks/>
          </p:cNvSpPr>
          <p:nvPr/>
        </p:nvSpPr>
        <p:spPr>
          <a:xfrm>
            <a:off x="4038600" y="1866900"/>
            <a:ext cx="3822700" cy="3962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7" name="矩形 16">
            <a:extLst>
              <a:ext uri="{FF2B5EF4-FFF2-40B4-BE49-F238E27FC236}">
                <a16:creationId xmlns:a16="http://schemas.microsoft.com/office/drawing/2014/main" id="{E311B17D-ADA7-04E2-9F50-BAB62539B5BE}"/>
              </a:ext>
            </a:extLst>
          </p:cNvPr>
          <p:cNvSpPr>
            <a:spLocks/>
          </p:cNvSpPr>
          <p:nvPr/>
        </p:nvSpPr>
        <p:spPr>
          <a:xfrm>
            <a:off x="4178299" y="1612900"/>
            <a:ext cx="23495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8" name="文本框 17">
            <a:extLst>
              <a:ext uri="{FF2B5EF4-FFF2-40B4-BE49-F238E27FC236}">
                <a16:creationId xmlns:a16="http://schemas.microsoft.com/office/drawing/2014/main" id="{4A434A57-D255-A3FF-6B3A-C03BAC81BBB2}"/>
              </a:ext>
            </a:extLst>
          </p:cNvPr>
          <p:cNvSpPr txBox="1">
            <a:spLocks/>
          </p:cNvSpPr>
          <p:nvPr/>
        </p:nvSpPr>
        <p:spPr>
          <a:xfrm>
            <a:off x="4203700" y="1689100"/>
            <a:ext cx="29210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ASSESSMENT</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0BA74164-1FE8-224B-30AD-FF57E5BAD952}"/>
              </a:ext>
            </a:extLst>
          </p:cNvPr>
          <p:cNvSpPr txBox="1">
            <a:spLocks/>
          </p:cNvSpPr>
          <p:nvPr/>
        </p:nvSpPr>
        <p:spPr>
          <a:xfrm>
            <a:off x="4203700" y="1638300"/>
            <a:ext cx="23495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试验与运行数据</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0" name="矩形: 圆角 19">
            <a:extLst>
              <a:ext uri="{FF2B5EF4-FFF2-40B4-BE49-F238E27FC236}">
                <a16:creationId xmlns:a16="http://schemas.microsoft.com/office/drawing/2014/main" id="{C6FAC91B-C473-6634-274A-D9BE94688BF3}"/>
              </a:ext>
            </a:extLst>
          </p:cNvPr>
          <p:cNvSpPr>
            <a:spLocks/>
          </p:cNvSpPr>
          <p:nvPr/>
        </p:nvSpPr>
        <p:spPr>
          <a:xfrm>
            <a:off x="8077200" y="1866900"/>
            <a:ext cx="3771900" cy="3962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1" name="矩形 20">
            <a:extLst>
              <a:ext uri="{FF2B5EF4-FFF2-40B4-BE49-F238E27FC236}">
                <a16:creationId xmlns:a16="http://schemas.microsoft.com/office/drawing/2014/main" id="{AC4B0554-3B7E-0FF2-C679-75F03D7D1EBB}"/>
              </a:ext>
            </a:extLst>
          </p:cNvPr>
          <p:cNvSpPr>
            <a:spLocks/>
          </p:cNvSpPr>
          <p:nvPr/>
        </p:nvSpPr>
        <p:spPr>
          <a:xfrm>
            <a:off x="8216899" y="1612900"/>
            <a:ext cx="19812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2" name="文本框 21">
            <a:extLst>
              <a:ext uri="{FF2B5EF4-FFF2-40B4-BE49-F238E27FC236}">
                <a16:creationId xmlns:a16="http://schemas.microsoft.com/office/drawing/2014/main" id="{54CAED91-48B0-7E13-5EF9-EE76EE3C7792}"/>
              </a:ext>
            </a:extLst>
          </p:cNvPr>
          <p:cNvSpPr txBox="1">
            <a:spLocks/>
          </p:cNvSpPr>
          <p:nvPr/>
        </p:nvSpPr>
        <p:spPr>
          <a:xfrm>
            <a:off x="8242300" y="1689100"/>
            <a:ext cx="25527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DEGRADATION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3" name="文本框 22">
            <a:extLst>
              <a:ext uri="{FF2B5EF4-FFF2-40B4-BE49-F238E27FC236}">
                <a16:creationId xmlns:a16="http://schemas.microsoft.com/office/drawing/2014/main" id="{C2D21287-B968-B623-57C0-E344224AB70C}"/>
              </a:ext>
            </a:extLst>
          </p:cNvPr>
          <p:cNvSpPr txBox="1">
            <a:spLocks/>
          </p:cNvSpPr>
          <p:nvPr/>
        </p:nvSpPr>
        <p:spPr>
          <a:xfrm>
            <a:off x="8242300" y="1638300"/>
            <a:ext cx="19812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退化性要素</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pic>
        <p:nvPicPr>
          <p:cNvPr id="24" name="图片 23">
            <a:extLst>
              <a:ext uri="{FF2B5EF4-FFF2-40B4-BE49-F238E27FC236}">
                <a16:creationId xmlns:a16="http://schemas.microsoft.com/office/drawing/2014/main" id="{8277DF49-E98C-FFBC-F3EE-6ABD662E9F0A}"/>
              </a:ext>
            </a:extLst>
          </p:cNvPr>
          <p:cNvPicPr>
            <a:picLocks/>
          </p:cNvPicPr>
          <p:nvPr/>
        </p:nvPicPr>
        <p:blipFill>
          <a:blip r:embed="rId3"/>
          <a:srcRect l="5045" t="11571" r="74283" b="80628"/>
          <a:stretch>
            <a:fillRect/>
          </a:stretch>
        </p:blipFill>
        <p:spPr>
          <a:xfrm>
            <a:off x="635000" y="2171700"/>
            <a:ext cx="2882900" cy="422036"/>
          </a:xfrm>
          <a:prstGeom prst="rect">
            <a:avLst/>
          </a:prstGeom>
        </p:spPr>
      </p:pic>
      <p:sp>
        <p:nvSpPr>
          <p:cNvPr id="25" name="文本框 24">
            <a:extLst>
              <a:ext uri="{FF2B5EF4-FFF2-40B4-BE49-F238E27FC236}">
                <a16:creationId xmlns:a16="http://schemas.microsoft.com/office/drawing/2014/main" id="{143C9708-372D-9651-5E6E-CB46B5CA18ED}"/>
              </a:ext>
            </a:extLst>
          </p:cNvPr>
          <p:cNvSpPr txBox="1"/>
          <p:nvPr/>
        </p:nvSpPr>
        <p:spPr>
          <a:xfrm>
            <a:off x="622300" y="2628900"/>
            <a:ext cx="2984500" cy="276999"/>
          </a:xfrm>
          <a:prstGeom prst="rect">
            <a:avLst/>
          </a:prstGeom>
          <a:noFill/>
        </p:spPr>
        <p:txBody>
          <a:bodyPr vert="horz" wrap="square" lIns="0" tIns="0" rIns="0" bIns="0" rtlCol="0">
            <a:noAutofit/>
          </a:bodyPr>
          <a:lstStyle/>
          <a:p>
            <a:r>
              <a:rPr lang="zh-CN" altLang="en-US" sz="1300" dirty="0">
                <a:solidFill>
                  <a:srgbClr val="000000"/>
                </a:solidFill>
                <a:latin typeface="微软雅黑" panose="020B0503020204020204" pitchFamily="34" charset="-122"/>
              </a:rPr>
              <a:t>气流波动</a:t>
            </a:r>
          </a:p>
        </p:txBody>
      </p:sp>
      <p:pic>
        <p:nvPicPr>
          <p:cNvPr id="26" name="图片 25">
            <a:extLst>
              <a:ext uri="{FF2B5EF4-FFF2-40B4-BE49-F238E27FC236}">
                <a16:creationId xmlns:a16="http://schemas.microsoft.com/office/drawing/2014/main" id="{EC0B1E13-FA20-B83D-C1E6-3E5D11B9E6A9}"/>
              </a:ext>
            </a:extLst>
          </p:cNvPr>
          <p:cNvPicPr>
            <a:picLocks/>
          </p:cNvPicPr>
          <p:nvPr/>
        </p:nvPicPr>
        <p:blipFill>
          <a:blip r:embed="rId3"/>
          <a:srcRect l="4386" t="27020" r="73684" b="59261"/>
          <a:stretch>
            <a:fillRect/>
          </a:stretch>
        </p:blipFill>
        <p:spPr>
          <a:xfrm>
            <a:off x="635000" y="2933700"/>
            <a:ext cx="2882900" cy="699583"/>
          </a:xfrm>
          <a:prstGeom prst="rect">
            <a:avLst/>
          </a:prstGeom>
        </p:spPr>
      </p:pic>
      <p:sp>
        <p:nvSpPr>
          <p:cNvPr id="27" name="文本框 26">
            <a:extLst>
              <a:ext uri="{FF2B5EF4-FFF2-40B4-BE49-F238E27FC236}">
                <a16:creationId xmlns:a16="http://schemas.microsoft.com/office/drawing/2014/main" id="{BCB2EEFE-461F-3348-9D72-483BA4A04F0B}"/>
              </a:ext>
            </a:extLst>
          </p:cNvPr>
          <p:cNvSpPr txBox="1"/>
          <p:nvPr/>
        </p:nvSpPr>
        <p:spPr>
          <a:xfrm>
            <a:off x="622300" y="3644900"/>
            <a:ext cx="2984500" cy="276999"/>
          </a:xfrm>
          <a:prstGeom prst="rect">
            <a:avLst/>
          </a:prstGeom>
          <a:noFill/>
        </p:spPr>
        <p:txBody>
          <a:bodyPr vert="horz" wrap="square" lIns="0" tIns="0" rIns="0" bIns="0" rtlCol="0">
            <a:noAutofit/>
          </a:bodyPr>
          <a:lstStyle/>
          <a:p>
            <a:r>
              <a:rPr lang="zh-CN" altLang="en-US" sz="1300" dirty="0">
                <a:solidFill>
                  <a:srgbClr val="000000"/>
                </a:solidFill>
                <a:latin typeface="微软雅黑" panose="020B0503020204020204" pitchFamily="34" charset="-122"/>
              </a:rPr>
              <a:t>枪头抖动</a:t>
            </a:r>
          </a:p>
        </p:txBody>
      </p:sp>
      <p:pic>
        <p:nvPicPr>
          <p:cNvPr id="28" name="图片 27">
            <a:extLst>
              <a:ext uri="{FF2B5EF4-FFF2-40B4-BE49-F238E27FC236}">
                <a16:creationId xmlns:a16="http://schemas.microsoft.com/office/drawing/2014/main" id="{3CE8870F-0CF1-7667-D987-1E765CAC90CC}"/>
              </a:ext>
            </a:extLst>
          </p:cNvPr>
          <p:cNvPicPr>
            <a:picLocks/>
          </p:cNvPicPr>
          <p:nvPr/>
        </p:nvPicPr>
        <p:blipFill>
          <a:blip r:embed="rId3"/>
          <a:srcRect l="731" t="48504" r="70102" b="39625"/>
          <a:stretch>
            <a:fillRect/>
          </a:stretch>
        </p:blipFill>
        <p:spPr>
          <a:xfrm>
            <a:off x="635000" y="3949700"/>
            <a:ext cx="2882900" cy="455194"/>
          </a:xfrm>
          <a:prstGeom prst="rect">
            <a:avLst/>
          </a:prstGeom>
        </p:spPr>
      </p:pic>
      <p:sp>
        <p:nvSpPr>
          <p:cNvPr id="29" name="文本框 28">
            <a:extLst>
              <a:ext uri="{FF2B5EF4-FFF2-40B4-BE49-F238E27FC236}">
                <a16:creationId xmlns:a16="http://schemas.microsoft.com/office/drawing/2014/main" id="{3602E178-1279-F00F-CC6E-F4FB1DA07920}"/>
              </a:ext>
            </a:extLst>
          </p:cNvPr>
          <p:cNvSpPr txBox="1"/>
          <p:nvPr/>
        </p:nvSpPr>
        <p:spPr>
          <a:xfrm>
            <a:off x="622300" y="4432300"/>
            <a:ext cx="2984500" cy="276999"/>
          </a:xfrm>
          <a:prstGeom prst="rect">
            <a:avLst/>
          </a:prstGeom>
          <a:noFill/>
        </p:spPr>
        <p:txBody>
          <a:bodyPr vert="horz" wrap="square" lIns="0" tIns="0" rIns="0" bIns="0" rtlCol="0">
            <a:noAutofit/>
          </a:bodyPr>
          <a:lstStyle/>
          <a:p>
            <a:r>
              <a:rPr lang="zh-CN" altLang="en-US" sz="1300" dirty="0">
                <a:solidFill>
                  <a:srgbClr val="000000"/>
                </a:solidFill>
                <a:latin typeface="微软雅黑" panose="020B0503020204020204" pitchFamily="34" charset="-122"/>
              </a:rPr>
              <a:t>送丝不顺畅</a:t>
            </a:r>
          </a:p>
        </p:txBody>
      </p:sp>
      <p:pic>
        <p:nvPicPr>
          <p:cNvPr id="30" name="图片 29">
            <a:extLst>
              <a:ext uri="{FF2B5EF4-FFF2-40B4-BE49-F238E27FC236}">
                <a16:creationId xmlns:a16="http://schemas.microsoft.com/office/drawing/2014/main" id="{E084FEBC-15DC-C6F0-F530-3047C67684E0}"/>
              </a:ext>
            </a:extLst>
          </p:cNvPr>
          <p:cNvPicPr>
            <a:picLocks/>
          </p:cNvPicPr>
          <p:nvPr/>
        </p:nvPicPr>
        <p:blipFill>
          <a:blip r:embed="rId3"/>
          <a:srcRect l="3510" t="70738" r="74195" b="14376"/>
          <a:stretch>
            <a:fillRect/>
          </a:stretch>
        </p:blipFill>
        <p:spPr>
          <a:xfrm>
            <a:off x="635000" y="4737100"/>
            <a:ext cx="2882900" cy="746718"/>
          </a:xfrm>
          <a:prstGeom prst="rect">
            <a:avLst/>
          </a:prstGeom>
        </p:spPr>
      </p:pic>
      <p:sp>
        <p:nvSpPr>
          <p:cNvPr id="31" name="文本框 30">
            <a:extLst>
              <a:ext uri="{FF2B5EF4-FFF2-40B4-BE49-F238E27FC236}">
                <a16:creationId xmlns:a16="http://schemas.microsoft.com/office/drawing/2014/main" id="{6A7E1491-276A-AFA5-CC92-A4DD2391AA0E}"/>
              </a:ext>
            </a:extLst>
          </p:cNvPr>
          <p:cNvSpPr txBox="1"/>
          <p:nvPr/>
        </p:nvSpPr>
        <p:spPr>
          <a:xfrm>
            <a:off x="622300" y="5486400"/>
            <a:ext cx="2984500" cy="276999"/>
          </a:xfrm>
          <a:prstGeom prst="rect">
            <a:avLst/>
          </a:prstGeom>
          <a:noFill/>
        </p:spPr>
        <p:txBody>
          <a:bodyPr vert="horz" wrap="square" lIns="0" tIns="0" rIns="0" bIns="0" rtlCol="0">
            <a:noAutofit/>
          </a:bodyPr>
          <a:lstStyle/>
          <a:p>
            <a:r>
              <a:rPr lang="zh-CN" altLang="en-US" sz="1300" dirty="0">
                <a:solidFill>
                  <a:srgbClr val="000000"/>
                </a:solidFill>
                <a:latin typeface="微软雅黑" panose="020B0503020204020204" pitchFamily="34" charset="-122"/>
              </a:rPr>
              <a:t>功率波动</a:t>
            </a:r>
          </a:p>
        </p:txBody>
      </p:sp>
      <p:pic>
        <p:nvPicPr>
          <p:cNvPr id="32" name="图片 31">
            <a:extLst>
              <a:ext uri="{FF2B5EF4-FFF2-40B4-BE49-F238E27FC236}">
                <a16:creationId xmlns:a16="http://schemas.microsoft.com/office/drawing/2014/main" id="{BB2AB7F4-B1B8-0EB0-1131-CC0A2E633ACB}"/>
              </a:ext>
            </a:extLst>
          </p:cNvPr>
          <p:cNvPicPr>
            <a:picLocks/>
          </p:cNvPicPr>
          <p:nvPr/>
        </p:nvPicPr>
        <p:blipFill>
          <a:blip r:embed="rId3"/>
          <a:srcRect l="33041" t="7800" r="45760" b="68645"/>
          <a:stretch>
            <a:fillRect/>
          </a:stretch>
        </p:blipFill>
        <p:spPr>
          <a:xfrm>
            <a:off x="4724400" y="2159000"/>
            <a:ext cx="2438400" cy="1051034"/>
          </a:xfrm>
          <a:prstGeom prst="rect">
            <a:avLst/>
          </a:prstGeom>
        </p:spPr>
      </p:pic>
      <p:sp>
        <p:nvSpPr>
          <p:cNvPr id="33" name="文本框 32">
            <a:extLst>
              <a:ext uri="{FF2B5EF4-FFF2-40B4-BE49-F238E27FC236}">
                <a16:creationId xmlns:a16="http://schemas.microsoft.com/office/drawing/2014/main" id="{D4D4B318-78DC-2FEB-9AE6-B7C6339BFCD0}"/>
              </a:ext>
            </a:extLst>
          </p:cNvPr>
          <p:cNvSpPr txBox="1"/>
          <p:nvPr/>
        </p:nvSpPr>
        <p:spPr>
          <a:xfrm>
            <a:off x="4279900" y="3251200"/>
            <a:ext cx="3365500" cy="276999"/>
          </a:xfrm>
          <a:prstGeom prst="rect">
            <a:avLst/>
          </a:prstGeom>
          <a:noFill/>
        </p:spPr>
        <p:txBody>
          <a:bodyPr vert="horz" wrap="square" lIns="0" tIns="0" rIns="0" bIns="0" rtlCol="0">
            <a:noAutofit/>
          </a:bodyPr>
          <a:lstStyle/>
          <a:p>
            <a:pPr algn="ctr"/>
            <a:r>
              <a:rPr lang="zh-CN" altLang="en-US" sz="1300" dirty="0">
                <a:solidFill>
                  <a:srgbClr val="000000"/>
                </a:solidFill>
                <a:latin typeface="微软雅黑" panose="020B0503020204020204" pitchFamily="34" charset="-122"/>
              </a:rPr>
              <a:t>输出稳定性要素检测用传感器</a:t>
            </a:r>
          </a:p>
        </p:txBody>
      </p:sp>
      <p:sp>
        <p:nvSpPr>
          <p:cNvPr id="34" name="文本框 33">
            <a:extLst>
              <a:ext uri="{FF2B5EF4-FFF2-40B4-BE49-F238E27FC236}">
                <a16:creationId xmlns:a16="http://schemas.microsoft.com/office/drawing/2014/main" id="{0EC89DBC-A75E-7BC7-0CA2-BC209C5A5F39}"/>
              </a:ext>
            </a:extLst>
          </p:cNvPr>
          <p:cNvSpPr txBox="1"/>
          <p:nvPr/>
        </p:nvSpPr>
        <p:spPr>
          <a:xfrm>
            <a:off x="4305300" y="3733800"/>
            <a:ext cx="1524000" cy="276999"/>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工艺试验</a:t>
            </a:r>
          </a:p>
        </p:txBody>
      </p:sp>
      <p:sp>
        <p:nvSpPr>
          <p:cNvPr id="35" name="文本框 34">
            <a:extLst>
              <a:ext uri="{FF2B5EF4-FFF2-40B4-BE49-F238E27FC236}">
                <a16:creationId xmlns:a16="http://schemas.microsoft.com/office/drawing/2014/main" id="{B55D311F-818D-4C2F-8C3B-91A7109B65E5}"/>
              </a:ext>
            </a:extLst>
          </p:cNvPr>
          <p:cNvSpPr txBox="1"/>
          <p:nvPr/>
        </p:nvSpPr>
        <p:spPr>
          <a:xfrm>
            <a:off x="6146800" y="3733800"/>
            <a:ext cx="1612900" cy="276999"/>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运行数据采集</a:t>
            </a:r>
          </a:p>
        </p:txBody>
      </p:sp>
      <p:cxnSp>
        <p:nvCxnSpPr>
          <p:cNvPr id="36" name="直接连接符 35">
            <a:extLst>
              <a:ext uri="{FF2B5EF4-FFF2-40B4-BE49-F238E27FC236}">
                <a16:creationId xmlns:a16="http://schemas.microsoft.com/office/drawing/2014/main" id="{A480E91A-671B-DC97-08E0-517695EEC493}"/>
              </a:ext>
            </a:extLst>
          </p:cNvPr>
          <p:cNvCxnSpPr/>
          <p:nvPr/>
        </p:nvCxnSpPr>
        <p:spPr>
          <a:xfrm>
            <a:off x="5054600" y="4051300"/>
            <a:ext cx="0" cy="13970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1B5CF52-D3C5-9ECA-4893-3BA2DD632904}"/>
              </a:ext>
            </a:extLst>
          </p:cNvPr>
          <p:cNvCxnSpPr/>
          <p:nvPr/>
        </p:nvCxnSpPr>
        <p:spPr>
          <a:xfrm>
            <a:off x="6972300" y="4051300"/>
            <a:ext cx="0" cy="13970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A17B5BED-8127-DC5B-6872-E22E891A08C5}"/>
              </a:ext>
            </a:extLst>
          </p:cNvPr>
          <p:cNvSpPr txBox="1"/>
          <p:nvPr/>
        </p:nvSpPr>
        <p:spPr>
          <a:xfrm>
            <a:off x="4241800" y="4279899"/>
            <a:ext cx="1739900" cy="434340"/>
          </a:xfrm>
          <a:prstGeom prst="rect">
            <a:avLst/>
          </a:prstGeom>
          <a:noFill/>
        </p:spPr>
        <p:txBody>
          <a:bodyPr vert="horz" wrap="square" lIns="0" tIns="0" rIns="0" bIns="0" rtlCol="0">
            <a:noAutofit/>
          </a:bodyPr>
          <a:lstStyle/>
          <a:p>
            <a:r>
              <a:rPr lang="zh-CN" altLang="en-US" sz="1300" dirty="0">
                <a:solidFill>
                  <a:srgbClr val="2F5597"/>
                </a:solidFill>
                <a:latin typeface="微软雅黑" panose="020B0503020204020204" pitchFamily="34" charset="-122"/>
              </a:rPr>
              <a:t>工艺数据库</a:t>
            </a:r>
          </a:p>
          <a:p>
            <a:r>
              <a:rPr lang="zh-CN" altLang="en-US" sz="1300" dirty="0">
                <a:solidFill>
                  <a:srgbClr val="2F5597"/>
                </a:solidFill>
                <a:latin typeface="微软雅黑" panose="020B0503020204020204" pitchFamily="34" charset="-122"/>
              </a:rPr>
              <a:t>允许波动 </a:t>
            </a:r>
            <a:r>
              <a:rPr lang="en-US" altLang="zh-CN" sz="1300" dirty="0">
                <a:solidFill>
                  <a:srgbClr val="2F5597"/>
                </a:solidFill>
                <a:latin typeface="微软雅黑" panose="020B0503020204020204" pitchFamily="34" charset="-122"/>
              </a:rPr>
              <a:t>/ </a:t>
            </a:r>
            <a:r>
              <a:rPr lang="zh-CN" altLang="en-US" sz="1300" dirty="0">
                <a:solidFill>
                  <a:srgbClr val="2F5597"/>
                </a:solidFill>
                <a:latin typeface="微软雅黑" panose="020B0503020204020204" pitchFamily="34" charset="-122"/>
              </a:rPr>
              <a:t>退化范围</a:t>
            </a:r>
          </a:p>
        </p:txBody>
      </p:sp>
      <p:sp>
        <p:nvSpPr>
          <p:cNvPr id="39" name="文本框 38">
            <a:extLst>
              <a:ext uri="{FF2B5EF4-FFF2-40B4-BE49-F238E27FC236}">
                <a16:creationId xmlns:a16="http://schemas.microsoft.com/office/drawing/2014/main" id="{27607077-66D1-F50B-F29B-05E16C255282}"/>
              </a:ext>
            </a:extLst>
          </p:cNvPr>
          <p:cNvSpPr txBox="1"/>
          <p:nvPr/>
        </p:nvSpPr>
        <p:spPr>
          <a:xfrm>
            <a:off x="6121400" y="4279899"/>
            <a:ext cx="1676400" cy="434340"/>
          </a:xfrm>
          <a:prstGeom prst="rect">
            <a:avLst/>
          </a:prstGeom>
          <a:noFill/>
        </p:spPr>
        <p:txBody>
          <a:bodyPr vert="horz" wrap="square" lIns="0" tIns="0" rIns="0" bIns="0" rtlCol="0">
            <a:noAutofit/>
          </a:bodyPr>
          <a:lstStyle/>
          <a:p>
            <a:r>
              <a:rPr lang="zh-CN" altLang="en-US" sz="1300" dirty="0">
                <a:solidFill>
                  <a:srgbClr val="2F5597"/>
                </a:solidFill>
                <a:latin typeface="微软雅黑" panose="020B0503020204020204" pitchFamily="34" charset="-122"/>
              </a:rPr>
              <a:t>实时运行数据</a:t>
            </a:r>
          </a:p>
          <a:p>
            <a:r>
              <a:rPr lang="zh-CN" altLang="en-US" sz="1300" dirty="0">
                <a:solidFill>
                  <a:srgbClr val="2F5597"/>
                </a:solidFill>
                <a:latin typeface="微软雅黑" panose="020B0503020204020204" pitchFamily="34" charset="-122"/>
              </a:rPr>
              <a:t>输出变化与状态</a:t>
            </a:r>
          </a:p>
        </p:txBody>
      </p:sp>
      <p:cxnSp>
        <p:nvCxnSpPr>
          <p:cNvPr id="40" name="直接连接符 39">
            <a:extLst>
              <a:ext uri="{FF2B5EF4-FFF2-40B4-BE49-F238E27FC236}">
                <a16:creationId xmlns:a16="http://schemas.microsoft.com/office/drawing/2014/main" id="{C2018C01-3F4F-415C-EC8C-13157C1B566D}"/>
              </a:ext>
            </a:extLst>
          </p:cNvPr>
          <p:cNvCxnSpPr/>
          <p:nvPr/>
        </p:nvCxnSpPr>
        <p:spPr>
          <a:xfrm>
            <a:off x="5054600" y="4864100"/>
            <a:ext cx="0" cy="12700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F48E167-439C-A0E6-FE93-2B6DD28DF36C}"/>
              </a:ext>
            </a:extLst>
          </p:cNvPr>
          <p:cNvCxnSpPr/>
          <p:nvPr/>
        </p:nvCxnSpPr>
        <p:spPr>
          <a:xfrm>
            <a:off x="6972300" y="4864100"/>
            <a:ext cx="0" cy="12700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9DB22E7D-56EC-25A6-0701-88430110CEC9}"/>
              </a:ext>
            </a:extLst>
          </p:cNvPr>
          <p:cNvCxnSpPr/>
          <p:nvPr/>
        </p:nvCxnSpPr>
        <p:spPr>
          <a:xfrm>
            <a:off x="5054600" y="4991100"/>
            <a:ext cx="1917700" cy="0"/>
          </a:xfrm>
          <a:prstGeom prst="line">
            <a:avLst/>
          </a:prstGeom>
          <a:ln w="10160">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67901EE0-7180-46A8-3602-77BDC877797B}"/>
              </a:ext>
            </a:extLst>
          </p:cNvPr>
          <p:cNvCxnSpPr/>
          <p:nvPr/>
        </p:nvCxnSpPr>
        <p:spPr>
          <a:xfrm>
            <a:off x="5969000" y="4991100"/>
            <a:ext cx="0" cy="88900"/>
          </a:xfrm>
          <a:prstGeom prst="line">
            <a:avLst/>
          </a:prstGeom>
          <a:ln w="10160">
            <a:solidFill>
              <a:srgbClr val="2F5597"/>
            </a:solidFill>
            <a:tailEnd type="arrow"/>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0D966264-45A5-2338-2551-3298B56DF2ED}"/>
              </a:ext>
            </a:extLst>
          </p:cNvPr>
          <p:cNvSpPr txBox="1"/>
          <p:nvPr/>
        </p:nvSpPr>
        <p:spPr>
          <a:xfrm>
            <a:off x="4229100" y="5143500"/>
            <a:ext cx="3441700" cy="276999"/>
          </a:xfrm>
          <a:prstGeom prst="rect">
            <a:avLst/>
          </a:prstGeom>
          <a:noFill/>
        </p:spPr>
        <p:txBody>
          <a:bodyPr vert="horz" wrap="square" lIns="0" tIns="0" rIns="0" bIns="0" rtlCol="0">
            <a:noAutofit/>
          </a:bodyPr>
          <a:lstStyle/>
          <a:p>
            <a:pPr algn="ctr"/>
            <a:r>
              <a:rPr lang="zh-CN" altLang="en-US" sz="1500" dirty="0">
                <a:solidFill>
                  <a:srgbClr val="000000"/>
                </a:solidFill>
                <a:latin typeface="微软雅黑" panose="020B0503020204020204" pitchFamily="34" charset="-122"/>
              </a:rPr>
              <a:t>对比判断设备运行可靠性</a:t>
            </a:r>
          </a:p>
        </p:txBody>
      </p:sp>
      <p:sp>
        <p:nvSpPr>
          <p:cNvPr id="45" name="文本框 44">
            <a:extLst>
              <a:ext uri="{FF2B5EF4-FFF2-40B4-BE49-F238E27FC236}">
                <a16:creationId xmlns:a16="http://schemas.microsoft.com/office/drawing/2014/main" id="{5B8D56ED-8C11-0376-2457-9BF9EAA79F8A}"/>
              </a:ext>
            </a:extLst>
          </p:cNvPr>
          <p:cNvSpPr txBox="1"/>
          <p:nvPr/>
        </p:nvSpPr>
        <p:spPr>
          <a:xfrm>
            <a:off x="4203700" y="5511800"/>
            <a:ext cx="3517900" cy="276999"/>
          </a:xfrm>
          <a:prstGeom prst="rect">
            <a:avLst/>
          </a:prstGeom>
          <a:noFill/>
        </p:spPr>
        <p:txBody>
          <a:bodyPr vert="horz" wrap="square" lIns="0" tIns="0" rIns="0" bIns="0" rtlCol="0">
            <a:noAutofit/>
          </a:bodyPr>
          <a:lstStyle/>
          <a:p>
            <a:pPr algn="ctr"/>
            <a:r>
              <a:rPr lang="zh-CN" altLang="en-US" sz="1200" dirty="0">
                <a:solidFill>
                  <a:srgbClr val="000000"/>
                </a:solidFill>
                <a:latin typeface="微软雅黑" panose="020B0503020204020204" pitchFamily="34" charset="-122"/>
              </a:rPr>
              <a:t>状态良好    预警提示    停机维护</a:t>
            </a:r>
          </a:p>
        </p:txBody>
      </p:sp>
      <p:pic>
        <p:nvPicPr>
          <p:cNvPr id="46" name="图片 45">
            <a:extLst>
              <a:ext uri="{FF2B5EF4-FFF2-40B4-BE49-F238E27FC236}">
                <a16:creationId xmlns:a16="http://schemas.microsoft.com/office/drawing/2014/main" id="{8752B88E-28C7-8A8E-F706-1A20DB10E479}"/>
              </a:ext>
            </a:extLst>
          </p:cNvPr>
          <p:cNvPicPr>
            <a:picLocks/>
          </p:cNvPicPr>
          <p:nvPr/>
        </p:nvPicPr>
        <p:blipFill>
          <a:blip r:embed="rId3"/>
          <a:srcRect l="58919" t="13906" r="-1" b="73544"/>
          <a:stretch>
            <a:fillRect/>
          </a:stretch>
        </p:blipFill>
        <p:spPr>
          <a:xfrm>
            <a:off x="8293100" y="2209800"/>
            <a:ext cx="3340100" cy="395819"/>
          </a:xfrm>
          <a:prstGeom prst="rect">
            <a:avLst/>
          </a:prstGeom>
        </p:spPr>
      </p:pic>
      <p:pic>
        <p:nvPicPr>
          <p:cNvPr id="48" name="图片 47">
            <a:extLst>
              <a:ext uri="{FF2B5EF4-FFF2-40B4-BE49-F238E27FC236}">
                <a16:creationId xmlns:a16="http://schemas.microsoft.com/office/drawing/2014/main" id="{E3AEEB1F-7B43-E139-4906-D4D4581706FD}"/>
              </a:ext>
            </a:extLst>
          </p:cNvPr>
          <p:cNvPicPr>
            <a:picLocks/>
          </p:cNvPicPr>
          <p:nvPr/>
        </p:nvPicPr>
        <p:blipFill>
          <a:blip r:embed="rId3"/>
          <a:srcRect l="58919" t="29848" r="-1" b="57941"/>
          <a:stretch>
            <a:fillRect/>
          </a:stretch>
        </p:blipFill>
        <p:spPr>
          <a:xfrm>
            <a:off x="8293100" y="2971800"/>
            <a:ext cx="3340100" cy="385121"/>
          </a:xfrm>
          <a:prstGeom prst="rect">
            <a:avLst/>
          </a:prstGeom>
        </p:spPr>
      </p:pic>
      <p:pic>
        <p:nvPicPr>
          <p:cNvPr id="53" name="图片 52">
            <a:extLst>
              <a:ext uri="{FF2B5EF4-FFF2-40B4-BE49-F238E27FC236}">
                <a16:creationId xmlns:a16="http://schemas.microsoft.com/office/drawing/2014/main" id="{9FDD4856-3114-1B43-39CA-73A9A89A007F}"/>
              </a:ext>
            </a:extLst>
          </p:cNvPr>
          <p:cNvPicPr>
            <a:picLocks/>
          </p:cNvPicPr>
          <p:nvPr/>
        </p:nvPicPr>
        <p:blipFill>
          <a:blip r:embed="rId3"/>
          <a:srcRect l="58919" t="54722" r="30657" b="13998"/>
          <a:stretch>
            <a:fillRect/>
          </a:stretch>
        </p:blipFill>
        <p:spPr>
          <a:xfrm>
            <a:off x="8293100" y="3911600"/>
            <a:ext cx="990600" cy="1153152"/>
          </a:xfrm>
          <a:prstGeom prst="rect">
            <a:avLst/>
          </a:prstGeom>
        </p:spPr>
      </p:pic>
      <p:pic>
        <p:nvPicPr>
          <p:cNvPr id="54" name="图片 53">
            <a:extLst>
              <a:ext uri="{FF2B5EF4-FFF2-40B4-BE49-F238E27FC236}">
                <a16:creationId xmlns:a16="http://schemas.microsoft.com/office/drawing/2014/main" id="{75865310-5ED7-F71C-A82A-3106D9B56C69}"/>
              </a:ext>
            </a:extLst>
          </p:cNvPr>
          <p:cNvPicPr>
            <a:picLocks/>
          </p:cNvPicPr>
          <p:nvPr/>
        </p:nvPicPr>
        <p:blipFill>
          <a:blip r:embed="rId3"/>
          <a:srcRect l="71348" t="63088" r="18578" b="15054"/>
          <a:stretch>
            <a:fillRect/>
          </a:stretch>
        </p:blipFill>
        <p:spPr>
          <a:xfrm>
            <a:off x="9512300" y="4178300"/>
            <a:ext cx="1104900" cy="930104"/>
          </a:xfrm>
          <a:prstGeom prst="rect">
            <a:avLst/>
          </a:prstGeom>
        </p:spPr>
      </p:pic>
      <p:sp>
        <p:nvSpPr>
          <p:cNvPr id="55" name="文本框 54">
            <a:extLst>
              <a:ext uri="{FF2B5EF4-FFF2-40B4-BE49-F238E27FC236}">
                <a16:creationId xmlns:a16="http://schemas.microsoft.com/office/drawing/2014/main" id="{F13410D3-A70C-32F6-64A9-098F2783360E}"/>
              </a:ext>
            </a:extLst>
          </p:cNvPr>
          <p:cNvSpPr txBox="1"/>
          <p:nvPr/>
        </p:nvSpPr>
        <p:spPr>
          <a:xfrm>
            <a:off x="8255000" y="5346699"/>
            <a:ext cx="3429000" cy="403860"/>
          </a:xfrm>
          <a:prstGeom prst="rect">
            <a:avLst/>
          </a:prstGeom>
          <a:noFill/>
        </p:spPr>
        <p:txBody>
          <a:bodyPr vert="horz" wrap="square" lIns="0" tIns="0" rIns="0" bIns="0" rtlCol="0">
            <a:noAutofit/>
          </a:bodyPr>
          <a:lstStyle/>
          <a:p>
            <a:r>
              <a:rPr lang="zh-CN" altLang="en-US" sz="1200" dirty="0">
                <a:solidFill>
                  <a:srgbClr val="000000"/>
                </a:solidFill>
                <a:latin typeface="微软雅黑" panose="020B0503020204020204" pitchFamily="34" charset="-122"/>
              </a:rPr>
              <a:t>水流量降低，冷却不足</a:t>
            </a:r>
          </a:p>
          <a:p>
            <a:r>
              <a:rPr lang="zh-CN" altLang="en-US" sz="1200" dirty="0">
                <a:solidFill>
                  <a:srgbClr val="000000"/>
                </a:solidFill>
                <a:latin typeface="微软雅黑" panose="020B0503020204020204" pitchFamily="34" charset="-122"/>
              </a:rPr>
              <a:t>镜片逐渐烧损，输出功率降低</a:t>
            </a:r>
          </a:p>
        </p:txBody>
      </p:sp>
      <p:sp>
        <p:nvSpPr>
          <p:cNvPr id="56" name="文本框 55">
            <a:extLst>
              <a:ext uri="{FF2B5EF4-FFF2-40B4-BE49-F238E27FC236}">
                <a16:creationId xmlns:a16="http://schemas.microsoft.com/office/drawing/2014/main" id="{5ABAD71D-B3AC-3D89-1CFB-6903115EB204}"/>
              </a:ext>
            </a:extLst>
          </p:cNvPr>
          <p:cNvSpPr txBox="1"/>
          <p:nvPr/>
        </p:nvSpPr>
        <p:spPr>
          <a:xfrm>
            <a:off x="495300" y="6108700"/>
            <a:ext cx="11290300" cy="276999"/>
          </a:xfrm>
          <a:prstGeom prst="rect">
            <a:avLst/>
          </a:prstGeom>
          <a:noFill/>
        </p:spPr>
        <p:txBody>
          <a:bodyPr vert="horz" wrap="square" lIns="0" tIns="0" rIns="0" bIns="0" rtlCol="0">
            <a:noAutofit/>
          </a:bodyPr>
          <a:lstStyle/>
          <a:p>
            <a:r>
              <a:rPr lang="zh-CN" altLang="en-US" dirty="0">
                <a:solidFill>
                  <a:srgbClr val="2F5597"/>
                </a:solidFill>
                <a:latin typeface="微软雅黑" panose="020B0503020204020204" pitchFamily="34" charset="-122"/>
              </a:rPr>
              <a:t>评价依据：设备在工艺窗口内持续提供稳定、可预测的输出。</a:t>
            </a:r>
          </a:p>
        </p:txBody>
      </p:sp>
      <p:pic>
        <p:nvPicPr>
          <p:cNvPr id="57" name="图片 56">
            <a:extLst>
              <a:ext uri="{FF2B5EF4-FFF2-40B4-BE49-F238E27FC236}">
                <a16:creationId xmlns:a16="http://schemas.microsoft.com/office/drawing/2014/main" id="{A81769F3-96AD-9BFD-0BE1-F691E6241ED7}"/>
              </a:ext>
            </a:extLst>
          </p:cNvPr>
          <p:cNvPicPr>
            <a:picLocks/>
          </p:cNvPicPr>
          <p:nvPr/>
        </p:nvPicPr>
        <p:blipFill>
          <a:blip r:embed="rId3"/>
          <a:srcRect l="85997" t="63089" r="8798" b="27489"/>
          <a:stretch>
            <a:fillRect/>
          </a:stretch>
        </p:blipFill>
        <p:spPr>
          <a:xfrm>
            <a:off x="10756900" y="4102100"/>
            <a:ext cx="825500" cy="579705"/>
          </a:xfrm>
          <a:prstGeom prst="rect">
            <a:avLst/>
          </a:prstGeom>
        </p:spPr>
      </p:pic>
      <p:pic>
        <p:nvPicPr>
          <p:cNvPr id="58" name="图片 57">
            <a:extLst>
              <a:ext uri="{FF2B5EF4-FFF2-40B4-BE49-F238E27FC236}">
                <a16:creationId xmlns:a16="http://schemas.microsoft.com/office/drawing/2014/main" id="{85F0A20D-E038-BD8A-CDE2-B4DF3C29670A}"/>
              </a:ext>
            </a:extLst>
          </p:cNvPr>
          <p:cNvPicPr>
            <a:picLocks/>
          </p:cNvPicPr>
          <p:nvPr/>
        </p:nvPicPr>
        <p:blipFill>
          <a:blip r:embed="rId3"/>
          <a:srcRect l="82311" t="72925" r="1022" b="14638"/>
          <a:stretch>
            <a:fillRect/>
          </a:stretch>
        </p:blipFill>
        <p:spPr>
          <a:xfrm>
            <a:off x="10693400" y="4851400"/>
            <a:ext cx="952500" cy="275723"/>
          </a:xfrm>
          <a:prstGeom prst="rect">
            <a:avLst/>
          </a:prstGeom>
        </p:spPr>
      </p:pic>
      <p:sp>
        <p:nvSpPr>
          <p:cNvPr id="59" name="矩形 58">
            <a:extLst>
              <a:ext uri="{FF2B5EF4-FFF2-40B4-BE49-F238E27FC236}">
                <a16:creationId xmlns:a16="http://schemas.microsoft.com/office/drawing/2014/main" id="{80D12B81-8308-6324-E3FC-77C861DF1894}"/>
              </a:ext>
            </a:extLst>
          </p:cNvPr>
          <p:cNvSpPr/>
          <p:nvPr/>
        </p:nvSpPr>
        <p:spPr>
          <a:xfrm>
            <a:off x="9626600" y="2476500"/>
            <a:ext cx="889000" cy="1397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矩形 214">
            <a:extLst>
              <a:ext uri="{FF2B5EF4-FFF2-40B4-BE49-F238E27FC236}">
                <a16:creationId xmlns:a16="http://schemas.microsoft.com/office/drawing/2014/main" id="{B7FF85BB-4B7E-5476-C718-6A6975EA5BF9}"/>
              </a:ext>
            </a:extLst>
          </p:cNvPr>
          <p:cNvSpPr/>
          <p:nvPr/>
        </p:nvSpPr>
        <p:spPr>
          <a:xfrm>
            <a:off x="9627323" y="3302000"/>
            <a:ext cx="889000" cy="76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45C7EC18-556B-A14E-6F3F-3A1F7692EFC1}"/>
              </a:ext>
            </a:extLst>
          </p:cNvPr>
          <p:cNvSpPr txBox="1"/>
          <p:nvPr/>
        </p:nvSpPr>
        <p:spPr>
          <a:xfrm>
            <a:off x="9627323" y="3302000"/>
            <a:ext cx="889000" cy="203200"/>
          </a:xfrm>
          <a:prstGeom prst="rect">
            <a:avLst/>
          </a:prstGeom>
          <a:solidFill>
            <a:srgbClr val="FFFFFF"/>
          </a:solidFill>
        </p:spPr>
        <p:txBody>
          <a:bodyPr vert="horz" wrap="square" lIns="0" tIns="0" rIns="0" bIns="0" rtlCol="0">
            <a:noAutofit/>
          </a:bodyPr>
          <a:lstStyle/>
          <a:p>
            <a:pPr algn="ctr"/>
            <a:r>
              <a:rPr lang="zh-CN" altLang="en-US" sz="1100" dirty="0">
                <a:solidFill>
                  <a:srgbClr val="000000"/>
                </a:solidFill>
                <a:latin typeface="微软雅黑" panose="020B0503020204020204" pitchFamily="34" charset="-122"/>
              </a:rPr>
              <a:t>功率衰减</a:t>
            </a:r>
          </a:p>
        </p:txBody>
      </p:sp>
      <p:sp>
        <p:nvSpPr>
          <p:cNvPr id="47" name="文本框 46">
            <a:extLst>
              <a:ext uri="{FF2B5EF4-FFF2-40B4-BE49-F238E27FC236}">
                <a16:creationId xmlns:a16="http://schemas.microsoft.com/office/drawing/2014/main" id="{59734E85-3721-F3CD-F4CA-143764E73877}"/>
              </a:ext>
            </a:extLst>
          </p:cNvPr>
          <p:cNvSpPr txBox="1"/>
          <p:nvPr/>
        </p:nvSpPr>
        <p:spPr>
          <a:xfrm>
            <a:off x="9626600" y="2476500"/>
            <a:ext cx="889000" cy="203200"/>
          </a:xfrm>
          <a:prstGeom prst="rect">
            <a:avLst/>
          </a:prstGeom>
          <a:solidFill>
            <a:srgbClr val="FFFFFF"/>
          </a:solidFill>
        </p:spPr>
        <p:txBody>
          <a:bodyPr vert="horz" wrap="square" lIns="0" tIns="0" rIns="0" bIns="0" rtlCol="0">
            <a:noAutofit/>
          </a:bodyPr>
          <a:lstStyle/>
          <a:p>
            <a:pPr algn="ctr"/>
            <a:r>
              <a:rPr lang="zh-CN" altLang="en-US" sz="1100" dirty="0">
                <a:solidFill>
                  <a:srgbClr val="000000"/>
                </a:solidFill>
                <a:latin typeface="微软雅黑" panose="020B0503020204020204" pitchFamily="34" charset="-122"/>
              </a:rPr>
              <a:t>功率正常</a:t>
            </a:r>
          </a:p>
        </p:txBody>
      </p:sp>
      <p:sp>
        <p:nvSpPr>
          <p:cNvPr id="216" name="文本框 215">
            <a:extLst>
              <a:ext uri="{FF2B5EF4-FFF2-40B4-BE49-F238E27FC236}">
                <a16:creationId xmlns:a16="http://schemas.microsoft.com/office/drawing/2014/main" id="{AC94271A-0D5A-AD6A-290E-4EBB3FBD1EAD}"/>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专业背景</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217" name="直接连接符 216">
            <a:extLst>
              <a:ext uri="{FF2B5EF4-FFF2-40B4-BE49-F238E27FC236}">
                <a16:creationId xmlns:a16="http://schemas.microsoft.com/office/drawing/2014/main" id="{B57B5302-66F0-3C11-F80A-49C494E182BA}"/>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8" name="文本框 217">
            <a:extLst>
              <a:ext uri="{FF2B5EF4-FFF2-40B4-BE49-F238E27FC236}">
                <a16:creationId xmlns:a16="http://schemas.microsoft.com/office/drawing/2014/main" id="{ED7582F6-1E59-EE96-E3FD-EE1CC074A435}"/>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01</a:t>
            </a:r>
          </a:p>
        </p:txBody>
      </p:sp>
    </p:spTree>
    <p:extLst>
      <p:ext uri="{BB962C8B-B14F-4D97-AF65-F5344CB8AC3E}">
        <p14:creationId xmlns:p14="http://schemas.microsoft.com/office/powerpoint/2010/main" val="15751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001C-0088-E298-45E6-2AAA334B50E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849BDD4-8CB6-9DB8-CA06-2F61A9F38452}"/>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a:solidFill>
                  <a:schemeClr val="bg1"/>
                </a:solidFill>
                <a:latin typeface="汉仪文润宋韵 U" pitchFamily="2" charset="-122"/>
                <a:ea typeface="汉仪文润宋韵 U" pitchFamily="2" charset="-122"/>
              </a:rPr>
              <a:t>先进制造工艺继续发展，可靠性短板需要同步补齐</a:t>
            </a:r>
            <a:endParaRPr lang="zh-CN" altLang="en-US" sz="2400" b="1" spc="-150"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1F270308-D0DB-E02E-5BA2-84DEF0834FC0}"/>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思考与选择</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F6AA690A-7399-77BF-766E-DF3DCFBDB3BB}"/>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AC325D3-7363-3315-9B99-09714A7B96B8}"/>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02</a:t>
            </a:r>
          </a:p>
        </p:txBody>
      </p:sp>
      <p:sp>
        <p:nvSpPr>
          <p:cNvPr id="45" name="矩形: 圆角 44">
            <a:extLst>
              <a:ext uri="{FF2B5EF4-FFF2-40B4-BE49-F238E27FC236}">
                <a16:creationId xmlns:a16="http://schemas.microsoft.com/office/drawing/2014/main" id="{15E0439E-770D-6AB7-148B-C37A6974D7EE}"/>
              </a:ext>
            </a:extLst>
          </p:cNvPr>
          <p:cNvSpPr>
            <a:spLocks/>
          </p:cNvSpPr>
          <p:nvPr/>
        </p:nvSpPr>
        <p:spPr>
          <a:xfrm>
            <a:off x="342900" y="1866900"/>
            <a:ext cx="3594100" cy="3962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6" name="矩形 45">
            <a:extLst>
              <a:ext uri="{FF2B5EF4-FFF2-40B4-BE49-F238E27FC236}">
                <a16:creationId xmlns:a16="http://schemas.microsoft.com/office/drawing/2014/main" id="{F1171601-EEEC-497C-81E9-93C0C91AD1F3}"/>
              </a:ext>
            </a:extLst>
          </p:cNvPr>
          <p:cNvSpPr>
            <a:spLocks/>
          </p:cNvSpPr>
          <p:nvPr/>
        </p:nvSpPr>
        <p:spPr>
          <a:xfrm>
            <a:off x="495299" y="1612900"/>
            <a:ext cx="22733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7" name="文本框 46">
            <a:extLst>
              <a:ext uri="{FF2B5EF4-FFF2-40B4-BE49-F238E27FC236}">
                <a16:creationId xmlns:a16="http://schemas.microsoft.com/office/drawing/2014/main" id="{BC37B1B5-74C2-E628-2C43-D37B1C269285}"/>
              </a:ext>
            </a:extLst>
          </p:cNvPr>
          <p:cNvSpPr txBox="1">
            <a:spLocks/>
          </p:cNvSpPr>
          <p:nvPr/>
        </p:nvSpPr>
        <p:spPr>
          <a:xfrm>
            <a:off x="520700" y="1689100"/>
            <a:ext cx="28448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DEVELOPMENT</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8" name="文本框 47">
            <a:extLst>
              <a:ext uri="{FF2B5EF4-FFF2-40B4-BE49-F238E27FC236}">
                <a16:creationId xmlns:a16="http://schemas.microsoft.com/office/drawing/2014/main" id="{854367B6-178B-5C89-AC41-7A5B46C018D1}"/>
              </a:ext>
            </a:extLst>
          </p:cNvPr>
          <p:cNvSpPr txBox="1">
            <a:spLocks/>
          </p:cNvSpPr>
          <p:nvPr/>
        </p:nvSpPr>
        <p:spPr>
          <a:xfrm>
            <a:off x="520700" y="1638300"/>
            <a:ext cx="22733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工艺持续发展</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7FF2892A-BB0F-C98C-642D-D70944E5E4A8}"/>
              </a:ext>
            </a:extLst>
          </p:cNvPr>
          <p:cNvPicPr>
            <a:picLocks noChangeAspect="1"/>
          </p:cNvPicPr>
          <p:nvPr/>
        </p:nvPicPr>
        <p:blipFill>
          <a:blip r:embed="rId10"/>
          <a:stretch>
            <a:fillRect/>
          </a:stretch>
        </p:blipFill>
        <p:spPr>
          <a:xfrm>
            <a:off x="1016000" y="2120900"/>
            <a:ext cx="2603500" cy="3458820"/>
          </a:xfrm>
          <a:prstGeom prst="rect">
            <a:avLst/>
          </a:prstGeom>
        </p:spPr>
      </p:pic>
      <p:sp>
        <p:nvSpPr>
          <p:cNvPr id="52" name="文本框 51">
            <a:extLst>
              <a:ext uri="{FF2B5EF4-FFF2-40B4-BE49-F238E27FC236}">
                <a16:creationId xmlns:a16="http://schemas.microsoft.com/office/drawing/2014/main" id="{064688EA-8ACE-7DC2-02E4-BB7FD2046839}"/>
              </a:ext>
            </a:extLst>
          </p:cNvPr>
          <p:cNvSpPr txBox="1"/>
          <p:nvPr/>
        </p:nvSpPr>
        <p:spPr>
          <a:xfrm>
            <a:off x="596900" y="5168900"/>
            <a:ext cx="3429000" cy="276999"/>
          </a:xfrm>
          <a:prstGeom prst="rect">
            <a:avLst/>
          </a:prstGeom>
          <a:noFill/>
        </p:spPr>
        <p:txBody>
          <a:bodyPr vert="horz" wrap="square" lIns="0" tIns="0" rIns="0" bIns="0" rtlCol="0">
            <a:noAutofit/>
          </a:bodyPr>
          <a:lstStyle/>
          <a:p>
            <a:r>
              <a:rPr lang="zh-CN" altLang="en-US" sz="1300" dirty="0">
                <a:solidFill>
                  <a:srgbClr val="000000"/>
                </a:solidFill>
                <a:latin typeface="微软雅黑" panose="020B0503020204020204" pitchFamily="34" charset="-122"/>
              </a:rPr>
              <a:t>以焊接场景为例</a:t>
            </a:r>
          </a:p>
        </p:txBody>
      </p:sp>
      <p:sp>
        <p:nvSpPr>
          <p:cNvPr id="53" name="文本框 52">
            <a:extLst>
              <a:ext uri="{FF2B5EF4-FFF2-40B4-BE49-F238E27FC236}">
                <a16:creationId xmlns:a16="http://schemas.microsoft.com/office/drawing/2014/main" id="{4C08DE1E-D8EA-79A6-DE11-97ECA537A021}"/>
              </a:ext>
            </a:extLst>
          </p:cNvPr>
          <p:cNvSpPr txBox="1"/>
          <p:nvPr/>
        </p:nvSpPr>
        <p:spPr>
          <a:xfrm>
            <a:off x="596900" y="5473699"/>
            <a:ext cx="3632200" cy="279400"/>
          </a:xfrm>
          <a:prstGeom prst="rect">
            <a:avLst/>
          </a:prstGeom>
          <a:noFill/>
        </p:spPr>
        <p:txBody>
          <a:bodyPr vert="horz" wrap="square" lIns="0" tIns="0" rIns="0" bIns="0" rtlCol="0">
            <a:noAutofit/>
          </a:bodyPr>
          <a:lstStyle/>
          <a:p>
            <a:r>
              <a:rPr lang="zh-CN" altLang="en-US" sz="1500" dirty="0">
                <a:solidFill>
                  <a:srgbClr val="2F5597"/>
                </a:solidFill>
                <a:latin typeface="微软雅黑" panose="020B0503020204020204" pitchFamily="34" charset="-122"/>
              </a:rPr>
              <a:t>更高效 </a:t>
            </a:r>
            <a:r>
              <a:rPr lang="en-US" altLang="zh-CN" sz="1500" dirty="0">
                <a:solidFill>
                  <a:srgbClr val="2F5597"/>
                </a:solidFill>
                <a:latin typeface="微软雅黑" panose="020B0503020204020204" pitchFamily="34" charset="-122"/>
              </a:rPr>
              <a:t>· </a:t>
            </a:r>
            <a:r>
              <a:rPr lang="zh-CN" altLang="en-US" sz="1500" dirty="0">
                <a:solidFill>
                  <a:srgbClr val="2F5597"/>
                </a:solidFill>
                <a:latin typeface="微软雅黑" panose="020B0503020204020204" pitchFamily="34" charset="-122"/>
              </a:rPr>
              <a:t>更优质 </a:t>
            </a:r>
            <a:r>
              <a:rPr lang="en-US" altLang="zh-CN" sz="1500" dirty="0">
                <a:solidFill>
                  <a:srgbClr val="2F5597"/>
                </a:solidFill>
                <a:latin typeface="微软雅黑" panose="020B0503020204020204" pitchFamily="34" charset="-122"/>
              </a:rPr>
              <a:t>· </a:t>
            </a:r>
            <a:r>
              <a:rPr lang="zh-CN" altLang="en-US" sz="1500" dirty="0">
                <a:solidFill>
                  <a:srgbClr val="2F5597"/>
                </a:solidFill>
                <a:latin typeface="微软雅黑" panose="020B0503020204020204" pitchFamily="34" charset="-122"/>
              </a:rPr>
              <a:t>更极端</a:t>
            </a:r>
          </a:p>
        </p:txBody>
      </p:sp>
      <p:sp>
        <p:nvSpPr>
          <p:cNvPr id="54" name="矩形: 圆角 53">
            <a:extLst>
              <a:ext uri="{FF2B5EF4-FFF2-40B4-BE49-F238E27FC236}">
                <a16:creationId xmlns:a16="http://schemas.microsoft.com/office/drawing/2014/main" id="{58693F0B-EE5D-6A53-B29B-4F02A0E25F09}"/>
              </a:ext>
            </a:extLst>
          </p:cNvPr>
          <p:cNvSpPr>
            <a:spLocks/>
          </p:cNvSpPr>
          <p:nvPr/>
        </p:nvSpPr>
        <p:spPr>
          <a:xfrm>
            <a:off x="4737100" y="1866900"/>
            <a:ext cx="7112000" cy="39624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5" name="矩形 54">
            <a:extLst>
              <a:ext uri="{FF2B5EF4-FFF2-40B4-BE49-F238E27FC236}">
                <a16:creationId xmlns:a16="http://schemas.microsoft.com/office/drawing/2014/main" id="{78EE8D57-B7E3-7B98-1139-F29E0132BC36}"/>
              </a:ext>
            </a:extLst>
          </p:cNvPr>
          <p:cNvSpPr>
            <a:spLocks/>
          </p:cNvSpPr>
          <p:nvPr/>
        </p:nvSpPr>
        <p:spPr>
          <a:xfrm>
            <a:off x="4889499" y="1612900"/>
            <a:ext cx="25908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6" name="文本框 55">
            <a:extLst>
              <a:ext uri="{FF2B5EF4-FFF2-40B4-BE49-F238E27FC236}">
                <a16:creationId xmlns:a16="http://schemas.microsoft.com/office/drawing/2014/main" id="{AD54D9FA-425A-4227-068D-1823962E9740}"/>
              </a:ext>
            </a:extLst>
          </p:cNvPr>
          <p:cNvSpPr txBox="1">
            <a:spLocks/>
          </p:cNvSpPr>
          <p:nvPr/>
        </p:nvSpPr>
        <p:spPr>
          <a:xfrm>
            <a:off x="4914900" y="1689100"/>
            <a:ext cx="31623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RELIABILITY</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7" name="文本框 56">
            <a:extLst>
              <a:ext uri="{FF2B5EF4-FFF2-40B4-BE49-F238E27FC236}">
                <a16:creationId xmlns:a16="http://schemas.microsoft.com/office/drawing/2014/main" id="{8F9BCB05-64E9-F8A8-489B-024F27E32672}"/>
              </a:ext>
            </a:extLst>
          </p:cNvPr>
          <p:cNvSpPr txBox="1">
            <a:spLocks/>
          </p:cNvSpPr>
          <p:nvPr/>
        </p:nvSpPr>
        <p:spPr>
          <a:xfrm>
            <a:off x="4914900" y="1638300"/>
            <a:ext cx="25908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工业应用的要求</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8" name="文本框 57">
            <a:extLst>
              <a:ext uri="{FF2B5EF4-FFF2-40B4-BE49-F238E27FC236}">
                <a16:creationId xmlns:a16="http://schemas.microsoft.com/office/drawing/2014/main" id="{362D8296-0B7D-7890-203B-B0ABCDCEBF4F}"/>
              </a:ext>
            </a:extLst>
          </p:cNvPr>
          <p:cNvSpPr txBox="1"/>
          <p:nvPr/>
        </p:nvSpPr>
        <p:spPr>
          <a:xfrm>
            <a:off x="5016500" y="2133600"/>
            <a:ext cx="6515100" cy="276999"/>
          </a:xfrm>
          <a:prstGeom prst="rect">
            <a:avLst/>
          </a:prstGeom>
          <a:noFill/>
        </p:spPr>
        <p:txBody>
          <a:bodyPr vert="horz" wrap="square" lIns="0" tIns="0" rIns="0" bIns="0" rtlCol="0">
            <a:noAutofit/>
          </a:bodyPr>
          <a:lstStyle/>
          <a:p>
            <a:r>
              <a:rPr lang="zh-CN" altLang="en-US" dirty="0">
                <a:solidFill>
                  <a:srgbClr val="000000"/>
                </a:solidFill>
                <a:latin typeface="微软雅黑" panose="020B0503020204020204" pitchFamily="34" charset="-122"/>
              </a:rPr>
              <a:t>从实验室实现，到工业现场应用</a:t>
            </a:r>
          </a:p>
        </p:txBody>
      </p:sp>
      <p:sp>
        <p:nvSpPr>
          <p:cNvPr id="59" name="文本框 58">
            <a:extLst>
              <a:ext uri="{FF2B5EF4-FFF2-40B4-BE49-F238E27FC236}">
                <a16:creationId xmlns:a16="http://schemas.microsoft.com/office/drawing/2014/main" id="{8B7B2C2C-7523-5B8A-DC07-C5172C2EEA78}"/>
              </a:ext>
            </a:extLst>
          </p:cNvPr>
          <p:cNvSpPr txBox="1"/>
          <p:nvPr/>
        </p:nvSpPr>
        <p:spPr>
          <a:xfrm>
            <a:off x="5016500" y="2641599"/>
            <a:ext cx="6527800" cy="525780"/>
          </a:xfrm>
          <a:prstGeom prst="rect">
            <a:avLst/>
          </a:prstGeom>
          <a:noFill/>
        </p:spPr>
        <p:txBody>
          <a:bodyPr vert="horz" wrap="square" lIns="0" tIns="0" rIns="0" bIns="0" rtlCol="0">
            <a:noAutofit/>
          </a:bodyPr>
          <a:lstStyle/>
          <a:p>
            <a:r>
              <a:rPr lang="zh-CN" altLang="en-US" sz="1600" dirty="0">
                <a:solidFill>
                  <a:srgbClr val="000000"/>
                </a:solidFill>
                <a:latin typeface="微软雅黑" panose="020B0503020204020204" pitchFamily="34" charset="-122"/>
              </a:rPr>
              <a:t>在给定条件下验证工艺可行之后，装备还要在连续运行中，</a:t>
            </a:r>
          </a:p>
          <a:p>
            <a:r>
              <a:rPr lang="zh-CN" altLang="en-US" sz="1600" dirty="0">
                <a:solidFill>
                  <a:srgbClr val="000000"/>
                </a:solidFill>
                <a:latin typeface="微软雅黑" panose="020B0503020204020204" pitchFamily="34" charset="-122"/>
              </a:rPr>
              <a:t>持续满足产品质量和工艺输出要求。</a:t>
            </a:r>
          </a:p>
        </p:txBody>
      </p:sp>
      <p:cxnSp>
        <p:nvCxnSpPr>
          <p:cNvPr id="60" name="直接连接符 59">
            <a:extLst>
              <a:ext uri="{FF2B5EF4-FFF2-40B4-BE49-F238E27FC236}">
                <a16:creationId xmlns:a16="http://schemas.microsoft.com/office/drawing/2014/main" id="{08C4C5E7-E8BC-0525-7217-81F05BA7BC5D}"/>
              </a:ext>
            </a:extLst>
          </p:cNvPr>
          <p:cNvCxnSpPr>
            <a:cxnSpLocks/>
          </p:cNvCxnSpPr>
          <p:nvPr/>
        </p:nvCxnSpPr>
        <p:spPr>
          <a:xfrm>
            <a:off x="5016500" y="3454400"/>
            <a:ext cx="6527800" cy="0"/>
          </a:xfrm>
          <a:prstGeom prst="line">
            <a:avLst/>
          </a:prstGeom>
          <a:noFill/>
          <a:ln w="6350" cap="flat" cmpd="sng" algn="ctr">
            <a:solidFill>
              <a:sysClr val="windowText" lastClr="000000"/>
            </a:solidFill>
            <a:prstDash val="lgDashDotDot"/>
            <a:miter lim="800000"/>
          </a:ln>
          <a:effectLst/>
        </p:spPr>
      </p:cxnSp>
      <p:sp>
        <p:nvSpPr>
          <p:cNvPr id="61" name="文本框 60">
            <a:extLst>
              <a:ext uri="{FF2B5EF4-FFF2-40B4-BE49-F238E27FC236}">
                <a16:creationId xmlns:a16="http://schemas.microsoft.com/office/drawing/2014/main" id="{912B6413-7E2D-2B49-7EA1-B5D44E792DF7}"/>
              </a:ext>
            </a:extLst>
          </p:cNvPr>
          <p:cNvSpPr txBox="1"/>
          <p:nvPr/>
        </p:nvSpPr>
        <p:spPr>
          <a:xfrm>
            <a:off x="5016500" y="3670300"/>
            <a:ext cx="6350000" cy="276999"/>
          </a:xfrm>
          <a:prstGeom prst="rect">
            <a:avLst/>
          </a:prstGeom>
          <a:noFill/>
        </p:spPr>
        <p:txBody>
          <a:bodyPr vert="horz" wrap="square" lIns="0" tIns="0" rIns="0" bIns="0" rtlCol="0">
            <a:noAutofit/>
          </a:bodyPr>
          <a:lstStyle/>
          <a:p>
            <a:r>
              <a:rPr lang="zh-CN" altLang="en-US" dirty="0">
                <a:solidFill>
                  <a:srgbClr val="2F5597"/>
                </a:solidFill>
                <a:latin typeface="微软雅黑" panose="020B0503020204020204" pitchFamily="34" charset="-122"/>
              </a:rPr>
              <a:t>可靠性短板仍需补齐</a:t>
            </a:r>
          </a:p>
        </p:txBody>
      </p:sp>
      <p:sp>
        <p:nvSpPr>
          <p:cNvPr id="62" name="文本框 61">
            <a:extLst>
              <a:ext uri="{FF2B5EF4-FFF2-40B4-BE49-F238E27FC236}">
                <a16:creationId xmlns:a16="http://schemas.microsoft.com/office/drawing/2014/main" id="{9C4E97F6-1897-5743-D25F-9D3763FC9D10}"/>
              </a:ext>
            </a:extLst>
          </p:cNvPr>
          <p:cNvSpPr txBox="1"/>
          <p:nvPr/>
        </p:nvSpPr>
        <p:spPr>
          <a:xfrm>
            <a:off x="5016500" y="4267200"/>
            <a:ext cx="1155700" cy="276999"/>
          </a:xfrm>
          <a:prstGeom prst="rect">
            <a:avLst/>
          </a:prstGeom>
          <a:noFill/>
        </p:spPr>
        <p:txBody>
          <a:bodyPr vert="horz" wrap="square" lIns="0" tIns="0" rIns="0" bIns="0" rtlCol="0">
            <a:noAutofit/>
          </a:bodyPr>
          <a:lstStyle/>
          <a:p>
            <a:r>
              <a:rPr lang="zh-CN" altLang="en-US" sz="1600" dirty="0">
                <a:solidFill>
                  <a:srgbClr val="000000"/>
                </a:solidFill>
                <a:latin typeface="微软雅黑" panose="020B0503020204020204" pitchFamily="34" charset="-122"/>
              </a:rPr>
              <a:t>评价标准</a:t>
            </a:r>
          </a:p>
        </p:txBody>
      </p:sp>
      <p:sp>
        <p:nvSpPr>
          <p:cNvPr id="63" name="文本框 62">
            <a:extLst>
              <a:ext uri="{FF2B5EF4-FFF2-40B4-BE49-F238E27FC236}">
                <a16:creationId xmlns:a16="http://schemas.microsoft.com/office/drawing/2014/main" id="{69E0FB64-8B3E-56BE-4C36-376F284F98AC}"/>
              </a:ext>
            </a:extLst>
          </p:cNvPr>
          <p:cNvSpPr txBox="1"/>
          <p:nvPr/>
        </p:nvSpPr>
        <p:spPr>
          <a:xfrm>
            <a:off x="6388100" y="4190999"/>
            <a:ext cx="2614386" cy="495300"/>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完善面向装备及关键部件的评价标准，明确长期稳定性的判据。</a:t>
            </a:r>
          </a:p>
        </p:txBody>
      </p:sp>
      <p:sp>
        <p:nvSpPr>
          <p:cNvPr id="64" name="文本框 63">
            <a:extLst>
              <a:ext uri="{FF2B5EF4-FFF2-40B4-BE49-F238E27FC236}">
                <a16:creationId xmlns:a16="http://schemas.microsoft.com/office/drawing/2014/main" id="{D61092A4-99A5-639C-16A4-2C4C18CCCCEB}"/>
              </a:ext>
            </a:extLst>
          </p:cNvPr>
          <p:cNvSpPr txBox="1"/>
          <p:nvPr/>
        </p:nvSpPr>
        <p:spPr>
          <a:xfrm>
            <a:off x="5016500" y="5130800"/>
            <a:ext cx="1155700" cy="276999"/>
          </a:xfrm>
          <a:prstGeom prst="rect">
            <a:avLst/>
          </a:prstGeom>
          <a:noFill/>
        </p:spPr>
        <p:txBody>
          <a:bodyPr vert="horz" wrap="square" lIns="0" tIns="0" rIns="0" bIns="0" rtlCol="0">
            <a:noAutofit/>
          </a:bodyPr>
          <a:lstStyle/>
          <a:p>
            <a:r>
              <a:rPr lang="zh-CN" altLang="en-US" sz="1600" dirty="0">
                <a:solidFill>
                  <a:srgbClr val="000000"/>
                </a:solidFill>
                <a:latin typeface="微软雅黑" panose="020B0503020204020204" pitchFamily="34" charset="-122"/>
              </a:rPr>
              <a:t>质量数据</a:t>
            </a:r>
          </a:p>
        </p:txBody>
      </p:sp>
      <p:sp>
        <p:nvSpPr>
          <p:cNvPr id="65" name="文本框 64">
            <a:extLst>
              <a:ext uri="{FF2B5EF4-FFF2-40B4-BE49-F238E27FC236}">
                <a16:creationId xmlns:a16="http://schemas.microsoft.com/office/drawing/2014/main" id="{D718FFF5-DA59-35B5-A720-FDE577AD0875}"/>
              </a:ext>
            </a:extLst>
          </p:cNvPr>
          <p:cNvSpPr txBox="1"/>
          <p:nvPr/>
        </p:nvSpPr>
        <p:spPr>
          <a:xfrm>
            <a:off x="6388100" y="5054599"/>
            <a:ext cx="2559957" cy="495300"/>
          </a:xfrm>
          <a:prstGeom prst="rect">
            <a:avLst/>
          </a:prstGeom>
          <a:noFill/>
        </p:spPr>
        <p:txBody>
          <a:bodyPr vert="horz" wrap="square" lIns="0" tIns="0" rIns="0" bIns="0" rtlCol="0">
            <a:noAutofit/>
          </a:bodyPr>
          <a:lstStyle/>
          <a:p>
            <a:r>
              <a:rPr lang="zh-CN" altLang="en-US" sz="1500" dirty="0">
                <a:solidFill>
                  <a:srgbClr val="000000"/>
                </a:solidFill>
                <a:latin typeface="微软雅黑" panose="020B0503020204020204" pitchFamily="34" charset="-122"/>
              </a:rPr>
              <a:t>积累工艺试验、设备运行与产品质量数据，为可靠性分析与改进提供依据。</a:t>
            </a:r>
          </a:p>
        </p:txBody>
      </p:sp>
      <p:sp>
        <p:nvSpPr>
          <p:cNvPr id="66" name="文本框 65">
            <a:extLst>
              <a:ext uri="{FF2B5EF4-FFF2-40B4-BE49-F238E27FC236}">
                <a16:creationId xmlns:a16="http://schemas.microsoft.com/office/drawing/2014/main" id="{23A49E44-165F-17CD-C13C-42BFCFFBB8AF}"/>
              </a:ext>
            </a:extLst>
          </p:cNvPr>
          <p:cNvSpPr txBox="1"/>
          <p:nvPr/>
        </p:nvSpPr>
        <p:spPr>
          <a:xfrm>
            <a:off x="495300" y="6134100"/>
            <a:ext cx="11315700" cy="276999"/>
          </a:xfrm>
          <a:prstGeom prst="rect">
            <a:avLst/>
          </a:prstGeom>
          <a:noFill/>
        </p:spPr>
        <p:txBody>
          <a:bodyPr vert="horz" wrap="square" lIns="0" tIns="0" rIns="0" bIns="0" rtlCol="0">
            <a:noAutofit/>
          </a:bodyPr>
          <a:lstStyle/>
          <a:p>
            <a:r>
              <a:rPr lang="zh-CN" altLang="en-US" dirty="0">
                <a:solidFill>
                  <a:srgbClr val="2F5597"/>
                </a:solidFill>
                <a:latin typeface="微软雅黑" panose="020B0503020204020204" pitchFamily="34" charset="-122"/>
              </a:rPr>
              <a:t>补齐可靠性能力，支撑先进工艺在更广阔的工业场景中稳定应用。</a:t>
            </a:r>
          </a:p>
        </p:txBody>
      </p:sp>
      <p:sp>
        <p:nvSpPr>
          <p:cNvPr id="67" name="箭头: 上 41">
            <a:extLst>
              <a:ext uri="{FF2B5EF4-FFF2-40B4-BE49-F238E27FC236}">
                <a16:creationId xmlns:a16="http://schemas.microsoft.com/office/drawing/2014/main" id="{74F4FCBC-E312-54AB-8E0A-57DCE0E55419}"/>
              </a:ext>
            </a:extLst>
          </p:cNvPr>
          <p:cNvSpPr/>
          <p:nvPr/>
        </p:nvSpPr>
        <p:spPr>
          <a:xfrm rot="5400000">
            <a:off x="3512920" y="3214080"/>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9D5666"/>
              </a:gs>
              <a:gs pos="0">
                <a:srgbClr val="D698A6">
                  <a:alpha val="1900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grpSp>
        <p:nvGrpSpPr>
          <p:cNvPr id="104" name="组合 103">
            <a:extLst>
              <a:ext uri="{FF2B5EF4-FFF2-40B4-BE49-F238E27FC236}">
                <a16:creationId xmlns:a16="http://schemas.microsoft.com/office/drawing/2014/main" id="{AD2EC306-8EFC-F4DC-9DD5-B78AFFC9901E}"/>
              </a:ext>
            </a:extLst>
          </p:cNvPr>
          <p:cNvGrpSpPr/>
          <p:nvPr/>
        </p:nvGrpSpPr>
        <p:grpSpPr>
          <a:xfrm>
            <a:off x="9358285" y="3034935"/>
            <a:ext cx="2287615" cy="2718164"/>
            <a:chOff x="3186794" y="1472835"/>
            <a:chExt cx="2778927" cy="3301945"/>
          </a:xfrm>
        </p:grpSpPr>
        <p:sp>
          <p:nvSpPr>
            <p:cNvPr id="86" name="任意多边形: 形状 85">
              <a:extLst>
                <a:ext uri="{FF2B5EF4-FFF2-40B4-BE49-F238E27FC236}">
                  <a16:creationId xmlns:a16="http://schemas.microsoft.com/office/drawing/2014/main" id="{C53663A1-20F7-3B8D-A6D8-5E3D0097B364}"/>
                </a:ext>
              </a:extLst>
            </p:cNvPr>
            <p:cNvSpPr/>
            <p:nvPr/>
          </p:nvSpPr>
          <p:spPr>
            <a:xfrm rot="10603451">
              <a:off x="3239502" y="1882506"/>
              <a:ext cx="2726219" cy="2875510"/>
            </a:xfrm>
            <a:custGeom>
              <a:avLst/>
              <a:gdLst>
                <a:gd name="connsiteX0" fmla="*/ 1160168 w 3267919"/>
                <a:gd name="connsiteY0" fmla="*/ 3080998 h 3420689"/>
                <a:gd name="connsiteX1" fmla="*/ 1150008 w 3267919"/>
                <a:gd name="connsiteY1" fmla="*/ 2928598 h 3420689"/>
                <a:gd name="connsiteX2" fmla="*/ 1190648 w 3267919"/>
                <a:gd name="connsiteY2" fmla="*/ 1871958 h 3420689"/>
                <a:gd name="connsiteX3" fmla="*/ 550568 w 3267919"/>
                <a:gd name="connsiteY3" fmla="*/ 1912598 h 3420689"/>
                <a:gd name="connsiteX4" fmla="*/ 469288 w 3267919"/>
                <a:gd name="connsiteY4" fmla="*/ 3060678 h 3420689"/>
                <a:gd name="connsiteX5" fmla="*/ 3267919 w 3267919"/>
                <a:gd name="connsiteY5" fmla="*/ 3420689 h 3420689"/>
                <a:gd name="connsiteX6" fmla="*/ 0 w 3267919"/>
                <a:gd name="connsiteY6" fmla="*/ 3420689 h 3420689"/>
                <a:gd name="connsiteX7" fmla="*/ 293452 w 3267919"/>
                <a:gd name="connsiteY7" fmla="*/ 445423 h 3420689"/>
                <a:gd name="connsiteX8" fmla="*/ 291297 w 3267919"/>
                <a:gd name="connsiteY8" fmla="*/ 431702 h 3420689"/>
                <a:gd name="connsiteX9" fmla="*/ 1633960 w 3267919"/>
                <a:gd name="connsiteY9" fmla="*/ 0 h 3420689"/>
                <a:gd name="connsiteX10" fmla="*/ 2976623 w 3267919"/>
                <a:gd name="connsiteY10" fmla="*/ 431702 h 3420689"/>
                <a:gd name="connsiteX11" fmla="*/ 2974468 w 3267919"/>
                <a:gd name="connsiteY11" fmla="*/ 445427 h 342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7919" h="3420689">
                  <a:moveTo>
                    <a:pt x="1160168" y="3080998"/>
                  </a:moveTo>
                  <a:lnTo>
                    <a:pt x="1150008" y="2928598"/>
                  </a:lnTo>
                  <a:lnTo>
                    <a:pt x="1190648" y="1871958"/>
                  </a:lnTo>
                  <a:lnTo>
                    <a:pt x="550568" y="1912598"/>
                  </a:lnTo>
                  <a:lnTo>
                    <a:pt x="469288" y="3060678"/>
                  </a:lnTo>
                  <a:close/>
                  <a:moveTo>
                    <a:pt x="3267919" y="3420689"/>
                  </a:moveTo>
                  <a:lnTo>
                    <a:pt x="0" y="3420689"/>
                  </a:lnTo>
                  <a:lnTo>
                    <a:pt x="293452" y="445423"/>
                  </a:lnTo>
                  <a:lnTo>
                    <a:pt x="291297" y="431702"/>
                  </a:lnTo>
                  <a:cubicBezTo>
                    <a:pt x="291297" y="193280"/>
                    <a:pt x="892428" y="0"/>
                    <a:pt x="1633960" y="0"/>
                  </a:cubicBezTo>
                  <a:cubicBezTo>
                    <a:pt x="2375492" y="0"/>
                    <a:pt x="2976623" y="193280"/>
                    <a:pt x="2976623" y="431702"/>
                  </a:cubicBezTo>
                  <a:lnTo>
                    <a:pt x="2974468" y="445427"/>
                  </a:lnTo>
                  <a:close/>
                </a:path>
              </a:pathLst>
            </a:custGeom>
            <a:gradFill>
              <a:gsLst>
                <a:gs pos="0">
                  <a:srgbClr val="FFFFFF"/>
                </a:gs>
                <a:gs pos="100000">
                  <a:srgbClr val="FFFFFF"/>
                </a:gs>
                <a:gs pos="46000">
                  <a:srgbClr val="0BD0D9">
                    <a:lumMod val="5000"/>
                    <a:lumOff val="95000"/>
                  </a:srgbClr>
                </a:gs>
              </a:gsLst>
              <a:path path="circle">
                <a:fillToRect r="100000" b="100000"/>
              </a:path>
            </a:gradFill>
            <a:ln w="13716" cap="flat" cmpd="sng" algn="ctr">
              <a:noFill/>
              <a:prstDash val="dash"/>
              <a:miter lim="800000"/>
            </a:ln>
            <a:effectLst>
              <a:outerShdw blurRad="254000" sx="103000" sy="103000" algn="ctr" rotWithShape="0">
                <a:srgbClr val="0BD0D9">
                  <a:lumMod val="50000"/>
                  <a:alpha val="10000"/>
                </a:srgbClr>
              </a:outerShdw>
            </a:effectLst>
          </p:spPr>
          <p:txBody>
            <a:bodyPr lIns="109728" tIns="54864" rIns="109728" bIns="54864" rtlCol="0" anchor="ctr"/>
            <a:lstStyle/>
            <a:p>
              <a:pPr algn="ctr">
                <a:defRPr/>
              </a:pPr>
              <a:endParaRPr lang="zh-CN" altLang="en-US" sz="2000" kern="0" dirty="0">
                <a:solidFill>
                  <a:srgbClr val="FFFFFF"/>
                </a:solidFill>
                <a:latin typeface="宋体" panose="02010600030101010101" pitchFamily="2" charset="-122"/>
                <a:ea typeface="思源黑体 CN Bold"/>
              </a:endParaRPr>
            </a:p>
          </p:txBody>
        </p:sp>
        <p:sp>
          <p:nvSpPr>
            <p:cNvPr id="87" name="任意多边形: 形状 86">
              <a:extLst>
                <a:ext uri="{FF2B5EF4-FFF2-40B4-BE49-F238E27FC236}">
                  <a16:creationId xmlns:a16="http://schemas.microsoft.com/office/drawing/2014/main" id="{751791D3-C0BE-AE71-1225-7208ACE94AAA}"/>
                </a:ext>
              </a:extLst>
            </p:cNvPr>
            <p:cNvSpPr/>
            <p:nvPr>
              <p:custDataLst>
                <p:tags r:id="rId1"/>
              </p:custDataLst>
            </p:nvPr>
          </p:nvSpPr>
          <p:spPr>
            <a:xfrm rot="21403451">
              <a:off x="3186794" y="1472835"/>
              <a:ext cx="2726217" cy="1795568"/>
            </a:xfrm>
            <a:custGeom>
              <a:avLst/>
              <a:gdLst>
                <a:gd name="connsiteX0" fmla="*/ 1599978 w 3243091"/>
                <a:gd name="connsiteY0" fmla="*/ 43 h 2061236"/>
                <a:gd name="connsiteX1" fmla="*/ 1853130 w 3243091"/>
                <a:gd name="connsiteY1" fmla="*/ 5381 h 2061236"/>
                <a:gd name="connsiteX2" fmla="*/ 2799520 w 3243091"/>
                <a:gd name="connsiteY2" fmla="*/ 878564 h 2061236"/>
                <a:gd name="connsiteX3" fmla="*/ 2779773 w 3243091"/>
                <a:gd name="connsiteY3" fmla="*/ 882509 h 2061236"/>
                <a:gd name="connsiteX4" fmla="*/ 2704230 w 3243091"/>
                <a:gd name="connsiteY4" fmla="*/ 2030756 h 2061236"/>
                <a:gd name="connsiteX5" fmla="*/ 2056530 w 3243091"/>
                <a:gd name="connsiteY5" fmla="*/ 2061236 h 2061236"/>
                <a:gd name="connsiteX6" fmla="*/ 2078994 w 3243091"/>
                <a:gd name="connsiteY6" fmla="*/ 1020417 h 2061236"/>
                <a:gd name="connsiteX7" fmla="*/ 1877361 w 3243091"/>
                <a:gd name="connsiteY7" fmla="*/ 1035470 h 2061236"/>
                <a:gd name="connsiteX8" fmla="*/ 1212481 w 3243091"/>
                <a:gd name="connsiteY8" fmla="*/ 1025225 h 2061236"/>
                <a:gd name="connsiteX9" fmla="*/ 870898 w 3243091"/>
                <a:gd name="connsiteY9" fmla="*/ 59154 h 2061236"/>
                <a:gd name="connsiteX10" fmla="*/ 1599978 w 3243091"/>
                <a:gd name="connsiteY10" fmla="*/ 43 h 2061236"/>
                <a:gd name="connsiteX0" fmla="*/ 1599978 w 3243091"/>
                <a:gd name="connsiteY0" fmla="*/ 43 h 2106956"/>
                <a:gd name="connsiteX1" fmla="*/ 1853130 w 3243091"/>
                <a:gd name="connsiteY1" fmla="*/ 5381 h 2106956"/>
                <a:gd name="connsiteX2" fmla="*/ 2799520 w 3243091"/>
                <a:gd name="connsiteY2" fmla="*/ 878564 h 2106956"/>
                <a:gd name="connsiteX3" fmla="*/ 2779773 w 3243091"/>
                <a:gd name="connsiteY3" fmla="*/ 882509 h 2106956"/>
                <a:gd name="connsiteX4" fmla="*/ 2704230 w 3243091"/>
                <a:gd name="connsiteY4" fmla="*/ 2030756 h 2106956"/>
                <a:gd name="connsiteX5" fmla="*/ 2056530 w 3243091"/>
                <a:gd name="connsiteY5" fmla="*/ 2106956 h 2106956"/>
                <a:gd name="connsiteX6" fmla="*/ 2078994 w 3243091"/>
                <a:gd name="connsiteY6" fmla="*/ 1020417 h 2106956"/>
                <a:gd name="connsiteX7" fmla="*/ 1877361 w 3243091"/>
                <a:gd name="connsiteY7" fmla="*/ 1035470 h 2106956"/>
                <a:gd name="connsiteX8" fmla="*/ 1212481 w 3243091"/>
                <a:gd name="connsiteY8" fmla="*/ 1025225 h 2106956"/>
                <a:gd name="connsiteX9" fmla="*/ 870898 w 3243091"/>
                <a:gd name="connsiteY9" fmla="*/ 59154 h 2106956"/>
                <a:gd name="connsiteX10" fmla="*/ 1599978 w 3243091"/>
                <a:gd name="connsiteY10" fmla="*/ 43 h 2106956"/>
                <a:gd name="connsiteX0" fmla="*/ 1599978 w 3243091"/>
                <a:gd name="connsiteY0" fmla="*/ 43 h 2120984"/>
                <a:gd name="connsiteX1" fmla="*/ 1853130 w 3243091"/>
                <a:gd name="connsiteY1" fmla="*/ 5381 h 2120984"/>
                <a:gd name="connsiteX2" fmla="*/ 2799520 w 3243091"/>
                <a:gd name="connsiteY2" fmla="*/ 878564 h 2120984"/>
                <a:gd name="connsiteX3" fmla="*/ 2779773 w 3243091"/>
                <a:gd name="connsiteY3" fmla="*/ 882509 h 2120984"/>
                <a:gd name="connsiteX4" fmla="*/ 2704230 w 3243091"/>
                <a:gd name="connsiteY4" fmla="*/ 2030756 h 2120984"/>
                <a:gd name="connsiteX5" fmla="*/ 2056530 w 3243091"/>
                <a:gd name="connsiteY5" fmla="*/ 2106956 h 2120984"/>
                <a:gd name="connsiteX6" fmla="*/ 2078994 w 3243091"/>
                <a:gd name="connsiteY6" fmla="*/ 1020417 h 2120984"/>
                <a:gd name="connsiteX7" fmla="*/ 1877361 w 3243091"/>
                <a:gd name="connsiteY7" fmla="*/ 1035470 h 2120984"/>
                <a:gd name="connsiteX8" fmla="*/ 1212481 w 3243091"/>
                <a:gd name="connsiteY8" fmla="*/ 1025225 h 2120984"/>
                <a:gd name="connsiteX9" fmla="*/ 870898 w 3243091"/>
                <a:gd name="connsiteY9" fmla="*/ 59154 h 2120984"/>
                <a:gd name="connsiteX10" fmla="*/ 1599978 w 3243091"/>
                <a:gd name="connsiteY10" fmla="*/ 43 h 2120984"/>
                <a:gd name="connsiteX0" fmla="*/ 1599978 w 3243091"/>
                <a:gd name="connsiteY0" fmla="*/ 43 h 2135994"/>
                <a:gd name="connsiteX1" fmla="*/ 1853130 w 3243091"/>
                <a:gd name="connsiteY1" fmla="*/ 5381 h 2135994"/>
                <a:gd name="connsiteX2" fmla="*/ 2799520 w 3243091"/>
                <a:gd name="connsiteY2" fmla="*/ 878564 h 2135994"/>
                <a:gd name="connsiteX3" fmla="*/ 2779773 w 3243091"/>
                <a:gd name="connsiteY3" fmla="*/ 882509 h 2135994"/>
                <a:gd name="connsiteX4" fmla="*/ 2704230 w 3243091"/>
                <a:gd name="connsiteY4" fmla="*/ 2030756 h 2135994"/>
                <a:gd name="connsiteX5" fmla="*/ 2056530 w 3243091"/>
                <a:gd name="connsiteY5" fmla="*/ 2106956 h 2135994"/>
                <a:gd name="connsiteX6" fmla="*/ 2078994 w 3243091"/>
                <a:gd name="connsiteY6" fmla="*/ 1020417 h 2135994"/>
                <a:gd name="connsiteX7" fmla="*/ 1877361 w 3243091"/>
                <a:gd name="connsiteY7" fmla="*/ 1035470 h 2135994"/>
                <a:gd name="connsiteX8" fmla="*/ 1212481 w 3243091"/>
                <a:gd name="connsiteY8" fmla="*/ 1025225 h 2135994"/>
                <a:gd name="connsiteX9" fmla="*/ 870898 w 3243091"/>
                <a:gd name="connsiteY9" fmla="*/ 59154 h 2135994"/>
                <a:gd name="connsiteX10" fmla="*/ 1599978 w 3243091"/>
                <a:gd name="connsiteY10" fmla="*/ 43 h 213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43091" h="2135994">
                  <a:moveTo>
                    <a:pt x="1599978" y="43"/>
                  </a:moveTo>
                  <a:cubicBezTo>
                    <a:pt x="1684280" y="-307"/>
                    <a:pt x="1768918" y="1459"/>
                    <a:pt x="1853130" y="5381"/>
                  </a:cubicBezTo>
                  <a:cubicBezTo>
                    <a:pt x="3151845" y="65864"/>
                    <a:pt x="3700049" y="571662"/>
                    <a:pt x="2799520" y="878564"/>
                  </a:cubicBezTo>
                  <a:lnTo>
                    <a:pt x="2779773" y="882509"/>
                  </a:lnTo>
                  <a:lnTo>
                    <a:pt x="2704230" y="2030756"/>
                  </a:lnTo>
                  <a:cubicBezTo>
                    <a:pt x="2541670" y="2147596"/>
                    <a:pt x="2371490" y="2157756"/>
                    <a:pt x="2056530" y="2106956"/>
                  </a:cubicBezTo>
                  <a:lnTo>
                    <a:pt x="2078994" y="1020417"/>
                  </a:lnTo>
                  <a:lnTo>
                    <a:pt x="1877361" y="1035470"/>
                  </a:lnTo>
                  <a:cubicBezTo>
                    <a:pt x="1656714" y="1046844"/>
                    <a:pt x="1430295" y="1043462"/>
                    <a:pt x="1212481" y="1025225"/>
                  </a:cubicBezTo>
                  <a:cubicBezTo>
                    <a:pt x="-222343" y="905091"/>
                    <a:pt x="-443441" y="279778"/>
                    <a:pt x="870898" y="59154"/>
                  </a:cubicBezTo>
                  <a:cubicBezTo>
                    <a:pt x="1097190" y="21169"/>
                    <a:pt x="1347072" y="1090"/>
                    <a:pt x="1599978" y="43"/>
                  </a:cubicBezTo>
                  <a:close/>
                </a:path>
              </a:pathLst>
            </a:custGeom>
            <a:solidFill>
              <a:srgbClr val="0F6FC6">
                <a:lumMod val="20000"/>
                <a:lumOff val="80000"/>
              </a:srgbClr>
            </a:solidFill>
            <a:ln w="15240" cap="flat" cmpd="sng" algn="ctr">
              <a:solidFill>
                <a:srgbClr val="FFFFFF">
                  <a:lumMod val="75000"/>
                </a:srgbClr>
              </a:solidFill>
              <a:prstDash val="dash"/>
              <a:miter lim="800000"/>
            </a:ln>
            <a:effectLst/>
          </p:spPr>
          <p:txBody>
            <a:bodyPr lIns="118506" tIns="59254" rIns="118506" bIns="59254" rtlCol="0" anchor="ctr"/>
            <a:lstStyle/>
            <a:p>
              <a:pPr algn="ctr">
                <a:defRPr/>
              </a:pPr>
              <a:endParaRPr lang="zh-CN" altLang="en-US" sz="2000" kern="0" dirty="0">
                <a:solidFill>
                  <a:srgbClr val="FFFFFF"/>
                </a:solidFill>
                <a:effectLst>
                  <a:outerShdw blurRad="164592" dist="49378" dir="2700002" algn="tl">
                    <a:srgbClr val="000000">
                      <a:alpha val="40000"/>
                    </a:srgbClr>
                  </a:outerShdw>
                </a:effectLst>
                <a:latin typeface="宋体" panose="02010600030101010101" pitchFamily="2" charset="-122"/>
                <a:ea typeface="思源黑体 CN Bold"/>
              </a:endParaRPr>
            </a:p>
          </p:txBody>
        </p:sp>
        <p:cxnSp>
          <p:nvCxnSpPr>
            <p:cNvPr id="88" name="直接连接符 87">
              <a:extLst>
                <a:ext uri="{FF2B5EF4-FFF2-40B4-BE49-F238E27FC236}">
                  <a16:creationId xmlns:a16="http://schemas.microsoft.com/office/drawing/2014/main" id="{633AA41F-0B78-C5BE-FF1A-2254C35F8C90}"/>
                </a:ext>
              </a:extLst>
            </p:cNvPr>
            <p:cNvCxnSpPr>
              <a:cxnSpLocks/>
            </p:cNvCxnSpPr>
            <p:nvPr/>
          </p:nvCxnSpPr>
          <p:spPr>
            <a:xfrm rot="21403451">
              <a:off x="3684658" y="2288248"/>
              <a:ext cx="188406" cy="2449809"/>
            </a:xfrm>
            <a:prstGeom prst="line">
              <a:avLst/>
            </a:prstGeom>
            <a:noFill/>
            <a:ln w="11430" cap="flat" cmpd="sng" algn="ctr">
              <a:solidFill>
                <a:srgbClr val="FFFFFF">
                  <a:lumMod val="65000"/>
                </a:srgbClr>
              </a:solidFill>
              <a:prstDash val="dash"/>
              <a:miter lim="800000"/>
            </a:ln>
            <a:effectLst/>
          </p:spPr>
        </p:cxnSp>
        <p:cxnSp>
          <p:nvCxnSpPr>
            <p:cNvPr id="89" name="直接连接符 88">
              <a:extLst>
                <a:ext uri="{FF2B5EF4-FFF2-40B4-BE49-F238E27FC236}">
                  <a16:creationId xmlns:a16="http://schemas.microsoft.com/office/drawing/2014/main" id="{B8FFC8C1-3E8E-1763-CF5D-247896BBAED3}"/>
                </a:ext>
              </a:extLst>
            </p:cNvPr>
            <p:cNvCxnSpPr>
              <a:cxnSpLocks/>
            </p:cNvCxnSpPr>
            <p:nvPr/>
          </p:nvCxnSpPr>
          <p:spPr>
            <a:xfrm rot="21403451">
              <a:off x="4283906" y="2364102"/>
              <a:ext cx="64925" cy="2410678"/>
            </a:xfrm>
            <a:prstGeom prst="line">
              <a:avLst/>
            </a:prstGeom>
            <a:noFill/>
            <a:ln w="11430" cap="flat" cmpd="sng" algn="ctr">
              <a:solidFill>
                <a:srgbClr val="FFFFFF">
                  <a:lumMod val="65000"/>
                </a:srgbClr>
              </a:solidFill>
              <a:prstDash val="dash"/>
              <a:miter lim="800000"/>
            </a:ln>
            <a:effectLst/>
          </p:spPr>
        </p:cxnSp>
        <p:cxnSp>
          <p:nvCxnSpPr>
            <p:cNvPr id="90" name="直接连接符 89">
              <a:extLst>
                <a:ext uri="{FF2B5EF4-FFF2-40B4-BE49-F238E27FC236}">
                  <a16:creationId xmlns:a16="http://schemas.microsoft.com/office/drawing/2014/main" id="{F9A60484-4990-9715-5265-C9490B4DDA07}"/>
                </a:ext>
              </a:extLst>
            </p:cNvPr>
            <p:cNvCxnSpPr>
              <a:cxnSpLocks/>
            </p:cNvCxnSpPr>
            <p:nvPr/>
          </p:nvCxnSpPr>
          <p:spPr>
            <a:xfrm rot="21403451" flipH="1">
              <a:off x="5439267" y="3123884"/>
              <a:ext cx="120096" cy="1516466"/>
            </a:xfrm>
            <a:prstGeom prst="line">
              <a:avLst/>
            </a:prstGeom>
            <a:noFill/>
            <a:ln w="11430" cap="flat" cmpd="sng" algn="ctr">
              <a:solidFill>
                <a:srgbClr val="FFFFFF">
                  <a:lumMod val="65000"/>
                </a:srgbClr>
              </a:solidFill>
              <a:prstDash val="dash"/>
              <a:miter lim="800000"/>
            </a:ln>
            <a:effectLst/>
          </p:spPr>
        </p:cxnSp>
        <p:cxnSp>
          <p:nvCxnSpPr>
            <p:cNvPr id="91" name="直接连接符 90">
              <a:extLst>
                <a:ext uri="{FF2B5EF4-FFF2-40B4-BE49-F238E27FC236}">
                  <a16:creationId xmlns:a16="http://schemas.microsoft.com/office/drawing/2014/main" id="{9F9F7300-F2E1-3BB8-4226-B9583F242167}"/>
                </a:ext>
              </a:extLst>
            </p:cNvPr>
            <p:cNvCxnSpPr>
              <a:cxnSpLocks/>
            </p:cNvCxnSpPr>
            <p:nvPr/>
          </p:nvCxnSpPr>
          <p:spPr>
            <a:xfrm rot="21403451" flipH="1">
              <a:off x="4965454" y="3186981"/>
              <a:ext cx="59575" cy="1549648"/>
            </a:xfrm>
            <a:prstGeom prst="line">
              <a:avLst/>
            </a:prstGeom>
            <a:noFill/>
            <a:ln w="11430" cap="flat" cmpd="sng" algn="ctr">
              <a:solidFill>
                <a:srgbClr val="FFFFFF">
                  <a:lumMod val="65000"/>
                </a:srgbClr>
              </a:solidFill>
              <a:prstDash val="dash"/>
              <a:miter lim="800000"/>
            </a:ln>
            <a:effectLst/>
          </p:spPr>
        </p:cxnSp>
        <p:sp>
          <p:nvSpPr>
            <p:cNvPr id="92" name="文本框 91">
              <a:extLst>
                <a:ext uri="{FF2B5EF4-FFF2-40B4-BE49-F238E27FC236}">
                  <a16:creationId xmlns:a16="http://schemas.microsoft.com/office/drawing/2014/main" id="{B0751F41-A18F-B0B9-389A-B0048C3E4657}"/>
                </a:ext>
              </a:extLst>
            </p:cNvPr>
            <p:cNvSpPr txBox="1"/>
            <p:nvPr/>
          </p:nvSpPr>
          <p:spPr>
            <a:xfrm rot="21194917">
              <a:off x="3336060" y="2918640"/>
              <a:ext cx="309800" cy="1031902"/>
            </a:xfrm>
            <a:prstGeom prst="rect">
              <a:avLst/>
            </a:prstGeom>
            <a:noFill/>
            <a:effectLst/>
          </p:spPr>
          <p:txBody>
            <a:bodyPr wrap="square" lIns="109728" tIns="54864" rIns="109728" bIns="54864" rtlCol="0">
              <a:spAutoFit/>
            </a:bodyPr>
            <a:lstStyle/>
            <a:p>
              <a:r>
                <a:rPr lang="zh-CN" altLang="en-US" sz="1600" dirty="0">
                  <a:solidFill>
                    <a:srgbClr val="000000"/>
                  </a:solidFill>
                  <a:latin typeface="华康标题宋W9(P)" panose="02020900000000000000" pitchFamily="18" charset="-122"/>
                  <a:ea typeface="华康标题宋W9(P)" panose="02020900000000000000" pitchFamily="18" charset="-122"/>
                </a:rPr>
                <a:t>高性能</a:t>
              </a:r>
            </a:p>
          </p:txBody>
        </p:sp>
        <p:sp>
          <p:nvSpPr>
            <p:cNvPr id="93" name="文本框 92">
              <a:extLst>
                <a:ext uri="{FF2B5EF4-FFF2-40B4-BE49-F238E27FC236}">
                  <a16:creationId xmlns:a16="http://schemas.microsoft.com/office/drawing/2014/main" id="{A4B78A28-6061-2673-18AA-5C37CD9689A1}"/>
                </a:ext>
              </a:extLst>
            </p:cNvPr>
            <p:cNvSpPr txBox="1"/>
            <p:nvPr/>
          </p:nvSpPr>
          <p:spPr>
            <a:xfrm rot="21207041">
              <a:off x="3818283" y="3029353"/>
              <a:ext cx="309800" cy="1031902"/>
            </a:xfrm>
            <a:prstGeom prst="rect">
              <a:avLst/>
            </a:prstGeom>
            <a:noFill/>
            <a:effectLst/>
          </p:spPr>
          <p:txBody>
            <a:bodyPr wrap="square" lIns="109728" tIns="54864" rIns="109728" bIns="54864" rtlCol="0">
              <a:spAutoFit/>
            </a:bodyPr>
            <a:lstStyle/>
            <a:p>
              <a:r>
                <a:rPr lang="zh-CN" altLang="en-US" sz="1600" dirty="0">
                  <a:solidFill>
                    <a:srgbClr val="000000"/>
                  </a:solidFill>
                  <a:latin typeface="华康标题宋W9(P)" panose="02020900000000000000" pitchFamily="18" charset="-122"/>
                  <a:ea typeface="华康标题宋W9(P)" panose="02020900000000000000" pitchFamily="18" charset="-122"/>
                </a:rPr>
                <a:t>低价格</a:t>
              </a:r>
            </a:p>
          </p:txBody>
        </p:sp>
        <p:sp>
          <p:nvSpPr>
            <p:cNvPr id="94" name="文本框 93">
              <a:extLst>
                <a:ext uri="{FF2B5EF4-FFF2-40B4-BE49-F238E27FC236}">
                  <a16:creationId xmlns:a16="http://schemas.microsoft.com/office/drawing/2014/main" id="{9F3D0770-860D-E438-6561-F0EB8477A42D}"/>
                </a:ext>
              </a:extLst>
            </p:cNvPr>
            <p:cNvSpPr txBox="1"/>
            <p:nvPr/>
          </p:nvSpPr>
          <p:spPr>
            <a:xfrm rot="21403451">
              <a:off x="4410075" y="3087708"/>
              <a:ext cx="309800" cy="1031902"/>
            </a:xfrm>
            <a:prstGeom prst="rect">
              <a:avLst/>
            </a:prstGeom>
            <a:noFill/>
            <a:effectLst/>
          </p:spPr>
          <p:txBody>
            <a:bodyPr wrap="square" lIns="109728" tIns="54864" rIns="109728" bIns="54864" rtlCol="0">
              <a:spAutoFit/>
            </a:bodyPr>
            <a:lstStyle/>
            <a:p>
              <a:r>
                <a:rPr lang="zh-CN" altLang="en-US" sz="1600" dirty="0">
                  <a:solidFill>
                    <a:srgbClr val="000000"/>
                  </a:solidFill>
                  <a:latin typeface="华康标题宋W9(P)" panose="02020900000000000000" pitchFamily="18" charset="-122"/>
                  <a:ea typeface="华康标题宋W9(P)" panose="02020900000000000000" pitchFamily="18" charset="-122"/>
                </a:rPr>
                <a:t>高端化</a:t>
              </a:r>
            </a:p>
          </p:txBody>
        </p:sp>
        <p:sp>
          <p:nvSpPr>
            <p:cNvPr id="95" name="椭圆 94">
              <a:extLst>
                <a:ext uri="{FF2B5EF4-FFF2-40B4-BE49-F238E27FC236}">
                  <a16:creationId xmlns:a16="http://schemas.microsoft.com/office/drawing/2014/main" id="{B74CCD56-0FCE-C43A-9420-20D6D2B54001}"/>
                </a:ext>
              </a:extLst>
            </p:cNvPr>
            <p:cNvSpPr/>
            <p:nvPr>
              <p:custDataLst>
                <p:tags r:id="rId2"/>
              </p:custDataLst>
            </p:nvPr>
          </p:nvSpPr>
          <p:spPr>
            <a:xfrm rot="21403451">
              <a:off x="3406792" y="2729202"/>
              <a:ext cx="160490" cy="160490"/>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defRPr/>
              </a:pPr>
              <a:r>
                <a:rPr lang="zh-CN" altLang="en-US"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rPr>
                <a:t>✔</a:t>
              </a:r>
            </a:p>
          </p:txBody>
        </p:sp>
        <p:sp>
          <p:nvSpPr>
            <p:cNvPr id="96" name="椭圆 95">
              <a:extLst>
                <a:ext uri="{FF2B5EF4-FFF2-40B4-BE49-F238E27FC236}">
                  <a16:creationId xmlns:a16="http://schemas.microsoft.com/office/drawing/2014/main" id="{8C221060-BDA7-1E66-37FC-185D4B1BB097}"/>
                </a:ext>
              </a:extLst>
            </p:cNvPr>
            <p:cNvSpPr/>
            <p:nvPr>
              <p:custDataLst>
                <p:tags r:id="rId3"/>
              </p:custDataLst>
            </p:nvPr>
          </p:nvSpPr>
          <p:spPr>
            <a:xfrm rot="21403451">
              <a:off x="3918419" y="2758070"/>
              <a:ext cx="160490" cy="160490"/>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defRPr/>
              </a:pPr>
              <a:r>
                <a:rPr lang="zh-CN" altLang="en-US"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rPr>
                <a:t>✔</a:t>
              </a:r>
            </a:p>
          </p:txBody>
        </p:sp>
        <p:sp>
          <p:nvSpPr>
            <p:cNvPr id="97" name="椭圆 96">
              <a:extLst>
                <a:ext uri="{FF2B5EF4-FFF2-40B4-BE49-F238E27FC236}">
                  <a16:creationId xmlns:a16="http://schemas.microsoft.com/office/drawing/2014/main" id="{88AA091C-1B7C-11CD-44CB-C523F79EBA83}"/>
                </a:ext>
              </a:extLst>
            </p:cNvPr>
            <p:cNvSpPr/>
            <p:nvPr>
              <p:custDataLst>
                <p:tags r:id="rId4"/>
              </p:custDataLst>
            </p:nvPr>
          </p:nvSpPr>
          <p:spPr>
            <a:xfrm rot="21403451">
              <a:off x="4530916" y="2780723"/>
              <a:ext cx="160490" cy="160490"/>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defRPr/>
              </a:pPr>
              <a:r>
                <a:rPr lang="zh-CN" altLang="en-US"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rPr>
                <a:t>✔</a:t>
              </a:r>
            </a:p>
          </p:txBody>
        </p:sp>
        <p:sp>
          <p:nvSpPr>
            <p:cNvPr id="98" name="任意多边形: 形状 97">
              <a:extLst>
                <a:ext uri="{FF2B5EF4-FFF2-40B4-BE49-F238E27FC236}">
                  <a16:creationId xmlns:a16="http://schemas.microsoft.com/office/drawing/2014/main" id="{02831AE2-AAB9-D4C8-8307-CE1B8D4CC9EA}"/>
                </a:ext>
              </a:extLst>
            </p:cNvPr>
            <p:cNvSpPr/>
            <p:nvPr>
              <p:custDataLst>
                <p:tags r:id="rId5"/>
              </p:custDataLst>
            </p:nvPr>
          </p:nvSpPr>
          <p:spPr>
            <a:xfrm rot="21403451">
              <a:off x="5004373" y="2314309"/>
              <a:ext cx="607623" cy="1048366"/>
            </a:xfrm>
            <a:custGeom>
              <a:avLst/>
              <a:gdLst>
                <a:gd name="connsiteX0" fmla="*/ 676252 w 676252"/>
                <a:gd name="connsiteY0" fmla="*/ 0 h 1166775"/>
                <a:gd name="connsiteX1" fmla="*/ 605968 w 676252"/>
                <a:gd name="connsiteY1" fmla="*/ 1068317 h 1166775"/>
                <a:gd name="connsiteX2" fmla="*/ 0 w 676252"/>
                <a:gd name="connsiteY2" fmla="*/ 1139607 h 1166775"/>
                <a:gd name="connsiteX3" fmla="*/ 20971 w 676252"/>
                <a:gd name="connsiteY3" fmla="*/ 125297 h 1166775"/>
                <a:gd name="connsiteX4" fmla="*/ 183553 w 676252"/>
                <a:gd name="connsiteY4" fmla="*/ 109012 h 1166775"/>
                <a:gd name="connsiteX5" fmla="*/ 665771 w 676252"/>
                <a:gd name="connsiteY5" fmla="*/ 4100 h 1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252" h="1166775">
                  <a:moveTo>
                    <a:pt x="676252" y="0"/>
                  </a:moveTo>
                  <a:lnTo>
                    <a:pt x="605968" y="1068317"/>
                  </a:lnTo>
                  <a:cubicBezTo>
                    <a:pt x="453882" y="1177629"/>
                    <a:pt x="294667" y="1187134"/>
                    <a:pt x="0" y="1139607"/>
                  </a:cubicBezTo>
                  <a:lnTo>
                    <a:pt x="20971" y="125297"/>
                  </a:lnTo>
                  <a:lnTo>
                    <a:pt x="183553" y="109012"/>
                  </a:lnTo>
                  <a:cubicBezTo>
                    <a:pt x="365053" y="84240"/>
                    <a:pt x="528503" y="48394"/>
                    <a:pt x="665771" y="4100"/>
                  </a:cubicBezTo>
                  <a:close/>
                </a:path>
              </a:pathLst>
            </a:custGeom>
            <a:gradFill flip="none" rotWithShape="1">
              <a:gsLst>
                <a:gs pos="23000">
                  <a:srgbClr val="0F6FC6"/>
                </a:gs>
                <a:gs pos="100000">
                  <a:srgbClr val="0F6FC6">
                    <a:lumMod val="80000"/>
                    <a:lumOff val="20000"/>
                  </a:srgbClr>
                </a:gs>
              </a:gsLst>
              <a:path path="circle">
                <a:fillToRect l="100000" t="100000"/>
              </a:path>
              <a:tileRect r="-100000" b="-100000"/>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algn="ctr">
                <a:defRPr/>
              </a:pPr>
              <a:r>
                <a:rPr lang="zh-CN" altLang="en-US" kern="0" dirty="0">
                  <a:solidFill>
                    <a:srgbClr val="FFFFFF"/>
                  </a:solidFill>
                  <a:latin typeface="宋体" panose="02010600030101010101" pitchFamily="2" charset="-122"/>
                  <a:ea typeface="思源黑体 CN Bold"/>
                </a:rPr>
                <a:t>短</a:t>
              </a:r>
              <a:endParaRPr lang="en-US" altLang="zh-CN" kern="0" dirty="0">
                <a:solidFill>
                  <a:srgbClr val="FFFFFF"/>
                </a:solidFill>
                <a:latin typeface="宋体" panose="02010600030101010101" pitchFamily="2" charset="-122"/>
                <a:ea typeface="思源黑体 CN Bold"/>
              </a:endParaRPr>
            </a:p>
            <a:p>
              <a:pPr algn="ctr">
                <a:defRPr/>
              </a:pPr>
              <a:r>
                <a:rPr lang="zh-CN" altLang="en-US" kern="0" dirty="0">
                  <a:solidFill>
                    <a:srgbClr val="FFFFFF"/>
                  </a:solidFill>
                  <a:latin typeface="宋体" panose="02010600030101010101" pitchFamily="2" charset="-122"/>
                  <a:ea typeface="思源黑体 CN Bold"/>
                </a:rPr>
                <a:t>板</a:t>
              </a:r>
            </a:p>
          </p:txBody>
        </p:sp>
        <p:sp>
          <p:nvSpPr>
            <p:cNvPr id="99" name="文本框 98">
              <a:extLst>
                <a:ext uri="{FF2B5EF4-FFF2-40B4-BE49-F238E27FC236}">
                  <a16:creationId xmlns:a16="http://schemas.microsoft.com/office/drawing/2014/main" id="{6C8BBB82-EC77-6AFD-603A-BAACF9362FDA}"/>
                </a:ext>
              </a:extLst>
            </p:cNvPr>
            <p:cNvSpPr txBox="1"/>
            <p:nvPr/>
          </p:nvSpPr>
          <p:spPr>
            <a:xfrm rot="100388">
              <a:off x="5460325" y="2952203"/>
              <a:ext cx="309800" cy="732800"/>
            </a:xfrm>
            <a:prstGeom prst="rect">
              <a:avLst/>
            </a:prstGeom>
            <a:noFill/>
            <a:effectLst/>
          </p:spPr>
          <p:txBody>
            <a:bodyPr wrap="square" lIns="109728" tIns="54864" rIns="109728" bIns="54864" rtlCol="0">
              <a:spAutoFit/>
            </a:bodyPr>
            <a:lstStyle/>
            <a:p>
              <a:r>
                <a:rPr lang="zh-CN" altLang="en-US" sz="1600" dirty="0">
                  <a:solidFill>
                    <a:srgbClr val="000000"/>
                  </a:solidFill>
                  <a:latin typeface="华康标题宋W9(P)" panose="02020900000000000000" pitchFamily="18" charset="-122"/>
                  <a:ea typeface="华康标题宋W9(P)" panose="02020900000000000000" pitchFamily="18" charset="-122"/>
                </a:rPr>
                <a:t>精度</a:t>
              </a:r>
            </a:p>
          </p:txBody>
        </p:sp>
        <p:sp>
          <p:nvSpPr>
            <p:cNvPr id="100" name="椭圆 99">
              <a:extLst>
                <a:ext uri="{FF2B5EF4-FFF2-40B4-BE49-F238E27FC236}">
                  <a16:creationId xmlns:a16="http://schemas.microsoft.com/office/drawing/2014/main" id="{022ED021-6486-168A-9686-1E11A2650321}"/>
                </a:ext>
              </a:extLst>
            </p:cNvPr>
            <p:cNvSpPr/>
            <p:nvPr>
              <p:custDataLst>
                <p:tags r:id="rId6"/>
              </p:custDataLst>
            </p:nvPr>
          </p:nvSpPr>
          <p:spPr>
            <a:xfrm rot="21403451">
              <a:off x="5621306" y="2634173"/>
              <a:ext cx="160490" cy="160490"/>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defRPr/>
              </a:pPr>
              <a:r>
                <a:rPr lang="zh-CN" altLang="en-US"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rPr>
                <a:t>✔</a:t>
              </a:r>
            </a:p>
          </p:txBody>
        </p:sp>
        <p:sp>
          <p:nvSpPr>
            <p:cNvPr id="101" name="文本框 100">
              <a:extLst>
                <a:ext uri="{FF2B5EF4-FFF2-40B4-BE49-F238E27FC236}">
                  <a16:creationId xmlns:a16="http://schemas.microsoft.com/office/drawing/2014/main" id="{08F286AB-0194-EE0E-5746-6C53E30EF49D}"/>
                </a:ext>
              </a:extLst>
            </p:cNvPr>
            <p:cNvSpPr txBox="1"/>
            <p:nvPr/>
          </p:nvSpPr>
          <p:spPr>
            <a:xfrm>
              <a:off x="5051607" y="3700747"/>
              <a:ext cx="309800" cy="1031902"/>
            </a:xfrm>
            <a:prstGeom prst="rect">
              <a:avLst/>
            </a:prstGeom>
            <a:noFill/>
            <a:effectLst/>
          </p:spPr>
          <p:txBody>
            <a:bodyPr wrap="square" lIns="109728" tIns="54864" rIns="109728" bIns="54864" rtlCol="0">
              <a:spAutoFit/>
            </a:bodyPr>
            <a:lstStyle/>
            <a:p>
              <a:r>
                <a:rPr lang="zh-CN" altLang="en-US" sz="1600" dirty="0">
                  <a:solidFill>
                    <a:srgbClr val="009DD9"/>
                  </a:solidFill>
                  <a:latin typeface="华康标题宋W9(P)" panose="02020900000000000000" pitchFamily="18" charset="-122"/>
                  <a:ea typeface="华康标题宋W9(P)" panose="02020900000000000000" pitchFamily="18" charset="-122"/>
                </a:rPr>
                <a:t>可靠性</a:t>
              </a:r>
            </a:p>
          </p:txBody>
        </p:sp>
        <p:sp>
          <p:nvSpPr>
            <p:cNvPr id="102" name="椭圆 101">
              <a:extLst>
                <a:ext uri="{FF2B5EF4-FFF2-40B4-BE49-F238E27FC236}">
                  <a16:creationId xmlns:a16="http://schemas.microsoft.com/office/drawing/2014/main" id="{E157DCE0-1CFD-7330-E166-1AD7D7320768}"/>
                </a:ext>
              </a:extLst>
            </p:cNvPr>
            <p:cNvSpPr/>
            <p:nvPr>
              <p:custDataLst>
                <p:tags r:id="rId7"/>
              </p:custDataLst>
            </p:nvPr>
          </p:nvSpPr>
          <p:spPr>
            <a:xfrm rot="21403451">
              <a:off x="5193848" y="3562432"/>
              <a:ext cx="160490" cy="160490"/>
            </a:xfrm>
            <a:prstGeom prst="ellipse">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algn="ctr">
                <a:defRPr/>
              </a:pPr>
              <a:r>
                <a:rPr lang="en-US" altLang="zh-CN"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rPr>
                <a:t>X</a:t>
              </a:r>
              <a:endParaRPr lang="zh-CN" altLang="en-US" sz="800" kern="0" dirty="0">
                <a:solidFill>
                  <a:srgbClr val="FFFFFF"/>
                </a:solidFill>
                <a:effectLst>
                  <a:outerShdw blurRad="137160" dist="41148" dir="2699997" algn="tl">
                    <a:srgbClr val="000000">
                      <a:alpha val="40000"/>
                    </a:srgbClr>
                  </a:outerShdw>
                </a:effectLst>
                <a:latin typeface="宋体" panose="02010600030101010101" pitchFamily="2" charset="-122"/>
                <a:ea typeface="思源黑体 CN Bold"/>
              </a:endParaRPr>
            </a:p>
          </p:txBody>
        </p:sp>
        <p:sp>
          <p:nvSpPr>
            <p:cNvPr id="103" name="文本框 102">
              <a:extLst>
                <a:ext uri="{FF2B5EF4-FFF2-40B4-BE49-F238E27FC236}">
                  <a16:creationId xmlns:a16="http://schemas.microsoft.com/office/drawing/2014/main" id="{502E86D0-8DD3-0051-8858-E8E31CC75EA6}"/>
                </a:ext>
              </a:extLst>
            </p:cNvPr>
            <p:cNvSpPr txBox="1"/>
            <p:nvPr/>
          </p:nvSpPr>
          <p:spPr>
            <a:xfrm rot="21403451">
              <a:off x="3556813" y="1676837"/>
              <a:ext cx="1969092" cy="411265"/>
            </a:xfrm>
            <a:prstGeom prst="rect">
              <a:avLst/>
            </a:prstGeom>
            <a:noFill/>
          </p:spPr>
          <p:txBody>
            <a:bodyPr wrap="none" rtlCol="0">
              <a:spAutoFit/>
            </a:bodyPr>
            <a:lstStyle/>
            <a:p>
              <a:pPr algn="ctr"/>
              <a:r>
                <a:rPr lang="zh-CN" altLang="en-US" sz="1600" dirty="0">
                  <a:solidFill>
                    <a:srgbClr val="000000">
                      <a:lumMod val="75000"/>
                      <a:lumOff val="25000"/>
                    </a:srgbClr>
                  </a:solidFill>
                  <a:latin typeface="华康标题宋W9(P)" panose="02020900000000000000" pitchFamily="18" charset="-122"/>
                  <a:ea typeface="华康标题宋W9(P)" panose="02020900000000000000" pitchFamily="18" charset="-122"/>
                </a:rPr>
                <a:t>增材、等材装备</a:t>
              </a:r>
            </a:p>
          </p:txBody>
        </p:sp>
      </p:grpSp>
    </p:spTree>
    <p:extLst>
      <p:ext uri="{BB962C8B-B14F-4D97-AF65-F5344CB8AC3E}">
        <p14:creationId xmlns:p14="http://schemas.microsoft.com/office/powerpoint/2010/main" val="2503889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FD422-4C15-010F-11CA-5E88069F860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483EBCF-312C-B57A-D2B2-C1294602DE73}"/>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a:solidFill>
                  <a:schemeClr val="bg1"/>
                </a:solidFill>
                <a:latin typeface="汉仪文润宋韵 U" pitchFamily="2" charset="-122"/>
                <a:ea typeface="汉仪文润宋韵 U" pitchFamily="2" charset="-122"/>
              </a:rPr>
              <a:t>将工艺与装备经验带入可靠性研究，从小样本参数估计切入</a:t>
            </a:r>
            <a:endParaRPr lang="zh-CN" altLang="en-US" sz="2400" b="1" spc="-150"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07E0E775-01DA-1953-FEDC-494E712A0D4A}"/>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思考与选择</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3DE175CA-96D9-5F55-1871-869377FF439B}"/>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807FDE73-A751-6502-4522-965F8C0E63D1}"/>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02</a:t>
            </a:r>
          </a:p>
        </p:txBody>
      </p:sp>
      <p:sp>
        <p:nvSpPr>
          <p:cNvPr id="3" name="矩形: 圆角 2">
            <a:extLst>
              <a:ext uri="{FF2B5EF4-FFF2-40B4-BE49-F238E27FC236}">
                <a16:creationId xmlns:a16="http://schemas.microsoft.com/office/drawing/2014/main" id="{FA33EAB7-EB28-7452-B45C-2613A1A2C369}"/>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888FA103-494C-46F1-7EC7-67E87996A36C}"/>
              </a:ext>
            </a:extLst>
          </p:cNvPr>
          <p:cNvSpPr/>
          <p:nvPr/>
        </p:nvSpPr>
        <p:spPr>
          <a:xfrm>
            <a:off x="523239" y="1541780"/>
            <a:ext cx="19050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743A0660-EF50-A210-F76C-62E13C4612E3}"/>
              </a:ext>
            </a:extLst>
          </p:cNvPr>
          <p:cNvSpPr txBox="1"/>
          <p:nvPr/>
        </p:nvSpPr>
        <p:spPr>
          <a:xfrm>
            <a:off x="523240" y="1615440"/>
            <a:ext cx="2667000" cy="36957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DIRECTION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44636835-6CF3-5292-9A74-1AE267B322B2}"/>
              </a:ext>
            </a:extLst>
          </p:cNvPr>
          <p:cNvSpPr txBox="1"/>
          <p:nvPr/>
        </p:nvSpPr>
        <p:spPr>
          <a:xfrm>
            <a:off x="478790" y="1545590"/>
            <a:ext cx="24130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研究方向的选择</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矩形: 圆角 30">
            <a:extLst>
              <a:ext uri="{FF2B5EF4-FFF2-40B4-BE49-F238E27FC236}">
                <a16:creationId xmlns:a16="http://schemas.microsoft.com/office/drawing/2014/main" id="{3355DA1F-865D-16F9-1204-FB0F1AD1AF74}"/>
              </a:ext>
            </a:extLst>
          </p:cNvPr>
          <p:cNvSpPr/>
          <p:nvPr/>
        </p:nvSpPr>
        <p:spPr>
          <a:xfrm>
            <a:off x="339090" y="335280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5" name="矩形 34">
            <a:extLst>
              <a:ext uri="{FF2B5EF4-FFF2-40B4-BE49-F238E27FC236}">
                <a16:creationId xmlns:a16="http://schemas.microsoft.com/office/drawing/2014/main" id="{F2C3C338-FAB7-94AE-DFAA-FE70B0F5A1B6}"/>
              </a:ext>
            </a:extLst>
          </p:cNvPr>
          <p:cNvSpPr/>
          <p:nvPr/>
        </p:nvSpPr>
        <p:spPr>
          <a:xfrm>
            <a:off x="523239" y="3105150"/>
            <a:ext cx="19050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6" name="文本框 35">
            <a:extLst>
              <a:ext uri="{FF2B5EF4-FFF2-40B4-BE49-F238E27FC236}">
                <a16:creationId xmlns:a16="http://schemas.microsoft.com/office/drawing/2014/main" id="{2F2DDDAC-0A5C-1721-658D-D11E9C78C6E9}"/>
              </a:ext>
            </a:extLst>
          </p:cNvPr>
          <p:cNvSpPr txBox="1"/>
          <p:nvPr/>
        </p:nvSpPr>
        <p:spPr>
          <a:xfrm>
            <a:off x="523240" y="3178810"/>
            <a:ext cx="2667000" cy="36957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FOCUS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7E2B69A0-4BC4-F5A2-28A2-5D735CAEC394}"/>
              </a:ext>
            </a:extLst>
          </p:cNvPr>
          <p:cNvSpPr txBox="1"/>
          <p:nvPr/>
        </p:nvSpPr>
        <p:spPr>
          <a:xfrm>
            <a:off x="478790" y="3108960"/>
            <a:ext cx="24130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寻找具体问题</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8" name="矩形: 圆角 37">
            <a:extLst>
              <a:ext uri="{FF2B5EF4-FFF2-40B4-BE49-F238E27FC236}">
                <a16:creationId xmlns:a16="http://schemas.microsoft.com/office/drawing/2014/main" id="{1A38FFB1-7217-2391-4279-87778BA8C375}"/>
              </a:ext>
            </a:extLst>
          </p:cNvPr>
          <p:cNvSpPr/>
          <p:nvPr/>
        </p:nvSpPr>
        <p:spPr>
          <a:xfrm>
            <a:off x="339090" y="491490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9" name="矩形 38">
            <a:extLst>
              <a:ext uri="{FF2B5EF4-FFF2-40B4-BE49-F238E27FC236}">
                <a16:creationId xmlns:a16="http://schemas.microsoft.com/office/drawing/2014/main" id="{8DD4661B-C09A-86E9-C609-14D798EC9074}"/>
              </a:ext>
            </a:extLst>
          </p:cNvPr>
          <p:cNvSpPr/>
          <p:nvPr/>
        </p:nvSpPr>
        <p:spPr>
          <a:xfrm>
            <a:off x="523239" y="4667250"/>
            <a:ext cx="19050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文本框 39">
            <a:extLst>
              <a:ext uri="{FF2B5EF4-FFF2-40B4-BE49-F238E27FC236}">
                <a16:creationId xmlns:a16="http://schemas.microsoft.com/office/drawing/2014/main" id="{005ACB25-4E3E-16EA-F394-FB9789C95747}"/>
              </a:ext>
            </a:extLst>
          </p:cNvPr>
          <p:cNvSpPr txBox="1"/>
          <p:nvPr/>
        </p:nvSpPr>
        <p:spPr>
          <a:xfrm>
            <a:off x="523240" y="4740910"/>
            <a:ext cx="2667000" cy="36957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RESEARCH</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1" name="文本框 40">
            <a:extLst>
              <a:ext uri="{FF2B5EF4-FFF2-40B4-BE49-F238E27FC236}">
                <a16:creationId xmlns:a16="http://schemas.microsoft.com/office/drawing/2014/main" id="{E67E859D-8DFC-EC75-E702-CDB79B15DFCD}"/>
              </a:ext>
            </a:extLst>
          </p:cNvPr>
          <p:cNvSpPr txBox="1"/>
          <p:nvPr/>
        </p:nvSpPr>
        <p:spPr>
          <a:xfrm>
            <a:off x="478790" y="4671060"/>
            <a:ext cx="24130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当前研究切入点</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2" name="文本框 41">
            <a:extLst>
              <a:ext uri="{FF2B5EF4-FFF2-40B4-BE49-F238E27FC236}">
                <a16:creationId xmlns:a16="http://schemas.microsoft.com/office/drawing/2014/main" id="{FAC7601E-F7A4-DFF5-FCEA-62C119782E67}"/>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solidFill>
                  <a:srgbClr val="000000"/>
                </a:solidFill>
                <a:latin typeface="等线" panose="02010600030101010101" pitchFamily="2" charset="-122"/>
                <a:ea typeface="等线" panose="02010600030101010101" pitchFamily="2" charset="-122"/>
              </a:rPr>
              <a:t>面向先进制造装备的长期稳定运行，博士阶段选择可靠性研究方向。</a:t>
            </a:r>
          </a:p>
        </p:txBody>
      </p:sp>
      <p:sp>
        <p:nvSpPr>
          <p:cNvPr id="43" name="文本框 42">
            <a:extLst>
              <a:ext uri="{FF2B5EF4-FFF2-40B4-BE49-F238E27FC236}">
                <a16:creationId xmlns:a16="http://schemas.microsoft.com/office/drawing/2014/main" id="{DACD0855-F8A0-CA5B-75BB-BF9CF3D23777}"/>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sz="1700" dirty="0">
                <a:solidFill>
                  <a:srgbClr val="2F5597"/>
                </a:solidFill>
                <a:latin typeface="等线" panose="02010600030101010101" pitchFamily="2" charset="-122"/>
                <a:ea typeface="等线" panose="02010600030101010101" pitchFamily="2" charset="-122"/>
              </a:rPr>
              <a:t>装备可靠性涉及多个层面；当前从可明确界定和验证的寿命分析问题入手。</a:t>
            </a:r>
          </a:p>
        </p:txBody>
      </p:sp>
      <p:sp>
        <p:nvSpPr>
          <p:cNvPr id="44" name="文本框 43">
            <a:extLst>
              <a:ext uri="{FF2B5EF4-FFF2-40B4-BE49-F238E27FC236}">
                <a16:creationId xmlns:a16="http://schemas.microsoft.com/office/drawing/2014/main" id="{D9ABBEF8-C392-B855-37FF-E9427D83E63C}"/>
              </a:ext>
            </a:extLst>
          </p:cNvPr>
          <p:cNvSpPr txBox="1"/>
          <p:nvPr/>
        </p:nvSpPr>
        <p:spPr>
          <a:xfrm>
            <a:off x="622300" y="3695700"/>
            <a:ext cx="10922000" cy="276999"/>
          </a:xfrm>
          <a:prstGeom prst="rect">
            <a:avLst/>
          </a:prstGeom>
          <a:noFill/>
        </p:spPr>
        <p:txBody>
          <a:bodyPr vert="horz" wrap="square" lIns="0" tIns="0" rIns="0" bIns="0" rtlCol="0">
            <a:noAutofit/>
          </a:bodyPr>
          <a:lstStyle/>
          <a:p>
            <a:r>
              <a:rPr lang="zh-CN" altLang="en-US">
                <a:solidFill>
                  <a:srgbClr val="000000"/>
                </a:solidFill>
                <a:latin typeface="等线" panose="02010600030101010101" pitchFamily="2" charset="-122"/>
                <a:ea typeface="等线" panose="02010600030101010101" pitchFamily="2" charset="-122"/>
              </a:rPr>
              <a:t>以疲劳寿命试验为例：周期长、成本高，可获得的寿命样本有限。</a:t>
            </a:r>
          </a:p>
        </p:txBody>
      </p:sp>
      <p:sp>
        <p:nvSpPr>
          <p:cNvPr id="45" name="文本框 44">
            <a:extLst>
              <a:ext uri="{FF2B5EF4-FFF2-40B4-BE49-F238E27FC236}">
                <a16:creationId xmlns:a16="http://schemas.microsoft.com/office/drawing/2014/main" id="{DF761F80-5599-7608-B2E2-BF27BCE8E1B5}"/>
              </a:ext>
            </a:extLst>
          </p:cNvPr>
          <p:cNvSpPr txBox="1"/>
          <p:nvPr/>
        </p:nvSpPr>
        <p:spPr>
          <a:xfrm>
            <a:off x="622300" y="4203700"/>
            <a:ext cx="10922000" cy="276999"/>
          </a:xfrm>
          <a:prstGeom prst="rect">
            <a:avLst/>
          </a:prstGeom>
          <a:noFill/>
        </p:spPr>
        <p:txBody>
          <a:bodyPr vert="horz" wrap="square" lIns="0" tIns="0" rIns="0" bIns="0" rtlCol="0">
            <a:noAutofit/>
          </a:bodyPr>
          <a:lstStyle/>
          <a:p>
            <a:r>
              <a:rPr lang="zh-CN" altLang="en-US" sz="1700" dirty="0">
                <a:solidFill>
                  <a:srgbClr val="2F5597"/>
                </a:solidFill>
                <a:latin typeface="等线" panose="02010600030101010101" pitchFamily="2" charset="-122"/>
                <a:ea typeface="等线" panose="02010600030101010101" pitchFamily="2" charset="-122"/>
              </a:rPr>
              <a:t>数据有限时，如何得到可信的参数估计，是可靠性分析中的一项基础问题。</a:t>
            </a:r>
          </a:p>
        </p:txBody>
      </p:sp>
      <p:sp>
        <p:nvSpPr>
          <p:cNvPr id="46" name="文本框 45">
            <a:extLst>
              <a:ext uri="{FF2B5EF4-FFF2-40B4-BE49-F238E27FC236}">
                <a16:creationId xmlns:a16="http://schemas.microsoft.com/office/drawing/2014/main" id="{92D54F01-3B18-D4ED-8CA0-042BAB229E4F}"/>
              </a:ext>
            </a:extLst>
          </p:cNvPr>
          <p:cNvSpPr txBox="1"/>
          <p:nvPr/>
        </p:nvSpPr>
        <p:spPr>
          <a:xfrm>
            <a:off x="622300" y="5245100"/>
            <a:ext cx="10922000" cy="276999"/>
          </a:xfrm>
          <a:prstGeom prst="rect">
            <a:avLst/>
          </a:prstGeom>
          <a:noFill/>
        </p:spPr>
        <p:txBody>
          <a:bodyPr vert="horz" wrap="square" lIns="0" tIns="0" rIns="0" bIns="0" rtlCol="0">
            <a:noAutofit/>
          </a:bodyPr>
          <a:lstStyle/>
          <a:p>
            <a:r>
              <a:rPr lang="zh-CN" altLang="en-US" sz="2100" dirty="0">
                <a:solidFill>
                  <a:srgbClr val="2F5597"/>
                </a:solidFill>
                <a:latin typeface="汉仪粗宋简" panose="02010600000101010101" pitchFamily="2" charset="-122"/>
                <a:ea typeface="汉仪粗宋简" panose="02010600000101010101" pitchFamily="2" charset="-122"/>
              </a:rPr>
              <a:t>人工智能辅助三参数 </a:t>
            </a:r>
            <a:r>
              <a:rPr lang="en-US" altLang="zh-CN" sz="2100" dirty="0">
                <a:solidFill>
                  <a:srgbClr val="2F5597"/>
                </a:solidFill>
                <a:latin typeface="汉仪粗宋简" panose="02010600000101010101" pitchFamily="2" charset="-122"/>
                <a:ea typeface="汉仪粗宋简" panose="02010600000101010101" pitchFamily="2" charset="-122"/>
              </a:rPr>
              <a:t>Weibull </a:t>
            </a:r>
            <a:r>
              <a:rPr lang="zh-CN" altLang="en-US" sz="2100" dirty="0">
                <a:solidFill>
                  <a:srgbClr val="2F5597"/>
                </a:solidFill>
                <a:latin typeface="汉仪粗宋简" panose="02010600000101010101" pitchFamily="2" charset="-122"/>
                <a:ea typeface="汉仪粗宋简" panose="02010600000101010101" pitchFamily="2" charset="-122"/>
              </a:rPr>
              <a:t>分布参数估计</a:t>
            </a:r>
          </a:p>
        </p:txBody>
      </p:sp>
      <p:sp>
        <p:nvSpPr>
          <p:cNvPr id="47" name="文本框 46">
            <a:extLst>
              <a:ext uri="{FF2B5EF4-FFF2-40B4-BE49-F238E27FC236}">
                <a16:creationId xmlns:a16="http://schemas.microsoft.com/office/drawing/2014/main" id="{CC4045E4-C096-E9A8-B156-43DB4DA8A60F}"/>
              </a:ext>
            </a:extLst>
          </p:cNvPr>
          <p:cNvSpPr txBox="1"/>
          <p:nvPr/>
        </p:nvSpPr>
        <p:spPr>
          <a:xfrm>
            <a:off x="622300" y="5816600"/>
            <a:ext cx="10922000" cy="276999"/>
          </a:xfrm>
          <a:prstGeom prst="rect">
            <a:avLst/>
          </a:prstGeom>
          <a:noFill/>
        </p:spPr>
        <p:txBody>
          <a:bodyPr vert="horz" wrap="square" lIns="0" tIns="0" rIns="0" bIns="0" rtlCol="0">
            <a:noAutofit/>
          </a:bodyPr>
          <a:lstStyle/>
          <a:p>
            <a:r>
              <a:rPr lang="zh-CN" altLang="en-US" sz="1700">
                <a:solidFill>
                  <a:srgbClr val="000000"/>
                </a:solidFill>
                <a:latin typeface="等线" panose="02010600030101010101" pitchFamily="2" charset="-122"/>
                <a:ea typeface="等线" panose="02010600030101010101" pitchFamily="2" charset="-122"/>
              </a:rPr>
              <a:t>当前研究寿命样本的参数估计，为后续可靠性分析积累方法基础。</a:t>
            </a:r>
          </a:p>
        </p:txBody>
      </p:sp>
    </p:spTree>
    <p:extLst>
      <p:ext uri="{BB962C8B-B14F-4D97-AF65-F5344CB8AC3E}">
        <p14:creationId xmlns:p14="http://schemas.microsoft.com/office/powerpoint/2010/main" val="127651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5A4D-38B1-1923-2EF7-8CFCA0B4FFA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FA0872B-FAE2-947A-ED4D-4C6CB206CCF3}"/>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a:solidFill>
                  <a:schemeClr val="bg1"/>
                </a:solidFill>
                <a:latin typeface="汉仪文润宋韵 U" pitchFamily="2" charset="-122"/>
                <a:ea typeface="汉仪文润宋韵 U" pitchFamily="2" charset="-122"/>
              </a:rPr>
              <a:t>面向连续生产需求，在有限数据条件下开展电机状态监测</a:t>
            </a:r>
            <a:endParaRPr lang="zh-CN" altLang="en-US" sz="2400" b="1" spc="-150"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BEB77A4C-FEFC-1669-A988-D1367C5D2529}"/>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58A03F1F-6707-CF83-1CB5-1A80FE5175A7}"/>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77BCD2B5-EDA2-0FA9-D25C-7610D5A6DA1C}"/>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sp>
        <p:nvSpPr>
          <p:cNvPr id="16" name="矩形 15">
            <a:extLst>
              <a:ext uri="{FF2B5EF4-FFF2-40B4-BE49-F238E27FC236}">
                <a16:creationId xmlns:a16="http://schemas.microsoft.com/office/drawing/2014/main" id="{1A433793-4633-9900-A414-46C0A1135285}"/>
              </a:ext>
            </a:extLst>
          </p:cNvPr>
          <p:cNvSpPr/>
          <p:nvPr/>
        </p:nvSpPr>
        <p:spPr>
          <a:xfrm flipH="1">
            <a:off x="8298506" y="2741893"/>
            <a:ext cx="3600000" cy="3600000"/>
          </a:xfrm>
          <a:prstGeom prst="rect">
            <a:avLst/>
          </a:prstGeom>
          <a:gradFill flip="none" rotWithShape="1">
            <a:gsLst>
              <a:gs pos="0">
                <a:srgbClr val="0268FE">
                  <a:lumMod val="10000"/>
                  <a:lumOff val="90000"/>
                </a:srgbClr>
              </a:gs>
              <a:gs pos="100000">
                <a:srgbClr val="FFFFFF"/>
              </a:gs>
            </a:gsLst>
            <a:lin ang="5400000" scaled="1"/>
            <a:tileRect/>
          </a:gradFill>
          <a:ln w="12700" cap="flat" cmpd="sng" algn="ctr">
            <a:solidFill>
              <a:srgbClr val="0268FE">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0000">
                  <a:lumMod val="75000"/>
                  <a:lumOff val="25000"/>
                </a:srgbClr>
              </a:solidFill>
              <a:effectLst/>
              <a:uLnTx/>
              <a:uFillTx/>
              <a:latin typeface="等线" panose="02010600030101010101" charset="-122"/>
              <a:ea typeface="微软雅黑" panose="020B0503020204020204" pitchFamily="34" charset="-122"/>
              <a:cs typeface="+mn-cs"/>
            </a:endParaRPr>
          </a:p>
        </p:txBody>
      </p:sp>
      <p:grpSp>
        <p:nvGrpSpPr>
          <p:cNvPr id="17" name="组合 16">
            <a:extLst>
              <a:ext uri="{FF2B5EF4-FFF2-40B4-BE49-F238E27FC236}">
                <a16:creationId xmlns:a16="http://schemas.microsoft.com/office/drawing/2014/main" id="{BFE94F16-A29D-0C81-1885-79F526C37C7E}"/>
              </a:ext>
            </a:extLst>
          </p:cNvPr>
          <p:cNvGrpSpPr/>
          <p:nvPr/>
        </p:nvGrpSpPr>
        <p:grpSpPr>
          <a:xfrm>
            <a:off x="8430218" y="2800551"/>
            <a:ext cx="2360574" cy="307777"/>
            <a:chOff x="517199" y="1748932"/>
            <a:chExt cx="2360574" cy="307777"/>
          </a:xfrm>
        </p:grpSpPr>
        <p:sp>
          <p:nvSpPr>
            <p:cNvPr id="18" name="文本框 17">
              <a:extLst>
                <a:ext uri="{FF2B5EF4-FFF2-40B4-BE49-F238E27FC236}">
                  <a16:creationId xmlns:a16="http://schemas.microsoft.com/office/drawing/2014/main" id="{057F642A-D926-A71B-7511-CB5698E7CFE7}"/>
                </a:ext>
              </a:extLst>
            </p:cNvPr>
            <p:cNvSpPr txBox="1"/>
            <p:nvPr/>
          </p:nvSpPr>
          <p:spPr>
            <a:xfrm>
              <a:off x="538671" y="1748932"/>
              <a:ext cx="2339102" cy="307777"/>
            </a:xfrm>
            <a:prstGeom prst="rect">
              <a:avLst/>
            </a:prstGeom>
            <a:noFill/>
          </p:spPr>
          <p:txBody>
            <a:bodyPr wrap="none">
              <a:spAutoFit/>
            </a:bodyPr>
            <a:lstStyle>
              <a:defPPr>
                <a:defRPr lang="zh-CN"/>
              </a:defPPr>
              <a:lvl1pPr>
                <a:defRPr kumimoji="0" sz="1400" b="0" i="0" u="none" strike="noStrike" cap="none" spc="0" normalizeH="0" baseline="0">
                  <a:ln>
                    <a:noFill/>
                  </a:ln>
                  <a:gradFill flip="none" rotWithShape="1">
                    <a:gsLst>
                      <a:gs pos="100000">
                        <a:schemeClr val="accent1"/>
                      </a:gs>
                      <a:gs pos="0">
                        <a:schemeClr val="accent1">
                          <a:lumMod val="80000"/>
                          <a:lumOff val="20000"/>
                        </a:schemeClr>
                      </a:gs>
                    </a:gsLst>
                    <a:lin ang="5400000" scaled="1"/>
                    <a:tileRect/>
                  </a:gradFill>
                  <a:effectLst/>
                  <a:uLnTx/>
                  <a:uFillTx/>
                  <a:latin typeface="思源黑体 CN Bold" panose="020B0800000000000000" pitchFamily="34" charset="-122"/>
                  <a:ea typeface="思源黑体 CN Bold" panose="020B0800000000000000" pitchFamily="34" charset="-122"/>
                </a:defRPr>
              </a:lvl1pPr>
            </a:lstStyle>
            <a:p>
              <a:r>
                <a:rPr lang="zh-CN" altLang="en-US" dirty="0">
                  <a:latin typeface="汉仪粗宋简" panose="02010600000101010101" pitchFamily="2" charset="-122"/>
                  <a:ea typeface="汉仪粗宋简" panose="02010600000101010101" pitchFamily="2" charset="-122"/>
                </a:rPr>
                <a:t>影响电机负荷率的工艺参数</a:t>
              </a:r>
            </a:p>
          </p:txBody>
        </p:sp>
        <p:sp>
          <p:nvSpPr>
            <p:cNvPr id="19" name="矩形 18">
              <a:extLst>
                <a:ext uri="{FF2B5EF4-FFF2-40B4-BE49-F238E27FC236}">
                  <a16:creationId xmlns:a16="http://schemas.microsoft.com/office/drawing/2014/main" id="{50934117-2865-2FBF-7C75-3266C61CFA1C}"/>
                </a:ext>
              </a:extLst>
            </p:cNvPr>
            <p:cNvSpPr/>
            <p:nvPr/>
          </p:nvSpPr>
          <p:spPr>
            <a:xfrm>
              <a:off x="517199" y="1797931"/>
              <a:ext cx="45719" cy="182809"/>
            </a:xfrm>
            <a:prstGeom prst="rect">
              <a:avLst/>
            </a:prstGeom>
            <a:gradFill>
              <a:gsLst>
                <a:gs pos="100000">
                  <a:schemeClr val="accent1"/>
                </a:gs>
                <a:gs pos="0">
                  <a:schemeClr val="accent1">
                    <a:lumMod val="75000"/>
                    <a:lumOff val="25000"/>
                  </a:schemeClr>
                </a:gs>
              </a:gsLst>
              <a:path path="circle">
                <a:fillToRect l="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grpSp>
      <p:sp>
        <p:nvSpPr>
          <p:cNvPr id="20" name="文本框 19">
            <a:extLst>
              <a:ext uri="{FF2B5EF4-FFF2-40B4-BE49-F238E27FC236}">
                <a16:creationId xmlns:a16="http://schemas.microsoft.com/office/drawing/2014/main" id="{8484DA95-E9B6-2416-53DF-37FB89A711EA}"/>
              </a:ext>
            </a:extLst>
          </p:cNvPr>
          <p:cNvSpPr txBox="1"/>
          <p:nvPr/>
        </p:nvSpPr>
        <p:spPr>
          <a:xfrm>
            <a:off x="9076965" y="5788978"/>
            <a:ext cx="1800495" cy="369332"/>
          </a:xfrm>
          <a:prstGeom prst="rect">
            <a:avLst/>
          </a:prstGeom>
          <a:noFill/>
        </p:spPr>
        <p:txBody>
          <a:bodyPr wrap="none" rtlCol="0">
            <a:spAutoFit/>
          </a:bodyPr>
          <a:lstStyle>
            <a:defPPr>
              <a:defRPr lang="zh-CN"/>
            </a:defPPr>
            <a:lvl1pPr algn="ctr">
              <a:defRPr sz="1400">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gradFill flip="none" rotWithShape="1">
                  <a:gsLst>
                    <a:gs pos="100000">
                      <a:srgbClr val="0268FE"/>
                    </a:gs>
                    <a:gs pos="0">
                      <a:srgbClr val="0268FE">
                        <a:lumMod val="80000"/>
                        <a:lumOff val="20000"/>
                      </a:srgbClr>
                    </a:gs>
                  </a:gsLst>
                  <a:lin ang="0" scaled="1"/>
                  <a:tileRect/>
                </a:gradFill>
                <a:effectLst/>
                <a:uLnTx/>
                <a:uFillTx/>
                <a:latin typeface="汉仪粗宋简" panose="02010600000101010101" pitchFamily="2" charset="-122"/>
                <a:ea typeface="汉仪粗宋简" panose="02010600000101010101" pitchFamily="2" charset="-122"/>
              </a:rPr>
              <a:t>负荷率区间变化</a:t>
            </a:r>
            <a:endParaRPr kumimoji="0" lang="en-US" altLang="zh-CN" sz="1800" b="0" i="0" u="none" strike="noStrike" kern="0" cap="none" spc="0" normalizeH="0" baseline="0" noProof="0" dirty="0">
              <a:ln>
                <a:noFill/>
              </a:ln>
              <a:gradFill flip="none" rotWithShape="1">
                <a:gsLst>
                  <a:gs pos="100000">
                    <a:srgbClr val="0268FE"/>
                  </a:gs>
                  <a:gs pos="0">
                    <a:srgbClr val="0268FE">
                      <a:lumMod val="80000"/>
                      <a:lumOff val="20000"/>
                    </a:srgbClr>
                  </a:gs>
                </a:gsLst>
                <a:lin ang="0" scaled="1"/>
                <a:tileRect/>
              </a:gradFill>
              <a:effectLst/>
              <a:uLnTx/>
              <a:uFillTx/>
              <a:latin typeface="汉仪粗宋简" panose="02010600000101010101" pitchFamily="2" charset="-122"/>
              <a:ea typeface="汉仪粗宋简" panose="02010600000101010101" pitchFamily="2" charset="-122"/>
            </a:endParaRPr>
          </a:p>
        </p:txBody>
      </p:sp>
      <p:sp>
        <p:nvSpPr>
          <p:cNvPr id="21" name="箭头: 上 41">
            <a:extLst>
              <a:ext uri="{FF2B5EF4-FFF2-40B4-BE49-F238E27FC236}">
                <a16:creationId xmlns:a16="http://schemas.microsoft.com/office/drawing/2014/main" id="{D10E5E5C-E8E1-49D9-67C9-AE4421708CB9}"/>
              </a:ext>
            </a:extLst>
          </p:cNvPr>
          <p:cNvSpPr/>
          <p:nvPr/>
        </p:nvSpPr>
        <p:spPr>
          <a:xfrm rot="10800000">
            <a:off x="8342830" y="4270879"/>
            <a:ext cx="3295948" cy="1522763"/>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alpha val="46000"/>
                </a:srgbClr>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2" name="椭圆 21">
            <a:extLst>
              <a:ext uri="{FF2B5EF4-FFF2-40B4-BE49-F238E27FC236}">
                <a16:creationId xmlns:a16="http://schemas.microsoft.com/office/drawing/2014/main" id="{F82A8111-B2BE-25BD-8B60-0A281452FC19}"/>
              </a:ext>
            </a:extLst>
          </p:cNvPr>
          <p:cNvSpPr/>
          <p:nvPr/>
        </p:nvSpPr>
        <p:spPr>
          <a:xfrm>
            <a:off x="8824843" y="3803921"/>
            <a:ext cx="788793" cy="797497"/>
          </a:xfrm>
          <a:prstGeom prst="ellipse">
            <a:avLst/>
          </a:prstGeom>
          <a:pattFill prst="dkDnDiag">
            <a:fgClr>
              <a:srgbClr val="0268FE">
                <a:lumMod val="20000"/>
                <a:lumOff val="80000"/>
              </a:srgbClr>
            </a:fgClr>
            <a:bgClr>
              <a:srgbClr val="FFFFFF"/>
            </a:bgClr>
          </a:pattFill>
          <a:ln w="6350" cap="flat" cmpd="sng" algn="ctr">
            <a:solidFill>
              <a:srgbClr val="0268FE">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i="0" u="none" strike="noStrike" kern="0" cap="none" spc="0" normalizeH="0" baseline="0" noProof="0" dirty="0">
              <a:ln>
                <a:noFill/>
              </a:ln>
              <a:solidFill>
                <a:srgbClr val="FFFFFF"/>
              </a:solidFill>
              <a:effectLst/>
              <a:uLnTx/>
              <a:uFillTx/>
              <a:latin typeface="+mj-ea"/>
              <a:ea typeface="汉仪粗宋简" panose="02010600000101010101" pitchFamily="2" charset="-122"/>
              <a:cs typeface="+mn-cs"/>
            </a:endParaRPr>
          </a:p>
        </p:txBody>
      </p:sp>
      <p:sp>
        <p:nvSpPr>
          <p:cNvPr id="23" name="文本框 22">
            <a:extLst>
              <a:ext uri="{FF2B5EF4-FFF2-40B4-BE49-F238E27FC236}">
                <a16:creationId xmlns:a16="http://schemas.microsoft.com/office/drawing/2014/main" id="{1D42EFA4-7CF3-AA02-2AE9-C3D851A88F83}"/>
              </a:ext>
            </a:extLst>
          </p:cNvPr>
          <p:cNvSpPr txBox="1"/>
          <p:nvPr/>
        </p:nvSpPr>
        <p:spPr>
          <a:xfrm>
            <a:off x="8824293" y="3858648"/>
            <a:ext cx="777778" cy="646330"/>
          </a:xfrm>
          <a:prstGeom prst="rect">
            <a:avLst/>
          </a:prstGeom>
          <a:noFill/>
        </p:spPr>
        <p:txBody>
          <a:bodyPr wrap="none" rtlCol="0" anchor="ctr" anchorCtr="0">
            <a:spAutoFit/>
          </a:bodyPr>
          <a:lstStyle/>
          <a:p>
            <a:pPr algn="ctr"/>
            <a:r>
              <a:rPr lang="zh-CN" altLang="en-US" dirty="0">
                <a:solidFill>
                  <a:srgbClr val="000000">
                    <a:lumMod val="75000"/>
                    <a:lumOff val="25000"/>
                  </a:srgbClr>
                </a:solidFill>
                <a:latin typeface="+mj-ea"/>
                <a:ea typeface="汉仪粗宋简" panose="02010600000101010101" pitchFamily="2" charset="-122"/>
              </a:rPr>
              <a:t>温度</a:t>
            </a:r>
            <a:endParaRPr lang="en-US" altLang="zh-CN" dirty="0">
              <a:solidFill>
                <a:srgbClr val="000000">
                  <a:lumMod val="75000"/>
                  <a:lumOff val="25000"/>
                </a:srgbClr>
              </a:solidFill>
              <a:latin typeface="+mj-ea"/>
              <a:ea typeface="汉仪粗宋简" panose="02010600000101010101" pitchFamily="2" charset="-122"/>
            </a:endParaRPr>
          </a:p>
          <a:p>
            <a:pPr algn="ctr"/>
            <a:r>
              <a:rPr lang="en-US" altLang="zh-CN" dirty="0">
                <a:solidFill>
                  <a:srgbClr val="000000">
                    <a:lumMod val="75000"/>
                    <a:lumOff val="25000"/>
                  </a:srgbClr>
                </a:solidFill>
                <a:latin typeface="+mj-ea"/>
                <a:ea typeface="汉仪粗宋简" panose="02010600000101010101" pitchFamily="2" charset="-122"/>
              </a:rPr>
              <a:t>(</a:t>
            </a:r>
            <a:r>
              <a:rPr lang="zh-CN" altLang="en-US" dirty="0">
                <a:solidFill>
                  <a:srgbClr val="000000">
                    <a:lumMod val="75000"/>
                    <a:lumOff val="25000"/>
                  </a:srgbClr>
                </a:solidFill>
                <a:latin typeface="+mj-ea"/>
                <a:ea typeface="汉仪粗宋简" panose="02010600000101010101" pitchFamily="2" charset="-122"/>
              </a:rPr>
              <a:t>张力</a:t>
            </a:r>
            <a:r>
              <a:rPr lang="en-US" altLang="zh-CN" dirty="0">
                <a:solidFill>
                  <a:srgbClr val="000000">
                    <a:lumMod val="75000"/>
                    <a:lumOff val="25000"/>
                  </a:srgbClr>
                </a:solidFill>
                <a:latin typeface="+mj-ea"/>
                <a:ea typeface="汉仪粗宋简" panose="02010600000101010101" pitchFamily="2" charset="-122"/>
              </a:rPr>
              <a:t>)</a:t>
            </a:r>
            <a:endParaRPr lang="zh-CN" altLang="en-US" dirty="0">
              <a:solidFill>
                <a:srgbClr val="000000">
                  <a:lumMod val="75000"/>
                  <a:lumOff val="25000"/>
                </a:srgbClr>
              </a:solidFill>
              <a:latin typeface="+mj-ea"/>
              <a:ea typeface="汉仪粗宋简" panose="02010600000101010101" pitchFamily="2" charset="-122"/>
            </a:endParaRPr>
          </a:p>
        </p:txBody>
      </p:sp>
      <p:sp>
        <p:nvSpPr>
          <p:cNvPr id="24" name="椭圆 23">
            <a:extLst>
              <a:ext uri="{FF2B5EF4-FFF2-40B4-BE49-F238E27FC236}">
                <a16:creationId xmlns:a16="http://schemas.microsoft.com/office/drawing/2014/main" id="{107A7D2C-B7A7-D179-3D80-68A05073086E}"/>
              </a:ext>
            </a:extLst>
          </p:cNvPr>
          <p:cNvSpPr/>
          <p:nvPr/>
        </p:nvSpPr>
        <p:spPr>
          <a:xfrm>
            <a:off x="9665107" y="4238955"/>
            <a:ext cx="702439" cy="710188"/>
          </a:xfrm>
          <a:prstGeom prst="ellipse">
            <a:avLst/>
          </a:prstGeom>
          <a:pattFill prst="dkDnDiag">
            <a:fgClr>
              <a:srgbClr val="0268FE">
                <a:lumMod val="20000"/>
                <a:lumOff val="80000"/>
              </a:srgbClr>
            </a:fgClr>
            <a:bgClr>
              <a:srgbClr val="FFFFFF"/>
            </a:bgClr>
          </a:pattFill>
          <a:ln w="6350" cap="flat" cmpd="sng" algn="ctr">
            <a:solidFill>
              <a:srgbClr val="0268FE">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i="0" u="none" strike="noStrike" kern="0" cap="none" spc="0" normalizeH="0" baseline="0" noProof="0" dirty="0">
              <a:ln>
                <a:noFill/>
              </a:ln>
              <a:solidFill>
                <a:srgbClr val="FFFFFF"/>
              </a:solidFill>
              <a:effectLst/>
              <a:uLnTx/>
              <a:uFillTx/>
              <a:latin typeface="+mj-ea"/>
              <a:ea typeface="汉仪粗宋简" panose="02010600000101010101" pitchFamily="2" charset="-122"/>
              <a:cs typeface="+mn-cs"/>
            </a:endParaRPr>
          </a:p>
        </p:txBody>
      </p:sp>
      <p:sp>
        <p:nvSpPr>
          <p:cNvPr id="25" name="文本框 24">
            <a:extLst>
              <a:ext uri="{FF2B5EF4-FFF2-40B4-BE49-F238E27FC236}">
                <a16:creationId xmlns:a16="http://schemas.microsoft.com/office/drawing/2014/main" id="{584CC320-53D9-F364-9FBF-B581A2DA6A35}"/>
              </a:ext>
            </a:extLst>
          </p:cNvPr>
          <p:cNvSpPr txBox="1"/>
          <p:nvPr/>
        </p:nvSpPr>
        <p:spPr>
          <a:xfrm>
            <a:off x="9701452" y="4426148"/>
            <a:ext cx="646330" cy="369332"/>
          </a:xfrm>
          <a:prstGeom prst="rect">
            <a:avLst/>
          </a:prstGeom>
          <a:noFill/>
        </p:spPr>
        <p:txBody>
          <a:bodyPr wrap="none" rtlCol="0" anchor="ctr" anchorCtr="0">
            <a:spAutoFit/>
          </a:bodyPr>
          <a:lstStyle/>
          <a:p>
            <a:pPr algn="just"/>
            <a:r>
              <a:rPr lang="zh-CN" altLang="en-US" dirty="0">
                <a:solidFill>
                  <a:srgbClr val="000000">
                    <a:lumMod val="75000"/>
                    <a:lumOff val="25000"/>
                  </a:srgbClr>
                </a:solidFill>
                <a:latin typeface="+mj-ea"/>
                <a:ea typeface="汉仪粗宋简" panose="02010600000101010101" pitchFamily="2" charset="-122"/>
              </a:rPr>
              <a:t>速度</a:t>
            </a:r>
          </a:p>
        </p:txBody>
      </p:sp>
      <p:sp>
        <p:nvSpPr>
          <p:cNvPr id="26" name="椭圆 25">
            <a:extLst>
              <a:ext uri="{FF2B5EF4-FFF2-40B4-BE49-F238E27FC236}">
                <a16:creationId xmlns:a16="http://schemas.microsoft.com/office/drawing/2014/main" id="{014F6E41-FD8C-5974-327E-BFDCB3E00D1A}"/>
              </a:ext>
            </a:extLst>
          </p:cNvPr>
          <p:cNvSpPr/>
          <p:nvPr/>
        </p:nvSpPr>
        <p:spPr>
          <a:xfrm>
            <a:off x="10099276" y="3215986"/>
            <a:ext cx="702439" cy="710188"/>
          </a:xfrm>
          <a:prstGeom prst="ellipse">
            <a:avLst/>
          </a:prstGeom>
          <a:pattFill prst="dkDnDiag">
            <a:fgClr>
              <a:srgbClr val="0268FE">
                <a:lumMod val="20000"/>
                <a:lumOff val="80000"/>
              </a:srgbClr>
            </a:fgClr>
            <a:bgClr>
              <a:srgbClr val="FFFFFF"/>
            </a:bgClr>
          </a:pattFill>
          <a:ln w="6350" cap="flat" cmpd="sng" algn="ctr">
            <a:solidFill>
              <a:srgbClr val="0268FE">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i="0" u="none" strike="noStrike" kern="0" cap="none" spc="0" normalizeH="0" baseline="0" noProof="0" dirty="0">
              <a:ln>
                <a:noFill/>
              </a:ln>
              <a:solidFill>
                <a:srgbClr val="FFFFFF"/>
              </a:solidFill>
              <a:effectLst/>
              <a:uLnTx/>
              <a:uFillTx/>
              <a:latin typeface="+mj-ea"/>
              <a:ea typeface="汉仪粗宋简" panose="02010600000101010101" pitchFamily="2" charset="-122"/>
              <a:cs typeface="+mn-cs"/>
            </a:endParaRPr>
          </a:p>
        </p:txBody>
      </p:sp>
      <p:sp>
        <p:nvSpPr>
          <p:cNvPr id="27" name="文本框 26">
            <a:extLst>
              <a:ext uri="{FF2B5EF4-FFF2-40B4-BE49-F238E27FC236}">
                <a16:creationId xmlns:a16="http://schemas.microsoft.com/office/drawing/2014/main" id="{261E0C47-7AEA-6D20-7D99-7ECE09DDE7B1}"/>
              </a:ext>
            </a:extLst>
          </p:cNvPr>
          <p:cNvSpPr txBox="1"/>
          <p:nvPr/>
        </p:nvSpPr>
        <p:spPr>
          <a:xfrm>
            <a:off x="10135623" y="3403179"/>
            <a:ext cx="646330" cy="369332"/>
          </a:xfrm>
          <a:prstGeom prst="rect">
            <a:avLst/>
          </a:prstGeom>
          <a:noFill/>
        </p:spPr>
        <p:txBody>
          <a:bodyPr wrap="none" rtlCol="0" anchor="ctr" anchorCtr="0">
            <a:spAutoFit/>
          </a:bodyPr>
          <a:lstStyle/>
          <a:p>
            <a:pPr algn="just"/>
            <a:r>
              <a:rPr lang="zh-CN" altLang="en-US" dirty="0">
                <a:solidFill>
                  <a:srgbClr val="000000">
                    <a:lumMod val="75000"/>
                    <a:lumOff val="25000"/>
                  </a:srgbClr>
                </a:solidFill>
                <a:latin typeface="+mj-ea"/>
                <a:ea typeface="汉仪粗宋简" panose="02010600000101010101" pitchFamily="2" charset="-122"/>
              </a:rPr>
              <a:t>宽度</a:t>
            </a:r>
          </a:p>
        </p:txBody>
      </p:sp>
      <p:sp>
        <p:nvSpPr>
          <p:cNvPr id="28" name="椭圆 27">
            <a:extLst>
              <a:ext uri="{FF2B5EF4-FFF2-40B4-BE49-F238E27FC236}">
                <a16:creationId xmlns:a16="http://schemas.microsoft.com/office/drawing/2014/main" id="{936E7ED4-380C-0D13-D571-2B7696E995F5}"/>
              </a:ext>
            </a:extLst>
          </p:cNvPr>
          <p:cNvSpPr/>
          <p:nvPr/>
        </p:nvSpPr>
        <p:spPr>
          <a:xfrm>
            <a:off x="10350030" y="3943019"/>
            <a:ext cx="702439" cy="710188"/>
          </a:xfrm>
          <a:prstGeom prst="ellipse">
            <a:avLst/>
          </a:prstGeom>
          <a:pattFill prst="dkDnDiag">
            <a:fgClr>
              <a:srgbClr val="0268FE">
                <a:lumMod val="20000"/>
                <a:lumOff val="80000"/>
              </a:srgbClr>
            </a:fgClr>
            <a:bgClr>
              <a:srgbClr val="FFFFFF"/>
            </a:bgClr>
          </a:pattFill>
          <a:ln w="6350" cap="flat" cmpd="sng" algn="ctr">
            <a:solidFill>
              <a:srgbClr val="0268FE">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i="0" u="none" strike="noStrike" kern="0" cap="none" spc="0" normalizeH="0" baseline="0" noProof="0" dirty="0">
              <a:ln>
                <a:noFill/>
              </a:ln>
              <a:solidFill>
                <a:srgbClr val="FFFFFF"/>
              </a:solidFill>
              <a:effectLst/>
              <a:uLnTx/>
              <a:uFillTx/>
              <a:latin typeface="+mj-ea"/>
              <a:ea typeface="汉仪粗宋简" panose="02010600000101010101" pitchFamily="2" charset="-122"/>
              <a:cs typeface="+mn-cs"/>
            </a:endParaRPr>
          </a:p>
        </p:txBody>
      </p:sp>
      <p:sp>
        <p:nvSpPr>
          <p:cNvPr id="32" name="文本框 31">
            <a:extLst>
              <a:ext uri="{FF2B5EF4-FFF2-40B4-BE49-F238E27FC236}">
                <a16:creationId xmlns:a16="http://schemas.microsoft.com/office/drawing/2014/main" id="{14E3F54D-B0A1-4515-3B8A-6AD6B4D5AAF3}"/>
              </a:ext>
            </a:extLst>
          </p:cNvPr>
          <p:cNvSpPr txBox="1"/>
          <p:nvPr/>
        </p:nvSpPr>
        <p:spPr>
          <a:xfrm>
            <a:off x="10386375" y="4130211"/>
            <a:ext cx="646330" cy="369332"/>
          </a:xfrm>
          <a:prstGeom prst="rect">
            <a:avLst/>
          </a:prstGeom>
          <a:noFill/>
        </p:spPr>
        <p:txBody>
          <a:bodyPr wrap="none" rtlCol="0" anchor="ctr" anchorCtr="0">
            <a:spAutoFit/>
          </a:bodyPr>
          <a:lstStyle/>
          <a:p>
            <a:pPr algn="just"/>
            <a:r>
              <a:rPr lang="zh-CN" altLang="en-US" dirty="0">
                <a:solidFill>
                  <a:srgbClr val="000000">
                    <a:lumMod val="75000"/>
                    <a:lumOff val="25000"/>
                  </a:srgbClr>
                </a:solidFill>
                <a:latin typeface="+mj-ea"/>
                <a:ea typeface="汉仪粗宋简" panose="02010600000101010101" pitchFamily="2" charset="-122"/>
              </a:rPr>
              <a:t>厚度</a:t>
            </a:r>
          </a:p>
        </p:txBody>
      </p:sp>
      <p:sp>
        <p:nvSpPr>
          <p:cNvPr id="33" name="任意多边形: 形状 32">
            <a:extLst>
              <a:ext uri="{FF2B5EF4-FFF2-40B4-BE49-F238E27FC236}">
                <a16:creationId xmlns:a16="http://schemas.microsoft.com/office/drawing/2014/main" id="{C9B527F8-3FEC-6F95-5AE0-6B152CCE2DF6}"/>
              </a:ext>
            </a:extLst>
          </p:cNvPr>
          <p:cNvSpPr/>
          <p:nvPr/>
        </p:nvSpPr>
        <p:spPr>
          <a:xfrm>
            <a:off x="8814936" y="4511171"/>
            <a:ext cx="888022" cy="767434"/>
          </a:xfrm>
          <a:custGeom>
            <a:avLst/>
            <a:gdLst>
              <a:gd name="connsiteX0" fmla="*/ 0 w 759460"/>
              <a:gd name="connsiteY0" fmla="*/ 0 h 619760"/>
              <a:gd name="connsiteX1" fmla="*/ 759460 w 759460"/>
              <a:gd name="connsiteY1" fmla="*/ 619760 h 619760"/>
              <a:gd name="connsiteX0-1" fmla="*/ 0 w 784860"/>
              <a:gd name="connsiteY0-2" fmla="*/ 0 h 647700"/>
              <a:gd name="connsiteX1-3" fmla="*/ 784860 w 784860"/>
              <a:gd name="connsiteY1-4" fmla="*/ 647700 h 647700"/>
              <a:gd name="connsiteX0-5" fmla="*/ 0 w 784860"/>
              <a:gd name="connsiteY0-6" fmla="*/ 0 h 647700"/>
              <a:gd name="connsiteX1-7" fmla="*/ 784860 w 784860"/>
              <a:gd name="connsiteY1-8" fmla="*/ 647700 h 647700"/>
              <a:gd name="connsiteX0-9" fmla="*/ 0 w 617220"/>
              <a:gd name="connsiteY0-10" fmla="*/ 0 h 533400"/>
              <a:gd name="connsiteX1-11" fmla="*/ 617220 w 617220"/>
              <a:gd name="connsiteY1-12" fmla="*/ 533400 h 533400"/>
              <a:gd name="connsiteX0-13" fmla="*/ 0 w 617220"/>
              <a:gd name="connsiteY0-14" fmla="*/ 0 h 533400"/>
              <a:gd name="connsiteX1-15" fmla="*/ 617220 w 617220"/>
              <a:gd name="connsiteY1-16" fmla="*/ 533400 h 533400"/>
              <a:gd name="connsiteX0-17" fmla="*/ 0 w 617220"/>
              <a:gd name="connsiteY0-18" fmla="*/ 0 h 533400"/>
              <a:gd name="connsiteX1-19" fmla="*/ 617220 w 617220"/>
              <a:gd name="connsiteY1-20" fmla="*/ 533400 h 533400"/>
              <a:gd name="connsiteX0-21" fmla="*/ 0 w 617220"/>
              <a:gd name="connsiteY0-22" fmla="*/ 0 h 533400"/>
              <a:gd name="connsiteX1-23" fmla="*/ 617220 w 617220"/>
              <a:gd name="connsiteY1-24" fmla="*/ 533400 h 533400"/>
              <a:gd name="connsiteX0-25" fmla="*/ 0 w 612140"/>
              <a:gd name="connsiteY0-26" fmla="*/ 0 h 523240"/>
              <a:gd name="connsiteX1-27" fmla="*/ 612140 w 612140"/>
              <a:gd name="connsiteY1-28" fmla="*/ 523240 h 523240"/>
            </a:gdLst>
            <a:ahLst/>
            <a:cxnLst>
              <a:cxn ang="0">
                <a:pos x="connsiteX0-1" y="connsiteY0-2"/>
              </a:cxn>
              <a:cxn ang="0">
                <a:pos x="connsiteX1-3" y="connsiteY1-4"/>
              </a:cxn>
            </a:cxnLst>
            <a:rect l="l" t="t" r="r" b="b"/>
            <a:pathLst>
              <a:path w="612140" h="523240">
                <a:moveTo>
                  <a:pt x="0" y="0"/>
                </a:moveTo>
                <a:cubicBezTo>
                  <a:pt x="314960" y="104140"/>
                  <a:pt x="528320" y="274320"/>
                  <a:pt x="612140" y="523240"/>
                </a:cubicBezTo>
              </a:path>
            </a:pathLst>
          </a:custGeom>
          <a:noFill/>
          <a:ln w="12700" cap="flat" cmpd="sng" algn="ctr">
            <a:gradFill flip="none" rotWithShape="1">
              <a:gsLst>
                <a:gs pos="0">
                  <a:srgbClr val="0268FE">
                    <a:lumMod val="97000"/>
                    <a:alpha val="50000"/>
                  </a:srgbClr>
                </a:gs>
                <a:gs pos="100000">
                  <a:srgbClr val="0268FE">
                    <a:alpha val="0"/>
                  </a:srgbClr>
                </a:gs>
              </a:gsLst>
              <a:lin ang="10800000" scaled="1"/>
              <a:tileRect/>
            </a:gradFill>
            <a:prstDash val="solid"/>
            <a:miter lim="800000"/>
            <a:tailEnd type="none" w="med" len="sm"/>
          </a:ln>
          <a:effectLst>
            <a:outerShdw blurRad="63500" dist="50800" dir="4800000" sx="102000" sy="102000" algn="ctr" rotWithShape="0">
              <a:srgbClr val="0268FE">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34" name="任意多边形: 形状 33">
            <a:extLst>
              <a:ext uri="{FF2B5EF4-FFF2-40B4-BE49-F238E27FC236}">
                <a16:creationId xmlns:a16="http://schemas.microsoft.com/office/drawing/2014/main" id="{E61F6003-857C-FAE8-FC42-62B0523419C9}"/>
              </a:ext>
            </a:extLst>
          </p:cNvPr>
          <p:cNvSpPr/>
          <p:nvPr/>
        </p:nvSpPr>
        <p:spPr>
          <a:xfrm flipH="1">
            <a:off x="10259353" y="4511171"/>
            <a:ext cx="888022" cy="767434"/>
          </a:xfrm>
          <a:custGeom>
            <a:avLst/>
            <a:gdLst>
              <a:gd name="connsiteX0" fmla="*/ 0 w 759460"/>
              <a:gd name="connsiteY0" fmla="*/ 0 h 619760"/>
              <a:gd name="connsiteX1" fmla="*/ 759460 w 759460"/>
              <a:gd name="connsiteY1" fmla="*/ 619760 h 619760"/>
              <a:gd name="connsiteX0-1" fmla="*/ 0 w 784860"/>
              <a:gd name="connsiteY0-2" fmla="*/ 0 h 647700"/>
              <a:gd name="connsiteX1-3" fmla="*/ 784860 w 784860"/>
              <a:gd name="connsiteY1-4" fmla="*/ 647700 h 647700"/>
              <a:gd name="connsiteX0-5" fmla="*/ 0 w 784860"/>
              <a:gd name="connsiteY0-6" fmla="*/ 0 h 647700"/>
              <a:gd name="connsiteX1-7" fmla="*/ 784860 w 784860"/>
              <a:gd name="connsiteY1-8" fmla="*/ 647700 h 647700"/>
              <a:gd name="connsiteX0-9" fmla="*/ 0 w 617220"/>
              <a:gd name="connsiteY0-10" fmla="*/ 0 h 533400"/>
              <a:gd name="connsiteX1-11" fmla="*/ 617220 w 617220"/>
              <a:gd name="connsiteY1-12" fmla="*/ 533400 h 533400"/>
              <a:gd name="connsiteX0-13" fmla="*/ 0 w 617220"/>
              <a:gd name="connsiteY0-14" fmla="*/ 0 h 533400"/>
              <a:gd name="connsiteX1-15" fmla="*/ 617220 w 617220"/>
              <a:gd name="connsiteY1-16" fmla="*/ 533400 h 533400"/>
              <a:gd name="connsiteX0-17" fmla="*/ 0 w 617220"/>
              <a:gd name="connsiteY0-18" fmla="*/ 0 h 533400"/>
              <a:gd name="connsiteX1-19" fmla="*/ 617220 w 617220"/>
              <a:gd name="connsiteY1-20" fmla="*/ 533400 h 533400"/>
              <a:gd name="connsiteX0-21" fmla="*/ 0 w 617220"/>
              <a:gd name="connsiteY0-22" fmla="*/ 0 h 533400"/>
              <a:gd name="connsiteX1-23" fmla="*/ 617220 w 617220"/>
              <a:gd name="connsiteY1-24" fmla="*/ 533400 h 533400"/>
              <a:gd name="connsiteX0-25" fmla="*/ 0 w 612140"/>
              <a:gd name="connsiteY0-26" fmla="*/ 0 h 523240"/>
              <a:gd name="connsiteX1-27" fmla="*/ 612140 w 612140"/>
              <a:gd name="connsiteY1-28" fmla="*/ 523240 h 523240"/>
            </a:gdLst>
            <a:ahLst/>
            <a:cxnLst>
              <a:cxn ang="0">
                <a:pos x="connsiteX0-1" y="connsiteY0-2"/>
              </a:cxn>
              <a:cxn ang="0">
                <a:pos x="connsiteX1-3" y="connsiteY1-4"/>
              </a:cxn>
            </a:cxnLst>
            <a:rect l="l" t="t" r="r" b="b"/>
            <a:pathLst>
              <a:path w="612140" h="523240">
                <a:moveTo>
                  <a:pt x="0" y="0"/>
                </a:moveTo>
                <a:cubicBezTo>
                  <a:pt x="314960" y="104140"/>
                  <a:pt x="528320" y="274320"/>
                  <a:pt x="612140" y="523240"/>
                </a:cubicBezTo>
              </a:path>
            </a:pathLst>
          </a:custGeom>
          <a:noFill/>
          <a:ln w="12700" cap="flat" cmpd="sng" algn="ctr">
            <a:gradFill flip="none" rotWithShape="1">
              <a:gsLst>
                <a:gs pos="0">
                  <a:srgbClr val="0268FE">
                    <a:lumMod val="97000"/>
                    <a:alpha val="50000"/>
                  </a:srgbClr>
                </a:gs>
                <a:gs pos="100000">
                  <a:srgbClr val="0268FE">
                    <a:alpha val="0"/>
                  </a:srgbClr>
                </a:gs>
              </a:gsLst>
              <a:lin ang="10800000" scaled="1"/>
              <a:tileRect/>
            </a:gradFill>
            <a:prstDash val="solid"/>
            <a:miter lim="800000"/>
            <a:tailEnd type="none" w="med" len="sm"/>
          </a:ln>
          <a:effectLst>
            <a:outerShdw blurRad="63500" dist="50800" dir="4800000" sx="102000" sy="102000" algn="ctr" rotWithShape="0">
              <a:srgbClr val="0268FE">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cxnSp>
        <p:nvCxnSpPr>
          <p:cNvPr id="48" name="直接连接符 47">
            <a:extLst>
              <a:ext uri="{FF2B5EF4-FFF2-40B4-BE49-F238E27FC236}">
                <a16:creationId xmlns:a16="http://schemas.microsoft.com/office/drawing/2014/main" id="{9F59AD29-22B1-C423-F1F3-0D30185EC859}"/>
              </a:ext>
            </a:extLst>
          </p:cNvPr>
          <p:cNvCxnSpPr/>
          <p:nvPr/>
        </p:nvCxnSpPr>
        <p:spPr>
          <a:xfrm flipH="1">
            <a:off x="8722869" y="5988444"/>
            <a:ext cx="364789" cy="0"/>
          </a:xfrm>
          <a:prstGeom prst="line">
            <a:avLst/>
          </a:prstGeom>
          <a:noFill/>
          <a:ln w="12700" cap="flat" cmpd="sng" algn="ctr">
            <a:gradFill flip="none" rotWithShape="1">
              <a:gsLst>
                <a:gs pos="100000">
                  <a:srgbClr val="0268FE">
                    <a:lumMod val="97000"/>
                  </a:srgbClr>
                </a:gs>
                <a:gs pos="0">
                  <a:srgbClr val="0268FE">
                    <a:alpha val="0"/>
                  </a:srgbClr>
                </a:gs>
              </a:gsLst>
              <a:lin ang="10800000" scaled="1"/>
              <a:tileRect/>
            </a:gradFill>
            <a:prstDash val="solid"/>
            <a:miter lim="800000"/>
            <a:tailEnd type="none" w="med" len="sm"/>
          </a:ln>
          <a:effectLst>
            <a:outerShdw blurRad="63500" dist="50800" dir="4800000" sx="102000" sy="102000" algn="ctr" rotWithShape="0">
              <a:srgbClr val="0268FE">
                <a:alpha val="40000"/>
              </a:srgbClr>
            </a:outerShdw>
          </a:effectLst>
        </p:spPr>
      </p:cxnSp>
      <p:cxnSp>
        <p:nvCxnSpPr>
          <p:cNvPr id="52" name="直接连接符 51">
            <a:extLst>
              <a:ext uri="{FF2B5EF4-FFF2-40B4-BE49-F238E27FC236}">
                <a16:creationId xmlns:a16="http://schemas.microsoft.com/office/drawing/2014/main" id="{54174445-C554-86DE-A1ED-CA8EC72D9243}"/>
              </a:ext>
            </a:extLst>
          </p:cNvPr>
          <p:cNvCxnSpPr/>
          <p:nvPr/>
        </p:nvCxnSpPr>
        <p:spPr>
          <a:xfrm>
            <a:off x="10846309" y="5988443"/>
            <a:ext cx="364789" cy="0"/>
          </a:xfrm>
          <a:prstGeom prst="line">
            <a:avLst/>
          </a:prstGeom>
          <a:noFill/>
          <a:ln w="12700" cap="flat" cmpd="sng" algn="ctr">
            <a:gradFill flip="none" rotWithShape="1">
              <a:gsLst>
                <a:gs pos="100000">
                  <a:srgbClr val="0268FE">
                    <a:lumMod val="97000"/>
                  </a:srgbClr>
                </a:gs>
                <a:gs pos="0">
                  <a:srgbClr val="0268FE">
                    <a:alpha val="0"/>
                  </a:srgbClr>
                </a:gs>
              </a:gsLst>
              <a:lin ang="10800000" scaled="1"/>
              <a:tileRect/>
            </a:gradFill>
            <a:prstDash val="solid"/>
            <a:miter lim="800000"/>
            <a:tailEnd type="none" w="med" len="sm"/>
          </a:ln>
          <a:effectLst>
            <a:outerShdw blurRad="63500" dist="50800" dir="4800000" sx="102000" sy="102000" algn="ctr" rotWithShape="0">
              <a:srgbClr val="0268FE">
                <a:alpha val="40000"/>
              </a:srgbClr>
            </a:outerShdw>
          </a:effectLst>
        </p:spPr>
      </p:cxnSp>
      <p:sp>
        <p:nvSpPr>
          <p:cNvPr id="53" name="椭圆 52">
            <a:extLst>
              <a:ext uri="{FF2B5EF4-FFF2-40B4-BE49-F238E27FC236}">
                <a16:creationId xmlns:a16="http://schemas.microsoft.com/office/drawing/2014/main" id="{AD5AF9F5-D71A-1B03-5692-D3C6C2550C9E}"/>
              </a:ext>
            </a:extLst>
          </p:cNvPr>
          <p:cNvSpPr/>
          <p:nvPr/>
        </p:nvSpPr>
        <p:spPr>
          <a:xfrm>
            <a:off x="9353304" y="3231275"/>
            <a:ext cx="702440" cy="710190"/>
          </a:xfrm>
          <a:prstGeom prst="ellipse">
            <a:avLst/>
          </a:prstGeom>
          <a:pattFill prst="dkDnDiag">
            <a:fgClr>
              <a:srgbClr val="0268FE">
                <a:lumMod val="20000"/>
                <a:lumOff val="80000"/>
              </a:srgbClr>
            </a:fgClr>
            <a:bgClr>
              <a:srgbClr val="FFFFFF"/>
            </a:bgClr>
          </a:pattFill>
          <a:ln w="6350" cap="flat" cmpd="sng" algn="ctr">
            <a:solidFill>
              <a:srgbClr val="0268FE">
                <a:lumMod val="60000"/>
                <a:lumOff val="4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i="0" u="none" strike="noStrike" kern="0" cap="none" spc="0" normalizeH="0" baseline="0" noProof="0" dirty="0">
              <a:ln>
                <a:noFill/>
              </a:ln>
              <a:solidFill>
                <a:srgbClr val="FFFFFF"/>
              </a:solidFill>
              <a:effectLst/>
              <a:uLnTx/>
              <a:uFillTx/>
              <a:latin typeface="+mj-ea"/>
              <a:ea typeface="汉仪粗宋简" panose="02010600000101010101" pitchFamily="2" charset="-122"/>
              <a:cs typeface="+mn-cs"/>
            </a:endParaRPr>
          </a:p>
        </p:txBody>
      </p:sp>
      <p:sp>
        <p:nvSpPr>
          <p:cNvPr id="54" name="文本框 53">
            <a:extLst>
              <a:ext uri="{FF2B5EF4-FFF2-40B4-BE49-F238E27FC236}">
                <a16:creationId xmlns:a16="http://schemas.microsoft.com/office/drawing/2014/main" id="{E50D8915-171D-3046-A837-64E8EF63064D}"/>
              </a:ext>
            </a:extLst>
          </p:cNvPr>
          <p:cNvSpPr txBox="1"/>
          <p:nvPr/>
        </p:nvSpPr>
        <p:spPr>
          <a:xfrm>
            <a:off x="9388615" y="3397692"/>
            <a:ext cx="646330" cy="369332"/>
          </a:xfrm>
          <a:prstGeom prst="rect">
            <a:avLst/>
          </a:prstGeom>
          <a:noFill/>
        </p:spPr>
        <p:txBody>
          <a:bodyPr wrap="none" rtlCol="0" anchor="ctr" anchorCtr="0">
            <a:spAutoFit/>
          </a:bodyPr>
          <a:lstStyle/>
          <a:p>
            <a:pPr algn="just"/>
            <a:r>
              <a:rPr lang="zh-CN" altLang="en-US" dirty="0">
                <a:solidFill>
                  <a:srgbClr val="000000">
                    <a:lumMod val="75000"/>
                    <a:lumOff val="25000"/>
                  </a:srgbClr>
                </a:solidFill>
                <a:latin typeface="+mj-ea"/>
                <a:ea typeface="汉仪粗宋简" panose="02010600000101010101" pitchFamily="2" charset="-122"/>
              </a:rPr>
              <a:t>钢种</a:t>
            </a:r>
          </a:p>
        </p:txBody>
      </p:sp>
      <p:sp>
        <p:nvSpPr>
          <p:cNvPr id="55" name="矩形 54">
            <a:extLst>
              <a:ext uri="{FF2B5EF4-FFF2-40B4-BE49-F238E27FC236}">
                <a16:creationId xmlns:a16="http://schemas.microsoft.com/office/drawing/2014/main" id="{D17192D6-A00B-0DD7-1FE3-09AA4D51FF32}"/>
              </a:ext>
            </a:extLst>
          </p:cNvPr>
          <p:cNvSpPr>
            <a:spLocks/>
          </p:cNvSpPr>
          <p:nvPr/>
        </p:nvSpPr>
        <p:spPr>
          <a:xfrm>
            <a:off x="469899" y="1612900"/>
            <a:ext cx="17272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6" name="文本框 55">
            <a:extLst>
              <a:ext uri="{FF2B5EF4-FFF2-40B4-BE49-F238E27FC236}">
                <a16:creationId xmlns:a16="http://schemas.microsoft.com/office/drawing/2014/main" id="{A34CED97-DA39-C073-7914-D04815BD0023}"/>
              </a:ext>
            </a:extLst>
          </p:cNvPr>
          <p:cNvSpPr txBox="1">
            <a:spLocks/>
          </p:cNvSpPr>
          <p:nvPr/>
        </p:nvSpPr>
        <p:spPr>
          <a:xfrm>
            <a:off x="495300" y="1689100"/>
            <a:ext cx="22987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MOTIVATION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7" name="文本框 56">
            <a:extLst>
              <a:ext uri="{FF2B5EF4-FFF2-40B4-BE49-F238E27FC236}">
                <a16:creationId xmlns:a16="http://schemas.microsoft.com/office/drawing/2014/main" id="{4CBA1088-5BC2-171C-D44C-F0DD8886E660}"/>
              </a:ext>
            </a:extLst>
          </p:cNvPr>
          <p:cNvSpPr txBox="1">
            <a:spLocks/>
          </p:cNvSpPr>
          <p:nvPr/>
        </p:nvSpPr>
        <p:spPr>
          <a:xfrm>
            <a:off x="495300" y="1638300"/>
            <a:ext cx="17272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工程动机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58" name="文本框 57">
            <a:extLst>
              <a:ext uri="{FF2B5EF4-FFF2-40B4-BE49-F238E27FC236}">
                <a16:creationId xmlns:a16="http://schemas.microsoft.com/office/drawing/2014/main" id="{AE6F3066-FB44-1AC9-9FC9-70CD62459C22}"/>
              </a:ext>
            </a:extLst>
          </p:cNvPr>
          <p:cNvSpPr txBox="1"/>
          <p:nvPr/>
        </p:nvSpPr>
        <p:spPr>
          <a:xfrm>
            <a:off x="2222500" y="1716602"/>
            <a:ext cx="11264900" cy="276999"/>
          </a:xfrm>
          <a:prstGeom prst="rect">
            <a:avLst/>
          </a:prstGeom>
          <a:noFill/>
        </p:spPr>
        <p:txBody>
          <a:bodyPr vert="horz" wrap="square" lIns="0" tIns="0" rIns="0" bIns="0" rtlCol="0">
            <a:noAutofit/>
          </a:bodyPr>
          <a:lstStyle/>
          <a:p>
            <a:r>
              <a:rPr lang="zh-CN" altLang="en-US" sz="1700" dirty="0">
                <a:solidFill>
                  <a:srgbClr val="000000"/>
                </a:solidFill>
                <a:latin typeface="微软雅黑" panose="020B0503020204020204" pitchFamily="34" charset="-122"/>
              </a:rPr>
              <a:t>热镀锌线依赖电机驱动辊子实现钢带传输与张力调节，其运行状态影响生产稳定性和产品质量。</a:t>
            </a:r>
          </a:p>
        </p:txBody>
      </p:sp>
      <p:sp>
        <p:nvSpPr>
          <p:cNvPr id="59" name="矩形: 圆角 58">
            <a:extLst>
              <a:ext uri="{FF2B5EF4-FFF2-40B4-BE49-F238E27FC236}">
                <a16:creationId xmlns:a16="http://schemas.microsoft.com/office/drawing/2014/main" id="{7142C4C7-7629-9037-37FF-6E56F4737A33}"/>
              </a:ext>
            </a:extLst>
          </p:cNvPr>
          <p:cNvSpPr>
            <a:spLocks/>
          </p:cNvSpPr>
          <p:nvPr/>
        </p:nvSpPr>
        <p:spPr>
          <a:xfrm>
            <a:off x="342900" y="2831212"/>
            <a:ext cx="758190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0" name="矩形 59">
            <a:extLst>
              <a:ext uri="{FF2B5EF4-FFF2-40B4-BE49-F238E27FC236}">
                <a16:creationId xmlns:a16="http://schemas.microsoft.com/office/drawing/2014/main" id="{066E0826-BE01-92B6-D332-65B39D1F9708}"/>
              </a:ext>
            </a:extLst>
          </p:cNvPr>
          <p:cNvSpPr>
            <a:spLocks/>
          </p:cNvSpPr>
          <p:nvPr/>
        </p:nvSpPr>
        <p:spPr>
          <a:xfrm>
            <a:off x="482599" y="2577212"/>
            <a:ext cx="17145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1" name="文本框 60">
            <a:extLst>
              <a:ext uri="{FF2B5EF4-FFF2-40B4-BE49-F238E27FC236}">
                <a16:creationId xmlns:a16="http://schemas.microsoft.com/office/drawing/2014/main" id="{68B5B7A8-D0A9-59BA-A915-5D40995EF84C}"/>
              </a:ext>
            </a:extLst>
          </p:cNvPr>
          <p:cNvSpPr txBox="1">
            <a:spLocks/>
          </p:cNvSpPr>
          <p:nvPr/>
        </p:nvSpPr>
        <p:spPr>
          <a:xfrm>
            <a:off x="508000" y="2653412"/>
            <a:ext cx="22860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TASK</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62" name="文本框 61">
            <a:extLst>
              <a:ext uri="{FF2B5EF4-FFF2-40B4-BE49-F238E27FC236}">
                <a16:creationId xmlns:a16="http://schemas.microsoft.com/office/drawing/2014/main" id="{70389F67-6C4A-9423-3B37-A0D52CAD8F2E}"/>
              </a:ext>
            </a:extLst>
          </p:cNvPr>
          <p:cNvSpPr txBox="1">
            <a:spLocks/>
          </p:cNvSpPr>
          <p:nvPr/>
        </p:nvSpPr>
        <p:spPr>
          <a:xfrm>
            <a:off x="508000" y="2602612"/>
            <a:ext cx="17145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监测任务</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63" name="文本框 62">
            <a:extLst>
              <a:ext uri="{FF2B5EF4-FFF2-40B4-BE49-F238E27FC236}">
                <a16:creationId xmlns:a16="http://schemas.microsoft.com/office/drawing/2014/main" id="{E4865A62-525F-7643-352D-D2E0E03AD27C}"/>
              </a:ext>
            </a:extLst>
          </p:cNvPr>
          <p:cNvSpPr txBox="1"/>
          <p:nvPr/>
        </p:nvSpPr>
        <p:spPr>
          <a:xfrm>
            <a:off x="571500" y="3123311"/>
            <a:ext cx="7086600" cy="525780"/>
          </a:xfrm>
          <a:prstGeom prst="rect">
            <a:avLst/>
          </a:prstGeom>
          <a:noFill/>
        </p:spPr>
        <p:txBody>
          <a:bodyPr vert="horz" wrap="square" lIns="0" tIns="0" rIns="0" bIns="0" rtlCol="0">
            <a:noAutofit/>
          </a:bodyPr>
          <a:lstStyle/>
          <a:p>
            <a:pPr>
              <a:lnSpc>
                <a:spcPct val="150000"/>
              </a:lnSpc>
            </a:pPr>
            <a:r>
              <a:rPr lang="zh-CN" altLang="en-US" sz="1600" dirty="0">
                <a:solidFill>
                  <a:srgbClr val="000000"/>
                </a:solidFill>
                <a:latin typeface="微软雅黑" panose="020B0503020204020204" pitchFamily="34" charset="-122"/>
              </a:rPr>
              <a:t>面向 </a:t>
            </a:r>
            <a:r>
              <a:rPr lang="en-US" altLang="zh-CN" sz="1600" dirty="0">
                <a:solidFill>
                  <a:srgbClr val="000000"/>
                </a:solidFill>
                <a:latin typeface="微软雅黑" panose="020B0503020204020204" pitchFamily="34" charset="-122"/>
              </a:rPr>
              <a:t>71 </a:t>
            </a:r>
            <a:r>
              <a:rPr lang="zh-CN" altLang="en-US" sz="1600" dirty="0">
                <a:solidFill>
                  <a:srgbClr val="000000"/>
                </a:solidFill>
                <a:latin typeface="微软雅黑" panose="020B0503020204020204" pitchFamily="34" charset="-122"/>
              </a:rPr>
              <a:t>台电机开展状态监测，包括 </a:t>
            </a:r>
            <a:r>
              <a:rPr lang="en-US" altLang="zh-CN" sz="1600" dirty="0">
                <a:solidFill>
                  <a:srgbClr val="000000"/>
                </a:solidFill>
                <a:latin typeface="微软雅黑" panose="020B0503020204020204" pitchFamily="34" charset="-122"/>
              </a:rPr>
              <a:t>24 </a:t>
            </a:r>
            <a:r>
              <a:rPr lang="zh-CN" altLang="en-US" sz="1600" dirty="0">
                <a:solidFill>
                  <a:srgbClr val="000000"/>
                </a:solidFill>
                <a:latin typeface="微软雅黑" panose="020B0503020204020204" pitchFamily="34" charset="-122"/>
              </a:rPr>
              <a:t>台张力辊电机和 </a:t>
            </a:r>
            <a:r>
              <a:rPr lang="en-US" altLang="zh-CN" sz="1600" dirty="0">
                <a:solidFill>
                  <a:srgbClr val="000000"/>
                </a:solidFill>
                <a:latin typeface="微软雅黑" panose="020B0503020204020204" pitchFamily="34" charset="-122"/>
              </a:rPr>
              <a:t>47 </a:t>
            </a:r>
            <a:r>
              <a:rPr lang="zh-CN" altLang="en-US" sz="1600" dirty="0">
                <a:solidFill>
                  <a:srgbClr val="000000"/>
                </a:solidFill>
                <a:latin typeface="微软雅黑" panose="020B0503020204020204" pitchFamily="34" charset="-122"/>
              </a:rPr>
              <a:t>台炉辊电机。</a:t>
            </a:r>
          </a:p>
          <a:p>
            <a:pPr>
              <a:lnSpc>
                <a:spcPct val="150000"/>
              </a:lnSpc>
            </a:pPr>
            <a:r>
              <a:rPr lang="zh-CN" altLang="en-US" sz="1600" dirty="0">
                <a:solidFill>
                  <a:srgbClr val="000000"/>
                </a:solidFill>
                <a:latin typeface="微软雅黑" panose="020B0503020204020204" pitchFamily="34" charset="-122"/>
              </a:rPr>
              <a:t>结合张力辊打滑与过程劣化趋势分析，及时识别异常并提供预警。</a:t>
            </a:r>
          </a:p>
        </p:txBody>
      </p:sp>
      <p:sp>
        <p:nvSpPr>
          <p:cNvPr id="64" name="矩形: 圆角 63">
            <a:extLst>
              <a:ext uri="{FF2B5EF4-FFF2-40B4-BE49-F238E27FC236}">
                <a16:creationId xmlns:a16="http://schemas.microsoft.com/office/drawing/2014/main" id="{68790D53-CE4F-B787-4602-2DCEA3A1B638}"/>
              </a:ext>
            </a:extLst>
          </p:cNvPr>
          <p:cNvSpPr>
            <a:spLocks/>
          </p:cNvSpPr>
          <p:nvPr/>
        </p:nvSpPr>
        <p:spPr>
          <a:xfrm>
            <a:off x="342900" y="4504978"/>
            <a:ext cx="7581900" cy="1832322"/>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5" name="矩形 64">
            <a:extLst>
              <a:ext uri="{FF2B5EF4-FFF2-40B4-BE49-F238E27FC236}">
                <a16:creationId xmlns:a16="http://schemas.microsoft.com/office/drawing/2014/main" id="{AC125F3E-72D9-DE0D-D110-4C814EC51775}"/>
              </a:ext>
            </a:extLst>
          </p:cNvPr>
          <p:cNvSpPr>
            <a:spLocks/>
          </p:cNvSpPr>
          <p:nvPr/>
        </p:nvSpPr>
        <p:spPr>
          <a:xfrm>
            <a:off x="482599" y="4299855"/>
            <a:ext cx="17526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6" name="文本框 65">
            <a:extLst>
              <a:ext uri="{FF2B5EF4-FFF2-40B4-BE49-F238E27FC236}">
                <a16:creationId xmlns:a16="http://schemas.microsoft.com/office/drawing/2014/main" id="{CE76850A-3A99-2517-278D-1D576158CF02}"/>
              </a:ext>
            </a:extLst>
          </p:cNvPr>
          <p:cNvSpPr txBox="1">
            <a:spLocks/>
          </p:cNvSpPr>
          <p:nvPr/>
        </p:nvSpPr>
        <p:spPr>
          <a:xfrm>
            <a:off x="508000" y="4376055"/>
            <a:ext cx="23241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CONDITIONS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67" name="文本框 66">
            <a:extLst>
              <a:ext uri="{FF2B5EF4-FFF2-40B4-BE49-F238E27FC236}">
                <a16:creationId xmlns:a16="http://schemas.microsoft.com/office/drawing/2014/main" id="{14056AE9-0F63-4EDC-7C35-AD6124793318}"/>
              </a:ext>
            </a:extLst>
          </p:cNvPr>
          <p:cNvSpPr txBox="1">
            <a:spLocks/>
          </p:cNvSpPr>
          <p:nvPr/>
        </p:nvSpPr>
        <p:spPr>
          <a:xfrm>
            <a:off x="508000" y="4325255"/>
            <a:ext cx="17526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实施条件</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68" name="文本框 67">
            <a:extLst>
              <a:ext uri="{FF2B5EF4-FFF2-40B4-BE49-F238E27FC236}">
                <a16:creationId xmlns:a16="http://schemas.microsoft.com/office/drawing/2014/main" id="{FFC654CF-F259-C365-D1CF-976B75F2319F}"/>
              </a:ext>
            </a:extLst>
          </p:cNvPr>
          <p:cNvSpPr txBox="1"/>
          <p:nvPr/>
        </p:nvSpPr>
        <p:spPr>
          <a:xfrm>
            <a:off x="578761" y="4841398"/>
            <a:ext cx="7086600" cy="1116411"/>
          </a:xfrm>
          <a:prstGeom prst="rect">
            <a:avLst/>
          </a:prstGeom>
          <a:noFill/>
        </p:spPr>
        <p:txBody>
          <a:bodyPr vert="horz" wrap="square" lIns="0" tIns="0" rIns="0" bIns="0" rtlCol="0">
            <a:noAutofit/>
          </a:bodyPr>
          <a:lstStyle/>
          <a:p>
            <a:pPr>
              <a:lnSpc>
                <a:spcPct val="150000"/>
              </a:lnSpc>
            </a:pPr>
            <a:r>
              <a:rPr lang="zh-CN" altLang="en-US" sz="1500" dirty="0">
                <a:solidFill>
                  <a:srgbClr val="000000"/>
                </a:solidFill>
                <a:latin typeface="微软雅黑" panose="020B0503020204020204" pitchFamily="34" charset="-122"/>
              </a:rPr>
              <a:t>现有信号：主要利用电流负荷率、转速及生产工艺参数。</a:t>
            </a:r>
          </a:p>
          <a:p>
            <a:pPr>
              <a:lnSpc>
                <a:spcPct val="150000"/>
              </a:lnSpc>
            </a:pPr>
            <a:r>
              <a:rPr lang="zh-CN" altLang="en-US" sz="1500" dirty="0">
                <a:solidFill>
                  <a:srgbClr val="000000"/>
                </a:solidFill>
                <a:latin typeface="微软雅黑" panose="020B0503020204020204" pitchFamily="34" charset="-122"/>
              </a:rPr>
              <a:t>采样受限：张力辊电机 </a:t>
            </a:r>
            <a:r>
              <a:rPr lang="en-US" altLang="zh-CN" sz="1500" dirty="0">
                <a:solidFill>
                  <a:srgbClr val="000000"/>
                </a:solidFill>
                <a:latin typeface="微软雅黑" panose="020B0503020204020204" pitchFamily="34" charset="-122"/>
              </a:rPr>
              <a:t>20 Hz</a:t>
            </a:r>
            <a:r>
              <a:rPr lang="zh-CN" altLang="en-US" sz="1500" dirty="0">
                <a:solidFill>
                  <a:srgbClr val="000000"/>
                </a:solidFill>
                <a:latin typeface="微软雅黑" panose="020B0503020204020204" pitchFamily="34" charset="-122"/>
              </a:rPr>
              <a:t>，炉辊电机 </a:t>
            </a:r>
            <a:r>
              <a:rPr lang="en-US" altLang="zh-CN" sz="1500" dirty="0">
                <a:solidFill>
                  <a:srgbClr val="000000"/>
                </a:solidFill>
                <a:latin typeface="微软雅黑" panose="020B0503020204020204" pitchFamily="34" charset="-122"/>
              </a:rPr>
              <a:t>10 Hz</a:t>
            </a:r>
            <a:r>
              <a:rPr lang="zh-CN" altLang="en-US" sz="1500" dirty="0">
                <a:solidFill>
                  <a:srgbClr val="000000"/>
                </a:solidFill>
                <a:latin typeface="微软雅黑" panose="020B0503020204020204" pitchFamily="34" charset="-122"/>
              </a:rPr>
              <a:t>。</a:t>
            </a:r>
          </a:p>
          <a:p>
            <a:pPr>
              <a:lnSpc>
                <a:spcPct val="150000"/>
              </a:lnSpc>
            </a:pPr>
            <a:r>
              <a:rPr lang="zh-CN" altLang="en-US" sz="1500" dirty="0">
                <a:solidFill>
                  <a:srgbClr val="000000"/>
                </a:solidFill>
                <a:latin typeface="微软雅黑" panose="020B0503020204020204" pitchFamily="34" charset="-122"/>
              </a:rPr>
              <a:t>故障稀缺：仅有一次 </a:t>
            </a:r>
            <a:r>
              <a:rPr lang="en-US" altLang="zh-CN" sz="1500" dirty="0">
                <a:solidFill>
                  <a:srgbClr val="000000"/>
                </a:solidFill>
                <a:latin typeface="微软雅黑" panose="020B0503020204020204" pitchFamily="34" charset="-122"/>
              </a:rPr>
              <a:t>5# </a:t>
            </a:r>
            <a:r>
              <a:rPr lang="zh-CN" altLang="en-US" sz="1500" dirty="0">
                <a:solidFill>
                  <a:srgbClr val="000000"/>
                </a:solidFill>
                <a:latin typeface="微软雅黑" panose="020B0503020204020204" pitchFamily="34" charset="-122"/>
              </a:rPr>
              <a:t>炉辊电机故障记录。</a:t>
            </a:r>
            <a:endParaRPr lang="en-US" altLang="zh-CN" sz="1500" dirty="0">
              <a:solidFill>
                <a:srgbClr val="000000"/>
              </a:solidFill>
              <a:latin typeface="微软雅黑" panose="020B0503020204020204" pitchFamily="34" charset="-122"/>
            </a:endParaRPr>
          </a:p>
          <a:p>
            <a:pPr>
              <a:lnSpc>
                <a:spcPct val="150000"/>
              </a:lnSpc>
            </a:pPr>
            <a:r>
              <a:rPr lang="zh-CN" altLang="en-US" sz="1500" dirty="0">
                <a:solidFill>
                  <a:srgbClr val="000000"/>
                </a:solidFill>
                <a:latin typeface="微软雅黑" panose="020B0503020204020204" pitchFamily="34" charset="-122"/>
              </a:rPr>
              <a:t>工况复杂：工艺参数不同，电机负荷率也会变化</a:t>
            </a:r>
          </a:p>
        </p:txBody>
      </p:sp>
    </p:spTree>
    <p:extLst>
      <p:ext uri="{BB962C8B-B14F-4D97-AF65-F5344CB8AC3E}">
        <p14:creationId xmlns:p14="http://schemas.microsoft.com/office/powerpoint/2010/main" val="1828046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15FB-F217-2FA8-CB46-59FB4E9A282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0BBC580-D7C0-0868-385B-DE40C65A744E}"/>
              </a:ext>
            </a:extLst>
          </p:cNvPr>
          <p:cNvSpPr txBox="1"/>
          <p:nvPr/>
        </p:nvSpPr>
        <p:spPr>
          <a:xfrm>
            <a:off x="86140" y="846306"/>
            <a:ext cx="11911467" cy="462280"/>
          </a:xfrm>
          <a:prstGeom prst="rect">
            <a:avLst/>
          </a:prstGeom>
          <a:noFill/>
        </p:spPr>
        <p:txBody>
          <a:bodyPr wrap="square" rtlCol="0">
            <a:spAutoFit/>
          </a:bodyPr>
          <a:lstStyle/>
          <a:p>
            <a:pPr marL="323850"/>
            <a:r>
              <a:rPr lang="zh-CN" altLang="en-US" sz="2400" b="1" spc="-150">
                <a:solidFill>
                  <a:schemeClr val="bg1"/>
                </a:solidFill>
                <a:latin typeface="汉仪文润宋韵 U" pitchFamily="2" charset="-122"/>
                <a:ea typeface="汉仪文润宋韵 U" pitchFamily="2" charset="-122"/>
              </a:rPr>
              <a:t>融合时域与频域方法，实现电机状态监测与故障预警</a:t>
            </a:r>
            <a:endParaRPr lang="zh-CN" altLang="en-US" sz="2400" b="1" spc="-150"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1A0D70E1-F9DA-DE0F-857F-76F49825AF12}"/>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E588FCB4-8446-FA64-D318-94CD6DFE3AF0}"/>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9D607D7-4EDA-A462-D135-674D780D09DE}"/>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sp>
        <p:nvSpPr>
          <p:cNvPr id="36" name="矩形: 圆角 35">
            <a:extLst>
              <a:ext uri="{FF2B5EF4-FFF2-40B4-BE49-F238E27FC236}">
                <a16:creationId xmlns:a16="http://schemas.microsoft.com/office/drawing/2014/main" id="{6A12FA93-10E2-04CE-72CA-E08F13249E79}"/>
              </a:ext>
            </a:extLst>
          </p:cNvPr>
          <p:cNvSpPr>
            <a:spLocks/>
          </p:cNvSpPr>
          <p:nvPr/>
        </p:nvSpPr>
        <p:spPr>
          <a:xfrm>
            <a:off x="342900" y="1866900"/>
            <a:ext cx="6451600" cy="36195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矩形 36">
            <a:extLst>
              <a:ext uri="{FF2B5EF4-FFF2-40B4-BE49-F238E27FC236}">
                <a16:creationId xmlns:a16="http://schemas.microsoft.com/office/drawing/2014/main" id="{CFE34824-EDA6-3717-65A2-C3605AD7023A}"/>
              </a:ext>
            </a:extLst>
          </p:cNvPr>
          <p:cNvSpPr>
            <a:spLocks/>
          </p:cNvSpPr>
          <p:nvPr/>
        </p:nvSpPr>
        <p:spPr>
          <a:xfrm>
            <a:off x="482599" y="1612900"/>
            <a:ext cx="19050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8" name="文本框 37">
            <a:extLst>
              <a:ext uri="{FF2B5EF4-FFF2-40B4-BE49-F238E27FC236}">
                <a16:creationId xmlns:a16="http://schemas.microsoft.com/office/drawing/2014/main" id="{B2CD5DE5-4CB3-883C-0501-55FA31E4FA2F}"/>
              </a:ext>
            </a:extLst>
          </p:cNvPr>
          <p:cNvSpPr txBox="1">
            <a:spLocks/>
          </p:cNvSpPr>
          <p:nvPr/>
        </p:nvSpPr>
        <p:spPr>
          <a:xfrm>
            <a:off x="508000" y="1689100"/>
            <a:ext cx="24765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IMPLEMENTATION</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9" name="文本框 38">
            <a:extLst>
              <a:ext uri="{FF2B5EF4-FFF2-40B4-BE49-F238E27FC236}">
                <a16:creationId xmlns:a16="http://schemas.microsoft.com/office/drawing/2014/main" id="{8B11164D-4319-72E5-C8D1-FB2974535D48}"/>
              </a:ext>
            </a:extLst>
          </p:cNvPr>
          <p:cNvSpPr txBox="1">
            <a:spLocks/>
          </p:cNvSpPr>
          <p:nvPr/>
        </p:nvSpPr>
        <p:spPr>
          <a:xfrm>
            <a:off x="508000" y="1638300"/>
            <a:ext cx="19050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监控系统</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pic>
        <p:nvPicPr>
          <p:cNvPr id="35" name="图片 34">
            <a:extLst>
              <a:ext uri="{FF2B5EF4-FFF2-40B4-BE49-F238E27FC236}">
                <a16:creationId xmlns:a16="http://schemas.microsoft.com/office/drawing/2014/main" id="{108E8862-1AF0-D196-CF6A-BCF6C60ECC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00" y="2252224"/>
            <a:ext cx="6121400" cy="3099847"/>
          </a:xfrm>
          <a:prstGeom prst="rect">
            <a:avLst/>
          </a:prstGeom>
        </p:spPr>
      </p:pic>
      <p:sp>
        <p:nvSpPr>
          <p:cNvPr id="40" name="矩形: 圆角 39">
            <a:extLst>
              <a:ext uri="{FF2B5EF4-FFF2-40B4-BE49-F238E27FC236}">
                <a16:creationId xmlns:a16="http://schemas.microsoft.com/office/drawing/2014/main" id="{3592E768-04F0-E91F-1026-8DE8E3A59CB8}"/>
              </a:ext>
            </a:extLst>
          </p:cNvPr>
          <p:cNvSpPr>
            <a:spLocks/>
          </p:cNvSpPr>
          <p:nvPr/>
        </p:nvSpPr>
        <p:spPr>
          <a:xfrm>
            <a:off x="7010400" y="1866900"/>
            <a:ext cx="4838700" cy="36195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1" name="矩形 40">
            <a:extLst>
              <a:ext uri="{FF2B5EF4-FFF2-40B4-BE49-F238E27FC236}">
                <a16:creationId xmlns:a16="http://schemas.microsoft.com/office/drawing/2014/main" id="{4F88F89B-FCC3-FE13-A258-004BDEBE01CC}"/>
              </a:ext>
            </a:extLst>
          </p:cNvPr>
          <p:cNvSpPr>
            <a:spLocks/>
          </p:cNvSpPr>
          <p:nvPr/>
        </p:nvSpPr>
        <p:spPr>
          <a:xfrm>
            <a:off x="7150099" y="1612900"/>
            <a:ext cx="1816100" cy="3937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2" name="文本框 41">
            <a:extLst>
              <a:ext uri="{FF2B5EF4-FFF2-40B4-BE49-F238E27FC236}">
                <a16:creationId xmlns:a16="http://schemas.microsoft.com/office/drawing/2014/main" id="{CA4C58CD-0129-38BD-6CA7-E458632DDA7E}"/>
              </a:ext>
            </a:extLst>
          </p:cNvPr>
          <p:cNvSpPr txBox="1">
            <a:spLocks/>
          </p:cNvSpPr>
          <p:nvPr/>
        </p:nvSpPr>
        <p:spPr>
          <a:xfrm>
            <a:off x="7175500" y="1689100"/>
            <a:ext cx="2387600" cy="381000"/>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METHODS</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3" name="文本框 42">
            <a:extLst>
              <a:ext uri="{FF2B5EF4-FFF2-40B4-BE49-F238E27FC236}">
                <a16:creationId xmlns:a16="http://schemas.microsoft.com/office/drawing/2014/main" id="{B3B2924C-8844-A544-51A9-6A583FC4B58C}"/>
              </a:ext>
            </a:extLst>
          </p:cNvPr>
          <p:cNvSpPr txBox="1">
            <a:spLocks/>
          </p:cNvSpPr>
          <p:nvPr/>
        </p:nvSpPr>
        <p:spPr>
          <a:xfrm>
            <a:off x="7175500" y="1638300"/>
            <a:ext cx="1816100" cy="36830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方法开发</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44" name="文本框 43">
            <a:extLst>
              <a:ext uri="{FF2B5EF4-FFF2-40B4-BE49-F238E27FC236}">
                <a16:creationId xmlns:a16="http://schemas.microsoft.com/office/drawing/2014/main" id="{C9FC521F-F165-D098-40C6-194CC8DBB7DF}"/>
              </a:ext>
            </a:extLst>
          </p:cNvPr>
          <p:cNvSpPr txBox="1"/>
          <p:nvPr/>
        </p:nvSpPr>
        <p:spPr>
          <a:xfrm>
            <a:off x="7239000" y="2171700"/>
            <a:ext cx="4330700" cy="276999"/>
          </a:xfrm>
          <a:prstGeom prst="rect">
            <a:avLst/>
          </a:prstGeom>
          <a:noFill/>
        </p:spPr>
        <p:txBody>
          <a:bodyPr vert="horz" wrap="square" lIns="0" tIns="0" rIns="0" bIns="0" rtlCol="0">
            <a:noAutofit/>
          </a:bodyPr>
          <a:lstStyle/>
          <a:p>
            <a:r>
              <a:rPr lang="zh-CN" altLang="en-US" sz="1600" dirty="0">
                <a:solidFill>
                  <a:srgbClr val="2F5597"/>
                </a:solidFill>
                <a:latin typeface="微软雅黑" panose="020B0503020204020204" pitchFamily="34" charset="-122"/>
              </a:rPr>
              <a:t>时域分析：识别偏离正常工况的变化</a:t>
            </a:r>
          </a:p>
        </p:txBody>
      </p:sp>
      <p:sp>
        <p:nvSpPr>
          <p:cNvPr id="45" name="文本框 44">
            <a:extLst>
              <a:ext uri="{FF2B5EF4-FFF2-40B4-BE49-F238E27FC236}">
                <a16:creationId xmlns:a16="http://schemas.microsoft.com/office/drawing/2014/main" id="{53FC1A5A-8C5A-98FD-362B-E1410FF53599}"/>
              </a:ext>
            </a:extLst>
          </p:cNvPr>
          <p:cNvSpPr txBox="1"/>
          <p:nvPr/>
        </p:nvSpPr>
        <p:spPr>
          <a:xfrm>
            <a:off x="7239000" y="2565399"/>
            <a:ext cx="43307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按工况建立动态阈值，利用提升树预测</a:t>
            </a:r>
          </a:p>
          <a:p>
            <a:r>
              <a:rPr lang="zh-CN" altLang="en-US" sz="1400" dirty="0">
                <a:solidFill>
                  <a:srgbClr val="000000"/>
                </a:solidFill>
                <a:latin typeface="微软雅黑" panose="020B0503020204020204" pitchFamily="34" charset="-122"/>
              </a:rPr>
              <a:t>负荷率，结合统计特征与预测残差诊断异常。</a:t>
            </a:r>
          </a:p>
        </p:txBody>
      </p:sp>
      <p:cxnSp>
        <p:nvCxnSpPr>
          <p:cNvPr id="46" name="直接连接符 45">
            <a:extLst>
              <a:ext uri="{FF2B5EF4-FFF2-40B4-BE49-F238E27FC236}">
                <a16:creationId xmlns:a16="http://schemas.microsoft.com/office/drawing/2014/main" id="{DD96C85E-DEE9-70DB-7F92-D64AE108114B}"/>
              </a:ext>
            </a:extLst>
          </p:cNvPr>
          <p:cNvCxnSpPr>
            <a:cxnSpLocks/>
          </p:cNvCxnSpPr>
          <p:nvPr/>
        </p:nvCxnSpPr>
        <p:spPr>
          <a:xfrm>
            <a:off x="7239000" y="3225800"/>
            <a:ext cx="4343400" cy="0"/>
          </a:xfrm>
          <a:prstGeom prst="line">
            <a:avLst/>
          </a:prstGeom>
          <a:noFill/>
          <a:ln w="6350" cap="flat" cmpd="sng" algn="ctr">
            <a:solidFill>
              <a:sysClr val="windowText" lastClr="000000"/>
            </a:solidFill>
            <a:prstDash val="lgDashDotDot"/>
            <a:miter lim="800000"/>
          </a:ln>
          <a:effectLst/>
        </p:spPr>
      </p:cxnSp>
      <p:sp>
        <p:nvSpPr>
          <p:cNvPr id="47" name="文本框 46">
            <a:extLst>
              <a:ext uri="{FF2B5EF4-FFF2-40B4-BE49-F238E27FC236}">
                <a16:creationId xmlns:a16="http://schemas.microsoft.com/office/drawing/2014/main" id="{3ACFCDE8-62BF-9910-6C36-A9623F877257}"/>
              </a:ext>
            </a:extLst>
          </p:cNvPr>
          <p:cNvSpPr txBox="1"/>
          <p:nvPr/>
        </p:nvSpPr>
        <p:spPr>
          <a:xfrm>
            <a:off x="7239000" y="3365500"/>
            <a:ext cx="4330700" cy="276999"/>
          </a:xfrm>
          <a:prstGeom prst="rect">
            <a:avLst/>
          </a:prstGeom>
          <a:noFill/>
        </p:spPr>
        <p:txBody>
          <a:bodyPr vert="horz" wrap="square" lIns="0" tIns="0" rIns="0" bIns="0" rtlCol="0">
            <a:noAutofit/>
          </a:bodyPr>
          <a:lstStyle/>
          <a:p>
            <a:r>
              <a:rPr lang="zh-CN" altLang="en-US" sz="1600" dirty="0">
                <a:solidFill>
                  <a:srgbClr val="2F5597"/>
                </a:solidFill>
                <a:latin typeface="微软雅黑" panose="020B0503020204020204" pitchFamily="34" charset="-122"/>
              </a:rPr>
              <a:t>频域分析：跟踪特征阶次的变化</a:t>
            </a:r>
          </a:p>
        </p:txBody>
      </p:sp>
      <p:sp>
        <p:nvSpPr>
          <p:cNvPr id="48" name="文本框 47">
            <a:extLst>
              <a:ext uri="{FF2B5EF4-FFF2-40B4-BE49-F238E27FC236}">
                <a16:creationId xmlns:a16="http://schemas.microsoft.com/office/drawing/2014/main" id="{FF380EEC-2EB3-71F2-A81E-DF617E6D61B3}"/>
              </a:ext>
            </a:extLst>
          </p:cNvPr>
          <p:cNvSpPr txBox="1"/>
          <p:nvPr/>
        </p:nvSpPr>
        <p:spPr>
          <a:xfrm>
            <a:off x="7239000" y="3746499"/>
            <a:ext cx="43307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等角度重采样，减小转速变化的影响。</a:t>
            </a:r>
          </a:p>
          <a:p>
            <a:r>
              <a:rPr lang="zh-CN" altLang="en-US" sz="1400" dirty="0">
                <a:solidFill>
                  <a:srgbClr val="000000"/>
                </a:solidFill>
                <a:latin typeface="微软雅黑" panose="020B0503020204020204" pitchFamily="34" charset="-122"/>
              </a:rPr>
              <a:t>通过短时傅里叶变换提取并跟踪特征阶次。</a:t>
            </a:r>
          </a:p>
        </p:txBody>
      </p:sp>
      <p:cxnSp>
        <p:nvCxnSpPr>
          <p:cNvPr id="52" name="直接连接符 51">
            <a:extLst>
              <a:ext uri="{FF2B5EF4-FFF2-40B4-BE49-F238E27FC236}">
                <a16:creationId xmlns:a16="http://schemas.microsoft.com/office/drawing/2014/main" id="{FF3F3BBB-5586-EE94-8F3A-A39BABFC09E7}"/>
              </a:ext>
            </a:extLst>
          </p:cNvPr>
          <p:cNvCxnSpPr>
            <a:cxnSpLocks/>
          </p:cNvCxnSpPr>
          <p:nvPr/>
        </p:nvCxnSpPr>
        <p:spPr>
          <a:xfrm>
            <a:off x="7239000" y="4419600"/>
            <a:ext cx="4343400" cy="0"/>
          </a:xfrm>
          <a:prstGeom prst="line">
            <a:avLst/>
          </a:prstGeom>
          <a:noFill/>
          <a:ln w="6350" cap="flat" cmpd="sng" algn="ctr">
            <a:solidFill>
              <a:sysClr val="windowText" lastClr="000000"/>
            </a:solidFill>
            <a:prstDash val="lgDashDotDot"/>
            <a:miter lim="800000"/>
          </a:ln>
          <a:effectLst/>
        </p:spPr>
      </p:cxnSp>
      <p:sp>
        <p:nvSpPr>
          <p:cNvPr id="53" name="文本框 52">
            <a:extLst>
              <a:ext uri="{FF2B5EF4-FFF2-40B4-BE49-F238E27FC236}">
                <a16:creationId xmlns:a16="http://schemas.microsoft.com/office/drawing/2014/main" id="{C48C1ACA-1ACD-8AF6-C173-DD0F7920192F}"/>
              </a:ext>
            </a:extLst>
          </p:cNvPr>
          <p:cNvSpPr txBox="1"/>
          <p:nvPr/>
        </p:nvSpPr>
        <p:spPr>
          <a:xfrm>
            <a:off x="7239000" y="4559300"/>
            <a:ext cx="4330700" cy="276999"/>
          </a:xfrm>
          <a:prstGeom prst="rect">
            <a:avLst/>
          </a:prstGeom>
          <a:noFill/>
        </p:spPr>
        <p:txBody>
          <a:bodyPr vert="horz" wrap="square" lIns="0" tIns="0" rIns="0" bIns="0" rtlCol="0">
            <a:noAutofit/>
          </a:bodyPr>
          <a:lstStyle/>
          <a:p>
            <a:r>
              <a:rPr lang="zh-CN" altLang="en-US" sz="1600" dirty="0">
                <a:solidFill>
                  <a:srgbClr val="2F5597"/>
                </a:solidFill>
                <a:latin typeface="微软雅黑" panose="020B0503020204020204" pitchFamily="34" charset="-122"/>
              </a:rPr>
              <a:t>融合决策：汇总多种方法的判断</a:t>
            </a:r>
          </a:p>
        </p:txBody>
      </p:sp>
      <p:sp>
        <p:nvSpPr>
          <p:cNvPr id="54" name="文本框 53">
            <a:extLst>
              <a:ext uri="{FF2B5EF4-FFF2-40B4-BE49-F238E27FC236}">
                <a16:creationId xmlns:a16="http://schemas.microsoft.com/office/drawing/2014/main" id="{726BE5EA-64DA-3DDF-FBC1-DD766191CED6}"/>
              </a:ext>
            </a:extLst>
          </p:cNvPr>
          <p:cNvSpPr txBox="1"/>
          <p:nvPr/>
        </p:nvSpPr>
        <p:spPr>
          <a:xfrm>
            <a:off x="7239000" y="4940299"/>
            <a:ext cx="4330700" cy="464820"/>
          </a:xfrm>
          <a:prstGeom prst="rect">
            <a:avLst/>
          </a:prstGeom>
          <a:noFill/>
        </p:spPr>
        <p:txBody>
          <a:bodyPr vert="horz" wrap="square" lIns="0" tIns="0" rIns="0" bIns="0" rtlCol="0">
            <a:noAutofit/>
          </a:bodyPr>
          <a:lstStyle/>
          <a:p>
            <a:r>
              <a:rPr lang="zh-CN" altLang="en-US" sz="1400" dirty="0">
                <a:solidFill>
                  <a:srgbClr val="000000"/>
                </a:solidFill>
                <a:latin typeface="微软雅黑" panose="020B0503020204020204" pitchFamily="34" charset="-122"/>
              </a:rPr>
              <a:t>采用 </a:t>
            </a:r>
            <a:r>
              <a:rPr lang="en-US" altLang="zh-CN" sz="1400" dirty="0">
                <a:solidFill>
                  <a:srgbClr val="000000"/>
                </a:solidFill>
                <a:latin typeface="微软雅黑" panose="020B0503020204020204" pitchFamily="34" charset="-122"/>
              </a:rPr>
              <a:t>DS </a:t>
            </a:r>
            <a:r>
              <a:rPr lang="zh-CN" altLang="en-US" sz="1400" dirty="0">
                <a:solidFill>
                  <a:srgbClr val="000000"/>
                </a:solidFill>
                <a:latin typeface="微软雅黑" panose="020B0503020204020204" pitchFamily="34" charset="-122"/>
              </a:rPr>
              <a:t>证据理论融合单项诊断结果，</a:t>
            </a:r>
          </a:p>
          <a:p>
            <a:r>
              <a:rPr lang="zh-CN" altLang="en-US" sz="1400" dirty="0">
                <a:solidFill>
                  <a:srgbClr val="000000"/>
                </a:solidFill>
                <a:latin typeface="微软雅黑" panose="020B0503020204020204" pitchFamily="34" charset="-122"/>
              </a:rPr>
              <a:t>形成设备状态判定与预警响应。</a:t>
            </a:r>
          </a:p>
        </p:txBody>
      </p:sp>
      <p:sp>
        <p:nvSpPr>
          <p:cNvPr id="55" name="文本框 54">
            <a:extLst>
              <a:ext uri="{FF2B5EF4-FFF2-40B4-BE49-F238E27FC236}">
                <a16:creationId xmlns:a16="http://schemas.microsoft.com/office/drawing/2014/main" id="{5DB8DE3F-F9BB-D453-038A-5A234543B71D}"/>
              </a:ext>
            </a:extLst>
          </p:cNvPr>
          <p:cNvSpPr txBox="1"/>
          <p:nvPr/>
        </p:nvSpPr>
        <p:spPr>
          <a:xfrm>
            <a:off x="508000" y="5795314"/>
            <a:ext cx="1270000" cy="276999"/>
          </a:xfrm>
          <a:prstGeom prst="rect">
            <a:avLst/>
          </a:prstGeom>
          <a:noFill/>
        </p:spPr>
        <p:txBody>
          <a:bodyPr vert="horz" wrap="square" lIns="0" tIns="0" rIns="0" bIns="0" rtlCol="0">
            <a:noAutofit/>
          </a:bodyPr>
          <a:lstStyle/>
          <a:p>
            <a:r>
              <a:rPr lang="zh-CN" altLang="en-US" sz="1700" dirty="0">
                <a:solidFill>
                  <a:srgbClr val="2F5597"/>
                </a:solidFill>
                <a:latin typeface="微软雅黑" panose="020B0503020204020204" pitchFamily="34" charset="-122"/>
              </a:rPr>
              <a:t>预警案例：</a:t>
            </a:r>
          </a:p>
        </p:txBody>
      </p:sp>
      <p:sp>
        <p:nvSpPr>
          <p:cNvPr id="56" name="文本框 55">
            <a:extLst>
              <a:ext uri="{FF2B5EF4-FFF2-40B4-BE49-F238E27FC236}">
                <a16:creationId xmlns:a16="http://schemas.microsoft.com/office/drawing/2014/main" id="{1D1C683F-E606-B895-3C79-9A8441326685}"/>
              </a:ext>
            </a:extLst>
          </p:cNvPr>
          <p:cNvSpPr txBox="1"/>
          <p:nvPr/>
        </p:nvSpPr>
        <p:spPr>
          <a:xfrm>
            <a:off x="1601298" y="5820958"/>
            <a:ext cx="9931400" cy="276999"/>
          </a:xfrm>
          <a:prstGeom prst="rect">
            <a:avLst/>
          </a:prstGeom>
          <a:noFill/>
        </p:spPr>
        <p:txBody>
          <a:bodyPr vert="horz" wrap="square" lIns="0" tIns="0" rIns="0" bIns="0" rtlCol="0">
            <a:noAutofit/>
          </a:bodyPr>
          <a:lstStyle/>
          <a:p>
            <a:r>
              <a:rPr lang="en-US" altLang="zh-CN" sz="1500" dirty="0">
                <a:solidFill>
                  <a:srgbClr val="000000"/>
                </a:solidFill>
                <a:latin typeface="微软雅黑" panose="020B0503020204020204" pitchFamily="34" charset="-122"/>
              </a:rPr>
              <a:t>5# </a:t>
            </a:r>
            <a:r>
              <a:rPr lang="zh-CN" altLang="en-US" sz="1500" dirty="0">
                <a:solidFill>
                  <a:srgbClr val="000000"/>
                </a:solidFill>
                <a:latin typeface="微软雅黑" panose="020B0503020204020204" pitchFamily="34" charset="-122"/>
              </a:rPr>
              <a:t>炉辊真实故障案例中，时域提前约 </a:t>
            </a:r>
            <a:r>
              <a:rPr lang="en-US" altLang="zh-CN" sz="1500" dirty="0">
                <a:solidFill>
                  <a:srgbClr val="000000"/>
                </a:solidFill>
                <a:latin typeface="微软雅黑" panose="020B0503020204020204" pitchFamily="34" charset="-122"/>
              </a:rPr>
              <a:t>15 </a:t>
            </a:r>
            <a:r>
              <a:rPr lang="zh-CN" altLang="en-US" sz="1500" dirty="0">
                <a:solidFill>
                  <a:srgbClr val="000000"/>
                </a:solidFill>
                <a:latin typeface="微软雅黑" panose="020B0503020204020204" pitchFamily="34" charset="-122"/>
              </a:rPr>
              <a:t>分钟、频域提前约 </a:t>
            </a:r>
            <a:r>
              <a:rPr lang="en-US" altLang="zh-CN" sz="1500" dirty="0">
                <a:solidFill>
                  <a:srgbClr val="000000"/>
                </a:solidFill>
                <a:latin typeface="微软雅黑" panose="020B0503020204020204" pitchFamily="34" charset="-122"/>
              </a:rPr>
              <a:t>17 </a:t>
            </a:r>
            <a:r>
              <a:rPr lang="zh-CN" altLang="en-US" sz="1500" dirty="0">
                <a:solidFill>
                  <a:srgbClr val="000000"/>
                </a:solidFill>
                <a:latin typeface="微软雅黑" panose="020B0503020204020204" pitchFamily="34" charset="-122"/>
              </a:rPr>
              <a:t>分钟识别异常。</a:t>
            </a:r>
          </a:p>
        </p:txBody>
      </p:sp>
      <p:sp>
        <p:nvSpPr>
          <p:cNvPr id="57" name="文本框 56">
            <a:extLst>
              <a:ext uri="{FF2B5EF4-FFF2-40B4-BE49-F238E27FC236}">
                <a16:creationId xmlns:a16="http://schemas.microsoft.com/office/drawing/2014/main" id="{452B0F62-506D-B4A4-C2BF-4AB5B7A58751}"/>
              </a:ext>
            </a:extLst>
          </p:cNvPr>
          <p:cNvSpPr txBox="1"/>
          <p:nvPr/>
        </p:nvSpPr>
        <p:spPr>
          <a:xfrm>
            <a:off x="495300" y="6184900"/>
            <a:ext cx="11277600" cy="276999"/>
          </a:xfrm>
          <a:prstGeom prst="rect">
            <a:avLst/>
          </a:prstGeom>
          <a:noFill/>
        </p:spPr>
        <p:txBody>
          <a:bodyPr vert="horz" wrap="square" lIns="0" tIns="0" rIns="0" bIns="0" rtlCol="0">
            <a:noAutofit/>
          </a:bodyPr>
          <a:lstStyle/>
          <a:p>
            <a:r>
              <a:rPr lang="zh-CN" altLang="en-US" sz="1700" dirty="0">
                <a:solidFill>
                  <a:srgbClr val="2F5597"/>
                </a:solidFill>
                <a:latin typeface="微软雅黑" panose="020B0503020204020204" pitchFamily="34" charset="-122"/>
              </a:rPr>
              <a:t>工程认识：故障样本稀少、采样受限时，仍需利用非完备运行数据开展异常监测。</a:t>
            </a:r>
          </a:p>
        </p:txBody>
      </p:sp>
    </p:spTree>
    <p:extLst>
      <p:ext uri="{BB962C8B-B14F-4D97-AF65-F5344CB8AC3E}">
        <p14:creationId xmlns:p14="http://schemas.microsoft.com/office/powerpoint/2010/main" val="692951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DAD91-6963-0ACD-504A-CCFB82DC31AF}"/>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56EBCD8-B0AC-C6B8-55A3-6AC19F6A9AE5}"/>
              </a:ext>
            </a:extLst>
          </p:cNvPr>
          <p:cNvSpPr txBox="1"/>
          <p:nvPr/>
        </p:nvSpPr>
        <p:spPr>
          <a:xfrm>
            <a:off x="86140" y="846307"/>
            <a:ext cx="11911467" cy="461665"/>
          </a:xfrm>
          <a:prstGeom prst="rect">
            <a:avLst/>
          </a:prstGeom>
          <a:noFill/>
        </p:spPr>
        <p:txBody>
          <a:bodyPr wrap="square" rtlCol="0">
            <a:spAutoFit/>
          </a:bodyPr>
          <a:lstStyle/>
          <a:p>
            <a:pPr marL="323850"/>
            <a:r>
              <a:rPr lang="en-US" altLang="zh-CN" sz="2400" b="1" u="sng" dirty="0" err="1">
                <a:solidFill>
                  <a:schemeClr val="bg1"/>
                </a:solidFill>
                <a:latin typeface="汉仪文润宋韵 U" pitchFamily="2" charset="-122"/>
                <a:ea typeface="汉仪文润宋韵 U" pitchFamily="2" charset="-122"/>
              </a:rPr>
              <a:t>weibull.work</a:t>
            </a:r>
            <a:r>
              <a:rPr lang="en-US" altLang="zh-CN" sz="2400" b="1" u="sng" dirty="0">
                <a:solidFill>
                  <a:schemeClr val="bg1"/>
                </a:solidFill>
                <a:latin typeface="汉仪文润宋韵 U" pitchFamily="2" charset="-122"/>
                <a:ea typeface="汉仪文润宋韵 U" pitchFamily="2" charset="-122"/>
              </a:rPr>
              <a:t> </a:t>
            </a:r>
            <a:r>
              <a:rPr lang="zh-CN" altLang="en-US" sz="2400" b="1" dirty="0">
                <a:solidFill>
                  <a:schemeClr val="bg1"/>
                </a:solidFill>
                <a:latin typeface="汉仪文润宋韵 U" pitchFamily="2" charset="-122"/>
                <a:ea typeface="汉仪文润宋韵 U" pitchFamily="2" charset="-122"/>
              </a:rPr>
              <a:t>软件界面展示</a:t>
            </a:r>
          </a:p>
        </p:txBody>
      </p:sp>
      <p:sp>
        <p:nvSpPr>
          <p:cNvPr id="49" name="文本框 48">
            <a:extLst>
              <a:ext uri="{FF2B5EF4-FFF2-40B4-BE49-F238E27FC236}">
                <a16:creationId xmlns:a16="http://schemas.microsoft.com/office/drawing/2014/main" id="{F3D225B0-9BB0-DD04-8BB3-D73A0668D117}"/>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FB577FE3-BE24-AC10-3D74-FF085D3300CF}"/>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25BB64B-CA5E-2AA4-E74A-B8FCD68FEF89}"/>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pic>
        <p:nvPicPr>
          <p:cNvPr id="2" name="图片 1">
            <a:extLst>
              <a:ext uri="{FF2B5EF4-FFF2-40B4-BE49-F238E27FC236}">
                <a16:creationId xmlns:a16="http://schemas.microsoft.com/office/drawing/2014/main" id="{EC71AA36-1276-042E-9D61-79D61C56F363}"/>
              </a:ext>
            </a:extLst>
          </p:cNvPr>
          <p:cNvPicPr>
            <a:picLocks noChangeAspect="1"/>
          </p:cNvPicPr>
          <p:nvPr/>
        </p:nvPicPr>
        <p:blipFill>
          <a:blip r:embed="rId3"/>
          <a:srcRect b="41426"/>
          <a:stretch>
            <a:fillRect/>
          </a:stretch>
        </p:blipFill>
        <p:spPr>
          <a:xfrm>
            <a:off x="326379" y="1590951"/>
            <a:ext cx="11408422" cy="3971476"/>
          </a:xfrm>
          <a:prstGeom prst="rect">
            <a:avLst/>
          </a:prstGeom>
        </p:spPr>
      </p:pic>
    </p:spTree>
    <p:extLst>
      <p:ext uri="{BB962C8B-B14F-4D97-AF65-F5344CB8AC3E}">
        <p14:creationId xmlns:p14="http://schemas.microsoft.com/office/powerpoint/2010/main" val="2047663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5334-0F83-86EE-6316-560564B1AB0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1994F9F-2CEB-5254-BEFB-A1E2D1C6EBE5}"/>
              </a:ext>
            </a:extLst>
          </p:cNvPr>
          <p:cNvSpPr txBox="1"/>
          <p:nvPr/>
        </p:nvSpPr>
        <p:spPr>
          <a:xfrm>
            <a:off x="86140" y="846306"/>
            <a:ext cx="11911467" cy="462280"/>
          </a:xfrm>
          <a:prstGeom prst="rect">
            <a:avLst/>
          </a:prstGeom>
          <a:noFill/>
        </p:spPr>
        <p:txBody>
          <a:bodyPr wrap="square" rtlCol="0">
            <a:spAutoFit/>
          </a:bodyPr>
          <a:lstStyle/>
          <a:p>
            <a:pPr marL="323850"/>
            <a:r>
              <a:rPr lang="en-US" altLang="zh-CN" sz="2400" b="1" spc="-150">
                <a:solidFill>
                  <a:schemeClr val="bg1"/>
                </a:solidFill>
                <a:latin typeface="汉仪文润宋韵 U" pitchFamily="2" charset="-122"/>
                <a:ea typeface="汉仪文润宋韵 U" pitchFamily="2" charset="-122"/>
              </a:rPr>
              <a:t>weibull.work</a:t>
            </a:r>
            <a:r>
              <a:rPr lang="zh-CN" altLang="en-US" sz="2400" b="1" spc="-150">
                <a:solidFill>
                  <a:schemeClr val="bg1"/>
                </a:solidFill>
                <a:latin typeface="汉仪文润宋韵 U" pitchFamily="2" charset="-122"/>
                <a:ea typeface="汉仪文润宋韵 U" pitchFamily="2" charset="-122"/>
              </a:rPr>
              <a:t>：平台组成、功能与架构</a:t>
            </a:r>
            <a:endParaRPr lang="zh-CN" altLang="en-US" sz="2400" b="1" spc="-150" dirty="0">
              <a:solidFill>
                <a:schemeClr val="bg1"/>
              </a:solidFill>
              <a:latin typeface="汉仪文润宋韵 U" pitchFamily="2" charset="-122"/>
              <a:ea typeface="汉仪文润宋韵 U" pitchFamily="2" charset="-122"/>
            </a:endParaRPr>
          </a:p>
        </p:txBody>
      </p:sp>
      <p:grpSp>
        <p:nvGrpSpPr>
          <p:cNvPr id="342" name="平台组成功能架构图">
            <a:extLst>
              <a:ext uri="{FF2B5EF4-FFF2-40B4-BE49-F238E27FC236}">
                <a16:creationId xmlns:a16="http://schemas.microsoft.com/office/drawing/2014/main" id="{239B8B44-CDEF-3D02-F58D-49D1513A6B87}"/>
              </a:ext>
            </a:extLst>
          </p:cNvPr>
          <p:cNvGrpSpPr/>
          <p:nvPr/>
        </p:nvGrpSpPr>
        <p:grpSpPr>
          <a:xfrm>
            <a:off x="319303" y="1687871"/>
            <a:ext cx="11540728" cy="4602552"/>
            <a:chOff x="319303" y="1687871"/>
            <a:chExt cx="11540728" cy="4602552"/>
          </a:xfrm>
        </p:grpSpPr>
        <p:sp>
          <p:nvSpPr>
            <p:cNvPr id="295" name="region-lib">
              <a:extLst>
                <a:ext uri="{FF2B5EF4-FFF2-40B4-BE49-F238E27FC236}">
                  <a16:creationId xmlns:a16="http://schemas.microsoft.com/office/drawing/2014/main" id="{99E83FB3-02D7-4AB3-7D35-6AEC56A0C010}"/>
                </a:ext>
              </a:extLst>
            </p:cNvPr>
            <p:cNvSpPr/>
            <p:nvPr/>
          </p:nvSpPr>
          <p:spPr>
            <a:xfrm>
              <a:off x="319303" y="1687871"/>
              <a:ext cx="3606477" cy="1614328"/>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6" name="region-lib-label">
              <a:extLst>
                <a:ext uri="{FF2B5EF4-FFF2-40B4-BE49-F238E27FC236}">
                  <a16:creationId xmlns:a16="http://schemas.microsoft.com/office/drawing/2014/main" id="{FA6858FD-09C9-B21B-ED36-9EF6A8F9A062}"/>
                </a:ext>
              </a:extLst>
            </p:cNvPr>
            <p:cNvSpPr txBox="1"/>
            <p:nvPr/>
          </p:nvSpPr>
          <p:spPr>
            <a:xfrm>
              <a:off x="387998" y="1713632"/>
              <a:ext cx="346908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可靠性图书馆</a:t>
              </a:r>
            </a:p>
          </p:txBody>
        </p:sp>
        <p:sp>
          <p:nvSpPr>
            <p:cNvPr id="297" name="region-methods">
              <a:extLst>
                <a:ext uri="{FF2B5EF4-FFF2-40B4-BE49-F238E27FC236}">
                  <a16:creationId xmlns:a16="http://schemas.microsoft.com/office/drawing/2014/main" id="{334C56AE-D084-84B8-DED2-34BAD41BCE4E}"/>
                </a:ext>
              </a:extLst>
            </p:cNvPr>
            <p:cNvSpPr/>
            <p:nvPr/>
          </p:nvSpPr>
          <p:spPr>
            <a:xfrm>
              <a:off x="4286428" y="1687871"/>
              <a:ext cx="3606478" cy="1614328"/>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8" name="region-methods-label">
              <a:extLst>
                <a:ext uri="{FF2B5EF4-FFF2-40B4-BE49-F238E27FC236}">
                  <a16:creationId xmlns:a16="http://schemas.microsoft.com/office/drawing/2014/main" id="{E52699E9-49DE-0D99-21E8-A77C82BCCB44}"/>
                </a:ext>
              </a:extLst>
            </p:cNvPr>
            <p:cNvSpPr txBox="1"/>
            <p:nvPr/>
          </p:nvSpPr>
          <p:spPr>
            <a:xfrm>
              <a:off x="4355123" y="1713632"/>
              <a:ext cx="346908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方法系统</a:t>
              </a:r>
            </a:p>
          </p:txBody>
        </p:sp>
        <p:sp>
          <p:nvSpPr>
            <p:cNvPr id="299" name="region-ai">
              <a:extLst>
                <a:ext uri="{FF2B5EF4-FFF2-40B4-BE49-F238E27FC236}">
                  <a16:creationId xmlns:a16="http://schemas.microsoft.com/office/drawing/2014/main" id="{383A9E60-9EA2-DAB8-53E2-EC17995AC899}"/>
                </a:ext>
              </a:extLst>
            </p:cNvPr>
            <p:cNvSpPr/>
            <p:nvPr/>
          </p:nvSpPr>
          <p:spPr>
            <a:xfrm>
              <a:off x="8253553" y="1687871"/>
              <a:ext cx="3606477" cy="1614328"/>
            </a:xfrm>
            <a:prstGeom prst="roundRect">
              <a:avLst>
                <a:gd name="adj" fmla="val 6000"/>
              </a:avLst>
            </a:prstGeom>
            <a:solidFill>
              <a:srgbClr val="FEFAF0"/>
            </a:solidFill>
            <a:ln w="12700">
              <a:solidFill>
                <a:srgbClr val="E7B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0" name="region-ai-label">
              <a:extLst>
                <a:ext uri="{FF2B5EF4-FFF2-40B4-BE49-F238E27FC236}">
                  <a16:creationId xmlns:a16="http://schemas.microsoft.com/office/drawing/2014/main" id="{5213717A-D3A2-95AF-F3DF-CD5CC40B68D0}"/>
                </a:ext>
              </a:extLst>
            </p:cNvPr>
            <p:cNvSpPr txBox="1"/>
            <p:nvPr/>
          </p:nvSpPr>
          <p:spPr>
            <a:xfrm>
              <a:off x="8322248" y="1713632"/>
              <a:ext cx="3469088" cy="276999"/>
            </a:xfrm>
            <a:prstGeom prst="rect">
              <a:avLst/>
            </a:prstGeom>
            <a:noFill/>
          </p:spPr>
          <p:txBody>
            <a:bodyPr vert="horz" wrap="square" lIns="0" tIns="0" rIns="0" bIns="0" rtlCol="0">
              <a:noAutofit/>
            </a:bodyPr>
            <a:lstStyle/>
            <a:p>
              <a:r>
                <a:rPr lang="zh-CN" altLang="en-US" sz="1100" b="1" dirty="0">
                  <a:solidFill>
                    <a:srgbClr val="B95714"/>
                  </a:solidFill>
                  <a:ea typeface="微软雅黑" panose="020B0503020204020204" pitchFamily="34" charset="-122"/>
                </a:rPr>
                <a:t>人工智能方法</a:t>
              </a:r>
            </a:p>
          </p:txBody>
        </p:sp>
        <p:sp>
          <p:nvSpPr>
            <p:cNvPr id="301" name="region-cases">
              <a:extLst>
                <a:ext uri="{FF2B5EF4-FFF2-40B4-BE49-F238E27FC236}">
                  <a16:creationId xmlns:a16="http://schemas.microsoft.com/office/drawing/2014/main" id="{903374F4-0721-CCFB-9230-FBFBD4587BBC}"/>
                </a:ext>
              </a:extLst>
            </p:cNvPr>
            <p:cNvSpPr/>
            <p:nvPr/>
          </p:nvSpPr>
          <p:spPr>
            <a:xfrm>
              <a:off x="319303" y="3611326"/>
              <a:ext cx="3606477" cy="1614328"/>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2" name="region-cases-label">
              <a:extLst>
                <a:ext uri="{FF2B5EF4-FFF2-40B4-BE49-F238E27FC236}">
                  <a16:creationId xmlns:a16="http://schemas.microsoft.com/office/drawing/2014/main" id="{F90E3DE0-183D-C9B9-BCBC-6EC28C118FD8}"/>
                </a:ext>
              </a:extLst>
            </p:cNvPr>
            <p:cNvSpPr txBox="1"/>
            <p:nvPr/>
          </p:nvSpPr>
          <p:spPr>
            <a:xfrm>
              <a:off x="387998" y="3637087"/>
              <a:ext cx="346908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案例数据库</a:t>
              </a:r>
            </a:p>
          </p:txBody>
        </p:sp>
        <p:sp>
          <p:nvSpPr>
            <p:cNvPr id="303" name="region-calc">
              <a:extLst>
                <a:ext uri="{FF2B5EF4-FFF2-40B4-BE49-F238E27FC236}">
                  <a16:creationId xmlns:a16="http://schemas.microsoft.com/office/drawing/2014/main" id="{7F722E56-9E52-14F9-496C-D9548F6B63F5}"/>
                </a:ext>
              </a:extLst>
            </p:cNvPr>
            <p:cNvSpPr/>
            <p:nvPr/>
          </p:nvSpPr>
          <p:spPr>
            <a:xfrm>
              <a:off x="4286428" y="3611326"/>
              <a:ext cx="3606478" cy="1614328"/>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region-calc-label">
              <a:extLst>
                <a:ext uri="{FF2B5EF4-FFF2-40B4-BE49-F238E27FC236}">
                  <a16:creationId xmlns:a16="http://schemas.microsoft.com/office/drawing/2014/main" id="{D6EA9FA4-CDD7-9321-4BF5-41E5B9010C94}"/>
                </a:ext>
              </a:extLst>
            </p:cNvPr>
            <p:cNvSpPr txBox="1"/>
            <p:nvPr/>
          </p:nvSpPr>
          <p:spPr>
            <a:xfrm>
              <a:off x="4355123" y="3637087"/>
              <a:ext cx="346908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计算器</a:t>
              </a:r>
            </a:p>
          </p:txBody>
        </p:sp>
        <p:sp>
          <p:nvSpPr>
            <p:cNvPr id="305" name="region-help">
              <a:extLst>
                <a:ext uri="{FF2B5EF4-FFF2-40B4-BE49-F238E27FC236}">
                  <a16:creationId xmlns:a16="http://schemas.microsoft.com/office/drawing/2014/main" id="{8C2125FD-289D-D5F8-4049-BE1EB07785EE}"/>
                </a:ext>
              </a:extLst>
            </p:cNvPr>
            <p:cNvSpPr/>
            <p:nvPr/>
          </p:nvSpPr>
          <p:spPr>
            <a:xfrm>
              <a:off x="8253553" y="3611326"/>
              <a:ext cx="3606477" cy="1614328"/>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region-help-label">
              <a:extLst>
                <a:ext uri="{FF2B5EF4-FFF2-40B4-BE49-F238E27FC236}">
                  <a16:creationId xmlns:a16="http://schemas.microsoft.com/office/drawing/2014/main" id="{92895157-39B5-9092-2DF5-04B3FC39949E}"/>
                </a:ext>
              </a:extLst>
            </p:cNvPr>
            <p:cNvSpPr txBox="1"/>
            <p:nvPr/>
          </p:nvSpPr>
          <p:spPr>
            <a:xfrm>
              <a:off x="8322248" y="3637087"/>
              <a:ext cx="346908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软件信息</a:t>
              </a:r>
            </a:p>
          </p:txBody>
        </p:sp>
        <p:sp>
          <p:nvSpPr>
            <p:cNvPr id="307" name="region-tech">
              <a:extLst>
                <a:ext uri="{FF2B5EF4-FFF2-40B4-BE49-F238E27FC236}">
                  <a16:creationId xmlns:a16="http://schemas.microsoft.com/office/drawing/2014/main" id="{0563F831-6B30-448C-FD10-A42C9E81C434}"/>
                </a:ext>
              </a:extLst>
            </p:cNvPr>
            <p:cNvSpPr/>
            <p:nvPr/>
          </p:nvSpPr>
          <p:spPr>
            <a:xfrm>
              <a:off x="319303" y="5534780"/>
              <a:ext cx="11540728" cy="755643"/>
            </a:xfrm>
            <a:prstGeom prst="roundRect">
              <a:avLst>
                <a:gd name="adj" fmla="val 6000"/>
              </a:avLst>
            </a:prstGeom>
            <a:solidFill>
              <a:srgbClr val="F7F9FC"/>
            </a:solidFill>
            <a:ln w="12700">
              <a:solidFill>
                <a:srgbClr val="C9D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region-tech-label">
              <a:extLst>
                <a:ext uri="{FF2B5EF4-FFF2-40B4-BE49-F238E27FC236}">
                  <a16:creationId xmlns:a16="http://schemas.microsoft.com/office/drawing/2014/main" id="{79B8F9BF-3DA2-EA06-835B-9C1FF535E30C}"/>
                </a:ext>
              </a:extLst>
            </p:cNvPr>
            <p:cNvSpPr txBox="1"/>
            <p:nvPr/>
          </p:nvSpPr>
          <p:spPr>
            <a:xfrm>
              <a:off x="387998" y="5560541"/>
              <a:ext cx="11403338" cy="276999"/>
            </a:xfrm>
            <a:prstGeom prst="rect">
              <a:avLst/>
            </a:prstGeom>
            <a:noFill/>
          </p:spPr>
          <p:txBody>
            <a:bodyPr vert="horz" wrap="square" lIns="0" tIns="0" rIns="0" bIns="0" rtlCol="0">
              <a:noAutofit/>
            </a:bodyPr>
            <a:lstStyle/>
            <a:p>
              <a:r>
                <a:rPr lang="zh-CN" altLang="en-US" sz="1100" b="1" dirty="0">
                  <a:solidFill>
                    <a:srgbClr val="5B7290"/>
                  </a:solidFill>
                  <a:ea typeface="微软雅黑" panose="020B0503020204020204" pitchFamily="34" charset="-122"/>
                </a:rPr>
                <a:t>技术架构：</a:t>
              </a:r>
              <a:r>
                <a:rPr lang="en-US" altLang="zh-CN" sz="1100" b="1" dirty="0">
                  <a:solidFill>
                    <a:srgbClr val="5B7290"/>
                  </a:solidFill>
                  <a:ea typeface="微软雅黑" panose="020B0503020204020204" pitchFamily="34" charset="-122"/>
                </a:rPr>
                <a:t>Next.js </a:t>
              </a:r>
              <a:r>
                <a:rPr lang="zh-CN" altLang="en-US" sz="1100" b="1" dirty="0">
                  <a:solidFill>
                    <a:srgbClr val="5B7290"/>
                  </a:solidFill>
                  <a:ea typeface="微软雅黑" panose="020B0503020204020204" pitchFamily="34" charset="-122"/>
                </a:rPr>
                <a:t>前端 </a:t>
              </a:r>
              <a:r>
                <a:rPr lang="en-US" altLang="zh-CN" sz="1100" b="1" dirty="0">
                  <a:solidFill>
                    <a:srgbClr val="5B7290"/>
                  </a:solidFill>
                  <a:ea typeface="微软雅黑" panose="020B0503020204020204" pitchFamily="34" charset="-122"/>
                </a:rPr>
                <a:t>+ </a:t>
              </a:r>
              <a:r>
                <a:rPr lang="en-US" altLang="zh-CN" sz="1100" b="1" dirty="0" err="1">
                  <a:solidFill>
                    <a:srgbClr val="5B7290"/>
                  </a:solidFill>
                  <a:ea typeface="微软雅黑" panose="020B0503020204020204" pitchFamily="34" charset="-122"/>
                </a:rPr>
                <a:t>FastAPI</a:t>
              </a:r>
              <a:r>
                <a:rPr lang="en-US" altLang="zh-CN" sz="1100" b="1" dirty="0">
                  <a:solidFill>
                    <a:srgbClr val="5B7290"/>
                  </a:solidFill>
                  <a:ea typeface="微软雅黑" panose="020B0503020204020204" pitchFamily="34" charset="-122"/>
                </a:rPr>
                <a:t> </a:t>
              </a:r>
              <a:r>
                <a:rPr lang="zh-CN" altLang="en-US" sz="1100" b="1" dirty="0">
                  <a:solidFill>
                    <a:srgbClr val="5B7290"/>
                  </a:solidFill>
                  <a:ea typeface="微软雅黑" panose="020B0503020204020204" pitchFamily="34" charset="-122"/>
                </a:rPr>
                <a:t>后端，部署于 </a:t>
              </a:r>
              <a:r>
                <a:rPr lang="en-US" altLang="zh-CN" sz="1100" b="1" dirty="0">
                  <a:solidFill>
                    <a:srgbClr val="5B7290"/>
                  </a:solidFill>
                  <a:ea typeface="微软雅黑" panose="020B0503020204020204" pitchFamily="34" charset="-122"/>
                </a:rPr>
                <a:t>NAS</a:t>
              </a:r>
              <a:r>
                <a:rPr lang="zh-CN" altLang="en-US" sz="1100" b="1" dirty="0">
                  <a:solidFill>
                    <a:srgbClr val="5B7290"/>
                  </a:solidFill>
                  <a:ea typeface="微软雅黑" panose="020B0503020204020204" pitchFamily="34" charset="-122"/>
                </a:rPr>
                <a:t>（</a:t>
              </a:r>
              <a:r>
                <a:rPr lang="en-US" altLang="zh-CN" sz="1100" b="1" dirty="0">
                  <a:solidFill>
                    <a:srgbClr val="5B7290"/>
                  </a:solidFill>
                  <a:ea typeface="微软雅黑" panose="020B0503020204020204" pitchFamily="34" charset="-122"/>
                </a:rPr>
                <a:t>Cloudflare Tunnel</a:t>
              </a:r>
              <a:r>
                <a:rPr lang="zh-CN" altLang="en-US" sz="1100" b="1" dirty="0">
                  <a:solidFill>
                    <a:srgbClr val="5B7290"/>
                  </a:solidFill>
                  <a:ea typeface="微软雅黑" panose="020B0503020204020204" pitchFamily="34" charset="-122"/>
                </a:rPr>
                <a:t>）</a:t>
              </a:r>
            </a:p>
          </p:txBody>
        </p:sp>
        <p:sp>
          <p:nvSpPr>
            <p:cNvPr id="309" name="node-lib-docs">
              <a:extLst>
                <a:ext uri="{FF2B5EF4-FFF2-40B4-BE49-F238E27FC236}">
                  <a16:creationId xmlns:a16="http://schemas.microsoft.com/office/drawing/2014/main" id="{F0CE9661-4159-8E55-ADD7-136ABFF76CEE}"/>
                </a:ext>
              </a:extLst>
            </p:cNvPr>
            <p:cNvSpPr/>
            <p:nvPr/>
          </p:nvSpPr>
          <p:spPr>
            <a:xfrm>
              <a:off x="542561" y="1911129"/>
              <a:ext cx="3159961" cy="558146"/>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原文与译文</a:t>
              </a:r>
            </a:p>
            <a:p>
              <a:pPr algn="ctr"/>
              <a:r>
                <a:rPr lang="zh-CN" altLang="en-US" sz="950" dirty="0">
                  <a:solidFill>
                    <a:srgbClr val="466590"/>
                  </a:solidFill>
                  <a:ea typeface="微软雅黑" panose="020B0503020204020204" pitchFamily="34" charset="-122"/>
                </a:rPr>
                <a:t>双语对照阅读</a:t>
              </a:r>
            </a:p>
          </p:txBody>
        </p:sp>
        <p:sp>
          <p:nvSpPr>
            <p:cNvPr id="310" name="node-lib-link">
              <a:extLst>
                <a:ext uri="{FF2B5EF4-FFF2-40B4-BE49-F238E27FC236}">
                  <a16:creationId xmlns:a16="http://schemas.microsoft.com/office/drawing/2014/main" id="{110E9EC5-0210-79F1-DFFD-B19678B4C476}"/>
                </a:ext>
              </a:extLst>
            </p:cNvPr>
            <p:cNvSpPr/>
            <p:nvPr/>
          </p:nvSpPr>
          <p:spPr>
            <a:xfrm>
              <a:off x="542561" y="2572317"/>
              <a:ext cx="3159961" cy="558145"/>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方法与案例关联</a:t>
              </a:r>
            </a:p>
            <a:p>
              <a:pPr algn="ctr"/>
              <a:r>
                <a:rPr lang="zh-CN" altLang="en-US" sz="950" dirty="0">
                  <a:solidFill>
                    <a:srgbClr val="466590"/>
                  </a:solidFill>
                  <a:ea typeface="微软雅黑" panose="020B0503020204020204" pitchFamily="34" charset="-122"/>
                </a:rPr>
                <a:t>双向链接，来源可追溯</a:t>
              </a:r>
            </a:p>
          </p:txBody>
        </p:sp>
        <p:sp>
          <p:nvSpPr>
            <p:cNvPr id="311" name="node-method-views">
              <a:extLst>
                <a:ext uri="{FF2B5EF4-FFF2-40B4-BE49-F238E27FC236}">
                  <a16:creationId xmlns:a16="http://schemas.microsoft.com/office/drawing/2014/main" id="{A7225136-5FFB-DDE8-066A-BEFD761FC13A}"/>
                </a:ext>
              </a:extLst>
            </p:cNvPr>
            <p:cNvSpPr/>
            <p:nvPr/>
          </p:nvSpPr>
          <p:spPr>
            <a:xfrm>
              <a:off x="4509686" y="1911129"/>
              <a:ext cx="3159961" cy="558146"/>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原理与程序流程</a:t>
              </a:r>
            </a:p>
            <a:p>
              <a:pPr algn="ctr"/>
              <a:r>
                <a:rPr lang="zh-CN" altLang="en-US" sz="950" dirty="0">
                  <a:solidFill>
                    <a:srgbClr val="466590"/>
                  </a:solidFill>
                  <a:ea typeface="微软雅黑" panose="020B0503020204020204" pitchFamily="34" charset="-122"/>
                </a:rPr>
                <a:t>公式与代码一一对应</a:t>
              </a:r>
            </a:p>
          </p:txBody>
        </p:sp>
        <p:sp>
          <p:nvSpPr>
            <p:cNvPr id="312" name="node-method-lib">
              <a:extLst>
                <a:ext uri="{FF2B5EF4-FFF2-40B4-BE49-F238E27FC236}">
                  <a16:creationId xmlns:a16="http://schemas.microsoft.com/office/drawing/2014/main" id="{A5BF7C3E-A706-7D0B-80A2-6EF404D846B6}"/>
                </a:ext>
              </a:extLst>
            </p:cNvPr>
            <p:cNvSpPr/>
            <p:nvPr/>
          </p:nvSpPr>
          <p:spPr>
            <a:xfrm>
              <a:off x="4509686" y="2572317"/>
              <a:ext cx="3159961" cy="558145"/>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方法库</a:t>
              </a:r>
            </a:p>
            <a:p>
              <a:pPr algn="ctr"/>
              <a:r>
                <a:rPr lang="en-US" altLang="zh-CN" sz="950" dirty="0">
                  <a:solidFill>
                    <a:srgbClr val="466590"/>
                  </a:solidFill>
                  <a:ea typeface="微软雅黑" panose="020B0503020204020204" pitchFamily="34" charset="-122"/>
                </a:rPr>
                <a:t>8 </a:t>
              </a:r>
              <a:r>
                <a:rPr lang="zh-CN" altLang="en-US" sz="950" dirty="0">
                  <a:solidFill>
                    <a:srgbClr val="466590"/>
                  </a:solidFill>
                  <a:ea typeface="微软雅黑" panose="020B0503020204020204" pitchFamily="34" charset="-122"/>
                </a:rPr>
                <a:t>大类 </a:t>
              </a:r>
              <a:r>
                <a:rPr lang="en-US" altLang="zh-CN" sz="950" dirty="0">
                  <a:solidFill>
                    <a:srgbClr val="466590"/>
                  </a:solidFill>
                  <a:ea typeface="微软雅黑" panose="020B0503020204020204" pitchFamily="34" charset="-122"/>
                </a:rPr>
                <a:t>22 </a:t>
              </a:r>
              <a:r>
                <a:rPr lang="zh-CN" altLang="en-US" sz="950" dirty="0">
                  <a:solidFill>
                    <a:srgbClr val="466590"/>
                  </a:solidFill>
                  <a:ea typeface="微软雅黑" panose="020B0503020204020204" pitchFamily="34" charset="-122"/>
                </a:rPr>
                <a:t>个子方法</a:t>
              </a:r>
            </a:p>
          </p:txBody>
        </p:sp>
        <p:sp>
          <p:nvSpPr>
            <p:cNvPr id="313" name="node-ai-process">
              <a:extLst>
                <a:ext uri="{FF2B5EF4-FFF2-40B4-BE49-F238E27FC236}">
                  <a16:creationId xmlns:a16="http://schemas.microsoft.com/office/drawing/2014/main" id="{F361C55E-41E8-C772-381E-D9CBA8E81D28}"/>
                </a:ext>
              </a:extLst>
            </p:cNvPr>
            <p:cNvSpPr/>
            <p:nvPr/>
          </p:nvSpPr>
          <p:spPr>
            <a:xfrm>
              <a:off x="8476811" y="1911129"/>
              <a:ext cx="3159962" cy="558146"/>
            </a:xfrm>
            <a:prstGeom prst="roundRect">
              <a:avLst>
                <a:gd name="adj" fmla="val 12000"/>
              </a:avLst>
            </a:prstGeom>
            <a:solidFill>
              <a:srgbClr val="FFFFFF"/>
            </a:solidFill>
            <a:ln w="17780">
              <a:solidFill>
                <a:srgbClr val="D9A94C"/>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B95714"/>
                  </a:solidFill>
                  <a:ea typeface="微软雅黑" panose="020B0503020204020204" pitchFamily="34" charset="-122"/>
                </a:rPr>
                <a:t>过程量优化</a:t>
              </a:r>
            </a:p>
            <a:p>
              <a:pPr algn="ctr"/>
              <a:r>
                <a:rPr lang="zh-CN" altLang="en-US" sz="950" dirty="0">
                  <a:solidFill>
                    <a:srgbClr val="466590"/>
                  </a:solidFill>
                  <a:ea typeface="微软雅黑" panose="020B0503020204020204" pitchFamily="34" charset="-122"/>
                </a:rPr>
                <a:t>按样本调整过程量</a:t>
              </a:r>
            </a:p>
          </p:txBody>
        </p:sp>
        <p:sp>
          <p:nvSpPr>
            <p:cNvPr id="314" name="node-ai-research">
              <a:extLst>
                <a:ext uri="{FF2B5EF4-FFF2-40B4-BE49-F238E27FC236}">
                  <a16:creationId xmlns:a16="http://schemas.microsoft.com/office/drawing/2014/main" id="{04B1F230-9549-3022-E208-F1BB9C6661C7}"/>
                </a:ext>
              </a:extLst>
            </p:cNvPr>
            <p:cNvSpPr/>
            <p:nvPr/>
          </p:nvSpPr>
          <p:spPr>
            <a:xfrm>
              <a:off x="8476811" y="2572317"/>
              <a:ext cx="3159962" cy="558145"/>
            </a:xfrm>
            <a:prstGeom prst="roundRect">
              <a:avLst>
                <a:gd name="adj" fmla="val 12000"/>
              </a:avLst>
            </a:prstGeom>
            <a:solidFill>
              <a:srgbClr val="FFFFFF"/>
            </a:solidFill>
            <a:ln w="17780">
              <a:solidFill>
                <a:srgbClr val="D9A94C"/>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B95714"/>
                  </a:solidFill>
                  <a:ea typeface="微软雅黑" panose="020B0503020204020204" pitchFamily="34" charset="-122"/>
                </a:rPr>
                <a:t>直接估计与自适应选择</a:t>
              </a:r>
            </a:p>
            <a:p>
              <a:pPr algn="ctr"/>
              <a:r>
                <a:rPr lang="zh-CN" altLang="en-US" sz="950" dirty="0">
                  <a:solidFill>
                    <a:srgbClr val="466590"/>
                  </a:solidFill>
                  <a:ea typeface="微软雅黑" panose="020B0503020204020204" pitchFamily="34" charset="-122"/>
                </a:rPr>
                <a:t>端到端输出参数，或在候选策略间选择</a:t>
              </a:r>
            </a:p>
          </p:txBody>
        </p:sp>
        <p:sp>
          <p:nvSpPr>
            <p:cNvPr id="315" name="node-case-info">
              <a:extLst>
                <a:ext uri="{FF2B5EF4-FFF2-40B4-BE49-F238E27FC236}">
                  <a16:creationId xmlns:a16="http://schemas.microsoft.com/office/drawing/2014/main" id="{F2CB6B5E-9154-7A48-8DF9-4FFA683126E2}"/>
                </a:ext>
              </a:extLst>
            </p:cNvPr>
            <p:cNvSpPr/>
            <p:nvPr/>
          </p:nvSpPr>
          <p:spPr>
            <a:xfrm>
              <a:off x="542561" y="3834584"/>
              <a:ext cx="3159961" cy="558146"/>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案例信息</a:t>
              </a:r>
            </a:p>
            <a:p>
              <a:pPr algn="ctr"/>
              <a:r>
                <a:rPr lang="zh-CN" altLang="en-US" sz="950" dirty="0">
                  <a:solidFill>
                    <a:srgbClr val="466590"/>
                  </a:solidFill>
                  <a:ea typeface="微软雅黑" panose="020B0503020204020204" pitchFamily="34" charset="-122"/>
                </a:rPr>
                <a:t>记录领域、样本量与数据类型</a:t>
              </a:r>
            </a:p>
          </p:txBody>
        </p:sp>
        <p:sp>
          <p:nvSpPr>
            <p:cNvPr id="316" name="node-case-samples">
              <a:extLst>
                <a:ext uri="{FF2B5EF4-FFF2-40B4-BE49-F238E27FC236}">
                  <a16:creationId xmlns:a16="http://schemas.microsoft.com/office/drawing/2014/main" id="{8EA186A2-0C24-A365-73E5-5B3487829941}"/>
                </a:ext>
              </a:extLst>
            </p:cNvPr>
            <p:cNvSpPr/>
            <p:nvPr/>
          </p:nvSpPr>
          <p:spPr>
            <a:xfrm>
              <a:off x="542561" y="4495772"/>
              <a:ext cx="3159961" cy="558145"/>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失效样本</a:t>
              </a:r>
            </a:p>
            <a:p>
              <a:pPr algn="ctr"/>
              <a:r>
                <a:rPr lang="zh-CN" altLang="en-US" sz="950" dirty="0">
                  <a:solidFill>
                    <a:srgbClr val="466590"/>
                  </a:solidFill>
                  <a:ea typeface="微软雅黑" panose="020B0503020204020204" pitchFamily="34" charset="-122"/>
                </a:rPr>
                <a:t>标准数据集，可检索并一键调用</a:t>
              </a:r>
            </a:p>
          </p:txBody>
        </p:sp>
        <p:sp>
          <p:nvSpPr>
            <p:cNvPr id="317" name="node-calc-run">
              <a:extLst>
                <a:ext uri="{FF2B5EF4-FFF2-40B4-BE49-F238E27FC236}">
                  <a16:creationId xmlns:a16="http://schemas.microsoft.com/office/drawing/2014/main" id="{1BE690FA-5858-4E4C-30CA-C09F2CE5F2B7}"/>
                </a:ext>
              </a:extLst>
            </p:cNvPr>
            <p:cNvSpPr/>
            <p:nvPr/>
          </p:nvSpPr>
          <p:spPr>
            <a:xfrm>
              <a:off x="4509686" y="3834584"/>
              <a:ext cx="3159961" cy="558146"/>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计算与估计</a:t>
              </a:r>
            </a:p>
            <a:p>
              <a:pPr algn="ctr"/>
              <a:r>
                <a:rPr lang="zh-CN" altLang="en-US" sz="950" dirty="0">
                  <a:solidFill>
                    <a:srgbClr val="466590"/>
                  </a:solidFill>
                  <a:ea typeface="微软雅黑" panose="020B0503020204020204" pitchFamily="34" charset="-122"/>
                </a:rPr>
                <a:t>输入样本、选择方法，支持二参数与三参数</a:t>
              </a:r>
            </a:p>
          </p:txBody>
        </p:sp>
        <p:sp>
          <p:nvSpPr>
            <p:cNvPr id="318" name="node-calc-compare">
              <a:extLst>
                <a:ext uri="{FF2B5EF4-FFF2-40B4-BE49-F238E27FC236}">
                  <a16:creationId xmlns:a16="http://schemas.microsoft.com/office/drawing/2014/main" id="{6194BBE4-4845-2B90-0EDE-87A85E5AB641}"/>
                </a:ext>
              </a:extLst>
            </p:cNvPr>
            <p:cNvSpPr/>
            <p:nvPr/>
          </p:nvSpPr>
          <p:spPr>
            <a:xfrm>
              <a:off x="4509686" y="4495772"/>
              <a:ext cx="3159961" cy="558145"/>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分布绘图与对比</a:t>
              </a:r>
            </a:p>
            <a:p>
              <a:pPr algn="ctr"/>
              <a:r>
                <a:rPr lang="zh-CN" altLang="en-US" sz="950" dirty="0">
                  <a:solidFill>
                    <a:srgbClr val="466590"/>
                  </a:solidFill>
                  <a:ea typeface="微软雅黑" panose="020B0503020204020204" pitchFamily="34" charset="-122"/>
                </a:rPr>
                <a:t>输出 </a:t>
              </a:r>
              <a:r>
                <a:rPr lang="en-US" altLang="zh-CN" sz="950" dirty="0">
                  <a:solidFill>
                    <a:srgbClr val="466590"/>
                  </a:solidFill>
                  <a:ea typeface="微软雅黑" panose="020B0503020204020204" pitchFamily="34" charset="-122"/>
                </a:rPr>
                <a:t>β</a:t>
              </a:r>
              <a:r>
                <a:rPr lang="zh-CN" altLang="en-US" sz="950" dirty="0">
                  <a:solidFill>
                    <a:srgbClr val="466590"/>
                  </a:solidFill>
                  <a:ea typeface="微软雅黑" panose="020B0503020204020204" pitchFamily="34" charset="-122"/>
                </a:rPr>
                <a:t>、</a:t>
              </a:r>
              <a:r>
                <a:rPr lang="en-US" altLang="zh-CN" sz="950" dirty="0">
                  <a:solidFill>
                    <a:srgbClr val="466590"/>
                  </a:solidFill>
                  <a:ea typeface="微软雅黑" panose="020B0503020204020204" pitchFamily="34" charset="-122"/>
                </a:rPr>
                <a:t>η</a:t>
              </a:r>
              <a:r>
                <a:rPr lang="zh-CN" altLang="en-US" sz="950" dirty="0">
                  <a:solidFill>
                    <a:srgbClr val="466590"/>
                  </a:solidFill>
                  <a:ea typeface="微软雅黑" panose="020B0503020204020204" pitchFamily="34" charset="-122"/>
                </a:rPr>
                <a:t>、</a:t>
              </a:r>
              <a:r>
                <a:rPr lang="en-US" altLang="zh-CN" sz="950" dirty="0">
                  <a:solidFill>
                    <a:srgbClr val="466590"/>
                  </a:solidFill>
                  <a:ea typeface="微软雅黑" panose="020B0503020204020204" pitchFamily="34" charset="-122"/>
                </a:rPr>
                <a:t>γ </a:t>
              </a:r>
              <a:r>
                <a:rPr lang="zh-CN" altLang="en-US" sz="950" dirty="0">
                  <a:solidFill>
                    <a:srgbClr val="466590"/>
                  </a:solidFill>
                  <a:ea typeface="微软雅黑" panose="020B0503020204020204" pitchFamily="34" charset="-122"/>
                </a:rPr>
                <a:t>并叠加多方法结果</a:t>
              </a:r>
            </a:p>
          </p:txBody>
        </p:sp>
        <p:sp>
          <p:nvSpPr>
            <p:cNvPr id="319" name="node-help-manual">
              <a:extLst>
                <a:ext uri="{FF2B5EF4-FFF2-40B4-BE49-F238E27FC236}">
                  <a16:creationId xmlns:a16="http://schemas.microsoft.com/office/drawing/2014/main" id="{70D636F5-044A-BF09-D98D-9657B9A671D5}"/>
                </a:ext>
              </a:extLst>
            </p:cNvPr>
            <p:cNvSpPr/>
            <p:nvPr/>
          </p:nvSpPr>
          <p:spPr>
            <a:xfrm>
              <a:off x="8476811" y="3834584"/>
              <a:ext cx="3159962" cy="558146"/>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用户手册与更新日志</a:t>
              </a:r>
            </a:p>
            <a:p>
              <a:pPr algn="ctr"/>
              <a:r>
                <a:rPr lang="zh-CN" altLang="en-US" sz="950" dirty="0">
                  <a:solidFill>
                    <a:srgbClr val="466590"/>
                  </a:solidFill>
                  <a:ea typeface="微软雅黑" panose="020B0503020204020204" pitchFamily="34" charset="-122"/>
                </a:rPr>
                <a:t>说明结构、功能与版本状态</a:t>
              </a:r>
            </a:p>
          </p:txBody>
        </p:sp>
        <p:sp>
          <p:nvSpPr>
            <p:cNvPr id="320" name="node-help-spec">
              <a:extLst>
                <a:ext uri="{FF2B5EF4-FFF2-40B4-BE49-F238E27FC236}">
                  <a16:creationId xmlns:a16="http://schemas.microsoft.com/office/drawing/2014/main" id="{A0FE0E7C-EA43-95E9-0B6F-23D88A7F8F45}"/>
                </a:ext>
              </a:extLst>
            </p:cNvPr>
            <p:cNvSpPr/>
            <p:nvPr/>
          </p:nvSpPr>
          <p:spPr>
            <a:xfrm>
              <a:off x="8476811" y="4495772"/>
              <a:ext cx="3159962" cy="558145"/>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指标与图表规范</a:t>
              </a:r>
            </a:p>
            <a:p>
              <a:pPr algn="ctr"/>
              <a:r>
                <a:rPr lang="zh-CN" altLang="en-US" sz="950" dirty="0">
                  <a:solidFill>
                    <a:srgbClr val="466590"/>
                  </a:solidFill>
                  <a:ea typeface="微软雅黑" panose="020B0503020204020204" pitchFamily="34" charset="-122"/>
                </a:rPr>
                <a:t>统一评价与展示基准</a:t>
              </a:r>
            </a:p>
          </p:txBody>
        </p:sp>
        <p:sp>
          <p:nvSpPr>
            <p:cNvPr id="321" name="node-tech-frontend">
              <a:extLst>
                <a:ext uri="{FF2B5EF4-FFF2-40B4-BE49-F238E27FC236}">
                  <a16:creationId xmlns:a16="http://schemas.microsoft.com/office/drawing/2014/main" id="{40A082B5-9045-EA47-305E-380B06065029}"/>
                </a:ext>
              </a:extLst>
            </p:cNvPr>
            <p:cNvSpPr/>
            <p:nvPr/>
          </p:nvSpPr>
          <p:spPr>
            <a:xfrm>
              <a:off x="542561" y="5758038"/>
              <a:ext cx="3554956" cy="360648"/>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dirty="0">
                  <a:solidFill>
                    <a:srgbClr val="315995"/>
                  </a:solidFill>
                  <a:ea typeface="微软雅黑" panose="020B0503020204020204" pitchFamily="34" charset="-122"/>
                </a:rPr>
                <a:t>前端 </a:t>
              </a:r>
              <a:r>
                <a:rPr lang="en-US" altLang="zh-CN" sz="1200" dirty="0">
                  <a:solidFill>
                    <a:srgbClr val="315995"/>
                  </a:solidFill>
                  <a:ea typeface="微软雅黑" panose="020B0503020204020204" pitchFamily="34" charset="-122"/>
                </a:rPr>
                <a:t>Next.js 14</a:t>
              </a:r>
            </a:p>
            <a:p>
              <a:pPr algn="ctr"/>
              <a:r>
                <a:rPr lang="zh-CN" altLang="en-US" sz="900" dirty="0">
                  <a:solidFill>
                    <a:srgbClr val="466590"/>
                  </a:solidFill>
                  <a:ea typeface="微软雅黑" panose="020B0503020204020204" pitchFamily="34" charset="-122"/>
                </a:rPr>
                <a:t>页面展示与交互</a:t>
              </a:r>
            </a:p>
          </p:txBody>
        </p:sp>
        <p:sp>
          <p:nvSpPr>
            <p:cNvPr id="322" name="node-tech-backend">
              <a:extLst>
                <a:ext uri="{FF2B5EF4-FFF2-40B4-BE49-F238E27FC236}">
                  <a16:creationId xmlns:a16="http://schemas.microsoft.com/office/drawing/2014/main" id="{EB26D4B5-C80A-ADEA-AF58-6C2B243C7B48}"/>
                </a:ext>
              </a:extLst>
            </p:cNvPr>
            <p:cNvSpPr/>
            <p:nvPr/>
          </p:nvSpPr>
          <p:spPr>
            <a:xfrm>
              <a:off x="4312188" y="5758038"/>
              <a:ext cx="3554957" cy="360648"/>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dirty="0">
                  <a:solidFill>
                    <a:srgbClr val="315995"/>
                  </a:solidFill>
                  <a:ea typeface="微软雅黑" panose="020B0503020204020204" pitchFamily="34" charset="-122"/>
                </a:rPr>
                <a:t>后端 </a:t>
              </a:r>
              <a:r>
                <a:rPr lang="en-US" altLang="zh-CN" sz="1200" dirty="0" err="1">
                  <a:solidFill>
                    <a:srgbClr val="315995"/>
                  </a:solidFill>
                  <a:ea typeface="微软雅黑" panose="020B0503020204020204" pitchFamily="34" charset="-122"/>
                </a:rPr>
                <a:t>FastAPI</a:t>
              </a:r>
              <a:endParaRPr lang="en-US" altLang="zh-CN" sz="1200" dirty="0">
                <a:solidFill>
                  <a:srgbClr val="315995"/>
                </a:solidFill>
                <a:ea typeface="微软雅黑" panose="020B0503020204020204" pitchFamily="34" charset="-122"/>
              </a:endParaRPr>
            </a:p>
            <a:p>
              <a:pPr algn="ctr"/>
              <a:r>
                <a:rPr lang="zh-CN" altLang="en-US" sz="900" dirty="0">
                  <a:solidFill>
                    <a:srgbClr val="466590"/>
                  </a:solidFill>
                  <a:ea typeface="微软雅黑" panose="020B0503020204020204" pitchFamily="34" charset="-122"/>
                </a:rPr>
                <a:t>参数估计与数值计算</a:t>
              </a:r>
            </a:p>
          </p:txBody>
        </p:sp>
        <p:sp>
          <p:nvSpPr>
            <p:cNvPr id="323" name="node-tech-data">
              <a:extLst>
                <a:ext uri="{FF2B5EF4-FFF2-40B4-BE49-F238E27FC236}">
                  <a16:creationId xmlns:a16="http://schemas.microsoft.com/office/drawing/2014/main" id="{2092CA10-8BD2-95F8-D5DB-3AEDC599F796}"/>
                </a:ext>
              </a:extLst>
            </p:cNvPr>
            <p:cNvSpPr/>
            <p:nvPr/>
          </p:nvSpPr>
          <p:spPr>
            <a:xfrm>
              <a:off x="8081816" y="5758038"/>
              <a:ext cx="3554956" cy="360648"/>
            </a:xfrm>
            <a:prstGeom prst="roundRect">
              <a:avLst>
                <a:gd name="adj" fmla="val 12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dirty="0">
                  <a:solidFill>
                    <a:srgbClr val="315995"/>
                  </a:solidFill>
                  <a:ea typeface="微软雅黑" panose="020B0503020204020204" pitchFamily="34" charset="-122"/>
                </a:rPr>
                <a:t>数据与模型</a:t>
              </a:r>
            </a:p>
            <a:p>
              <a:pPr algn="ctr"/>
              <a:r>
                <a:rPr lang="en-US" altLang="zh-CN" sz="900" dirty="0">
                  <a:solidFill>
                    <a:srgbClr val="466590"/>
                  </a:solidFill>
                  <a:ea typeface="微软雅黑" panose="020B0503020204020204" pitchFamily="34" charset="-122"/>
                </a:rPr>
                <a:t>Markdown</a:t>
              </a:r>
              <a:r>
                <a:rPr lang="zh-CN" altLang="en-US" sz="900" dirty="0">
                  <a:solidFill>
                    <a:srgbClr val="466590"/>
                  </a:solidFill>
                  <a:ea typeface="微软雅黑" panose="020B0503020204020204" pitchFamily="34" charset="-122"/>
                </a:rPr>
                <a:t>、</a:t>
              </a:r>
              <a:r>
                <a:rPr lang="en-US" altLang="zh-CN" sz="900" dirty="0">
                  <a:solidFill>
                    <a:srgbClr val="466590"/>
                  </a:solidFill>
                  <a:ea typeface="微软雅黑" panose="020B0503020204020204" pitchFamily="34" charset="-122"/>
                </a:rPr>
                <a:t>CSV</a:t>
              </a:r>
              <a:r>
                <a:rPr lang="zh-CN" altLang="en-US" sz="900" dirty="0">
                  <a:solidFill>
                    <a:srgbClr val="466590"/>
                  </a:solidFill>
                  <a:ea typeface="微软雅黑" panose="020B0503020204020204" pitchFamily="34" charset="-122"/>
                </a:rPr>
                <a:t>、</a:t>
              </a:r>
              <a:r>
                <a:rPr lang="en-US" altLang="zh-CN" sz="900" dirty="0">
                  <a:solidFill>
                    <a:srgbClr val="466590"/>
                  </a:solidFill>
                  <a:ea typeface="微软雅黑" panose="020B0503020204020204" pitchFamily="34" charset="-122"/>
                </a:rPr>
                <a:t>JSON </a:t>
              </a:r>
              <a:r>
                <a:rPr lang="zh-CN" altLang="en-US" sz="900" dirty="0">
                  <a:solidFill>
                    <a:srgbClr val="466590"/>
                  </a:solidFill>
                  <a:ea typeface="微软雅黑" panose="020B0503020204020204" pitchFamily="34" charset="-122"/>
                </a:rPr>
                <a:t>文件</a:t>
              </a:r>
            </a:p>
          </p:txBody>
        </p:sp>
        <p:cxnSp>
          <p:nvCxnSpPr>
            <p:cNvPr id="324" name="edge-docs-method-0">
              <a:extLst>
                <a:ext uri="{FF2B5EF4-FFF2-40B4-BE49-F238E27FC236}">
                  <a16:creationId xmlns:a16="http://schemas.microsoft.com/office/drawing/2014/main" id="{547E9F8A-8F8D-6B8D-2133-3295DCE6C755}"/>
                </a:ext>
              </a:extLst>
            </p:cNvPr>
            <p:cNvCxnSpPr/>
            <p:nvPr/>
          </p:nvCxnSpPr>
          <p:spPr>
            <a:xfrm>
              <a:off x="3702522" y="2190202"/>
              <a:ext cx="807164"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edge-link-case-0">
              <a:extLst>
                <a:ext uri="{FF2B5EF4-FFF2-40B4-BE49-F238E27FC236}">
                  <a16:creationId xmlns:a16="http://schemas.microsoft.com/office/drawing/2014/main" id="{EF75AB8B-F776-53CF-1074-C2FF7E54B9F7}"/>
                </a:ext>
              </a:extLst>
            </p:cNvPr>
            <p:cNvCxnSpPr/>
            <p:nvPr/>
          </p:nvCxnSpPr>
          <p:spPr>
            <a:xfrm>
              <a:off x="2122542" y="3130462"/>
              <a:ext cx="0" cy="7041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edge-case-calc-0">
              <a:extLst>
                <a:ext uri="{FF2B5EF4-FFF2-40B4-BE49-F238E27FC236}">
                  <a16:creationId xmlns:a16="http://schemas.microsoft.com/office/drawing/2014/main" id="{B5788DA4-4EAE-D1C4-C77F-A208A738522C}"/>
                </a:ext>
              </a:extLst>
            </p:cNvPr>
            <p:cNvCxnSpPr/>
            <p:nvPr/>
          </p:nvCxnSpPr>
          <p:spPr>
            <a:xfrm>
              <a:off x="3702522" y="4774844"/>
              <a:ext cx="403582" cy="0"/>
            </a:xfrm>
            <a:prstGeom prst="line">
              <a:avLst/>
            </a:prstGeom>
            <a:ln w="17780">
              <a:solidFill>
                <a:srgbClr val="3764A6"/>
              </a:solidFill>
            </a:ln>
          </p:spPr>
          <p:style>
            <a:lnRef idx="1">
              <a:schemeClr val="accent1"/>
            </a:lnRef>
            <a:fillRef idx="0">
              <a:schemeClr val="accent1"/>
            </a:fillRef>
            <a:effectRef idx="0">
              <a:schemeClr val="accent1"/>
            </a:effectRef>
            <a:fontRef idx="minor">
              <a:schemeClr val="tx1"/>
            </a:fontRef>
          </p:style>
        </p:cxnSp>
        <p:cxnSp>
          <p:nvCxnSpPr>
            <p:cNvPr id="327" name="edge-case-calc-1">
              <a:extLst>
                <a:ext uri="{FF2B5EF4-FFF2-40B4-BE49-F238E27FC236}">
                  <a16:creationId xmlns:a16="http://schemas.microsoft.com/office/drawing/2014/main" id="{6C56EC08-E7F7-B4EC-16E8-E136DDA1F02D}"/>
                </a:ext>
              </a:extLst>
            </p:cNvPr>
            <p:cNvCxnSpPr/>
            <p:nvPr/>
          </p:nvCxnSpPr>
          <p:spPr>
            <a:xfrm flipV="1">
              <a:off x="4106104" y="4113657"/>
              <a:ext cx="0" cy="661187"/>
            </a:xfrm>
            <a:prstGeom prst="line">
              <a:avLst/>
            </a:prstGeom>
            <a:ln w="17780">
              <a:solidFill>
                <a:srgbClr val="3764A6"/>
              </a:solidFill>
            </a:ln>
          </p:spPr>
          <p:style>
            <a:lnRef idx="1">
              <a:schemeClr val="accent1"/>
            </a:lnRef>
            <a:fillRef idx="0">
              <a:schemeClr val="accent1"/>
            </a:fillRef>
            <a:effectRef idx="0">
              <a:schemeClr val="accent1"/>
            </a:effectRef>
            <a:fontRef idx="minor">
              <a:schemeClr val="tx1"/>
            </a:fontRef>
          </p:style>
        </p:cxnSp>
        <p:cxnSp>
          <p:nvCxnSpPr>
            <p:cNvPr id="328" name="edge-case-calc-2">
              <a:extLst>
                <a:ext uri="{FF2B5EF4-FFF2-40B4-BE49-F238E27FC236}">
                  <a16:creationId xmlns:a16="http://schemas.microsoft.com/office/drawing/2014/main" id="{B47AC9EC-77B5-B7D3-7C77-0B19E12087AA}"/>
                </a:ext>
              </a:extLst>
            </p:cNvPr>
            <p:cNvCxnSpPr/>
            <p:nvPr/>
          </p:nvCxnSpPr>
          <p:spPr>
            <a:xfrm>
              <a:off x="4106104" y="4113657"/>
              <a:ext cx="403582"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edge-method-calc-0">
              <a:extLst>
                <a:ext uri="{FF2B5EF4-FFF2-40B4-BE49-F238E27FC236}">
                  <a16:creationId xmlns:a16="http://schemas.microsoft.com/office/drawing/2014/main" id="{19FF4FDB-9A06-0173-3643-A55435B9F190}"/>
                </a:ext>
              </a:extLst>
            </p:cNvPr>
            <p:cNvCxnSpPr/>
            <p:nvPr/>
          </p:nvCxnSpPr>
          <p:spPr>
            <a:xfrm>
              <a:off x="6089667" y="3130462"/>
              <a:ext cx="0" cy="7041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edge-ai-method-0">
              <a:extLst>
                <a:ext uri="{FF2B5EF4-FFF2-40B4-BE49-F238E27FC236}">
                  <a16:creationId xmlns:a16="http://schemas.microsoft.com/office/drawing/2014/main" id="{12F88DCE-1F14-F3C3-0066-ABD280F27405}"/>
                </a:ext>
              </a:extLst>
            </p:cNvPr>
            <p:cNvCxnSpPr/>
            <p:nvPr/>
          </p:nvCxnSpPr>
          <p:spPr>
            <a:xfrm flipH="1">
              <a:off x="8073229" y="2190202"/>
              <a:ext cx="403582" cy="0"/>
            </a:xfrm>
            <a:prstGeom prst="line">
              <a:avLst/>
            </a:prstGeom>
            <a:ln w="17780">
              <a:solidFill>
                <a:srgbClr val="3764A6"/>
              </a:solidFill>
            </a:ln>
          </p:spPr>
          <p:style>
            <a:lnRef idx="1">
              <a:schemeClr val="accent1"/>
            </a:lnRef>
            <a:fillRef idx="0">
              <a:schemeClr val="accent1"/>
            </a:fillRef>
            <a:effectRef idx="0">
              <a:schemeClr val="accent1"/>
            </a:effectRef>
            <a:fontRef idx="minor">
              <a:schemeClr val="tx1"/>
            </a:fontRef>
          </p:style>
        </p:cxnSp>
        <p:cxnSp>
          <p:nvCxnSpPr>
            <p:cNvPr id="331" name="edge-ai-method-1">
              <a:extLst>
                <a:ext uri="{FF2B5EF4-FFF2-40B4-BE49-F238E27FC236}">
                  <a16:creationId xmlns:a16="http://schemas.microsoft.com/office/drawing/2014/main" id="{7B94D2C3-5D35-C5A5-286F-675ACAA60EA3}"/>
                </a:ext>
              </a:extLst>
            </p:cNvPr>
            <p:cNvCxnSpPr/>
            <p:nvPr/>
          </p:nvCxnSpPr>
          <p:spPr>
            <a:xfrm>
              <a:off x="8073229" y="2190202"/>
              <a:ext cx="0" cy="661188"/>
            </a:xfrm>
            <a:prstGeom prst="line">
              <a:avLst/>
            </a:prstGeom>
            <a:ln w="17780">
              <a:solidFill>
                <a:srgbClr val="3764A6"/>
              </a:solidFill>
            </a:ln>
          </p:spPr>
          <p:style>
            <a:lnRef idx="1">
              <a:schemeClr val="accent1"/>
            </a:lnRef>
            <a:fillRef idx="0">
              <a:schemeClr val="accent1"/>
            </a:fillRef>
            <a:effectRef idx="0">
              <a:schemeClr val="accent1"/>
            </a:effectRef>
            <a:fontRef idx="minor">
              <a:schemeClr val="tx1"/>
            </a:fontRef>
          </p:style>
        </p:cxnSp>
        <p:cxnSp>
          <p:nvCxnSpPr>
            <p:cNvPr id="332" name="edge-ai-method-2">
              <a:extLst>
                <a:ext uri="{FF2B5EF4-FFF2-40B4-BE49-F238E27FC236}">
                  <a16:creationId xmlns:a16="http://schemas.microsoft.com/office/drawing/2014/main" id="{72F5BA6D-05D5-5A51-4DDC-DBFE2DE3623A}"/>
                </a:ext>
              </a:extLst>
            </p:cNvPr>
            <p:cNvCxnSpPr/>
            <p:nvPr/>
          </p:nvCxnSpPr>
          <p:spPr>
            <a:xfrm flipH="1">
              <a:off x="7669647" y="2851390"/>
              <a:ext cx="403582"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33" name="edge-fe-be-0">
              <a:extLst>
                <a:ext uri="{FF2B5EF4-FFF2-40B4-BE49-F238E27FC236}">
                  <a16:creationId xmlns:a16="http://schemas.microsoft.com/office/drawing/2014/main" id="{22C629A8-7ADE-90FD-6DCA-F950AAE05551}"/>
                </a:ext>
              </a:extLst>
            </p:cNvPr>
            <p:cNvCxnSpPr/>
            <p:nvPr/>
          </p:nvCxnSpPr>
          <p:spPr>
            <a:xfrm>
              <a:off x="4097517" y="5938362"/>
              <a:ext cx="214671"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334" name="edge-be-data-0">
              <a:extLst>
                <a:ext uri="{FF2B5EF4-FFF2-40B4-BE49-F238E27FC236}">
                  <a16:creationId xmlns:a16="http://schemas.microsoft.com/office/drawing/2014/main" id="{179E338F-A50E-A5E8-9E27-F04ABEBACE83}"/>
                </a:ext>
              </a:extLst>
            </p:cNvPr>
            <p:cNvCxnSpPr/>
            <p:nvPr/>
          </p:nvCxnSpPr>
          <p:spPr>
            <a:xfrm>
              <a:off x="7867145" y="5938362"/>
              <a:ext cx="214671"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sp>
          <p:nvSpPr>
            <p:cNvPr id="335" name="elabel-docs-method">
              <a:extLst>
                <a:ext uri="{FF2B5EF4-FFF2-40B4-BE49-F238E27FC236}">
                  <a16:creationId xmlns:a16="http://schemas.microsoft.com/office/drawing/2014/main" id="{0465690C-B2F6-656A-EDEC-DFC580F2FACB}"/>
                </a:ext>
              </a:extLst>
            </p:cNvPr>
            <p:cNvSpPr txBox="1"/>
            <p:nvPr/>
          </p:nvSpPr>
          <p:spPr>
            <a:xfrm>
              <a:off x="3750504" y="1964634"/>
              <a:ext cx="711200" cy="276999"/>
            </a:xfrm>
            <a:prstGeom prst="rect">
              <a:avLst/>
            </a:prstGeom>
            <a:solidFill>
              <a:srgbClr val="FFFFFF"/>
            </a:solid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原文与公式</a:t>
              </a:r>
            </a:p>
          </p:txBody>
        </p:sp>
        <p:sp>
          <p:nvSpPr>
            <p:cNvPr id="336" name="elabel-link-case">
              <a:extLst>
                <a:ext uri="{FF2B5EF4-FFF2-40B4-BE49-F238E27FC236}">
                  <a16:creationId xmlns:a16="http://schemas.microsoft.com/office/drawing/2014/main" id="{9CDB8155-4673-88CF-FFE1-005FE8A47A16}"/>
                </a:ext>
              </a:extLst>
            </p:cNvPr>
            <p:cNvSpPr txBox="1"/>
            <p:nvPr/>
          </p:nvSpPr>
          <p:spPr>
            <a:xfrm>
              <a:off x="1843142" y="3342823"/>
              <a:ext cx="558800" cy="276999"/>
            </a:xfrm>
            <a:prstGeom prst="rect">
              <a:avLst/>
            </a:prstGeom>
            <a:solidFill>
              <a:srgbClr val="FFFFFF"/>
            </a:solid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来源关联</a:t>
              </a:r>
            </a:p>
          </p:txBody>
        </p:sp>
        <p:sp>
          <p:nvSpPr>
            <p:cNvPr id="337" name="elabel-case-calc">
              <a:extLst>
                <a:ext uri="{FF2B5EF4-FFF2-40B4-BE49-F238E27FC236}">
                  <a16:creationId xmlns:a16="http://schemas.microsoft.com/office/drawing/2014/main" id="{7A2DE781-5452-89CA-2742-70DC8D5611C2}"/>
                </a:ext>
              </a:extLst>
            </p:cNvPr>
            <p:cNvSpPr txBox="1"/>
            <p:nvPr/>
          </p:nvSpPr>
          <p:spPr>
            <a:xfrm>
              <a:off x="3938333" y="4218682"/>
              <a:ext cx="558800" cy="276999"/>
            </a:xfrm>
            <a:prstGeom prst="rect">
              <a:avLst/>
            </a:prstGeom>
            <a:solidFill>
              <a:srgbClr val="FFFFFF"/>
            </a:solid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一键调用</a:t>
              </a:r>
            </a:p>
          </p:txBody>
        </p:sp>
        <p:sp>
          <p:nvSpPr>
            <p:cNvPr id="338" name="elabel-method-calc">
              <a:extLst>
                <a:ext uri="{FF2B5EF4-FFF2-40B4-BE49-F238E27FC236}">
                  <a16:creationId xmlns:a16="http://schemas.microsoft.com/office/drawing/2014/main" id="{2C09947C-F5FB-778F-42AF-E6C60DADFE81}"/>
                </a:ext>
              </a:extLst>
            </p:cNvPr>
            <p:cNvSpPr txBox="1"/>
            <p:nvPr/>
          </p:nvSpPr>
          <p:spPr>
            <a:xfrm>
              <a:off x="5810267" y="3342823"/>
              <a:ext cx="558800" cy="276999"/>
            </a:xfrm>
            <a:prstGeom prst="rect">
              <a:avLst/>
            </a:prstGeom>
            <a:solidFill>
              <a:srgbClr val="FFFFFF"/>
            </a:solid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统一接口</a:t>
              </a:r>
            </a:p>
          </p:txBody>
        </p:sp>
        <p:sp>
          <p:nvSpPr>
            <p:cNvPr id="339" name="elabel-ai-method">
              <a:extLst>
                <a:ext uri="{FF2B5EF4-FFF2-40B4-BE49-F238E27FC236}">
                  <a16:creationId xmlns:a16="http://schemas.microsoft.com/office/drawing/2014/main" id="{A9C30DB5-78E1-DFE8-5748-12DE17869795}"/>
                </a:ext>
              </a:extLst>
            </p:cNvPr>
            <p:cNvSpPr txBox="1"/>
            <p:nvPr/>
          </p:nvSpPr>
          <p:spPr>
            <a:xfrm>
              <a:off x="7621658" y="2295227"/>
              <a:ext cx="800100" cy="276999"/>
            </a:xfrm>
            <a:prstGeom prst="rect">
              <a:avLst/>
            </a:prstGeom>
            <a:solidFill>
              <a:srgbClr val="FFFFFF"/>
            </a:solid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调用生产方法</a:t>
              </a:r>
            </a:p>
          </p:txBody>
        </p:sp>
        <p:sp>
          <p:nvSpPr>
            <p:cNvPr id="340" name="elabel-fe-be">
              <a:extLst>
                <a:ext uri="{FF2B5EF4-FFF2-40B4-BE49-F238E27FC236}">
                  <a16:creationId xmlns:a16="http://schemas.microsoft.com/office/drawing/2014/main" id="{5816A790-ACCC-4A7F-A9DE-A0A64E3B19E2}"/>
                </a:ext>
              </a:extLst>
            </p:cNvPr>
            <p:cNvSpPr txBox="1"/>
            <p:nvPr/>
          </p:nvSpPr>
          <p:spPr>
            <a:xfrm>
              <a:off x="3569853" y="5334972"/>
              <a:ext cx="1270000" cy="276999"/>
            </a:xfrm>
            <a:prstGeom prst="rect">
              <a:avLst/>
            </a:prstGeom>
            <a:noFill/>
          </p:spPr>
          <p:txBody>
            <a:bodyPr vert="horz" wrap="square" lIns="0" tIns="0" rIns="0" bIns="0" rtlCol="0">
              <a:noAutofit/>
            </a:bodyPr>
            <a:lstStyle/>
            <a:p>
              <a:pPr algn="ctr"/>
              <a:r>
                <a:rPr lang="en-US" altLang="zh-CN" sz="950" dirty="0">
                  <a:solidFill>
                    <a:srgbClr val="466590"/>
                  </a:solidFill>
                  <a:ea typeface="微软雅黑" panose="020B0503020204020204" pitchFamily="34" charset="-122"/>
                </a:rPr>
                <a:t>REST API / JSON</a:t>
              </a:r>
              <a:endParaRPr lang="zh-CN" altLang="en-US" sz="950" dirty="0">
                <a:solidFill>
                  <a:srgbClr val="466590"/>
                </a:solidFill>
                <a:ea typeface="微软雅黑" panose="020B0503020204020204" pitchFamily="34" charset="-122"/>
              </a:endParaRPr>
            </a:p>
          </p:txBody>
        </p:sp>
        <p:sp>
          <p:nvSpPr>
            <p:cNvPr id="341" name="elabel-be-data">
              <a:extLst>
                <a:ext uri="{FF2B5EF4-FFF2-40B4-BE49-F238E27FC236}">
                  <a16:creationId xmlns:a16="http://schemas.microsoft.com/office/drawing/2014/main" id="{60B06EB2-BDCA-2D5A-0251-4D7D034A7502}"/>
                </a:ext>
              </a:extLst>
            </p:cNvPr>
            <p:cNvSpPr txBox="1"/>
            <p:nvPr/>
          </p:nvSpPr>
          <p:spPr>
            <a:xfrm>
              <a:off x="7275981" y="5334972"/>
              <a:ext cx="1397000" cy="276999"/>
            </a:xfrm>
            <a:prstGeom prst="rect">
              <a:avLst/>
            </a:prstGeom>
            <a:noFill/>
          </p:spPr>
          <p:txBody>
            <a:bodyPr vert="horz" wrap="square" lIns="0" tIns="0" rIns="0" bIns="0" rtlCol="0">
              <a:noAutofit/>
            </a:bodyPr>
            <a:lstStyle/>
            <a:p>
              <a:pPr algn="ctr"/>
              <a:r>
                <a:rPr lang="zh-CN" altLang="en-US" sz="950" dirty="0">
                  <a:solidFill>
                    <a:srgbClr val="466590"/>
                  </a:solidFill>
                  <a:ea typeface="微软雅黑" panose="020B0503020204020204" pitchFamily="34" charset="-122"/>
                </a:rPr>
                <a:t>读取方法与案例数据</a:t>
              </a:r>
            </a:p>
          </p:txBody>
        </p:sp>
      </p:grpSp>
      <p:sp>
        <p:nvSpPr>
          <p:cNvPr id="2" name="文本框 1">
            <a:extLst>
              <a:ext uri="{FF2B5EF4-FFF2-40B4-BE49-F238E27FC236}">
                <a16:creationId xmlns:a16="http://schemas.microsoft.com/office/drawing/2014/main" id="{F7894A2B-D884-A053-5E40-E34224A48EEA}"/>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3" name="直接连接符 2">
            <a:extLst>
              <a:ext uri="{FF2B5EF4-FFF2-40B4-BE49-F238E27FC236}">
                <a16:creationId xmlns:a16="http://schemas.microsoft.com/office/drawing/2014/main" id="{5237B200-D6AA-8115-83EA-A879D4AE6EBB}"/>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01412BD2-41B9-B0FA-0755-315379915DF4}"/>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spTree>
    <p:extLst>
      <p:ext uri="{BB962C8B-B14F-4D97-AF65-F5344CB8AC3E}">
        <p14:creationId xmlns:p14="http://schemas.microsoft.com/office/powerpoint/2010/main" val="4061521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7A7C-DE93-DE87-341B-E81805EB918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DBFEEEE-E245-9C5C-04C8-553E10B42DF6}"/>
              </a:ext>
            </a:extLst>
          </p:cNvPr>
          <p:cNvSpPr txBox="1"/>
          <p:nvPr/>
        </p:nvSpPr>
        <p:spPr>
          <a:xfrm>
            <a:off x="86140" y="846307"/>
            <a:ext cx="11911467" cy="461665"/>
          </a:xfrm>
          <a:prstGeom prst="rect">
            <a:avLst/>
          </a:prstGeom>
          <a:noFill/>
        </p:spPr>
        <p:txBody>
          <a:bodyPr wrap="square" rtlCol="0">
            <a:spAutoFit/>
          </a:bodyPr>
          <a:lstStyle/>
          <a:p>
            <a:pPr marL="323850"/>
            <a:r>
              <a:rPr lang="en-US" altLang="zh-CN" sz="2400" b="1" spc="-150" dirty="0">
                <a:solidFill>
                  <a:schemeClr val="bg1"/>
                </a:solidFill>
                <a:latin typeface="汉仪文润宋韵 U" pitchFamily="2" charset="-122"/>
                <a:ea typeface="汉仪文润宋韵 U" pitchFamily="2" charset="-122"/>
              </a:rPr>
              <a:t>Weibull</a:t>
            </a:r>
            <a:r>
              <a:rPr lang="zh-CN" altLang="en-US" sz="2400" b="1" spc="-150" dirty="0">
                <a:solidFill>
                  <a:schemeClr val="bg1"/>
                </a:solidFill>
                <a:latin typeface="汉仪文润宋韵 U" pitchFamily="2" charset="-122"/>
                <a:ea typeface="汉仪文润宋韵 U" pitchFamily="2" charset="-122"/>
              </a:rPr>
              <a:t>平台与毕业课题</a:t>
            </a:r>
          </a:p>
        </p:txBody>
      </p:sp>
      <p:grpSp>
        <p:nvGrpSpPr>
          <p:cNvPr id="133" name="组合 132">
            <a:extLst>
              <a:ext uri="{FF2B5EF4-FFF2-40B4-BE49-F238E27FC236}">
                <a16:creationId xmlns:a16="http://schemas.microsoft.com/office/drawing/2014/main" id="{F07D6366-5E46-413C-05E0-53FB3278C99D}"/>
              </a:ext>
            </a:extLst>
          </p:cNvPr>
          <p:cNvGrpSpPr/>
          <p:nvPr/>
        </p:nvGrpSpPr>
        <p:grpSpPr>
          <a:xfrm>
            <a:off x="435011" y="1715408"/>
            <a:ext cx="11248989" cy="2879403"/>
            <a:chOff x="435011" y="1858619"/>
            <a:chExt cx="10879367" cy="2879403"/>
          </a:xfrm>
        </p:grpSpPr>
        <p:sp>
          <p:nvSpPr>
            <p:cNvPr id="71" name="flow-lane-0">
              <a:extLst>
                <a:ext uri="{FF2B5EF4-FFF2-40B4-BE49-F238E27FC236}">
                  <a16:creationId xmlns:a16="http://schemas.microsoft.com/office/drawing/2014/main" id="{BE0CC2A5-3C63-9BA9-DE94-2909E28EF04D}"/>
                </a:ext>
              </a:extLst>
            </p:cNvPr>
            <p:cNvSpPr/>
            <p:nvPr/>
          </p:nvSpPr>
          <p:spPr>
            <a:xfrm>
              <a:off x="435011" y="1858619"/>
              <a:ext cx="10879367" cy="1327774"/>
            </a:xfrm>
            <a:prstGeom prst="roundRect">
              <a:avLst>
                <a:gd name="adj" fmla="val 9000"/>
              </a:avLst>
            </a:prstGeom>
            <a:noFill/>
            <a:ln w="12700" cap="flat" cmpd="sng" algn="ctr">
              <a:solidFill>
                <a:srgbClr val="C9D8E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flow-lane-1">
              <a:extLst>
                <a:ext uri="{FF2B5EF4-FFF2-40B4-BE49-F238E27FC236}">
                  <a16:creationId xmlns:a16="http://schemas.microsoft.com/office/drawing/2014/main" id="{9ECE2509-7C80-C388-CC4B-076DA1A1B59A}"/>
                </a:ext>
              </a:extLst>
            </p:cNvPr>
            <p:cNvSpPr/>
            <p:nvPr/>
          </p:nvSpPr>
          <p:spPr>
            <a:xfrm>
              <a:off x="435011" y="3410247"/>
              <a:ext cx="10879367" cy="1327775"/>
            </a:xfrm>
            <a:prstGeom prst="roundRect">
              <a:avLst>
                <a:gd name="adj" fmla="val 9000"/>
              </a:avLst>
            </a:prstGeom>
            <a:noFill/>
            <a:ln w="12700" cap="flat" cmpd="sng" algn="ctr">
              <a:solidFill>
                <a:srgbClr val="C9D8E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flow-lane-label-0">
              <a:extLst>
                <a:ext uri="{FF2B5EF4-FFF2-40B4-BE49-F238E27FC236}">
                  <a16:creationId xmlns:a16="http://schemas.microsoft.com/office/drawing/2014/main" id="{B9B08925-F946-9914-9421-BBEA9C3C6388}"/>
                </a:ext>
              </a:extLst>
            </p:cNvPr>
            <p:cNvSpPr txBox="1"/>
            <p:nvPr/>
          </p:nvSpPr>
          <p:spPr>
            <a:xfrm>
              <a:off x="609821" y="1933421"/>
              <a:ext cx="3302000" cy="276999"/>
            </a:xfrm>
            <a:prstGeom prst="rect">
              <a:avLst/>
            </a:prstGeom>
            <a:noFill/>
          </p:spPr>
          <p:txBody>
            <a:bodyPr vert="horz" wrap="square" lIns="0" tIns="0" rIns="0" bIns="0" rtlCol="0">
              <a:noAutofit/>
            </a:bodyPr>
            <a:lstStyle/>
            <a:p>
              <a:r>
                <a:rPr lang="en-US" altLang="zh-CN" sz="1400" b="1" dirty="0">
                  <a:solidFill>
                    <a:srgbClr val="5B7290"/>
                  </a:solidFill>
                  <a:ea typeface="微软雅黑" panose="020B0503020204020204" pitchFamily="34" charset="-122"/>
                </a:rPr>
                <a:t>01 / </a:t>
              </a:r>
              <a:r>
                <a:rPr lang="zh-CN" altLang="en-US" sz="1400" b="1" dirty="0">
                  <a:solidFill>
                    <a:srgbClr val="5B7290"/>
                  </a:solidFill>
                  <a:ea typeface="微软雅黑" panose="020B0503020204020204" pitchFamily="34" charset="-122"/>
                </a:rPr>
                <a:t>参数估计流程</a:t>
              </a:r>
            </a:p>
          </p:txBody>
        </p:sp>
        <p:sp>
          <p:nvSpPr>
            <p:cNvPr id="74" name="flow-lane-label-1">
              <a:extLst>
                <a:ext uri="{FF2B5EF4-FFF2-40B4-BE49-F238E27FC236}">
                  <a16:creationId xmlns:a16="http://schemas.microsoft.com/office/drawing/2014/main" id="{F8C489C8-62A5-161B-6591-B3D10DE89899}"/>
                </a:ext>
              </a:extLst>
            </p:cNvPr>
            <p:cNvSpPr txBox="1"/>
            <p:nvPr/>
          </p:nvSpPr>
          <p:spPr>
            <a:xfrm>
              <a:off x="591709" y="3520416"/>
              <a:ext cx="3302000" cy="276999"/>
            </a:xfrm>
            <a:prstGeom prst="rect">
              <a:avLst/>
            </a:prstGeom>
            <a:noFill/>
          </p:spPr>
          <p:txBody>
            <a:bodyPr vert="horz" wrap="square" lIns="0" tIns="0" rIns="0" bIns="0" rtlCol="0">
              <a:noAutofit/>
            </a:bodyPr>
            <a:lstStyle/>
            <a:p>
              <a:r>
                <a:rPr lang="en-US" altLang="zh-CN" sz="1400" b="1" dirty="0">
                  <a:solidFill>
                    <a:srgbClr val="5B7290"/>
                  </a:solidFill>
                  <a:ea typeface="微软雅黑" panose="020B0503020204020204" pitchFamily="34" charset="-122"/>
                </a:rPr>
                <a:t>02 / </a:t>
              </a:r>
              <a:r>
                <a:rPr lang="zh-CN" altLang="en-US" sz="1400" b="1" dirty="0">
                  <a:solidFill>
                    <a:srgbClr val="5B7290"/>
                  </a:solidFill>
                  <a:ea typeface="微软雅黑" panose="020B0503020204020204" pitchFamily="34" charset="-122"/>
                </a:rPr>
                <a:t>人工智能介入</a:t>
              </a:r>
            </a:p>
          </p:txBody>
        </p:sp>
        <p:sp>
          <p:nvSpPr>
            <p:cNvPr id="84" name="flow-node-samples">
              <a:extLst>
                <a:ext uri="{FF2B5EF4-FFF2-40B4-BE49-F238E27FC236}">
                  <a16:creationId xmlns:a16="http://schemas.microsoft.com/office/drawing/2014/main" id="{1447DA2C-CA8F-551C-2C98-12248B9B5D03}"/>
                </a:ext>
              </a:extLst>
            </p:cNvPr>
            <p:cNvSpPr/>
            <p:nvPr/>
          </p:nvSpPr>
          <p:spPr>
            <a:xfrm>
              <a:off x="524553" y="2470055"/>
              <a:ext cx="1522215"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小样本数据</a:t>
              </a:r>
            </a:p>
            <a:p>
              <a:pPr algn="ctr"/>
              <a:r>
                <a:rPr lang="zh-CN" altLang="en-US" sz="1000" dirty="0">
                  <a:solidFill>
                    <a:srgbClr val="466590"/>
                  </a:solidFill>
                  <a:ea typeface="微软雅黑" panose="020B0503020204020204" pitchFamily="34" charset="-122"/>
                </a:rPr>
                <a:t>试验寿命样本</a:t>
              </a:r>
            </a:p>
          </p:txBody>
        </p:sp>
        <p:sp>
          <p:nvSpPr>
            <p:cNvPr id="86" name="flow-node-represent">
              <a:extLst>
                <a:ext uri="{FF2B5EF4-FFF2-40B4-BE49-F238E27FC236}">
                  <a16:creationId xmlns:a16="http://schemas.microsoft.com/office/drawing/2014/main" id="{B60EC529-ECEC-9BAD-2E4D-9E2BBD4A48A9}"/>
                </a:ext>
              </a:extLst>
            </p:cNvPr>
            <p:cNvSpPr/>
            <p:nvPr/>
          </p:nvSpPr>
          <p:spPr>
            <a:xfrm>
              <a:off x="2360166" y="2470055"/>
              <a:ext cx="1522216"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样本处理与表征</a:t>
              </a:r>
            </a:p>
            <a:p>
              <a:pPr algn="ctr"/>
              <a:r>
                <a:rPr lang="zh-CN" altLang="en-US" sz="1000" dirty="0">
                  <a:solidFill>
                    <a:srgbClr val="466590"/>
                  </a:solidFill>
                  <a:ea typeface="微软雅黑" panose="020B0503020204020204" pitchFamily="34" charset="-122"/>
                </a:rPr>
                <a:t>特征提取与信息利用</a:t>
              </a:r>
            </a:p>
          </p:txBody>
        </p:sp>
        <p:sp>
          <p:nvSpPr>
            <p:cNvPr id="88" name="flow-node-select">
              <a:extLst>
                <a:ext uri="{FF2B5EF4-FFF2-40B4-BE49-F238E27FC236}">
                  <a16:creationId xmlns:a16="http://schemas.microsoft.com/office/drawing/2014/main" id="{A2FA1127-F5A4-3056-B600-0003A9E645D6}"/>
                </a:ext>
              </a:extLst>
            </p:cNvPr>
            <p:cNvSpPr/>
            <p:nvPr/>
          </p:nvSpPr>
          <p:spPr>
            <a:xfrm>
              <a:off x="4195779" y="2470055"/>
              <a:ext cx="1522216"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方法选择</a:t>
              </a:r>
            </a:p>
            <a:p>
              <a:pPr algn="ctr"/>
              <a:r>
                <a:rPr lang="zh-CN" altLang="en-US" sz="1000" dirty="0">
                  <a:solidFill>
                    <a:srgbClr val="466590"/>
                  </a:solidFill>
                  <a:ea typeface="微软雅黑" panose="020B0503020204020204" pitchFamily="34" charset="-122"/>
                </a:rPr>
                <a:t>候选方法之间选择</a:t>
              </a:r>
            </a:p>
          </p:txBody>
        </p:sp>
        <p:sp>
          <p:nvSpPr>
            <p:cNvPr id="89" name="flow-node-setting">
              <a:extLst>
                <a:ext uri="{FF2B5EF4-FFF2-40B4-BE49-F238E27FC236}">
                  <a16:creationId xmlns:a16="http://schemas.microsoft.com/office/drawing/2014/main" id="{E5F06535-7D20-1F1F-F60C-2894B8B1CCFB}"/>
                </a:ext>
              </a:extLst>
            </p:cNvPr>
            <p:cNvSpPr/>
            <p:nvPr/>
          </p:nvSpPr>
          <p:spPr>
            <a:xfrm>
              <a:off x="6031393" y="2470055"/>
              <a:ext cx="1522216"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过程量设置</a:t>
              </a:r>
            </a:p>
            <a:p>
              <a:pPr algn="ctr"/>
              <a:r>
                <a:rPr lang="zh-CN" altLang="en-US" sz="1000" dirty="0">
                  <a:solidFill>
                    <a:srgbClr val="466590"/>
                  </a:solidFill>
                  <a:ea typeface="微软雅黑" panose="020B0503020204020204" pitchFamily="34" charset="-122"/>
                </a:rPr>
                <a:t>估计器内部参数</a:t>
              </a:r>
            </a:p>
          </p:txBody>
        </p:sp>
        <p:sp>
          <p:nvSpPr>
            <p:cNvPr id="90" name="flow-node-solve">
              <a:extLst>
                <a:ext uri="{FF2B5EF4-FFF2-40B4-BE49-F238E27FC236}">
                  <a16:creationId xmlns:a16="http://schemas.microsoft.com/office/drawing/2014/main" id="{19DCEBB6-83B1-CBD0-AE89-ECB991153C4F}"/>
                </a:ext>
              </a:extLst>
            </p:cNvPr>
            <p:cNvSpPr/>
            <p:nvPr/>
          </p:nvSpPr>
          <p:spPr>
            <a:xfrm>
              <a:off x="7867006" y="2470055"/>
              <a:ext cx="1522215"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求解计算</a:t>
              </a:r>
            </a:p>
            <a:p>
              <a:pPr algn="ctr"/>
              <a:r>
                <a:rPr lang="zh-CN" altLang="en-US" sz="1000" dirty="0">
                  <a:solidFill>
                    <a:srgbClr val="466590"/>
                  </a:solidFill>
                  <a:ea typeface="微软雅黑" panose="020B0503020204020204" pitchFamily="34" charset="-122"/>
                </a:rPr>
                <a:t>初值、边界与迭代</a:t>
              </a:r>
            </a:p>
          </p:txBody>
        </p:sp>
        <p:sp>
          <p:nvSpPr>
            <p:cNvPr id="94" name="flow-node-output">
              <a:extLst>
                <a:ext uri="{FF2B5EF4-FFF2-40B4-BE49-F238E27FC236}">
                  <a16:creationId xmlns:a16="http://schemas.microsoft.com/office/drawing/2014/main" id="{3302A4D5-CF1B-BDD9-C021-BAE828B029D3}"/>
                </a:ext>
              </a:extLst>
            </p:cNvPr>
            <p:cNvSpPr/>
            <p:nvPr/>
          </p:nvSpPr>
          <p:spPr>
            <a:xfrm>
              <a:off x="9702619" y="2470055"/>
              <a:ext cx="1522216" cy="582024"/>
            </a:xfrm>
            <a:prstGeom prst="roundRect">
              <a:avLst>
                <a:gd name="adj" fmla="val 12000"/>
              </a:avLst>
            </a:prstGeom>
            <a:solidFill>
              <a:srgbClr val="FFFFFF"/>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结果修正与输出</a:t>
              </a:r>
            </a:p>
            <a:p>
              <a:pPr algn="ctr"/>
              <a:r>
                <a:rPr lang="en-US" altLang="zh-CN" sz="1000" dirty="0">
                  <a:solidFill>
                    <a:srgbClr val="466590"/>
                  </a:solidFill>
                  <a:ea typeface="微软雅黑" panose="020B0503020204020204" pitchFamily="34" charset="-122"/>
                </a:rPr>
                <a:t>β</a:t>
              </a:r>
              <a:r>
                <a:rPr lang="zh-CN" altLang="en-US" sz="1000" dirty="0">
                  <a:solidFill>
                    <a:srgbClr val="466590"/>
                  </a:solidFill>
                  <a:ea typeface="微软雅黑" panose="020B0503020204020204" pitchFamily="34" charset="-122"/>
                </a:rPr>
                <a:t>、</a:t>
              </a:r>
              <a:r>
                <a:rPr lang="en-US" altLang="zh-CN" sz="1000" dirty="0">
                  <a:solidFill>
                    <a:srgbClr val="466590"/>
                  </a:solidFill>
                  <a:ea typeface="微软雅黑" panose="020B0503020204020204" pitchFamily="34" charset="-122"/>
                </a:rPr>
                <a:t>η</a:t>
              </a:r>
              <a:r>
                <a:rPr lang="zh-CN" altLang="en-US" sz="1000" dirty="0">
                  <a:solidFill>
                    <a:srgbClr val="466590"/>
                  </a:solidFill>
                  <a:ea typeface="微软雅黑" panose="020B0503020204020204" pitchFamily="34" charset="-122"/>
                </a:rPr>
                <a:t>、</a:t>
              </a:r>
              <a:r>
                <a:rPr lang="en-US" altLang="zh-CN" sz="1000" dirty="0">
                  <a:solidFill>
                    <a:srgbClr val="466590"/>
                  </a:solidFill>
                  <a:ea typeface="微软雅黑" panose="020B0503020204020204" pitchFamily="34" charset="-122"/>
                </a:rPr>
                <a:t>γ </a:t>
              </a:r>
              <a:r>
                <a:rPr lang="zh-CN" altLang="en-US" sz="1000" dirty="0">
                  <a:solidFill>
                    <a:srgbClr val="466590"/>
                  </a:solidFill>
                  <a:ea typeface="微软雅黑" panose="020B0503020204020204" pitchFamily="34" charset="-122"/>
                </a:rPr>
                <a:t>参数估计</a:t>
              </a:r>
            </a:p>
          </p:txBody>
        </p:sp>
        <p:sp>
          <p:nvSpPr>
            <p:cNvPr id="95" name="flow-node-ai-represent">
              <a:extLst>
                <a:ext uri="{FF2B5EF4-FFF2-40B4-BE49-F238E27FC236}">
                  <a16:creationId xmlns:a16="http://schemas.microsoft.com/office/drawing/2014/main" id="{F3A67DD9-162B-FC16-490F-D31F51E735F5}"/>
                </a:ext>
              </a:extLst>
            </p:cNvPr>
            <p:cNvSpPr/>
            <p:nvPr/>
          </p:nvSpPr>
          <p:spPr>
            <a:xfrm>
              <a:off x="2404937" y="3790801"/>
              <a:ext cx="1432674" cy="761108"/>
            </a:xfrm>
            <a:prstGeom prst="roundRect">
              <a:avLst>
                <a:gd name="adj" fmla="val 12000"/>
              </a:avLst>
            </a:prstGeom>
            <a:solidFill>
              <a:srgbClr val="FFFFFF"/>
            </a:solidFill>
            <a:ln w="2286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样本表征学习</a:t>
              </a:r>
            </a:p>
            <a:p>
              <a:pPr algn="ctr"/>
              <a:r>
                <a:rPr lang="zh-CN" altLang="en-US" sz="1000" dirty="0">
                  <a:solidFill>
                    <a:srgbClr val="466590"/>
                  </a:solidFill>
                  <a:ea typeface="微软雅黑" panose="020B0503020204020204" pitchFamily="34" charset="-122"/>
                </a:rPr>
                <a:t>更充分利用小样本信息</a:t>
              </a:r>
            </a:p>
          </p:txBody>
        </p:sp>
        <p:sp>
          <p:nvSpPr>
            <p:cNvPr id="97" name="flow-node-ai-select">
              <a:extLst>
                <a:ext uri="{FF2B5EF4-FFF2-40B4-BE49-F238E27FC236}">
                  <a16:creationId xmlns:a16="http://schemas.microsoft.com/office/drawing/2014/main" id="{2FF2007C-2822-00D4-A536-3DE2E78D49DE}"/>
                </a:ext>
              </a:extLst>
            </p:cNvPr>
            <p:cNvSpPr/>
            <p:nvPr/>
          </p:nvSpPr>
          <p:spPr>
            <a:xfrm>
              <a:off x="4240550" y="3790801"/>
              <a:ext cx="1432674" cy="761108"/>
            </a:xfrm>
            <a:prstGeom prst="roundRect">
              <a:avLst>
                <a:gd name="adj" fmla="val 12000"/>
              </a:avLst>
            </a:prstGeom>
            <a:solidFill>
              <a:srgbClr val="FFFFFF"/>
            </a:solidFill>
            <a:ln w="2286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自适应选择</a:t>
              </a:r>
            </a:p>
            <a:p>
              <a:pPr algn="ctr"/>
              <a:r>
                <a:rPr lang="zh-CN" altLang="en-US" sz="1000" dirty="0">
                  <a:solidFill>
                    <a:srgbClr val="466590"/>
                  </a:solidFill>
                  <a:ea typeface="微软雅黑" panose="020B0503020204020204" pitchFamily="34" charset="-122"/>
                </a:rPr>
                <a:t>按样本选择合适方法</a:t>
              </a:r>
            </a:p>
          </p:txBody>
        </p:sp>
        <p:sp>
          <p:nvSpPr>
            <p:cNvPr id="101" name="flow-node-ai-setting">
              <a:extLst>
                <a:ext uri="{FF2B5EF4-FFF2-40B4-BE49-F238E27FC236}">
                  <a16:creationId xmlns:a16="http://schemas.microsoft.com/office/drawing/2014/main" id="{6537420B-534E-C755-9107-A89382A14ED5}"/>
                </a:ext>
              </a:extLst>
            </p:cNvPr>
            <p:cNvSpPr/>
            <p:nvPr/>
          </p:nvSpPr>
          <p:spPr>
            <a:xfrm>
              <a:off x="6076164" y="3790801"/>
              <a:ext cx="1432674" cy="761108"/>
            </a:xfrm>
            <a:prstGeom prst="roundRect">
              <a:avLst>
                <a:gd name="adj" fmla="val 12000"/>
              </a:avLst>
            </a:prstGeom>
            <a:solidFill>
              <a:srgbClr val="FFFFFF"/>
            </a:solidFill>
            <a:ln w="22860">
              <a:solidFill>
                <a:srgbClr val="B9571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B95714"/>
                  </a:solidFill>
                  <a:ea typeface="微软雅黑" panose="020B0503020204020204" pitchFamily="34" charset="-122"/>
                </a:rPr>
                <a:t>过程量优化</a:t>
              </a:r>
            </a:p>
            <a:p>
              <a:pPr algn="ctr"/>
              <a:r>
                <a:rPr lang="zh-CN" altLang="en-US" sz="1000" dirty="0">
                  <a:solidFill>
                    <a:srgbClr val="466590"/>
                  </a:solidFill>
                  <a:ea typeface="微软雅黑" panose="020B0503020204020204" pitchFamily="34" charset="-122"/>
                </a:rPr>
                <a:t>按样本调整过程量</a:t>
              </a:r>
            </a:p>
          </p:txBody>
        </p:sp>
        <p:sp>
          <p:nvSpPr>
            <p:cNvPr id="102" name="flow-node-ai-solve">
              <a:extLst>
                <a:ext uri="{FF2B5EF4-FFF2-40B4-BE49-F238E27FC236}">
                  <a16:creationId xmlns:a16="http://schemas.microsoft.com/office/drawing/2014/main" id="{77634D05-E7B5-F061-1C2B-01EB2D02280B}"/>
                </a:ext>
              </a:extLst>
            </p:cNvPr>
            <p:cNvSpPr/>
            <p:nvPr/>
          </p:nvSpPr>
          <p:spPr>
            <a:xfrm>
              <a:off x="7911777" y="3790801"/>
              <a:ext cx="1432674" cy="761108"/>
            </a:xfrm>
            <a:prstGeom prst="roundRect">
              <a:avLst>
                <a:gd name="adj" fmla="val 12000"/>
              </a:avLst>
            </a:prstGeom>
            <a:solidFill>
              <a:srgbClr val="FFFFFF"/>
            </a:solidFill>
            <a:ln w="2286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求解优化</a:t>
              </a:r>
            </a:p>
            <a:p>
              <a:pPr algn="ctr"/>
              <a:r>
                <a:rPr lang="zh-CN" altLang="en-US" sz="1000" dirty="0">
                  <a:solidFill>
                    <a:srgbClr val="466590"/>
                  </a:solidFill>
                  <a:ea typeface="微软雅黑" panose="020B0503020204020204" pitchFamily="34" charset="-122"/>
                </a:rPr>
                <a:t>初值、边界与失败处理</a:t>
              </a:r>
            </a:p>
          </p:txBody>
        </p:sp>
        <p:sp>
          <p:nvSpPr>
            <p:cNvPr id="103" name="flow-node-ai-correct">
              <a:extLst>
                <a:ext uri="{FF2B5EF4-FFF2-40B4-BE49-F238E27FC236}">
                  <a16:creationId xmlns:a16="http://schemas.microsoft.com/office/drawing/2014/main" id="{C5A82908-4899-DC78-DD7D-D5E73BD3C64E}"/>
                </a:ext>
              </a:extLst>
            </p:cNvPr>
            <p:cNvSpPr/>
            <p:nvPr/>
          </p:nvSpPr>
          <p:spPr>
            <a:xfrm>
              <a:off x="9747390" y="3790801"/>
              <a:ext cx="1432674" cy="761108"/>
            </a:xfrm>
            <a:prstGeom prst="roundRect">
              <a:avLst>
                <a:gd name="adj" fmla="val 12000"/>
              </a:avLst>
            </a:prstGeom>
            <a:solidFill>
              <a:srgbClr val="FFFFFF"/>
            </a:solidFill>
            <a:ln w="2286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400" dirty="0">
                  <a:solidFill>
                    <a:srgbClr val="315995"/>
                  </a:solidFill>
                  <a:ea typeface="微软雅黑" panose="020B0503020204020204" pitchFamily="34" charset="-122"/>
                </a:rPr>
                <a:t>偏差修正</a:t>
              </a:r>
            </a:p>
            <a:p>
              <a:pPr algn="ctr"/>
              <a:r>
                <a:rPr lang="zh-CN" altLang="en-US" sz="1000" dirty="0">
                  <a:solidFill>
                    <a:srgbClr val="466590"/>
                  </a:solidFill>
                  <a:ea typeface="微软雅黑" panose="020B0503020204020204" pitchFamily="34" charset="-122"/>
                </a:rPr>
                <a:t>有限样本估计修正</a:t>
              </a:r>
            </a:p>
          </p:txBody>
        </p:sp>
        <p:cxnSp>
          <p:nvCxnSpPr>
            <p:cNvPr id="104" name="flow-edge-h-0">
              <a:extLst>
                <a:ext uri="{FF2B5EF4-FFF2-40B4-BE49-F238E27FC236}">
                  <a16:creationId xmlns:a16="http://schemas.microsoft.com/office/drawing/2014/main" id="{08AFDA92-B3B9-751C-1838-590B63413B12}"/>
                </a:ext>
              </a:extLst>
            </p:cNvPr>
            <p:cNvCxnSpPr/>
            <p:nvPr/>
          </p:nvCxnSpPr>
          <p:spPr>
            <a:xfrm>
              <a:off x="2046769" y="2761067"/>
              <a:ext cx="313397"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flow-edge-h-1">
              <a:extLst>
                <a:ext uri="{FF2B5EF4-FFF2-40B4-BE49-F238E27FC236}">
                  <a16:creationId xmlns:a16="http://schemas.microsoft.com/office/drawing/2014/main" id="{A70A5E37-34C2-F029-2BA4-B7A5AE6C089B}"/>
                </a:ext>
              </a:extLst>
            </p:cNvPr>
            <p:cNvCxnSpPr/>
            <p:nvPr/>
          </p:nvCxnSpPr>
          <p:spPr>
            <a:xfrm>
              <a:off x="3882382" y="2761067"/>
              <a:ext cx="313397"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flow-edge-h-2">
              <a:extLst>
                <a:ext uri="{FF2B5EF4-FFF2-40B4-BE49-F238E27FC236}">
                  <a16:creationId xmlns:a16="http://schemas.microsoft.com/office/drawing/2014/main" id="{972E9463-2AE3-EB9E-3EC4-A67FE58404A0}"/>
                </a:ext>
              </a:extLst>
            </p:cNvPr>
            <p:cNvCxnSpPr/>
            <p:nvPr/>
          </p:nvCxnSpPr>
          <p:spPr>
            <a:xfrm>
              <a:off x="5717995" y="2761067"/>
              <a:ext cx="313398"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flow-edge-h-3">
              <a:extLst>
                <a:ext uri="{FF2B5EF4-FFF2-40B4-BE49-F238E27FC236}">
                  <a16:creationId xmlns:a16="http://schemas.microsoft.com/office/drawing/2014/main" id="{576E32EC-8B4C-94AE-5B9A-F192B3C0A4CE}"/>
                </a:ext>
              </a:extLst>
            </p:cNvPr>
            <p:cNvCxnSpPr/>
            <p:nvPr/>
          </p:nvCxnSpPr>
          <p:spPr>
            <a:xfrm>
              <a:off x="7553609" y="2761067"/>
              <a:ext cx="313397"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flow-edge-h-4">
              <a:extLst>
                <a:ext uri="{FF2B5EF4-FFF2-40B4-BE49-F238E27FC236}">
                  <a16:creationId xmlns:a16="http://schemas.microsoft.com/office/drawing/2014/main" id="{CD10302B-161D-F848-7D96-1017DB1BB210}"/>
                </a:ext>
              </a:extLst>
            </p:cNvPr>
            <p:cNvCxnSpPr/>
            <p:nvPr/>
          </p:nvCxnSpPr>
          <p:spPr>
            <a:xfrm>
              <a:off x="9389221" y="2761067"/>
              <a:ext cx="313398"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flow-edge-v-0">
              <a:extLst>
                <a:ext uri="{FF2B5EF4-FFF2-40B4-BE49-F238E27FC236}">
                  <a16:creationId xmlns:a16="http://schemas.microsoft.com/office/drawing/2014/main" id="{3B0D138C-48A5-AD3A-56D8-5A4DF4672901}"/>
                </a:ext>
              </a:extLst>
            </p:cNvPr>
            <p:cNvCxnSpPr/>
            <p:nvPr/>
          </p:nvCxnSpPr>
          <p:spPr>
            <a:xfrm flipV="1">
              <a:off x="3121274" y="3052079"/>
              <a:ext cx="0" cy="7387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flow-edge-v-1">
              <a:extLst>
                <a:ext uri="{FF2B5EF4-FFF2-40B4-BE49-F238E27FC236}">
                  <a16:creationId xmlns:a16="http://schemas.microsoft.com/office/drawing/2014/main" id="{21D38BF5-0610-EE09-1BC8-5793DB57CEC5}"/>
                </a:ext>
              </a:extLst>
            </p:cNvPr>
            <p:cNvCxnSpPr/>
            <p:nvPr/>
          </p:nvCxnSpPr>
          <p:spPr>
            <a:xfrm flipV="1">
              <a:off x="4956887" y="3052079"/>
              <a:ext cx="0" cy="7387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flow-edge-v-2">
              <a:extLst>
                <a:ext uri="{FF2B5EF4-FFF2-40B4-BE49-F238E27FC236}">
                  <a16:creationId xmlns:a16="http://schemas.microsoft.com/office/drawing/2014/main" id="{37FF0B15-1BB5-33BD-851E-3AE12CD5188D}"/>
                </a:ext>
              </a:extLst>
            </p:cNvPr>
            <p:cNvCxnSpPr/>
            <p:nvPr/>
          </p:nvCxnSpPr>
          <p:spPr>
            <a:xfrm flipV="1">
              <a:off x="6792501" y="3052079"/>
              <a:ext cx="0" cy="738722"/>
            </a:xfrm>
            <a:prstGeom prst="line">
              <a:avLst/>
            </a:prstGeom>
            <a:ln w="24130">
              <a:solidFill>
                <a:srgbClr val="B95714"/>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flow-edge-v-3">
              <a:extLst>
                <a:ext uri="{FF2B5EF4-FFF2-40B4-BE49-F238E27FC236}">
                  <a16:creationId xmlns:a16="http://schemas.microsoft.com/office/drawing/2014/main" id="{41EB89F9-4F9A-9040-E98B-7CFA44452DC9}"/>
                </a:ext>
              </a:extLst>
            </p:cNvPr>
            <p:cNvCxnSpPr/>
            <p:nvPr/>
          </p:nvCxnSpPr>
          <p:spPr>
            <a:xfrm flipV="1">
              <a:off x="8628114" y="3052079"/>
              <a:ext cx="0" cy="7387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flow-edge-v-4">
              <a:extLst>
                <a:ext uri="{FF2B5EF4-FFF2-40B4-BE49-F238E27FC236}">
                  <a16:creationId xmlns:a16="http://schemas.microsoft.com/office/drawing/2014/main" id="{8A9C97CD-B820-778E-FF77-6E6D29F473C9}"/>
                </a:ext>
              </a:extLst>
            </p:cNvPr>
            <p:cNvCxnSpPr/>
            <p:nvPr/>
          </p:nvCxnSpPr>
          <p:spPr>
            <a:xfrm flipV="1">
              <a:off x="10463727" y="3052079"/>
              <a:ext cx="0" cy="738722"/>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grpSp>
      <p:sp>
        <p:nvSpPr>
          <p:cNvPr id="59" name="文本框 58">
            <a:extLst>
              <a:ext uri="{FF2B5EF4-FFF2-40B4-BE49-F238E27FC236}">
                <a16:creationId xmlns:a16="http://schemas.microsoft.com/office/drawing/2014/main" id="{80F6FF73-9E69-0BB8-6872-DB24A5FFD869}"/>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60" name="直接连接符 59">
            <a:extLst>
              <a:ext uri="{FF2B5EF4-FFF2-40B4-BE49-F238E27FC236}">
                <a16:creationId xmlns:a16="http://schemas.microsoft.com/office/drawing/2014/main" id="{44D5DB1F-7EF9-3A99-24F5-B38FD0419C2F}"/>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AEEBDF51-241B-7EB1-989E-E064856F356A}"/>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grpSp>
        <p:nvGrpSpPr>
          <p:cNvPr id="82" name="平台长远设想图">
            <a:extLst>
              <a:ext uri="{FF2B5EF4-FFF2-40B4-BE49-F238E27FC236}">
                <a16:creationId xmlns:a16="http://schemas.microsoft.com/office/drawing/2014/main" id="{B23C27BE-4204-6FA1-8847-632AFC519988}"/>
              </a:ext>
            </a:extLst>
          </p:cNvPr>
          <p:cNvGrpSpPr/>
          <p:nvPr/>
        </p:nvGrpSpPr>
        <p:grpSpPr>
          <a:xfrm>
            <a:off x="342900" y="4927600"/>
            <a:ext cx="11844826" cy="1574800"/>
            <a:chOff x="342900" y="4927600"/>
            <a:chExt cx="11844826" cy="1574800"/>
          </a:xfrm>
        </p:grpSpPr>
        <p:sp>
          <p:nvSpPr>
            <p:cNvPr id="62" name="vision-header">
              <a:extLst>
                <a:ext uri="{FF2B5EF4-FFF2-40B4-BE49-F238E27FC236}">
                  <a16:creationId xmlns:a16="http://schemas.microsoft.com/office/drawing/2014/main" id="{E8197DF0-7147-2D64-6448-A304F2FC9242}"/>
                </a:ext>
              </a:extLst>
            </p:cNvPr>
            <p:cNvSpPr txBox="1"/>
            <p:nvPr/>
          </p:nvSpPr>
          <p:spPr>
            <a:xfrm>
              <a:off x="10147465" y="4975365"/>
              <a:ext cx="2040261" cy="398087"/>
            </a:xfrm>
            <a:prstGeom prst="rect">
              <a:avLst/>
            </a:prstGeom>
            <a:noFill/>
          </p:spPr>
          <p:txBody>
            <a:bodyPr vert="horz" wrap="square" lIns="0" tIns="0" rIns="0" bIns="0" rtlCol="0">
              <a:noAutofit/>
            </a:bodyPr>
            <a:lstStyle/>
            <a:p>
              <a:r>
                <a:rPr lang="zh-CN" altLang="en-US" sz="1250" b="1" dirty="0">
                  <a:solidFill>
                    <a:srgbClr val="315995"/>
                  </a:solidFill>
                  <a:ea typeface="微软雅黑" panose="020B0503020204020204" pitchFamily="34" charset="-122"/>
                </a:rPr>
                <a:t>平台与课题相互支撑，</a:t>
              </a:r>
              <a:endParaRPr lang="en-US" altLang="zh-CN" sz="1250" b="1" dirty="0">
                <a:solidFill>
                  <a:srgbClr val="315995"/>
                </a:solidFill>
                <a:ea typeface="微软雅黑" panose="020B0503020204020204" pitchFamily="34" charset="-122"/>
              </a:endParaRPr>
            </a:p>
            <a:p>
              <a:r>
                <a:rPr lang="zh-CN" altLang="en-US" sz="1250" b="1" dirty="0">
                  <a:solidFill>
                    <a:srgbClr val="315995"/>
                  </a:solidFill>
                  <a:ea typeface="微软雅黑" panose="020B0503020204020204" pitchFamily="34" charset="-122"/>
                </a:rPr>
                <a:t>积累数据支持估计决策</a:t>
              </a:r>
            </a:p>
          </p:txBody>
        </p:sp>
        <p:sp>
          <p:nvSpPr>
            <p:cNvPr id="63" name="vision-box-research">
              <a:extLst>
                <a:ext uri="{FF2B5EF4-FFF2-40B4-BE49-F238E27FC236}">
                  <a16:creationId xmlns:a16="http://schemas.microsoft.com/office/drawing/2014/main" id="{39F834EE-D7A0-C889-E222-D6E7B5DD26EF}"/>
                </a:ext>
              </a:extLst>
            </p:cNvPr>
            <p:cNvSpPr/>
            <p:nvPr/>
          </p:nvSpPr>
          <p:spPr>
            <a:xfrm>
              <a:off x="342900" y="4927600"/>
              <a:ext cx="4069355" cy="508000"/>
            </a:xfrm>
            <a:prstGeom prst="roundRect">
              <a:avLst>
                <a:gd name="adj" fmla="val 16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300" dirty="0">
                  <a:solidFill>
                    <a:srgbClr val="315995"/>
                  </a:solidFill>
                  <a:ea typeface="微软雅黑" panose="020B0503020204020204" pitchFamily="34" charset="-122"/>
                </a:rPr>
                <a:t>课题研究</a:t>
              </a:r>
            </a:p>
            <a:p>
              <a:pPr algn="ctr"/>
              <a:r>
                <a:rPr lang="zh-CN" altLang="en-US" sz="950" dirty="0">
                  <a:solidFill>
                    <a:srgbClr val="466590"/>
                  </a:solidFill>
                  <a:ea typeface="微软雅黑" panose="020B0503020204020204" pitchFamily="34" charset="-122"/>
                </a:rPr>
                <a:t>方法研究与验证，结果沉淀回平台</a:t>
              </a:r>
            </a:p>
          </p:txBody>
        </p:sp>
        <p:cxnSp>
          <p:nvCxnSpPr>
            <p:cNvPr id="64" name="vision-layer-up">
              <a:extLst>
                <a:ext uri="{FF2B5EF4-FFF2-40B4-BE49-F238E27FC236}">
                  <a16:creationId xmlns:a16="http://schemas.microsoft.com/office/drawing/2014/main" id="{05C905D7-D653-2FA4-12C2-5B6F39134771}"/>
                </a:ext>
              </a:extLst>
            </p:cNvPr>
            <p:cNvCxnSpPr/>
            <p:nvPr/>
          </p:nvCxnSpPr>
          <p:spPr>
            <a:xfrm flipV="1">
              <a:off x="1524000" y="5448300"/>
              <a:ext cx="0" cy="190500"/>
            </a:xfrm>
            <a:prstGeom prst="line">
              <a:avLst/>
            </a:prstGeom>
            <a:ln w="1905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65" name="vision-layer-down">
              <a:extLst>
                <a:ext uri="{FF2B5EF4-FFF2-40B4-BE49-F238E27FC236}">
                  <a16:creationId xmlns:a16="http://schemas.microsoft.com/office/drawing/2014/main" id="{0095D5A8-CB72-774E-A6F2-66E9686BDAD4}"/>
                </a:ext>
              </a:extLst>
            </p:cNvPr>
            <p:cNvCxnSpPr/>
            <p:nvPr/>
          </p:nvCxnSpPr>
          <p:spPr>
            <a:xfrm>
              <a:off x="3175000" y="5448300"/>
              <a:ext cx="0" cy="190500"/>
            </a:xfrm>
            <a:prstGeom prst="line">
              <a:avLst/>
            </a:prstGeom>
            <a:ln w="19050">
              <a:solidFill>
                <a:srgbClr val="3764A6"/>
              </a:solidFill>
              <a:tailEnd type="triangle"/>
            </a:ln>
          </p:spPr>
          <p:style>
            <a:lnRef idx="1">
              <a:schemeClr val="accent1"/>
            </a:lnRef>
            <a:fillRef idx="0">
              <a:schemeClr val="accent1"/>
            </a:fillRef>
            <a:effectRef idx="0">
              <a:schemeClr val="accent1"/>
            </a:effectRef>
            <a:fontRef idx="minor">
              <a:schemeClr val="tx1"/>
            </a:fontRef>
          </p:style>
        </p:cxnSp>
        <p:sp>
          <p:nvSpPr>
            <p:cNvPr id="66" name="vision-label-up">
              <a:extLst>
                <a:ext uri="{FF2B5EF4-FFF2-40B4-BE49-F238E27FC236}">
                  <a16:creationId xmlns:a16="http://schemas.microsoft.com/office/drawing/2014/main" id="{0580546F-3F95-3C43-5E1E-F8D93A43EE81}"/>
                </a:ext>
              </a:extLst>
            </p:cNvPr>
            <p:cNvSpPr txBox="1"/>
            <p:nvPr/>
          </p:nvSpPr>
          <p:spPr>
            <a:xfrm>
              <a:off x="1600200" y="5461000"/>
              <a:ext cx="508000" cy="276999"/>
            </a:xfrm>
            <a:prstGeom prst="rect">
              <a:avLst/>
            </a:prstGeom>
            <a:noFill/>
          </p:spPr>
          <p:txBody>
            <a:bodyPr vert="horz" wrap="square" lIns="0" tIns="0" rIns="0" bIns="0" rtlCol="0">
              <a:noAutofit/>
            </a:bodyPr>
            <a:lstStyle/>
            <a:p>
              <a:r>
                <a:rPr lang="zh-CN" altLang="en-US" sz="950" dirty="0">
                  <a:solidFill>
                    <a:srgbClr val="466590"/>
                  </a:solidFill>
                  <a:ea typeface="微软雅黑" panose="020B0503020204020204" pitchFamily="34" charset="-122"/>
                </a:rPr>
                <a:t>支撑</a:t>
              </a:r>
            </a:p>
          </p:txBody>
        </p:sp>
        <p:sp>
          <p:nvSpPr>
            <p:cNvPr id="67" name="vision-label-down">
              <a:extLst>
                <a:ext uri="{FF2B5EF4-FFF2-40B4-BE49-F238E27FC236}">
                  <a16:creationId xmlns:a16="http://schemas.microsoft.com/office/drawing/2014/main" id="{9DBE12CE-6371-32AF-F1F7-B4DAA08B7CEA}"/>
                </a:ext>
              </a:extLst>
            </p:cNvPr>
            <p:cNvSpPr txBox="1"/>
            <p:nvPr/>
          </p:nvSpPr>
          <p:spPr>
            <a:xfrm>
              <a:off x="3251200" y="5461000"/>
              <a:ext cx="508000" cy="276999"/>
            </a:xfrm>
            <a:prstGeom prst="rect">
              <a:avLst/>
            </a:prstGeom>
            <a:noFill/>
          </p:spPr>
          <p:txBody>
            <a:bodyPr vert="horz" wrap="square" lIns="0" tIns="0" rIns="0" bIns="0" rtlCol="0">
              <a:noAutofit/>
            </a:bodyPr>
            <a:lstStyle/>
            <a:p>
              <a:r>
                <a:rPr lang="zh-CN" altLang="en-US" sz="950" dirty="0">
                  <a:solidFill>
                    <a:srgbClr val="466590"/>
                  </a:solidFill>
                  <a:ea typeface="微软雅黑" panose="020B0503020204020204" pitchFamily="34" charset="-122"/>
                </a:rPr>
                <a:t>沉淀</a:t>
              </a:r>
            </a:p>
          </p:txBody>
        </p:sp>
        <p:sp>
          <p:nvSpPr>
            <p:cNvPr id="68" name="vision-box-platform">
              <a:extLst>
                <a:ext uri="{FF2B5EF4-FFF2-40B4-BE49-F238E27FC236}">
                  <a16:creationId xmlns:a16="http://schemas.microsoft.com/office/drawing/2014/main" id="{54430F65-5A1B-1D91-476B-792045EAFA73}"/>
                </a:ext>
              </a:extLst>
            </p:cNvPr>
            <p:cNvSpPr/>
            <p:nvPr/>
          </p:nvSpPr>
          <p:spPr>
            <a:xfrm>
              <a:off x="342900" y="5664200"/>
              <a:ext cx="11506200" cy="838200"/>
            </a:xfrm>
            <a:prstGeom prst="roundRect">
              <a:avLst>
                <a:gd name="adj" fmla="val 10000"/>
              </a:avLst>
            </a:prstGeom>
            <a:solidFill>
              <a:srgbClr val="F7F9FC"/>
            </a:solidFill>
            <a:ln w="1905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vision-platform-label">
              <a:extLst>
                <a:ext uri="{FF2B5EF4-FFF2-40B4-BE49-F238E27FC236}">
                  <a16:creationId xmlns:a16="http://schemas.microsoft.com/office/drawing/2014/main" id="{7D504AEE-48F5-3DC8-4493-2B4F47D1BAF7}"/>
                </a:ext>
              </a:extLst>
            </p:cNvPr>
            <p:cNvSpPr txBox="1"/>
            <p:nvPr/>
          </p:nvSpPr>
          <p:spPr>
            <a:xfrm>
              <a:off x="571500" y="5727700"/>
              <a:ext cx="1651000" cy="276999"/>
            </a:xfrm>
            <a:prstGeom prst="rect">
              <a:avLst/>
            </a:prstGeom>
            <a:noFill/>
          </p:spPr>
          <p:txBody>
            <a:bodyPr vert="horz" wrap="square" lIns="0" tIns="0" rIns="0" bIns="0" rtlCol="0">
              <a:noAutofit/>
            </a:bodyPr>
            <a:lstStyle/>
            <a:p>
              <a:r>
                <a:rPr lang="zh-CN" altLang="en-US" sz="1250" b="1" dirty="0">
                  <a:solidFill>
                    <a:srgbClr val="315995"/>
                  </a:solidFill>
                  <a:ea typeface="微软雅黑" panose="020B0503020204020204" pitchFamily="34" charset="-122"/>
                </a:rPr>
                <a:t>实验平台</a:t>
              </a:r>
            </a:p>
          </p:txBody>
        </p:sp>
        <p:sp>
          <p:nvSpPr>
            <p:cNvPr id="70" name="vision-platform-sub">
              <a:extLst>
                <a:ext uri="{FF2B5EF4-FFF2-40B4-BE49-F238E27FC236}">
                  <a16:creationId xmlns:a16="http://schemas.microsoft.com/office/drawing/2014/main" id="{953AE478-DCA1-64B4-F654-E05FAB18F87B}"/>
                </a:ext>
              </a:extLst>
            </p:cNvPr>
            <p:cNvSpPr txBox="1"/>
            <p:nvPr/>
          </p:nvSpPr>
          <p:spPr>
            <a:xfrm>
              <a:off x="2032000" y="5740400"/>
              <a:ext cx="4064000" cy="276999"/>
            </a:xfrm>
            <a:prstGeom prst="rect">
              <a:avLst/>
            </a:prstGeom>
            <a:noFill/>
          </p:spPr>
          <p:txBody>
            <a:bodyPr vert="horz" wrap="square" lIns="0" tIns="0" rIns="0" bIns="0" rtlCol="0">
              <a:noAutofit/>
            </a:bodyPr>
            <a:lstStyle/>
            <a:p>
              <a:r>
                <a:rPr lang="zh-CN" altLang="en-US" sz="950" dirty="0">
                  <a:solidFill>
                    <a:srgbClr val="466590"/>
                  </a:solidFill>
                  <a:ea typeface="微软雅黑" panose="020B0503020204020204" pitchFamily="34" charset="-122"/>
                </a:rPr>
                <a:t>支撑实验、对比与验证</a:t>
              </a:r>
            </a:p>
          </p:txBody>
        </p:sp>
        <p:sp>
          <p:nvSpPr>
            <p:cNvPr id="75" name="vision-box-accumulate">
              <a:extLst>
                <a:ext uri="{FF2B5EF4-FFF2-40B4-BE49-F238E27FC236}">
                  <a16:creationId xmlns:a16="http://schemas.microsoft.com/office/drawing/2014/main" id="{37F33936-3966-4636-363F-F9714DB3ADD3}"/>
                </a:ext>
              </a:extLst>
            </p:cNvPr>
            <p:cNvSpPr/>
            <p:nvPr/>
          </p:nvSpPr>
          <p:spPr>
            <a:xfrm>
              <a:off x="571500" y="5969000"/>
              <a:ext cx="3463290" cy="431800"/>
            </a:xfrm>
            <a:prstGeom prst="roundRect">
              <a:avLst>
                <a:gd name="adj" fmla="val 16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150" dirty="0">
                  <a:solidFill>
                    <a:srgbClr val="315995"/>
                  </a:solidFill>
                  <a:ea typeface="微软雅黑" panose="020B0503020204020204" pitchFamily="34" charset="-122"/>
                </a:rPr>
                <a:t>持续积累</a:t>
              </a:r>
            </a:p>
            <a:p>
              <a:pPr algn="ctr"/>
              <a:r>
                <a:rPr lang="zh-CN" altLang="en-US" sz="900" dirty="0">
                  <a:solidFill>
                    <a:srgbClr val="466590"/>
                  </a:solidFill>
                  <a:ea typeface="微软雅黑" panose="020B0503020204020204" pitchFamily="34" charset="-122"/>
                </a:rPr>
                <a:t>参数空间下各方法的估计结果</a:t>
              </a:r>
            </a:p>
          </p:txBody>
        </p:sp>
        <p:sp>
          <p:nvSpPr>
            <p:cNvPr id="76" name="vision-box-decision">
              <a:extLst>
                <a:ext uri="{FF2B5EF4-FFF2-40B4-BE49-F238E27FC236}">
                  <a16:creationId xmlns:a16="http://schemas.microsoft.com/office/drawing/2014/main" id="{2F86CAC7-CEDE-97E9-8B51-6F92A2A48C41}"/>
                </a:ext>
              </a:extLst>
            </p:cNvPr>
            <p:cNvSpPr/>
            <p:nvPr/>
          </p:nvSpPr>
          <p:spPr>
            <a:xfrm>
              <a:off x="4364990" y="5969000"/>
              <a:ext cx="3463290" cy="431800"/>
            </a:xfrm>
            <a:prstGeom prst="roundRect">
              <a:avLst>
                <a:gd name="adj" fmla="val 16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150" dirty="0">
                  <a:solidFill>
                    <a:srgbClr val="315995"/>
                  </a:solidFill>
                  <a:ea typeface="微软雅黑" panose="020B0503020204020204" pitchFamily="34" charset="-122"/>
                </a:rPr>
                <a:t>支持估计决策</a:t>
              </a:r>
            </a:p>
            <a:p>
              <a:pPr algn="ctr"/>
              <a:r>
                <a:rPr lang="zh-CN" altLang="en-US" sz="900" dirty="0">
                  <a:solidFill>
                    <a:srgbClr val="466590"/>
                  </a:solidFill>
                  <a:ea typeface="微软雅黑" panose="020B0503020204020204" pitchFamily="34" charset="-122"/>
                </a:rPr>
                <a:t>为新样本选择方法、过程量与求解方式</a:t>
              </a:r>
            </a:p>
          </p:txBody>
        </p:sp>
        <p:sp>
          <p:nvSpPr>
            <p:cNvPr id="77" name="vision-box-range">
              <a:extLst>
                <a:ext uri="{FF2B5EF4-FFF2-40B4-BE49-F238E27FC236}">
                  <a16:creationId xmlns:a16="http://schemas.microsoft.com/office/drawing/2014/main" id="{4EEA9C7E-03F1-4857-278B-D6491C80DF3D}"/>
                </a:ext>
              </a:extLst>
            </p:cNvPr>
            <p:cNvSpPr/>
            <p:nvPr/>
          </p:nvSpPr>
          <p:spPr>
            <a:xfrm>
              <a:off x="8157210" y="5969000"/>
              <a:ext cx="3463290" cy="431800"/>
            </a:xfrm>
            <a:prstGeom prst="roundRect">
              <a:avLst>
                <a:gd name="adj" fmla="val 16000"/>
              </a:avLst>
            </a:prstGeom>
            <a:solidFill>
              <a:srgbClr val="FFFFFF"/>
            </a:solidFill>
            <a:ln w="17780">
              <a:solidFill>
                <a:srgbClr val="567BB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150" dirty="0">
                  <a:solidFill>
                    <a:srgbClr val="315995"/>
                  </a:solidFill>
                  <a:ea typeface="微软雅黑" panose="020B0503020204020204" pitchFamily="34" charset="-122"/>
                </a:rPr>
                <a:t>给出可靠范围</a:t>
              </a:r>
            </a:p>
            <a:p>
              <a:pPr algn="ctr"/>
              <a:r>
                <a:rPr lang="zh-CN" altLang="en-US" sz="900" dirty="0">
                  <a:solidFill>
                    <a:srgbClr val="466590"/>
                  </a:solidFill>
                  <a:ea typeface="微软雅黑" panose="020B0503020204020204" pitchFamily="34" charset="-122"/>
                </a:rPr>
                <a:t>覆盖率校准后作为置信区间</a:t>
              </a:r>
            </a:p>
          </p:txBody>
        </p:sp>
        <p:cxnSp>
          <p:nvCxnSpPr>
            <p:cNvPr id="78" name="vision-chain-1">
              <a:extLst>
                <a:ext uri="{FF2B5EF4-FFF2-40B4-BE49-F238E27FC236}">
                  <a16:creationId xmlns:a16="http://schemas.microsoft.com/office/drawing/2014/main" id="{272CF1CA-CE92-6188-FC93-55CB9ABE4ABA}"/>
                </a:ext>
              </a:extLst>
            </p:cNvPr>
            <p:cNvCxnSpPr/>
            <p:nvPr/>
          </p:nvCxnSpPr>
          <p:spPr>
            <a:xfrm>
              <a:off x="4060190" y="6184900"/>
              <a:ext cx="279400"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cxnSp>
          <p:nvCxnSpPr>
            <p:cNvPr id="79" name="vision-chain-2">
              <a:extLst>
                <a:ext uri="{FF2B5EF4-FFF2-40B4-BE49-F238E27FC236}">
                  <a16:creationId xmlns:a16="http://schemas.microsoft.com/office/drawing/2014/main" id="{847F34AF-5EA0-DA8D-AA30-5202960473C3}"/>
                </a:ext>
              </a:extLst>
            </p:cNvPr>
            <p:cNvCxnSpPr/>
            <p:nvPr/>
          </p:nvCxnSpPr>
          <p:spPr>
            <a:xfrm>
              <a:off x="7853680" y="6184900"/>
              <a:ext cx="279400" cy="0"/>
            </a:xfrm>
            <a:prstGeom prst="line">
              <a:avLst/>
            </a:prstGeom>
            <a:ln w="17780">
              <a:solidFill>
                <a:srgbClr val="3764A6"/>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箭头: 上 41">
            <a:extLst>
              <a:ext uri="{FF2B5EF4-FFF2-40B4-BE49-F238E27FC236}">
                <a16:creationId xmlns:a16="http://schemas.microsoft.com/office/drawing/2014/main" id="{CDD54538-224E-8E47-FAA6-2A80FEE3A84A}"/>
              </a:ext>
            </a:extLst>
          </p:cNvPr>
          <p:cNvSpPr/>
          <p:nvPr/>
        </p:nvSpPr>
        <p:spPr>
          <a:xfrm>
            <a:off x="4335704" y="4551343"/>
            <a:ext cx="1549623" cy="118665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Tree>
    <p:extLst>
      <p:ext uri="{BB962C8B-B14F-4D97-AF65-F5344CB8AC3E}">
        <p14:creationId xmlns:p14="http://schemas.microsoft.com/office/powerpoint/2010/main" val="204764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0374-5682-8E3A-BF01-FB0B12F2F77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F6BD843-C9BE-5B92-F536-5D2BB1AC820C}"/>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研究进展：两项课题</a:t>
            </a:r>
            <a:endParaRPr lang="zh-CN" altLang="en-US" sz="2400" b="1" u="sng"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D142F776-10D1-B85A-6F22-8A9FC0AC72E0}"/>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现状和展望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4D048A7F-F5C4-D125-F071-B16785D3EC8E}"/>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EC2CC45-C608-DC65-5818-773AE2272BF1}"/>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03</a:t>
            </a:r>
          </a:p>
        </p:txBody>
      </p:sp>
      <p:sp>
        <p:nvSpPr>
          <p:cNvPr id="52" name="TextBox 51"/>
          <p:cNvSpPr txBox="1"/>
          <p:nvPr/>
        </p:nvSpPr>
        <p:spPr>
          <a:xfrm>
            <a:off x="406400" y="1473200"/>
            <a:ext cx="5588000" cy="215444"/>
          </a:xfrm>
          <a:prstGeom prst="rect">
            <a:avLst/>
          </a:prstGeom>
          <a:noFill/>
        </p:spPr>
        <p:txBody>
          <a:bodyPr wrap="square" lIns="0" tIns="0" rIns="0" bIns="0">
            <a:spAutoFit/>
          </a:bodyPr>
          <a:lstStyle/>
          <a:p>
            <a:pPr algn="l"/>
            <a:r>
              <a:rPr sz="1400" b="1" dirty="0" err="1">
                <a:solidFill>
                  <a:srgbClr val="315995"/>
                </a:solidFill>
                <a:latin typeface="微软雅黑" panose="020B0503020204020204" pitchFamily="34" charset="-122"/>
                <a:ea typeface="微软雅黑" panose="020B0503020204020204" pitchFamily="34" charset="-122"/>
              </a:rPr>
              <a:t>课题一｜自适应最小差异法（AMDM</a:t>
            </a:r>
            <a:r>
              <a:rPr sz="1400" b="1" dirty="0">
                <a:solidFill>
                  <a:srgbClr val="315995"/>
                </a:solidFill>
                <a:latin typeface="微软雅黑" panose="020B0503020204020204" pitchFamily="34" charset="-122"/>
                <a:ea typeface="微软雅黑" panose="020B0503020204020204" pitchFamily="34" charset="-122"/>
              </a:rPr>
              <a:t>）</a:t>
            </a:r>
          </a:p>
        </p:txBody>
      </p:sp>
      <p:sp>
        <p:nvSpPr>
          <p:cNvPr id="53" name="TextBox 52"/>
          <p:cNvSpPr txBox="1"/>
          <p:nvPr/>
        </p:nvSpPr>
        <p:spPr>
          <a:xfrm>
            <a:off x="406400" y="1778000"/>
            <a:ext cx="5588000" cy="161583"/>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问题：</a:t>
            </a:r>
            <a:r>
              <a:rPr sz="1050" b="0" dirty="0" err="1">
                <a:solidFill>
                  <a:srgbClr val="466590"/>
                </a:solidFill>
                <a:latin typeface="微软雅黑" panose="020B0503020204020204" pitchFamily="34" charset="-122"/>
                <a:ea typeface="微软雅黑" panose="020B0503020204020204" pitchFamily="34" charset="-122"/>
              </a:rPr>
              <a:t>偏移量取经验固定值；不同样本其实需要不同的偏移量</a:t>
            </a:r>
            <a:r>
              <a:rPr sz="1050" b="0" dirty="0">
                <a:solidFill>
                  <a:srgbClr val="466590"/>
                </a:solidFill>
                <a:latin typeface="微软雅黑" panose="020B0503020204020204" pitchFamily="34" charset="-122"/>
                <a:ea typeface="微软雅黑" panose="020B0503020204020204" pitchFamily="34" charset="-122"/>
              </a:rPr>
              <a:t>。</a:t>
            </a:r>
          </a:p>
        </p:txBody>
      </p:sp>
      <p:sp>
        <p:nvSpPr>
          <p:cNvPr id="54" name="TextBox 53"/>
          <p:cNvSpPr txBox="1"/>
          <p:nvPr/>
        </p:nvSpPr>
        <p:spPr>
          <a:xfrm>
            <a:off x="406400" y="2019300"/>
            <a:ext cx="5588000" cy="323165"/>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做法：</a:t>
            </a:r>
            <a:r>
              <a:rPr sz="1050" b="0" dirty="0" err="1">
                <a:solidFill>
                  <a:srgbClr val="466590"/>
                </a:solidFill>
                <a:latin typeface="微软雅黑" panose="020B0503020204020204" pitchFamily="34" charset="-122"/>
                <a:ea typeface="微软雅黑" panose="020B0503020204020204" pitchFamily="34" charset="-122"/>
              </a:rPr>
              <a:t>保留最小差异法求解结构，轻量网络按样本预测候选偏移量的损失，并按样本选择偏移量</a:t>
            </a:r>
            <a:r>
              <a:rPr sz="1050" b="0" dirty="0">
                <a:solidFill>
                  <a:srgbClr val="466590"/>
                </a:solidFill>
                <a:latin typeface="微软雅黑" panose="020B0503020204020204" pitchFamily="34" charset="-122"/>
                <a:ea typeface="微软雅黑" panose="020B0503020204020204" pitchFamily="34" charset="-122"/>
              </a:rPr>
              <a:t>。</a:t>
            </a:r>
          </a:p>
        </p:txBody>
      </p:sp>
      <p:sp>
        <p:nvSpPr>
          <p:cNvPr id="55" name="TextBox 54"/>
          <p:cNvSpPr txBox="1"/>
          <p:nvPr/>
        </p:nvSpPr>
        <p:spPr>
          <a:xfrm>
            <a:off x="406400" y="2438400"/>
            <a:ext cx="5588000" cy="161583"/>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结果：</a:t>
            </a:r>
            <a:r>
              <a:rPr sz="1050" b="0" dirty="0" err="1">
                <a:solidFill>
                  <a:srgbClr val="466590"/>
                </a:solidFill>
                <a:latin typeface="微软雅黑" panose="020B0503020204020204" pitchFamily="34" charset="-122"/>
                <a:ea typeface="微软雅黑" panose="020B0503020204020204" pitchFamily="34" charset="-122"/>
              </a:rPr>
              <a:t>综合参数误差降低</a:t>
            </a:r>
            <a:r>
              <a:rPr sz="1050" b="0" dirty="0">
                <a:solidFill>
                  <a:srgbClr val="466590"/>
                </a:solidFill>
                <a:latin typeface="微软雅黑" panose="020B0503020204020204" pitchFamily="34" charset="-122"/>
                <a:ea typeface="微软雅黑" panose="020B0503020204020204" pitchFamily="34" charset="-122"/>
              </a:rPr>
              <a:t> 6%–8%；</a:t>
            </a:r>
            <a:r>
              <a:rPr sz="1050" b="0" dirty="0" err="1">
                <a:solidFill>
                  <a:srgbClr val="466590"/>
                </a:solidFill>
                <a:latin typeface="微软雅黑" panose="020B0503020204020204" pitchFamily="34" charset="-122"/>
                <a:ea typeface="微软雅黑" panose="020B0503020204020204" pitchFamily="34" charset="-122"/>
              </a:rPr>
              <a:t>同精度下所需样本量</a:t>
            </a:r>
            <a:r>
              <a:rPr sz="1050" b="0" dirty="0">
                <a:solidFill>
                  <a:srgbClr val="466590"/>
                </a:solidFill>
                <a:latin typeface="微软雅黑" panose="020B0503020204020204" pitchFamily="34" charset="-122"/>
                <a:ea typeface="微软雅黑" panose="020B0503020204020204" pitchFamily="34" charset="-122"/>
              </a:rPr>
              <a:t>：</a:t>
            </a:r>
          </a:p>
        </p:txBody>
      </p:sp>
      <p:sp>
        <p:nvSpPr>
          <p:cNvPr id="56" name="TextBox 55"/>
          <p:cNvSpPr txBox="1"/>
          <p:nvPr/>
        </p:nvSpPr>
        <p:spPr>
          <a:xfrm>
            <a:off x="406400" y="3530600"/>
            <a:ext cx="5588000" cy="130805"/>
          </a:xfrm>
          <a:prstGeom prst="rect">
            <a:avLst/>
          </a:prstGeom>
          <a:noFill/>
        </p:spPr>
        <p:txBody>
          <a:bodyPr wrap="square" lIns="0" tIns="0" rIns="0" bIns="0">
            <a:spAutoFit/>
          </a:bodyPr>
          <a:lstStyle/>
          <a:p>
            <a:pPr algn="l"/>
            <a:r>
              <a:rPr sz="850" b="0" dirty="0" err="1">
                <a:solidFill>
                  <a:srgbClr val="466590"/>
                </a:solidFill>
                <a:latin typeface="微软雅黑" panose="020B0503020204020204" pitchFamily="34" charset="-122"/>
                <a:ea typeface="微软雅黑" panose="020B0503020204020204" pitchFamily="34" charset="-122"/>
              </a:rPr>
              <a:t>描述性换算（基于</a:t>
            </a:r>
            <a:r>
              <a:rPr sz="850" b="0" dirty="0">
                <a:solidFill>
                  <a:srgbClr val="466590"/>
                </a:solidFill>
                <a:latin typeface="微软雅黑" panose="020B0503020204020204" pitchFamily="34" charset="-122"/>
                <a:ea typeface="微软雅黑" panose="020B0503020204020204" pitchFamily="34" charset="-122"/>
              </a:rPr>
              <a:t> n=7—20 </a:t>
            </a:r>
            <a:r>
              <a:rPr sz="850" b="0" dirty="0" err="1">
                <a:solidFill>
                  <a:srgbClr val="466590"/>
                </a:solidFill>
                <a:latin typeface="微软雅黑" panose="020B0503020204020204" pitchFamily="34" charset="-122"/>
                <a:ea typeface="微软雅黑" panose="020B0503020204020204" pitchFamily="34" charset="-122"/>
              </a:rPr>
              <a:t>误差曲线</a:t>
            </a:r>
            <a:r>
              <a:rPr sz="850" b="0" dirty="0">
                <a:solidFill>
                  <a:srgbClr val="466590"/>
                </a:solidFill>
                <a:latin typeface="微软雅黑" panose="020B0503020204020204" pitchFamily="34" charset="-122"/>
                <a:ea typeface="微软雅黑" panose="020B0503020204020204" pitchFamily="34" charset="-122"/>
              </a:rPr>
              <a:t>）。</a:t>
            </a:r>
          </a:p>
        </p:txBody>
      </p:sp>
      <p:sp>
        <p:nvSpPr>
          <p:cNvPr id="57" name="TextBox 56"/>
          <p:cNvSpPr txBox="1"/>
          <p:nvPr/>
        </p:nvSpPr>
        <p:spPr>
          <a:xfrm>
            <a:off x="6197600" y="1473200"/>
            <a:ext cx="5588000" cy="215444"/>
          </a:xfrm>
          <a:prstGeom prst="rect">
            <a:avLst/>
          </a:prstGeom>
          <a:noFill/>
        </p:spPr>
        <p:txBody>
          <a:bodyPr wrap="square" lIns="0" tIns="0" rIns="0" bIns="0">
            <a:spAutoFit/>
          </a:bodyPr>
          <a:lstStyle/>
          <a:p>
            <a:pPr algn="l"/>
            <a:r>
              <a:rPr sz="1400" b="1" dirty="0" err="1">
                <a:solidFill>
                  <a:srgbClr val="315995"/>
                </a:solidFill>
                <a:latin typeface="微软雅黑" panose="020B0503020204020204" pitchFamily="34" charset="-122"/>
                <a:ea typeface="微软雅黑" panose="020B0503020204020204" pitchFamily="34" charset="-122"/>
              </a:rPr>
              <a:t>课题二｜目标对齐的神经网络直接估计</a:t>
            </a:r>
            <a:endParaRPr sz="1400" b="1" dirty="0">
              <a:solidFill>
                <a:srgbClr val="315995"/>
              </a:solidFill>
              <a:latin typeface="微软雅黑" panose="020B0503020204020204" pitchFamily="34" charset="-122"/>
              <a:ea typeface="微软雅黑" panose="020B0503020204020204" pitchFamily="34" charset="-122"/>
            </a:endParaRPr>
          </a:p>
        </p:txBody>
      </p:sp>
      <p:sp>
        <p:nvSpPr>
          <p:cNvPr id="58" name="TextBox 57"/>
          <p:cNvSpPr txBox="1"/>
          <p:nvPr/>
        </p:nvSpPr>
        <p:spPr>
          <a:xfrm>
            <a:off x="6197600" y="1778000"/>
            <a:ext cx="5588000" cy="161583"/>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问题：</a:t>
            </a:r>
            <a:r>
              <a:rPr sz="1050" b="0" dirty="0" err="1">
                <a:solidFill>
                  <a:srgbClr val="466590"/>
                </a:solidFill>
                <a:latin typeface="微软雅黑" panose="020B0503020204020204" pitchFamily="34" charset="-122"/>
                <a:ea typeface="微软雅黑" panose="020B0503020204020204" pitchFamily="34" charset="-122"/>
              </a:rPr>
              <a:t>工程最终关心的是寿命点；参数误差最小，不等于寿命点误差最小</a:t>
            </a:r>
            <a:r>
              <a:rPr sz="1050" b="0" dirty="0">
                <a:solidFill>
                  <a:srgbClr val="466590"/>
                </a:solidFill>
                <a:latin typeface="微软雅黑" panose="020B0503020204020204" pitchFamily="34" charset="-122"/>
                <a:ea typeface="微软雅黑" panose="020B0503020204020204" pitchFamily="34" charset="-122"/>
              </a:rPr>
              <a:t>。</a:t>
            </a:r>
          </a:p>
        </p:txBody>
      </p:sp>
      <p:sp>
        <p:nvSpPr>
          <p:cNvPr id="59" name="TextBox 58"/>
          <p:cNvSpPr txBox="1"/>
          <p:nvPr/>
        </p:nvSpPr>
        <p:spPr>
          <a:xfrm>
            <a:off x="6197600" y="2019300"/>
            <a:ext cx="5588000" cy="161583"/>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做法：</a:t>
            </a:r>
            <a:r>
              <a:rPr sz="1050" b="0" dirty="0" err="1">
                <a:solidFill>
                  <a:srgbClr val="466590"/>
                </a:solidFill>
                <a:latin typeface="微软雅黑" panose="020B0503020204020204" pitchFamily="34" charset="-122"/>
                <a:ea typeface="微软雅黑" panose="020B0503020204020204" pitchFamily="34" charset="-122"/>
              </a:rPr>
              <a:t>同一网络改变训练目标</a:t>
            </a:r>
            <a:r>
              <a:rPr sz="1050" b="0" dirty="0">
                <a:solidFill>
                  <a:srgbClr val="466590"/>
                </a:solidFill>
                <a:latin typeface="微软雅黑" panose="020B0503020204020204" pitchFamily="34" charset="-122"/>
                <a:ea typeface="微软雅黑" panose="020B0503020204020204" pitchFamily="34" charset="-122"/>
              </a:rPr>
              <a:t>——</a:t>
            </a:r>
            <a:r>
              <a:rPr sz="1050" b="0" dirty="0" err="1">
                <a:solidFill>
                  <a:srgbClr val="466590"/>
                </a:solidFill>
                <a:latin typeface="微软雅黑" panose="020B0503020204020204" pitchFamily="34" charset="-122"/>
                <a:ea typeface="微软雅黑" panose="020B0503020204020204" pitchFamily="34" charset="-122"/>
              </a:rPr>
              <a:t>参数恢复</a:t>
            </a:r>
            <a:r>
              <a:rPr sz="1050" b="0" dirty="0">
                <a:solidFill>
                  <a:srgbClr val="466590"/>
                </a:solidFill>
                <a:latin typeface="微软雅黑" panose="020B0503020204020204" pitchFamily="34" charset="-122"/>
                <a:ea typeface="微软雅黑" panose="020B0503020204020204" pitchFamily="34" charset="-122"/>
              </a:rPr>
              <a:t> → </a:t>
            </a:r>
            <a:r>
              <a:rPr sz="1050" b="0" dirty="0" err="1">
                <a:solidFill>
                  <a:srgbClr val="466590"/>
                </a:solidFill>
                <a:latin typeface="微软雅黑" panose="020B0503020204020204" pitchFamily="34" charset="-122"/>
                <a:ea typeface="微软雅黑" panose="020B0503020204020204" pitchFamily="34" charset="-122"/>
              </a:rPr>
              <a:t>目标寿命点对齐</a:t>
            </a:r>
            <a:r>
              <a:rPr sz="1050" b="0" dirty="0">
                <a:solidFill>
                  <a:srgbClr val="466590"/>
                </a:solidFill>
                <a:latin typeface="微软雅黑" panose="020B0503020204020204" pitchFamily="34" charset="-122"/>
                <a:ea typeface="微软雅黑" panose="020B0503020204020204" pitchFamily="34" charset="-122"/>
              </a:rPr>
              <a:t> → </a:t>
            </a:r>
            <a:r>
              <a:rPr sz="1050" b="0" dirty="0" err="1">
                <a:solidFill>
                  <a:srgbClr val="466590"/>
                </a:solidFill>
                <a:latin typeface="微软雅黑" panose="020B0503020204020204" pitchFamily="34" charset="-122"/>
                <a:ea typeface="微软雅黑" panose="020B0503020204020204" pitchFamily="34" charset="-122"/>
              </a:rPr>
              <a:t>加参数约束</a:t>
            </a:r>
            <a:r>
              <a:rPr sz="1050" b="0" dirty="0">
                <a:solidFill>
                  <a:srgbClr val="466590"/>
                </a:solidFill>
                <a:latin typeface="微软雅黑" panose="020B0503020204020204" pitchFamily="34" charset="-122"/>
                <a:ea typeface="微软雅黑" panose="020B0503020204020204" pitchFamily="34" charset="-122"/>
              </a:rPr>
              <a:t>。</a:t>
            </a:r>
          </a:p>
        </p:txBody>
      </p:sp>
      <p:sp>
        <p:nvSpPr>
          <p:cNvPr id="60" name="TextBox 59"/>
          <p:cNvSpPr txBox="1"/>
          <p:nvPr/>
        </p:nvSpPr>
        <p:spPr>
          <a:xfrm>
            <a:off x="6197600" y="2438400"/>
            <a:ext cx="5588000" cy="323165"/>
          </a:xfrm>
          <a:prstGeom prst="rect">
            <a:avLst/>
          </a:prstGeom>
          <a:noFill/>
        </p:spPr>
        <p:txBody>
          <a:bodyPr wrap="square" lIns="0" tIns="0" rIns="0" bIns="0">
            <a:spAutoFit/>
          </a:bodyPr>
          <a:lstStyle/>
          <a:p>
            <a:pPr algn="l"/>
            <a:r>
              <a:rPr sz="1050" b="1" dirty="0" err="1">
                <a:solidFill>
                  <a:srgbClr val="315995"/>
                </a:solidFill>
                <a:latin typeface="微软雅黑" panose="020B0503020204020204" pitchFamily="34" charset="-122"/>
                <a:ea typeface="微软雅黑" panose="020B0503020204020204" pitchFamily="34" charset="-122"/>
              </a:rPr>
              <a:t>结果：</a:t>
            </a:r>
            <a:r>
              <a:rPr sz="1050" b="0" dirty="0" err="1">
                <a:solidFill>
                  <a:srgbClr val="466590"/>
                </a:solidFill>
                <a:latin typeface="微软雅黑" panose="020B0503020204020204" pitchFamily="34" charset="-122"/>
                <a:ea typeface="微软雅黑" panose="020B0503020204020204" pitchFamily="34" charset="-122"/>
              </a:rPr>
              <a:t>带参数约束的目标点对齐</a:t>
            </a:r>
            <a:r>
              <a:rPr sz="1050" b="0" dirty="0">
                <a:solidFill>
                  <a:srgbClr val="466590"/>
                </a:solidFill>
                <a:latin typeface="微软雅黑" panose="020B0503020204020204" pitchFamily="34" charset="-122"/>
                <a:ea typeface="微软雅黑" panose="020B0503020204020204" pitchFamily="34" charset="-122"/>
              </a:rPr>
              <a:t>——目标寿命点误差下降（16.4%→15.8%）；</a:t>
            </a:r>
            <a:r>
              <a:rPr sz="1050" b="0" dirty="0" err="1">
                <a:solidFill>
                  <a:srgbClr val="466590"/>
                </a:solidFill>
                <a:latin typeface="微软雅黑" panose="020B0503020204020204" pitchFamily="34" charset="-122"/>
                <a:ea typeface="微软雅黑" panose="020B0503020204020204" pitchFamily="34" charset="-122"/>
              </a:rPr>
              <a:t>其他寿命点误差没有上升，甚至略有下降</a:t>
            </a:r>
            <a:r>
              <a:rPr sz="1050" b="0" dirty="0">
                <a:solidFill>
                  <a:srgbClr val="466590"/>
                </a:solidFill>
                <a:latin typeface="微软雅黑" panose="020B0503020204020204" pitchFamily="34" charset="-122"/>
                <a:ea typeface="微软雅黑" panose="020B0503020204020204" pitchFamily="34" charset="-122"/>
              </a:rPr>
              <a:t>。</a:t>
            </a:r>
          </a:p>
        </p:txBody>
      </p:sp>
      <p:graphicFrame>
        <p:nvGraphicFramePr>
          <p:cNvPr id="61" name="Table 60"/>
          <p:cNvGraphicFramePr>
            <a:graphicFrameLocks noGrp="1"/>
          </p:cNvGraphicFramePr>
          <p:nvPr/>
        </p:nvGraphicFramePr>
        <p:xfrm>
          <a:off x="406400" y="2679700"/>
          <a:ext cx="5334000" cy="812800"/>
        </p:xfrm>
        <a:graphic>
          <a:graphicData uri="http://schemas.openxmlformats.org/drawingml/2006/table">
            <a:tbl>
              <a:tblPr firstRow="1">
                <a:tableStyleId>{2D5ABB26-0587-4C30-8999-92F81FD0307C}</a:tableStyleId>
              </a:tblPr>
              <a:tblGrid>
                <a:gridCol w="2032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203200">
                <a:tc>
                  <a:txBody>
                    <a:bodyPr/>
                    <a:lstStyle/>
                    <a:p>
                      <a:pPr algn="ctr"/>
                      <a:r>
                        <a:rPr sz="1000" b="1" dirty="0" err="1">
                          <a:solidFill>
                            <a:srgbClr val="315995"/>
                          </a:solidFill>
                          <a:latin typeface="微软雅黑" panose="020B0503020204020204" pitchFamily="34" charset="-122"/>
                          <a:ea typeface="微软雅黑" panose="020B0503020204020204" pitchFamily="34" charset="-122"/>
                        </a:rPr>
                        <a:t>固定规则精度</a:t>
                      </a:r>
                      <a:endParaRPr sz="1000" b="1" dirty="0">
                        <a:solidFill>
                          <a:srgbClr val="315995"/>
                        </a:solidFill>
                        <a:latin typeface="微软雅黑" panose="020B0503020204020204" pitchFamily="34" charset="-122"/>
                        <a:ea typeface="微软雅黑" panose="020B0503020204020204" pitchFamily="34" charset="-122"/>
                      </a:endParaRPr>
                    </a:p>
                  </a:txBody>
                  <a:tcPr marL="50800" marR="50800" marT="12700" marB="12700" anchor="ctr">
                    <a:solidFill>
                      <a:srgbClr val="EAF1F8"/>
                    </a:solidFill>
                  </a:tcPr>
                </a:tc>
                <a:tc>
                  <a:txBody>
                    <a:bodyPr/>
                    <a:lstStyle/>
                    <a:p>
                      <a:pPr algn="ctr"/>
                      <a:r>
                        <a:rPr sz="1000" b="1" dirty="0" err="1">
                          <a:solidFill>
                            <a:srgbClr val="315995"/>
                          </a:solidFill>
                          <a:latin typeface="微软雅黑" panose="020B0503020204020204" pitchFamily="34" charset="-122"/>
                          <a:ea typeface="微软雅黑" panose="020B0503020204020204" pitchFamily="34" charset="-122"/>
                        </a:rPr>
                        <a:t>自适应所需样本</a:t>
                      </a:r>
                      <a:endParaRPr sz="1000" b="1" dirty="0">
                        <a:solidFill>
                          <a:srgbClr val="315995"/>
                        </a:solidFill>
                        <a:latin typeface="微软雅黑" panose="020B0503020204020204" pitchFamily="34" charset="-122"/>
                        <a:ea typeface="微软雅黑" panose="020B0503020204020204" pitchFamily="34" charset="-122"/>
                      </a:endParaRPr>
                    </a:p>
                  </a:txBody>
                  <a:tcPr marL="50800" marR="50800" marT="12700" marB="12700" anchor="ctr">
                    <a:solidFill>
                      <a:srgbClr val="EAF1F8"/>
                    </a:solidFill>
                  </a:tcPr>
                </a:tc>
                <a:tc>
                  <a:txBody>
                    <a:bodyPr/>
                    <a:lstStyle/>
                    <a:p>
                      <a:pPr algn="ctr"/>
                      <a:r>
                        <a:rPr sz="1000" b="1" dirty="0" err="1">
                          <a:solidFill>
                            <a:srgbClr val="315995"/>
                          </a:solidFill>
                          <a:latin typeface="微软雅黑" panose="020B0503020204020204" pitchFamily="34" charset="-122"/>
                          <a:ea typeface="微软雅黑" panose="020B0503020204020204" pitchFamily="34" charset="-122"/>
                        </a:rPr>
                        <a:t>相当于少用</a:t>
                      </a:r>
                      <a:endParaRPr sz="1000" b="1" dirty="0">
                        <a:solidFill>
                          <a:srgbClr val="315995"/>
                        </a:solidFill>
                        <a:latin typeface="微软雅黑" panose="020B0503020204020204" pitchFamily="34" charset="-122"/>
                        <a:ea typeface="微软雅黑" panose="020B0503020204020204" pitchFamily="34" charset="-122"/>
                      </a:endParaRPr>
                    </a:p>
                  </a:txBody>
                  <a:tcPr marL="50800" marR="50800" marT="12700" marB="12700" anchor="ctr">
                    <a:solidFill>
                      <a:srgbClr val="EAF1F8"/>
                    </a:solidFill>
                  </a:tcPr>
                </a:tc>
                <a:extLst>
                  <a:ext uri="{0D108BD9-81ED-4DB2-BD59-A6C34878D82A}">
                    <a16:rowId xmlns:a16="http://schemas.microsoft.com/office/drawing/2014/main" val="10000"/>
                  </a:ext>
                </a:extLst>
              </a:tr>
              <a:tr h="203200">
                <a:tc>
                  <a:txBody>
                    <a:bodyPr/>
                    <a:lstStyle/>
                    <a:p>
                      <a:pPr algn="ctr"/>
                      <a:r>
                        <a:rPr sz="1000" b="0" dirty="0">
                          <a:solidFill>
                            <a:srgbClr val="466590"/>
                          </a:solidFill>
                          <a:latin typeface="微软雅黑" panose="020B0503020204020204" pitchFamily="34" charset="-122"/>
                          <a:ea typeface="微软雅黑" panose="020B0503020204020204" pitchFamily="34" charset="-122"/>
                        </a:rPr>
                        <a:t>n=10 </a:t>
                      </a:r>
                      <a:r>
                        <a:rPr sz="1000" b="0" dirty="0" err="1">
                          <a:solidFill>
                            <a:srgbClr val="466590"/>
                          </a:solidFill>
                          <a:latin typeface="微软雅黑" panose="020B0503020204020204" pitchFamily="34" charset="-122"/>
                          <a:ea typeface="微软雅黑" panose="020B0503020204020204" pitchFamily="34" charset="-122"/>
                        </a:rPr>
                        <a:t>水平</a:t>
                      </a:r>
                      <a:endParaRPr sz="1000" b="0" dirty="0">
                        <a:solidFill>
                          <a:srgbClr val="466590"/>
                        </a:solidFill>
                        <a:latin typeface="微软雅黑" panose="020B0503020204020204" pitchFamily="34" charset="-122"/>
                        <a:ea typeface="微软雅黑" panose="020B0503020204020204" pitchFamily="34" charset="-122"/>
                      </a:endParaRPr>
                    </a:p>
                  </a:txBody>
                  <a:tcPr marL="50800" marR="50800" marT="12700" marB="12700" anchor="ctr">
                    <a:solidFill>
                      <a:srgbClr val="FFFFFF"/>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8.2 个</a:t>
                      </a:r>
                    </a:p>
                  </a:txBody>
                  <a:tcPr marL="50800" marR="50800" marT="12700" marB="12700" anchor="ctr">
                    <a:solidFill>
                      <a:srgbClr val="FFFFFF"/>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1.8 个</a:t>
                      </a:r>
                    </a:p>
                  </a:txBody>
                  <a:tcPr marL="50800" marR="50800" marT="12700" marB="12700" anchor="ctr">
                    <a:solidFill>
                      <a:srgbClr val="FFFFFF"/>
                    </a:solidFill>
                  </a:tcPr>
                </a:tc>
                <a:extLst>
                  <a:ext uri="{0D108BD9-81ED-4DB2-BD59-A6C34878D82A}">
                    <a16:rowId xmlns:a16="http://schemas.microsoft.com/office/drawing/2014/main" val="10001"/>
                  </a:ext>
                </a:extLst>
              </a:tr>
              <a:tr h="203200">
                <a:tc>
                  <a:txBody>
                    <a:bodyPr/>
                    <a:lstStyle/>
                    <a:p>
                      <a:pPr algn="ctr"/>
                      <a:r>
                        <a:rPr sz="1000" b="0" dirty="0">
                          <a:solidFill>
                            <a:srgbClr val="466590"/>
                          </a:solidFill>
                          <a:latin typeface="微软雅黑" panose="020B0503020204020204" pitchFamily="34" charset="-122"/>
                          <a:ea typeface="微软雅黑" panose="020B0503020204020204" pitchFamily="34" charset="-122"/>
                        </a:rPr>
                        <a:t>n=15 </a:t>
                      </a:r>
                      <a:r>
                        <a:rPr sz="1000" b="0" dirty="0" err="1">
                          <a:solidFill>
                            <a:srgbClr val="466590"/>
                          </a:solidFill>
                          <a:latin typeface="微软雅黑" panose="020B0503020204020204" pitchFamily="34" charset="-122"/>
                          <a:ea typeface="微软雅黑" panose="020B0503020204020204" pitchFamily="34" charset="-122"/>
                        </a:rPr>
                        <a:t>水平</a:t>
                      </a:r>
                      <a:endParaRPr sz="1000" b="0" dirty="0">
                        <a:solidFill>
                          <a:srgbClr val="466590"/>
                        </a:solidFill>
                        <a:latin typeface="微软雅黑" panose="020B0503020204020204" pitchFamily="34" charset="-122"/>
                        <a:ea typeface="微软雅黑" panose="020B0503020204020204" pitchFamily="34" charset="-122"/>
                      </a:endParaRPr>
                    </a:p>
                  </a:txBody>
                  <a:tcPr marL="50800" marR="50800" marT="12700" marB="12700" anchor="ctr">
                    <a:solidFill>
                      <a:srgbClr val="F7F9FC"/>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12.4 个</a:t>
                      </a:r>
                    </a:p>
                  </a:txBody>
                  <a:tcPr marL="50800" marR="50800" marT="12700" marB="12700" anchor="ctr">
                    <a:solidFill>
                      <a:srgbClr val="F7F9FC"/>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2.6 个</a:t>
                      </a:r>
                    </a:p>
                  </a:txBody>
                  <a:tcPr marL="50800" marR="50800" marT="12700" marB="12700" anchor="ctr">
                    <a:solidFill>
                      <a:srgbClr val="F7F9FC"/>
                    </a:solidFill>
                  </a:tcPr>
                </a:tc>
                <a:extLst>
                  <a:ext uri="{0D108BD9-81ED-4DB2-BD59-A6C34878D82A}">
                    <a16:rowId xmlns:a16="http://schemas.microsoft.com/office/drawing/2014/main" val="10002"/>
                  </a:ext>
                </a:extLst>
              </a:tr>
              <a:tr h="203200">
                <a:tc>
                  <a:txBody>
                    <a:bodyPr/>
                    <a:lstStyle/>
                    <a:p>
                      <a:pPr algn="ctr"/>
                      <a:r>
                        <a:rPr sz="1000" b="0" dirty="0">
                          <a:solidFill>
                            <a:srgbClr val="466590"/>
                          </a:solidFill>
                          <a:latin typeface="微软雅黑" panose="020B0503020204020204" pitchFamily="34" charset="-122"/>
                          <a:ea typeface="微软雅黑" panose="020B0503020204020204" pitchFamily="34" charset="-122"/>
                        </a:rPr>
                        <a:t>n=20 </a:t>
                      </a:r>
                      <a:r>
                        <a:rPr sz="1000" b="0" dirty="0" err="1">
                          <a:solidFill>
                            <a:srgbClr val="466590"/>
                          </a:solidFill>
                          <a:latin typeface="微软雅黑" panose="020B0503020204020204" pitchFamily="34" charset="-122"/>
                          <a:ea typeface="微软雅黑" panose="020B0503020204020204" pitchFamily="34" charset="-122"/>
                        </a:rPr>
                        <a:t>水平</a:t>
                      </a:r>
                      <a:endParaRPr sz="1000" b="0" dirty="0">
                        <a:solidFill>
                          <a:srgbClr val="466590"/>
                        </a:solidFill>
                        <a:latin typeface="微软雅黑" panose="020B0503020204020204" pitchFamily="34" charset="-122"/>
                        <a:ea typeface="微软雅黑" panose="020B0503020204020204" pitchFamily="34" charset="-122"/>
                      </a:endParaRPr>
                    </a:p>
                  </a:txBody>
                  <a:tcPr marL="50800" marR="50800" marT="12700" marB="12700" anchor="ctr">
                    <a:solidFill>
                      <a:srgbClr val="FFFFFF"/>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17.0 个</a:t>
                      </a:r>
                    </a:p>
                  </a:txBody>
                  <a:tcPr marL="50800" marR="50800" marT="12700" marB="12700" anchor="ctr">
                    <a:solidFill>
                      <a:srgbClr val="FFFFFF"/>
                    </a:solidFill>
                  </a:tcPr>
                </a:tc>
                <a:tc>
                  <a:txBody>
                    <a:bodyPr/>
                    <a:lstStyle/>
                    <a:p>
                      <a:pPr algn="ctr"/>
                      <a:r>
                        <a:rPr sz="1000" b="0" dirty="0">
                          <a:solidFill>
                            <a:srgbClr val="466590"/>
                          </a:solidFill>
                          <a:latin typeface="微软雅黑" panose="020B0503020204020204" pitchFamily="34" charset="-122"/>
                          <a:ea typeface="微软雅黑" panose="020B0503020204020204" pitchFamily="34" charset="-122"/>
                        </a:rPr>
                        <a:t>约 3.1 个</a:t>
                      </a:r>
                    </a:p>
                  </a:txBody>
                  <a:tcPr marL="50800" marR="50800" marT="12700" marB="12700" anchor="ctr">
                    <a:solidFill>
                      <a:srgbClr val="FFFFFF"/>
                    </a:solidFill>
                  </a:tcPr>
                </a:tc>
                <a:extLst>
                  <a:ext uri="{0D108BD9-81ED-4DB2-BD59-A6C34878D82A}">
                    <a16:rowId xmlns:a16="http://schemas.microsoft.com/office/drawing/2014/main" val="10003"/>
                  </a:ext>
                </a:extLst>
              </a:tr>
            </a:tbl>
          </a:graphicData>
        </a:graphic>
      </p:graphicFrame>
      <p:pic>
        <p:nvPicPr>
          <p:cNvPr id="62" name="P19-combined-principle" descr="p19-combined-ppt.png"/>
          <p:cNvPicPr>
            <a:picLocks noChangeAspect="1"/>
          </p:cNvPicPr>
          <p:nvPr/>
        </p:nvPicPr>
        <p:blipFill>
          <a:blip r:embed="rId3"/>
          <a:stretch>
            <a:fillRect/>
          </a:stretch>
        </p:blipFill>
        <p:spPr>
          <a:xfrm>
            <a:off x="381000" y="3810000"/>
            <a:ext cx="11430000" cy="2771140"/>
          </a:xfrm>
          <a:prstGeom prst="rect">
            <a:avLst/>
          </a:prstGeom>
        </p:spPr>
      </p:pic>
    </p:spTree>
    <p:extLst>
      <p:ext uri="{BB962C8B-B14F-4D97-AF65-F5344CB8AC3E}">
        <p14:creationId xmlns:p14="http://schemas.microsoft.com/office/powerpoint/2010/main" val="726781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0374-5682-8E3A-BF01-FB0B12F2F77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F6BD843-C9BE-5B92-F536-5D2BB1AC820C}"/>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依据可靠性发展路线图，做出做出理论与实践并举的工作</a:t>
            </a:r>
          </a:p>
        </p:txBody>
      </p:sp>
      <p:sp>
        <p:nvSpPr>
          <p:cNvPr id="49" name="文本框 48">
            <a:extLst>
              <a:ext uri="{FF2B5EF4-FFF2-40B4-BE49-F238E27FC236}">
                <a16:creationId xmlns:a16="http://schemas.microsoft.com/office/drawing/2014/main" id="{D142F776-10D1-B85A-6F22-8A9FC0AC72E0}"/>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培养展望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4D048A7F-F5C4-D125-F071-B16785D3EC8E}"/>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EC2CC45-C608-DC65-5818-773AE2272BF1}"/>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04</a:t>
            </a:r>
          </a:p>
        </p:txBody>
      </p:sp>
      <p:grpSp>
        <p:nvGrpSpPr>
          <p:cNvPr id="36" name="组合 35">
            <a:extLst>
              <a:ext uri="{FF2B5EF4-FFF2-40B4-BE49-F238E27FC236}">
                <a16:creationId xmlns:a16="http://schemas.microsoft.com/office/drawing/2014/main" id="{27CA0C9D-DEEC-4CFB-6588-1B396ED514A6}"/>
              </a:ext>
            </a:extLst>
          </p:cNvPr>
          <p:cNvGrpSpPr/>
          <p:nvPr/>
        </p:nvGrpSpPr>
        <p:grpSpPr>
          <a:xfrm>
            <a:off x="1082109" y="1738288"/>
            <a:ext cx="10304352" cy="2761020"/>
            <a:chOff x="1169193" y="1738288"/>
            <a:chExt cx="9821676" cy="2761020"/>
          </a:xfrm>
        </p:grpSpPr>
        <p:cxnSp>
          <p:nvCxnSpPr>
            <p:cNvPr id="39" name="直接连接符 38">
              <a:extLst>
                <a:ext uri="{FF2B5EF4-FFF2-40B4-BE49-F238E27FC236}">
                  <a16:creationId xmlns:a16="http://schemas.microsoft.com/office/drawing/2014/main" id="{FEAD65F7-027E-B645-F337-E68970FAB90F}"/>
                </a:ext>
              </a:extLst>
            </p:cNvPr>
            <p:cNvCxnSpPr>
              <a:cxnSpLocks/>
            </p:cNvCxnSpPr>
            <p:nvPr/>
          </p:nvCxnSpPr>
          <p:spPr>
            <a:xfrm flipV="1">
              <a:off x="8525043" y="2364504"/>
              <a:ext cx="2112" cy="1705604"/>
            </a:xfrm>
            <a:prstGeom prst="line">
              <a:avLst/>
            </a:prstGeom>
            <a:noFill/>
            <a:ln w="635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Dot"/>
              <a:miter lim="800000"/>
            </a:ln>
            <a:effectLst/>
          </p:spPr>
        </p:cxnSp>
        <p:cxnSp>
          <p:nvCxnSpPr>
            <p:cNvPr id="40" name="直接连接符 39">
              <a:extLst>
                <a:ext uri="{FF2B5EF4-FFF2-40B4-BE49-F238E27FC236}">
                  <a16:creationId xmlns:a16="http://schemas.microsoft.com/office/drawing/2014/main" id="{19615CAB-3DBF-92DD-4433-30192CBF2C06}"/>
                </a:ext>
              </a:extLst>
            </p:cNvPr>
            <p:cNvCxnSpPr>
              <a:cxnSpLocks/>
            </p:cNvCxnSpPr>
            <p:nvPr/>
          </p:nvCxnSpPr>
          <p:spPr>
            <a:xfrm flipV="1">
              <a:off x="6042840" y="2362368"/>
              <a:ext cx="2112" cy="1705604"/>
            </a:xfrm>
            <a:prstGeom prst="line">
              <a:avLst/>
            </a:prstGeom>
            <a:noFill/>
            <a:ln w="635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dashDot"/>
              <a:miter lim="800000"/>
            </a:ln>
            <a:effectLst/>
          </p:spPr>
        </p:cxnSp>
        <p:sp>
          <p:nvSpPr>
            <p:cNvPr id="41" name="矩形: 圆角 40">
              <a:extLst>
                <a:ext uri="{FF2B5EF4-FFF2-40B4-BE49-F238E27FC236}">
                  <a16:creationId xmlns:a16="http://schemas.microsoft.com/office/drawing/2014/main" id="{85D792B0-78B3-C345-A3C3-4FFC1800A7D0}"/>
                </a:ext>
              </a:extLst>
            </p:cNvPr>
            <p:cNvSpPr/>
            <p:nvPr/>
          </p:nvSpPr>
          <p:spPr>
            <a:xfrm>
              <a:off x="1169193" y="1750013"/>
              <a:ext cx="2340260" cy="2036221"/>
            </a:xfrm>
            <a:prstGeom prst="roundRect">
              <a:avLst>
                <a:gd name="adj" fmla="val 8053"/>
              </a:avLst>
            </a:prstGeom>
            <a:solidFill>
              <a:srgbClr val="1F497D">
                <a:lumMod val="40000"/>
                <a:lumOff val="60000"/>
              </a:srgbClr>
            </a:solidFill>
            <a:ln w="12700" cap="flat" cmpd="sng" algn="ctr">
              <a:no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2" name="箭头: 五边形 41">
              <a:extLst>
                <a:ext uri="{FF2B5EF4-FFF2-40B4-BE49-F238E27FC236}">
                  <a16:creationId xmlns:a16="http://schemas.microsoft.com/office/drawing/2014/main" id="{A24E6C7C-E5B3-D21E-0F23-EF6A9FBF10BB}"/>
                </a:ext>
              </a:extLst>
            </p:cNvPr>
            <p:cNvSpPr/>
            <p:nvPr/>
          </p:nvSpPr>
          <p:spPr>
            <a:xfrm>
              <a:off x="3602350" y="1738288"/>
              <a:ext cx="3540393" cy="615553"/>
            </a:xfrm>
            <a:prstGeom prst="homePlate">
              <a:avLst/>
            </a:prstGeom>
            <a:solidFill>
              <a:srgbClr val="1F497D">
                <a:lumMod val="40000"/>
                <a:lumOff val="60000"/>
              </a:srgbClr>
            </a:solidFill>
            <a:ln w="12700" cap="flat" cmpd="sng" algn="ctr">
              <a:no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3" name="矩形: 圆角 42">
              <a:extLst>
                <a:ext uri="{FF2B5EF4-FFF2-40B4-BE49-F238E27FC236}">
                  <a16:creationId xmlns:a16="http://schemas.microsoft.com/office/drawing/2014/main" id="{9F3E39B7-AE40-2C15-C5C3-5F6E37156CAC}"/>
                </a:ext>
              </a:extLst>
            </p:cNvPr>
            <p:cNvSpPr/>
            <p:nvPr/>
          </p:nvSpPr>
          <p:spPr>
            <a:xfrm>
              <a:off x="1185933" y="3873621"/>
              <a:ext cx="2340260" cy="625687"/>
            </a:xfrm>
            <a:prstGeom prst="roundRect">
              <a:avLst>
                <a:gd name="adj" fmla="val 23784"/>
              </a:avLst>
            </a:prstGeom>
            <a:solidFill>
              <a:srgbClr val="4F81BD"/>
            </a:solidFill>
            <a:ln w="12700" cap="flat" cmpd="sng" algn="ctr">
              <a:no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4" name="TextBox 1">
              <a:extLst>
                <a:ext uri="{FF2B5EF4-FFF2-40B4-BE49-F238E27FC236}">
                  <a16:creationId xmlns:a16="http://schemas.microsoft.com/office/drawing/2014/main" id="{584B44B9-659E-89F3-A860-1FAF8CBF20AA}"/>
                </a:ext>
              </a:extLst>
            </p:cNvPr>
            <p:cNvSpPr txBox="1"/>
            <p:nvPr/>
          </p:nvSpPr>
          <p:spPr>
            <a:xfrm>
              <a:off x="1185932" y="1987697"/>
              <a:ext cx="2289605" cy="1423403"/>
            </a:xfrm>
            <a:prstGeom prst="rect">
              <a:avLst/>
            </a:prstGeom>
            <a:noFill/>
          </p:spPr>
          <p:txBody>
            <a:bodyPr wrap="square" rtlCol="0">
              <a:spAutoFit/>
            </a:bodyPr>
            <a:lstStyle/>
            <a:p>
              <a:pPr algn="ctr" defTabSz="1219170" fontAlgn="base">
                <a:lnSpc>
                  <a:spcPct val="150000"/>
                </a:lnSpc>
                <a:spcBef>
                  <a:spcPct val="0"/>
                </a:spcBef>
                <a:spcAft>
                  <a:spcPct val="0"/>
                </a:spcAft>
                <a:defRPr/>
              </a:pPr>
              <a:r>
                <a:rPr kumimoji="1" lang="zh-CN" altLang="en-US" sz="2000" dirty="0">
                  <a:solidFill>
                    <a:prstClr val="white"/>
                  </a:solidFill>
                  <a:latin typeface="微软雅黑" panose="020B0503020204020204" pitchFamily="34" charset="-122"/>
                  <a:ea typeface="微软雅黑" panose="020B0503020204020204" pitchFamily="34" charset="-122"/>
                </a:rPr>
                <a:t>多模型融合</a:t>
              </a:r>
              <a:endParaRPr kumimoji="1" lang="en-US" altLang="zh-CN" sz="2000" dirty="0">
                <a:solidFill>
                  <a:prstClr val="white"/>
                </a:solidFill>
                <a:latin typeface="微软雅黑" panose="020B0503020204020204" pitchFamily="34" charset="-122"/>
                <a:ea typeface="微软雅黑" panose="020B0503020204020204" pitchFamily="34" charset="-122"/>
              </a:endParaRPr>
            </a:p>
            <a:p>
              <a:pPr algn="ctr" defTabSz="1219170" fontAlgn="base">
                <a:lnSpc>
                  <a:spcPct val="150000"/>
                </a:lnSpc>
                <a:spcBef>
                  <a:spcPct val="0"/>
                </a:spcBef>
                <a:spcAft>
                  <a:spcPct val="0"/>
                </a:spcAft>
                <a:defRPr/>
              </a:pPr>
              <a:r>
                <a:rPr kumimoji="1" lang="zh-CN" altLang="en-US" sz="2000" dirty="0">
                  <a:solidFill>
                    <a:prstClr val="white"/>
                  </a:solidFill>
                  <a:latin typeface="微软雅黑" panose="020B0503020204020204" pitchFamily="34" charset="-122"/>
                  <a:ea typeface="微软雅黑" panose="020B0503020204020204" pitchFamily="34" charset="-122"/>
                </a:rPr>
                <a:t>的可靠性设</a:t>
              </a:r>
              <a:endParaRPr kumimoji="1" lang="en-US" altLang="zh-CN" sz="2000" dirty="0">
                <a:solidFill>
                  <a:prstClr val="white"/>
                </a:solidFill>
                <a:latin typeface="微软雅黑" panose="020B0503020204020204" pitchFamily="34" charset="-122"/>
                <a:ea typeface="微软雅黑" panose="020B0503020204020204" pitchFamily="34" charset="-122"/>
              </a:endParaRPr>
            </a:p>
            <a:p>
              <a:pPr algn="ctr" defTabSz="1219170" fontAlgn="base">
                <a:lnSpc>
                  <a:spcPct val="150000"/>
                </a:lnSpc>
                <a:spcBef>
                  <a:spcPct val="0"/>
                </a:spcBef>
                <a:spcAft>
                  <a:spcPct val="0"/>
                </a:spcAft>
                <a:defRPr/>
              </a:pPr>
              <a:r>
                <a:rPr kumimoji="1" lang="zh-CN" altLang="en-US" sz="2000" dirty="0">
                  <a:solidFill>
                    <a:prstClr val="white"/>
                  </a:solidFill>
                  <a:latin typeface="微软雅黑" panose="020B0503020204020204" pitchFamily="34" charset="-122"/>
                  <a:ea typeface="微软雅黑" panose="020B0503020204020204" pitchFamily="34" charset="-122"/>
                </a:rPr>
                <a:t>计技术</a:t>
              </a:r>
              <a:endParaRPr kumimoji="1" lang="en-US" altLang="zh-CN" sz="2000" dirty="0">
                <a:solidFill>
                  <a:prstClr val="white"/>
                </a:solidFill>
                <a:latin typeface="微软雅黑" panose="020B0503020204020204" pitchFamily="34" charset="-122"/>
                <a:ea typeface="微软雅黑" panose="020B0503020204020204" pitchFamily="34" charset="-122"/>
              </a:endParaRPr>
            </a:p>
          </p:txBody>
        </p:sp>
        <p:sp>
          <p:nvSpPr>
            <p:cNvPr id="45" name="TextBox 1">
              <a:extLst>
                <a:ext uri="{FF2B5EF4-FFF2-40B4-BE49-F238E27FC236}">
                  <a16:creationId xmlns:a16="http://schemas.microsoft.com/office/drawing/2014/main" id="{898DB484-4168-910D-10E8-DC7966848658}"/>
                </a:ext>
              </a:extLst>
            </p:cNvPr>
            <p:cNvSpPr txBox="1"/>
            <p:nvPr/>
          </p:nvSpPr>
          <p:spPr>
            <a:xfrm>
              <a:off x="3122297" y="1774321"/>
              <a:ext cx="4140460" cy="384208"/>
            </a:xfrm>
            <a:prstGeom prst="rect">
              <a:avLst/>
            </a:prstGeom>
            <a:noFill/>
          </p:spPr>
          <p:txBody>
            <a:bodyPr wrap="square" rtlCol="0">
              <a:spAutoFit/>
            </a:bodyPr>
            <a:lstStyle/>
            <a:p>
              <a:pPr algn="ctr" defTabSz="1219170" fontAlgn="base">
                <a:lnSpc>
                  <a:spcPct val="150000"/>
                </a:lnSpc>
                <a:spcBef>
                  <a:spcPct val="0"/>
                </a:spcBef>
                <a:spcAft>
                  <a:spcPct val="0"/>
                </a:spcAft>
                <a:defRPr/>
              </a:pPr>
              <a:r>
                <a:rPr kumimoji="1" lang="zh-CN" altLang="en-US" sz="1400" dirty="0">
                  <a:solidFill>
                    <a:prstClr val="white"/>
                  </a:solidFill>
                  <a:latin typeface="微软雅黑" panose="020B0503020204020204" pitchFamily="34" charset="-122"/>
                  <a:ea typeface="微软雅黑" panose="020B0503020204020204" pitchFamily="34" charset="-122"/>
                </a:rPr>
                <a:t>目标：复杂装备可靠性设计技术</a:t>
              </a:r>
              <a:endParaRPr kumimoji="1" lang="en-US" altLang="zh-CN" sz="1400" dirty="0">
                <a:solidFill>
                  <a:prstClr val="white"/>
                </a:solidFill>
                <a:latin typeface="微软雅黑" panose="020B0503020204020204" pitchFamily="34" charset="-122"/>
                <a:ea typeface="微软雅黑" panose="020B0503020204020204" pitchFamily="34" charset="-122"/>
              </a:endParaRPr>
            </a:p>
          </p:txBody>
        </p:sp>
        <p:sp>
          <p:nvSpPr>
            <p:cNvPr id="46" name="箭头: 五边形 45">
              <a:extLst>
                <a:ext uri="{FF2B5EF4-FFF2-40B4-BE49-F238E27FC236}">
                  <a16:creationId xmlns:a16="http://schemas.microsoft.com/office/drawing/2014/main" id="{8548DC6F-8003-BEA4-CB4C-EBC4E1DD98F1}"/>
                </a:ext>
              </a:extLst>
            </p:cNvPr>
            <p:cNvSpPr/>
            <p:nvPr/>
          </p:nvSpPr>
          <p:spPr>
            <a:xfrm>
              <a:off x="7262757" y="1750014"/>
              <a:ext cx="3540393" cy="615553"/>
            </a:xfrm>
            <a:prstGeom prst="homePlate">
              <a:avLst/>
            </a:prstGeom>
            <a:solidFill>
              <a:srgbClr val="1F497D">
                <a:lumMod val="40000"/>
                <a:lumOff val="60000"/>
              </a:srgbClr>
            </a:solidFill>
            <a:ln w="12700" cap="flat" cmpd="sng" algn="ctr">
              <a:no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7" name="TextBox 1">
              <a:extLst>
                <a:ext uri="{FF2B5EF4-FFF2-40B4-BE49-F238E27FC236}">
                  <a16:creationId xmlns:a16="http://schemas.microsoft.com/office/drawing/2014/main" id="{27811C67-A93B-42AD-D893-A64361336947}"/>
                </a:ext>
              </a:extLst>
            </p:cNvPr>
            <p:cNvSpPr txBox="1"/>
            <p:nvPr/>
          </p:nvSpPr>
          <p:spPr>
            <a:xfrm>
              <a:off x="6782703" y="1786047"/>
              <a:ext cx="4140460" cy="384208"/>
            </a:xfrm>
            <a:prstGeom prst="rect">
              <a:avLst/>
            </a:prstGeom>
            <a:noFill/>
          </p:spPr>
          <p:txBody>
            <a:bodyPr wrap="square" rtlCol="0">
              <a:spAutoFit/>
            </a:bodyPr>
            <a:lstStyle/>
            <a:p>
              <a:pPr algn="ctr" defTabSz="1219170" fontAlgn="base">
                <a:lnSpc>
                  <a:spcPct val="150000"/>
                </a:lnSpc>
                <a:spcBef>
                  <a:spcPct val="0"/>
                </a:spcBef>
                <a:spcAft>
                  <a:spcPct val="0"/>
                </a:spcAft>
                <a:defRPr/>
              </a:pPr>
              <a:r>
                <a:rPr kumimoji="1" lang="zh-CN" altLang="en-US" sz="1400" dirty="0">
                  <a:solidFill>
                    <a:prstClr val="white"/>
                  </a:solidFill>
                  <a:latin typeface="微软雅黑" panose="020B0503020204020204" pitchFamily="34" charset="-122"/>
                  <a:ea typeface="微软雅黑" panose="020B0503020204020204" pitchFamily="34" charset="-122"/>
                </a:rPr>
                <a:t>目标：智能化可靠性设计技术</a:t>
              </a:r>
              <a:endParaRPr kumimoji="1" lang="en-US" altLang="zh-CN" sz="1400" dirty="0">
                <a:solidFill>
                  <a:prstClr val="white"/>
                </a:solidFill>
                <a:latin typeface="微软雅黑" panose="020B0503020204020204" pitchFamily="34" charset="-122"/>
                <a:ea typeface="微软雅黑" panose="020B0503020204020204" pitchFamily="34" charset="-122"/>
              </a:endParaRPr>
            </a:p>
          </p:txBody>
        </p:sp>
        <p:sp>
          <p:nvSpPr>
            <p:cNvPr id="48" name="箭头: 五边形 47">
              <a:extLst>
                <a:ext uri="{FF2B5EF4-FFF2-40B4-BE49-F238E27FC236}">
                  <a16:creationId xmlns:a16="http://schemas.microsoft.com/office/drawing/2014/main" id="{2A7CE16A-6C79-0E14-3717-72556CC80712}"/>
                </a:ext>
              </a:extLst>
            </p:cNvPr>
            <p:cNvSpPr/>
            <p:nvPr/>
          </p:nvSpPr>
          <p:spPr>
            <a:xfrm>
              <a:off x="3602350" y="2449882"/>
              <a:ext cx="2406045" cy="615553"/>
            </a:xfrm>
            <a:prstGeom prst="homePlate">
              <a:avLst/>
            </a:prstGeom>
            <a:noFill/>
            <a:ln w="12700" cap="flat" cmpd="sng" algn="ctr">
              <a:solidFill>
                <a:srgbClr val="4F81BD">
                  <a:shade val="15000"/>
                </a:srgbClr>
              </a:solid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52" name="箭头: 五边形 51">
              <a:extLst>
                <a:ext uri="{FF2B5EF4-FFF2-40B4-BE49-F238E27FC236}">
                  <a16:creationId xmlns:a16="http://schemas.microsoft.com/office/drawing/2014/main" id="{6E6E56F5-F6A0-6D40-9CD8-F220DF67F66D}"/>
                </a:ext>
              </a:extLst>
            </p:cNvPr>
            <p:cNvSpPr/>
            <p:nvPr/>
          </p:nvSpPr>
          <p:spPr>
            <a:xfrm>
              <a:off x="6101292" y="2449882"/>
              <a:ext cx="2406045" cy="615553"/>
            </a:xfrm>
            <a:prstGeom prst="homePlate">
              <a:avLst/>
            </a:prstGeom>
            <a:noFill/>
            <a:ln w="12700" cap="flat" cmpd="sng" algn="ctr">
              <a:solidFill>
                <a:srgbClr val="4F81BD">
                  <a:shade val="15000"/>
                </a:srgbClr>
              </a:solid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53" name="箭头: 五边形 52">
              <a:extLst>
                <a:ext uri="{FF2B5EF4-FFF2-40B4-BE49-F238E27FC236}">
                  <a16:creationId xmlns:a16="http://schemas.microsoft.com/office/drawing/2014/main" id="{EB40F770-2588-EE6B-3B13-C3B1865F6EF2}"/>
                </a:ext>
              </a:extLst>
            </p:cNvPr>
            <p:cNvSpPr/>
            <p:nvPr/>
          </p:nvSpPr>
          <p:spPr>
            <a:xfrm>
              <a:off x="8614795" y="2444982"/>
              <a:ext cx="2188355" cy="615553"/>
            </a:xfrm>
            <a:prstGeom prst="homePlate">
              <a:avLst/>
            </a:prstGeom>
            <a:noFill/>
            <a:ln w="12700" cap="flat" cmpd="sng" algn="ctr">
              <a:solidFill>
                <a:srgbClr val="4F81BD">
                  <a:shade val="15000"/>
                </a:srgbClr>
              </a:solid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54" name="箭头: 五边形 53">
              <a:extLst>
                <a:ext uri="{FF2B5EF4-FFF2-40B4-BE49-F238E27FC236}">
                  <a16:creationId xmlns:a16="http://schemas.microsoft.com/office/drawing/2014/main" id="{1B19DAFC-7615-9F23-86B3-8961B9A0A15D}"/>
                </a:ext>
              </a:extLst>
            </p:cNvPr>
            <p:cNvSpPr/>
            <p:nvPr/>
          </p:nvSpPr>
          <p:spPr>
            <a:xfrm>
              <a:off x="3602349" y="3170682"/>
              <a:ext cx="7200800" cy="615553"/>
            </a:xfrm>
            <a:prstGeom prst="homePlate">
              <a:avLst/>
            </a:prstGeom>
            <a:solidFill>
              <a:sysClr val="window" lastClr="FFFFFF"/>
            </a:solidFill>
            <a:ln w="12700" cap="flat" cmpd="sng" algn="ctr">
              <a:solidFill>
                <a:srgbClr val="4F81BD">
                  <a:shade val="15000"/>
                </a:srgbClr>
              </a:solidFill>
              <a:prstDash val="solid"/>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55" name="TextBox 1">
              <a:extLst>
                <a:ext uri="{FF2B5EF4-FFF2-40B4-BE49-F238E27FC236}">
                  <a16:creationId xmlns:a16="http://schemas.microsoft.com/office/drawing/2014/main" id="{BAB6474A-A982-58E5-FFFE-E2C94FE5BCC8}"/>
                </a:ext>
              </a:extLst>
            </p:cNvPr>
            <p:cNvSpPr txBox="1"/>
            <p:nvPr/>
          </p:nvSpPr>
          <p:spPr>
            <a:xfrm>
              <a:off x="3666821" y="2512113"/>
              <a:ext cx="2089287" cy="543867"/>
            </a:xfrm>
            <a:prstGeom prst="rect">
              <a:avLst/>
            </a:prstGeom>
            <a:noFill/>
          </p:spPr>
          <p:txBody>
            <a:bodyPr wrap="square" rtlCol="0">
              <a:spAutoFit/>
            </a:bodyPr>
            <a:lstStyle/>
            <a:p>
              <a:pPr defTabSz="1219170" fontAlgn="base">
                <a:spcBef>
                  <a:spcPct val="0"/>
                </a:spcBef>
                <a:spcAft>
                  <a:spcPct val="0"/>
                </a:spcAft>
                <a:defRPr/>
              </a:pPr>
              <a:r>
                <a:rPr kumimoji="1" lang="zh-CN" altLang="en-US" sz="1400" dirty="0">
                  <a:solidFill>
                    <a:prstClr val="black"/>
                  </a:solidFill>
                  <a:latin typeface="微软雅黑" panose="020B0503020204020204" pitchFamily="34" charset="-122"/>
                  <a:ea typeface="微软雅黑" panose="020B0503020204020204" pitchFamily="34" charset="-122"/>
                </a:rPr>
                <a:t>超常、极端服役环境下的可靠性设计技术</a:t>
              </a:r>
              <a:endParaRPr kumimoji="1" lang="en-US" altLang="zh-CN" sz="1400" dirty="0">
                <a:solidFill>
                  <a:prstClr val="black"/>
                </a:solidFill>
                <a:latin typeface="微软雅黑" panose="020B0503020204020204" pitchFamily="34" charset="-122"/>
                <a:ea typeface="微软雅黑" panose="020B0503020204020204" pitchFamily="34" charset="-122"/>
              </a:endParaRPr>
            </a:p>
          </p:txBody>
        </p:sp>
        <p:sp>
          <p:nvSpPr>
            <p:cNvPr id="56" name="TextBox 1">
              <a:extLst>
                <a:ext uri="{FF2B5EF4-FFF2-40B4-BE49-F238E27FC236}">
                  <a16:creationId xmlns:a16="http://schemas.microsoft.com/office/drawing/2014/main" id="{018FD796-E080-405F-BE8C-2AF747EDB02B}"/>
                </a:ext>
              </a:extLst>
            </p:cNvPr>
            <p:cNvSpPr txBox="1"/>
            <p:nvPr/>
          </p:nvSpPr>
          <p:spPr>
            <a:xfrm>
              <a:off x="6152973" y="2496191"/>
              <a:ext cx="2059954" cy="543867"/>
            </a:xfrm>
            <a:prstGeom prst="rect">
              <a:avLst/>
            </a:prstGeom>
            <a:noFill/>
          </p:spPr>
          <p:txBody>
            <a:bodyPr wrap="square" rtlCol="0">
              <a:spAutoFit/>
            </a:bodyPr>
            <a:lstStyle/>
            <a:p>
              <a:pPr defTabSz="1219170" fontAlgn="base">
                <a:spcBef>
                  <a:spcPct val="0"/>
                </a:spcBef>
                <a:spcAft>
                  <a:spcPct val="0"/>
                </a:spcAft>
                <a:defRPr/>
              </a:pPr>
              <a:r>
                <a:rPr kumimoji="1" lang="zh-CN" altLang="en-US" sz="1400" dirty="0">
                  <a:solidFill>
                    <a:prstClr val="black"/>
                  </a:solidFill>
                  <a:latin typeface="微软雅黑" panose="020B0503020204020204" pitchFamily="34" charset="-122"/>
                  <a:ea typeface="微软雅黑" panose="020B0503020204020204" pitchFamily="34" charset="-122"/>
                </a:rPr>
                <a:t>零废品率与零故障率的可靠性设计技术</a:t>
              </a:r>
              <a:endParaRPr kumimoji="1" lang="en-US" altLang="zh-CN" sz="1400" dirty="0">
                <a:solidFill>
                  <a:prstClr val="black"/>
                </a:solidFill>
                <a:latin typeface="微软雅黑" panose="020B0503020204020204" pitchFamily="34" charset="-122"/>
                <a:ea typeface="微软雅黑" panose="020B0503020204020204" pitchFamily="34" charset="-122"/>
              </a:endParaRPr>
            </a:p>
          </p:txBody>
        </p:sp>
        <p:sp>
          <p:nvSpPr>
            <p:cNvPr id="57" name="文本框 56">
              <a:extLst>
                <a:ext uri="{FF2B5EF4-FFF2-40B4-BE49-F238E27FC236}">
                  <a16:creationId xmlns:a16="http://schemas.microsoft.com/office/drawing/2014/main" id="{55149421-C0A7-845F-E5EB-112CD498F243}"/>
                </a:ext>
              </a:extLst>
            </p:cNvPr>
            <p:cNvSpPr txBox="1"/>
            <p:nvPr/>
          </p:nvSpPr>
          <p:spPr>
            <a:xfrm>
              <a:off x="8664306" y="2506664"/>
              <a:ext cx="2001692" cy="543867"/>
            </a:xfrm>
            <a:prstGeom prst="rect">
              <a:avLst/>
            </a:prstGeom>
            <a:noFill/>
          </p:spPr>
          <p:txBody>
            <a:bodyPr wrap="square">
              <a:spAutoFit/>
            </a:bodyPr>
            <a:lstStyle/>
            <a:p>
              <a:pPr defTabSz="1219170" fontAlgn="base">
                <a:spcBef>
                  <a:spcPct val="0"/>
                </a:spcBef>
                <a:spcAft>
                  <a:spcPct val="0"/>
                </a:spcAft>
              </a:pPr>
              <a:r>
                <a:rPr kumimoji="1" lang="zh-CN" altLang="en-US" sz="1400" dirty="0">
                  <a:solidFill>
                    <a:prstClr val="black"/>
                  </a:solidFill>
                  <a:latin typeface="微软雅黑" panose="020B0503020204020204" pitchFamily="34" charset="-122"/>
                  <a:ea typeface="微软雅黑" panose="020B0503020204020204" pitchFamily="34" charset="-122"/>
                </a:rPr>
                <a:t>智能型数字化、定制化的绿色可靠性设计技术</a:t>
              </a:r>
            </a:p>
          </p:txBody>
        </p:sp>
        <p:sp>
          <p:nvSpPr>
            <p:cNvPr id="58" name="文本框 57">
              <a:extLst>
                <a:ext uri="{FF2B5EF4-FFF2-40B4-BE49-F238E27FC236}">
                  <a16:creationId xmlns:a16="http://schemas.microsoft.com/office/drawing/2014/main" id="{F3D82B6E-117F-02FC-A527-4EE376988A10}"/>
                </a:ext>
              </a:extLst>
            </p:cNvPr>
            <p:cNvSpPr txBox="1"/>
            <p:nvPr/>
          </p:nvSpPr>
          <p:spPr>
            <a:xfrm>
              <a:off x="3737841" y="3310041"/>
              <a:ext cx="6809804" cy="318100"/>
            </a:xfrm>
            <a:prstGeom prst="rect">
              <a:avLst/>
            </a:prstGeom>
            <a:noFill/>
          </p:spPr>
          <p:txBody>
            <a:bodyPr wrap="square">
              <a:spAutoFit/>
            </a:bodyPr>
            <a:lstStyle/>
            <a:p>
              <a:pPr defTabSz="1219170" fontAlgn="base">
                <a:spcBef>
                  <a:spcPct val="0"/>
                </a:spcBef>
                <a:spcAft>
                  <a:spcPct val="0"/>
                </a:spcAft>
              </a:pPr>
              <a:r>
                <a:rPr kumimoji="1" lang="zh-CN" altLang="en-US" sz="1400" dirty="0">
                  <a:solidFill>
                    <a:prstClr val="black"/>
                  </a:solidFill>
                  <a:latin typeface="微软雅黑" panose="020B0503020204020204" pitchFamily="34" charset="-122"/>
                  <a:ea typeface="微软雅黑" panose="020B0503020204020204" pitchFamily="34" charset="-122"/>
                </a:rPr>
                <a:t>面向产品定制与超常、极端服役要求的复杂装备的动态可靠性设计标准和规范</a:t>
              </a:r>
            </a:p>
          </p:txBody>
        </p:sp>
        <p:sp>
          <p:nvSpPr>
            <p:cNvPr id="59" name="TextBox 1">
              <a:extLst>
                <a:ext uri="{FF2B5EF4-FFF2-40B4-BE49-F238E27FC236}">
                  <a16:creationId xmlns:a16="http://schemas.microsoft.com/office/drawing/2014/main" id="{A9E33E60-B88F-347D-BFD2-E940662EB3B2}"/>
                </a:ext>
              </a:extLst>
            </p:cNvPr>
            <p:cNvSpPr txBox="1"/>
            <p:nvPr/>
          </p:nvSpPr>
          <p:spPr>
            <a:xfrm>
              <a:off x="1186072" y="3804650"/>
              <a:ext cx="2289605" cy="500073"/>
            </a:xfrm>
            <a:prstGeom prst="rect">
              <a:avLst/>
            </a:prstGeom>
            <a:noFill/>
          </p:spPr>
          <p:txBody>
            <a:bodyPr wrap="square" rtlCol="0">
              <a:spAutoFit/>
            </a:bodyPr>
            <a:lstStyle/>
            <a:p>
              <a:pPr algn="ctr" defTabSz="1219170" fontAlgn="base">
                <a:lnSpc>
                  <a:spcPct val="150000"/>
                </a:lnSpc>
                <a:spcBef>
                  <a:spcPct val="0"/>
                </a:spcBef>
                <a:spcAft>
                  <a:spcPct val="0"/>
                </a:spcAft>
                <a:defRPr/>
              </a:pPr>
              <a:r>
                <a:rPr kumimoji="1" lang="zh-CN" altLang="en-US" sz="2000" dirty="0">
                  <a:solidFill>
                    <a:prstClr val="white"/>
                  </a:solidFill>
                  <a:latin typeface="微软雅黑" panose="020B0503020204020204" pitchFamily="34" charset="-122"/>
                  <a:ea typeface="微软雅黑" panose="020B0503020204020204" pitchFamily="34" charset="-122"/>
                </a:rPr>
                <a:t>时间段</a:t>
              </a:r>
              <a:endParaRPr kumimoji="1" lang="en-US" altLang="zh-CN" sz="2000" dirty="0">
                <a:solidFill>
                  <a:prstClr val="white"/>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FBD17FE2-5FB8-3BF8-7142-3BAB2E3F4A03}"/>
                </a:ext>
              </a:extLst>
            </p:cNvPr>
            <p:cNvSpPr txBox="1"/>
            <p:nvPr/>
          </p:nvSpPr>
          <p:spPr>
            <a:xfrm>
              <a:off x="3712473" y="4013855"/>
              <a:ext cx="884624" cy="318100"/>
            </a:xfrm>
            <a:prstGeom prst="rect">
              <a:avLst/>
            </a:prstGeom>
            <a:noFill/>
          </p:spPr>
          <p:txBody>
            <a:bodyPr wrap="square">
              <a:spAutoFit/>
            </a:bodyPr>
            <a:lstStyle/>
            <a:p>
              <a:pPr defTabSz="1219170" fontAlgn="base">
                <a:spcBef>
                  <a:spcPct val="0"/>
                </a:spcBef>
                <a:spcAft>
                  <a:spcPct val="0"/>
                </a:spcAft>
              </a:pPr>
              <a:r>
                <a:rPr kumimoji="1" lang="en-US" altLang="zh-CN" sz="1400" dirty="0">
                  <a:solidFill>
                    <a:prstClr val="black"/>
                  </a:solidFill>
                  <a:latin typeface="微软雅黑" panose="020B0503020204020204" pitchFamily="34" charset="-122"/>
                  <a:ea typeface="微软雅黑" panose="020B0503020204020204" pitchFamily="34" charset="-122"/>
                </a:rPr>
                <a:t>2021</a:t>
              </a:r>
              <a:r>
                <a:rPr kumimoji="1" lang="zh-CN" altLang="en-US" sz="1400" dirty="0">
                  <a:solidFill>
                    <a:prstClr val="black"/>
                  </a:solidFill>
                  <a:latin typeface="微软雅黑" panose="020B0503020204020204" pitchFamily="34" charset="-122"/>
                  <a:ea typeface="微软雅黑" panose="020B0503020204020204" pitchFamily="34" charset="-122"/>
                </a:rPr>
                <a:t>年</a:t>
              </a:r>
            </a:p>
          </p:txBody>
        </p:sp>
        <p:sp>
          <p:nvSpPr>
            <p:cNvPr id="61" name="文本框 60">
              <a:extLst>
                <a:ext uri="{FF2B5EF4-FFF2-40B4-BE49-F238E27FC236}">
                  <a16:creationId xmlns:a16="http://schemas.microsoft.com/office/drawing/2014/main" id="{4F9F7B14-BB3D-3C31-7D33-2E64532B4791}"/>
                </a:ext>
              </a:extLst>
            </p:cNvPr>
            <p:cNvSpPr txBox="1"/>
            <p:nvPr/>
          </p:nvSpPr>
          <p:spPr>
            <a:xfrm>
              <a:off x="5668491" y="4007993"/>
              <a:ext cx="884624" cy="318100"/>
            </a:xfrm>
            <a:prstGeom prst="rect">
              <a:avLst/>
            </a:prstGeom>
            <a:noFill/>
          </p:spPr>
          <p:txBody>
            <a:bodyPr wrap="square">
              <a:spAutoFit/>
            </a:bodyPr>
            <a:lstStyle/>
            <a:p>
              <a:pPr defTabSz="1219170" fontAlgn="base">
                <a:spcBef>
                  <a:spcPct val="0"/>
                </a:spcBef>
                <a:spcAft>
                  <a:spcPct val="0"/>
                </a:spcAft>
              </a:pPr>
              <a:r>
                <a:rPr kumimoji="1" lang="en-US" altLang="zh-CN" sz="1400" dirty="0">
                  <a:solidFill>
                    <a:prstClr val="black"/>
                  </a:solidFill>
                  <a:latin typeface="微软雅黑" panose="020B0503020204020204" pitchFamily="34" charset="-122"/>
                  <a:ea typeface="微软雅黑" panose="020B0503020204020204" pitchFamily="34" charset="-122"/>
                </a:rPr>
                <a:t>2025</a:t>
              </a:r>
              <a:r>
                <a:rPr kumimoji="1" lang="zh-CN" altLang="en-US" sz="1400" dirty="0">
                  <a:solidFill>
                    <a:prstClr val="black"/>
                  </a:solidFill>
                  <a:latin typeface="微软雅黑" panose="020B0503020204020204" pitchFamily="34" charset="-122"/>
                  <a:ea typeface="微软雅黑" panose="020B0503020204020204" pitchFamily="34" charset="-122"/>
                </a:rPr>
                <a:t>年</a:t>
              </a:r>
            </a:p>
          </p:txBody>
        </p:sp>
        <p:sp>
          <p:nvSpPr>
            <p:cNvPr id="62" name="文本框 61">
              <a:extLst>
                <a:ext uri="{FF2B5EF4-FFF2-40B4-BE49-F238E27FC236}">
                  <a16:creationId xmlns:a16="http://schemas.microsoft.com/office/drawing/2014/main" id="{AE9D17E8-104B-2E68-BAC5-EA6E92667AA7}"/>
                </a:ext>
              </a:extLst>
            </p:cNvPr>
            <p:cNvSpPr txBox="1"/>
            <p:nvPr/>
          </p:nvSpPr>
          <p:spPr>
            <a:xfrm>
              <a:off x="7949624" y="4007993"/>
              <a:ext cx="884624" cy="318100"/>
            </a:xfrm>
            <a:prstGeom prst="rect">
              <a:avLst/>
            </a:prstGeom>
            <a:noFill/>
          </p:spPr>
          <p:txBody>
            <a:bodyPr wrap="square">
              <a:spAutoFit/>
            </a:bodyPr>
            <a:lstStyle/>
            <a:p>
              <a:pPr defTabSz="1219170" fontAlgn="base">
                <a:spcBef>
                  <a:spcPct val="0"/>
                </a:spcBef>
                <a:spcAft>
                  <a:spcPct val="0"/>
                </a:spcAft>
              </a:pPr>
              <a:r>
                <a:rPr kumimoji="1" lang="en-US" altLang="zh-CN" sz="1400" dirty="0">
                  <a:solidFill>
                    <a:prstClr val="black"/>
                  </a:solidFill>
                  <a:latin typeface="微软雅黑" panose="020B0503020204020204" pitchFamily="34" charset="-122"/>
                  <a:ea typeface="微软雅黑" panose="020B0503020204020204" pitchFamily="34" charset="-122"/>
                </a:rPr>
                <a:t>2030</a:t>
              </a:r>
              <a:r>
                <a:rPr kumimoji="1" lang="zh-CN" altLang="en-US" sz="1400" dirty="0">
                  <a:solidFill>
                    <a:prstClr val="black"/>
                  </a:solidFill>
                  <a:latin typeface="微软雅黑" panose="020B0503020204020204" pitchFamily="34" charset="-122"/>
                  <a:ea typeface="微软雅黑" panose="020B0503020204020204" pitchFamily="34" charset="-122"/>
                </a:rPr>
                <a:t>年</a:t>
              </a:r>
            </a:p>
          </p:txBody>
        </p:sp>
        <p:sp>
          <p:nvSpPr>
            <p:cNvPr id="63" name="文本框 62">
              <a:extLst>
                <a:ext uri="{FF2B5EF4-FFF2-40B4-BE49-F238E27FC236}">
                  <a16:creationId xmlns:a16="http://schemas.microsoft.com/office/drawing/2014/main" id="{0C7AB94F-592E-56B0-D38D-632A43D662C4}"/>
                </a:ext>
              </a:extLst>
            </p:cNvPr>
            <p:cNvSpPr txBox="1"/>
            <p:nvPr/>
          </p:nvSpPr>
          <p:spPr>
            <a:xfrm>
              <a:off x="10106245" y="4007993"/>
              <a:ext cx="884624" cy="318100"/>
            </a:xfrm>
            <a:prstGeom prst="rect">
              <a:avLst/>
            </a:prstGeom>
            <a:noFill/>
          </p:spPr>
          <p:txBody>
            <a:bodyPr wrap="square">
              <a:spAutoFit/>
            </a:bodyPr>
            <a:lstStyle/>
            <a:p>
              <a:pPr defTabSz="1219170" fontAlgn="base">
                <a:spcBef>
                  <a:spcPct val="0"/>
                </a:spcBef>
                <a:spcAft>
                  <a:spcPct val="0"/>
                </a:spcAft>
              </a:pPr>
              <a:r>
                <a:rPr kumimoji="1" lang="en-US" altLang="zh-CN" sz="1400" dirty="0">
                  <a:solidFill>
                    <a:prstClr val="black"/>
                  </a:solidFill>
                  <a:latin typeface="微软雅黑" panose="020B0503020204020204" pitchFamily="34" charset="-122"/>
                  <a:ea typeface="微软雅黑" panose="020B0503020204020204" pitchFamily="34" charset="-122"/>
                </a:rPr>
                <a:t>2035</a:t>
              </a:r>
              <a:r>
                <a:rPr kumimoji="1" lang="zh-CN" altLang="en-US" sz="1400" dirty="0">
                  <a:solidFill>
                    <a:prstClr val="black"/>
                  </a:solidFill>
                  <a:latin typeface="微软雅黑" panose="020B0503020204020204" pitchFamily="34" charset="-122"/>
                  <a:ea typeface="微软雅黑" panose="020B0503020204020204" pitchFamily="34" charset="-122"/>
                </a:rPr>
                <a:t>年</a:t>
              </a:r>
            </a:p>
          </p:txBody>
        </p:sp>
      </p:grpSp>
      <p:sp>
        <p:nvSpPr>
          <p:cNvPr id="64" name="文本框 63">
            <a:extLst>
              <a:ext uri="{FF2B5EF4-FFF2-40B4-BE49-F238E27FC236}">
                <a16:creationId xmlns:a16="http://schemas.microsoft.com/office/drawing/2014/main" id="{AB831082-E1CC-1E6A-1433-9A4D94199551}"/>
              </a:ext>
            </a:extLst>
          </p:cNvPr>
          <p:cNvSpPr txBox="1"/>
          <p:nvPr/>
        </p:nvSpPr>
        <p:spPr>
          <a:xfrm>
            <a:off x="11487438" y="1719419"/>
            <a:ext cx="369332" cy="2662223"/>
          </a:xfrm>
          <a:prstGeom prst="rect">
            <a:avLst/>
          </a:prstGeom>
          <a:noFill/>
        </p:spPr>
        <p:txBody>
          <a:bodyPr vert="eaVert" wrap="square">
            <a:spAutoFit/>
          </a:bodyPr>
          <a:lstStyle/>
          <a:p>
            <a:pPr defTabSz="1219170" fontAlgn="base">
              <a:spcBef>
                <a:spcPct val="0"/>
              </a:spcBef>
              <a:spcAft>
                <a:spcPct val="0"/>
              </a:spcAft>
            </a:pPr>
            <a:r>
              <a:rPr kumimoji="1" lang="zh-CN" altLang="en-US" sz="1200" dirty="0">
                <a:solidFill>
                  <a:prstClr val="black"/>
                </a:solidFill>
                <a:latin typeface="Times New Roman" panose="02020603050405020304" pitchFamily="18" charset="0"/>
                <a:ea typeface="微软雅黑" panose="020B0503020204020204" pitchFamily="34" charset="-122"/>
              </a:rPr>
              <a:t>来源于</a:t>
            </a:r>
            <a:r>
              <a:rPr kumimoji="1" lang="en-US" altLang="zh-CN" sz="1200" dirty="0">
                <a:solidFill>
                  <a:prstClr val="black"/>
                </a:solidFill>
                <a:latin typeface="Times New Roman" panose="02020603050405020304" pitchFamily="18" charset="0"/>
                <a:ea typeface="微软雅黑" panose="020B0503020204020204" pitchFamily="34" charset="-122"/>
              </a:rPr>
              <a:t>《</a:t>
            </a:r>
            <a:r>
              <a:rPr kumimoji="1" lang="zh-CN" altLang="en-US" sz="1200" dirty="0">
                <a:solidFill>
                  <a:prstClr val="black"/>
                </a:solidFill>
                <a:latin typeface="Times New Roman" panose="02020603050405020304" pitchFamily="18" charset="0"/>
                <a:ea typeface="微软雅黑" panose="020B0503020204020204" pitchFamily="34" charset="-122"/>
              </a:rPr>
              <a:t>中国机械工程技术路线图</a:t>
            </a:r>
            <a:r>
              <a:rPr kumimoji="1" lang="en-US" altLang="zh-CN" sz="1200" dirty="0">
                <a:solidFill>
                  <a:prstClr val="black"/>
                </a:solidFill>
                <a:latin typeface="Times New Roman" panose="02020603050405020304" pitchFamily="18" charset="0"/>
                <a:ea typeface="微软雅黑" panose="020B0503020204020204" pitchFamily="34" charset="-122"/>
              </a:rPr>
              <a:t> 》</a:t>
            </a:r>
            <a:endParaRPr kumimoji="1" lang="zh-CN" altLang="en-US" sz="1200" dirty="0">
              <a:solidFill>
                <a:prstClr val="black"/>
              </a:solidFill>
              <a:latin typeface="Times New Roman" panose="02020603050405020304" pitchFamily="18" charset="0"/>
              <a:ea typeface="微软雅黑" panose="020B0503020204020204" pitchFamily="34" charset="-122"/>
            </a:endParaRPr>
          </a:p>
        </p:txBody>
      </p:sp>
      <p:sp>
        <p:nvSpPr>
          <p:cNvPr id="66" name="文本框 65">
            <a:extLst>
              <a:ext uri="{FF2B5EF4-FFF2-40B4-BE49-F238E27FC236}">
                <a16:creationId xmlns:a16="http://schemas.microsoft.com/office/drawing/2014/main" id="{630D2193-EC51-E1F7-0F40-B3F07E5867CB}"/>
              </a:ext>
            </a:extLst>
          </p:cNvPr>
          <p:cNvSpPr txBox="1"/>
          <p:nvPr/>
        </p:nvSpPr>
        <p:spPr>
          <a:xfrm>
            <a:off x="291670" y="1686255"/>
            <a:ext cx="461665" cy="1579223"/>
          </a:xfrm>
          <a:prstGeom prst="rect">
            <a:avLst/>
          </a:prstGeom>
          <a:noFill/>
        </p:spPr>
        <p:txBody>
          <a:bodyPr vert="eaVert" wrap="square">
            <a:spAutoFit/>
          </a:bodyPr>
          <a:lstStyle/>
          <a:p>
            <a:pPr defTabSz="1219170" fontAlgn="base">
              <a:spcBef>
                <a:spcPct val="0"/>
              </a:spcBef>
              <a:spcAft>
                <a:spcPct val="0"/>
              </a:spcAft>
            </a:pPr>
            <a:r>
              <a:rPr kumimoji="1" lang="zh-CN" altLang="en-US" b="1" dirty="0">
                <a:solidFill>
                  <a:srgbClr val="757572"/>
                </a:solidFill>
                <a:latin typeface="微软雅黑" panose="020B0503020204020204" pitchFamily="34" charset="-122"/>
                <a:ea typeface="微软雅黑" panose="020B0503020204020204" pitchFamily="34" charset="-122"/>
              </a:rPr>
              <a:t>发展趋势</a:t>
            </a:r>
            <a:endParaRPr kumimoji="1" lang="zh-CN" altLang="en-US" b="1"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85A918FA-D818-3EEB-F4FD-D47B4FEAA62C}"/>
              </a:ext>
            </a:extLst>
          </p:cNvPr>
          <p:cNvSpPr txBox="1"/>
          <p:nvPr/>
        </p:nvSpPr>
        <p:spPr>
          <a:xfrm>
            <a:off x="273199" y="4720558"/>
            <a:ext cx="461665" cy="1579223"/>
          </a:xfrm>
          <a:prstGeom prst="rect">
            <a:avLst/>
          </a:prstGeom>
          <a:noFill/>
        </p:spPr>
        <p:txBody>
          <a:bodyPr vert="eaVert" wrap="square">
            <a:spAutoFit/>
          </a:bodyPr>
          <a:lstStyle/>
          <a:p>
            <a:pPr defTabSz="1219170" fontAlgn="base">
              <a:spcBef>
                <a:spcPct val="0"/>
              </a:spcBef>
              <a:spcAft>
                <a:spcPct val="0"/>
              </a:spcAft>
            </a:pPr>
            <a:r>
              <a:rPr kumimoji="1" lang="zh-CN" altLang="en-US" b="1" dirty="0">
                <a:solidFill>
                  <a:srgbClr val="757572"/>
                </a:solidFill>
                <a:latin typeface="微软雅黑" panose="020B0503020204020204" pitchFamily="34" charset="-122"/>
                <a:ea typeface="微软雅黑" panose="020B0503020204020204" pitchFamily="34" charset="-122"/>
              </a:rPr>
              <a:t>发展前景</a:t>
            </a:r>
          </a:p>
        </p:txBody>
      </p:sp>
      <p:sp>
        <p:nvSpPr>
          <p:cNvPr id="68" name="文本框 67">
            <a:extLst>
              <a:ext uri="{FF2B5EF4-FFF2-40B4-BE49-F238E27FC236}">
                <a16:creationId xmlns:a16="http://schemas.microsoft.com/office/drawing/2014/main" id="{19B29AA2-377D-BEAA-8839-FC0354C15A89}"/>
              </a:ext>
            </a:extLst>
          </p:cNvPr>
          <p:cNvSpPr txBox="1"/>
          <p:nvPr/>
        </p:nvSpPr>
        <p:spPr>
          <a:xfrm>
            <a:off x="1175863" y="4853018"/>
            <a:ext cx="3882149" cy="338554"/>
          </a:xfrm>
          <a:prstGeom prst="rect">
            <a:avLst/>
          </a:prstGeom>
          <a:noFill/>
        </p:spPr>
        <p:txBody>
          <a:bodyPr wrap="square">
            <a:spAutoFit/>
          </a:bodyPr>
          <a:lstStyle/>
          <a:p>
            <a:pPr defTabSz="1219170" fontAlgn="base">
              <a:spcBef>
                <a:spcPct val="0"/>
              </a:spcBef>
              <a:spcAft>
                <a:spcPct val="0"/>
              </a:spcAft>
            </a:pPr>
            <a:r>
              <a:rPr kumimoji="1" lang="zh-CN" altLang="en-US" sz="1600" dirty="0">
                <a:solidFill>
                  <a:prstClr val="black"/>
                </a:solidFill>
                <a:latin typeface="微软雅黑" panose="020B0503020204020204" pitchFamily="34" charset="-122"/>
                <a:ea typeface="微软雅黑" panose="020B0503020204020204" pitchFamily="34" charset="-122"/>
              </a:rPr>
              <a:t>提升可靠性评估的全面性与准确性</a:t>
            </a:r>
          </a:p>
        </p:txBody>
      </p:sp>
      <p:sp>
        <p:nvSpPr>
          <p:cNvPr id="69" name="矩形: 圆角 68">
            <a:extLst>
              <a:ext uri="{FF2B5EF4-FFF2-40B4-BE49-F238E27FC236}">
                <a16:creationId xmlns:a16="http://schemas.microsoft.com/office/drawing/2014/main" id="{1B0E2FA4-0327-D0CD-1F38-6411EE583E5E}"/>
              </a:ext>
            </a:extLst>
          </p:cNvPr>
          <p:cNvSpPr/>
          <p:nvPr/>
        </p:nvSpPr>
        <p:spPr>
          <a:xfrm>
            <a:off x="1080883" y="4753522"/>
            <a:ext cx="3908659" cy="1579224"/>
          </a:xfrm>
          <a:prstGeom prst="roundRect">
            <a:avLst>
              <a:gd name="adj" fmla="val 10233"/>
            </a:avLst>
          </a:prstGeom>
          <a:noFill/>
          <a:ln w="12700" cap="flat" cmpd="sng" algn="ctr">
            <a:solidFill>
              <a:srgbClr val="4F81BD">
                <a:shade val="15000"/>
              </a:srgbClr>
            </a:solidFill>
            <a:prstDash val="dashDot"/>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0" name="文本框 69">
            <a:extLst>
              <a:ext uri="{FF2B5EF4-FFF2-40B4-BE49-F238E27FC236}">
                <a16:creationId xmlns:a16="http://schemas.microsoft.com/office/drawing/2014/main" id="{8D383F3D-6151-2EAA-0F4F-7D1019542D18}"/>
              </a:ext>
            </a:extLst>
          </p:cNvPr>
          <p:cNvSpPr txBox="1"/>
          <p:nvPr/>
        </p:nvSpPr>
        <p:spPr>
          <a:xfrm>
            <a:off x="1179854" y="5293982"/>
            <a:ext cx="3551805" cy="954107"/>
          </a:xfrm>
          <a:prstGeom prst="rect">
            <a:avLst/>
          </a:prstGeom>
          <a:noFill/>
        </p:spPr>
        <p:txBody>
          <a:bodyPr wrap="square">
            <a:spAutoFit/>
          </a:bodyPr>
          <a:lstStyle/>
          <a:p>
            <a:pPr algn="just" defTabSz="1219170" fontAlgn="base">
              <a:spcBef>
                <a:spcPct val="0"/>
              </a:spcBef>
              <a:spcAft>
                <a:spcPct val="0"/>
              </a:spcAft>
            </a:pPr>
            <a:r>
              <a:rPr kumimoji="1" lang="zh-CN" altLang="en-US" sz="1400" b="1" dirty="0">
                <a:solidFill>
                  <a:prstClr val="black"/>
                </a:solidFill>
                <a:latin typeface="Tahoma" panose="020B0604030504040204" charset="0"/>
                <a:ea typeface="宋体" panose="02010600030101010101" pitchFamily="2" charset="-122"/>
              </a:rPr>
              <a:t>结合物理模型（如有限元分析）、统计模型（如可靠性分布）和数据驱动模型（如机器学习算法），全面识别设备的各种潜在故障模式。</a:t>
            </a:r>
          </a:p>
        </p:txBody>
      </p:sp>
      <p:sp>
        <p:nvSpPr>
          <p:cNvPr id="71" name="文本框 70">
            <a:extLst>
              <a:ext uri="{FF2B5EF4-FFF2-40B4-BE49-F238E27FC236}">
                <a16:creationId xmlns:a16="http://schemas.microsoft.com/office/drawing/2014/main" id="{F6606E7E-8D3F-6F22-D3F1-07BEF5C8AD37}"/>
              </a:ext>
            </a:extLst>
          </p:cNvPr>
          <p:cNvSpPr txBox="1"/>
          <p:nvPr/>
        </p:nvSpPr>
        <p:spPr>
          <a:xfrm>
            <a:off x="5316323" y="4853018"/>
            <a:ext cx="3882149" cy="338554"/>
          </a:xfrm>
          <a:prstGeom prst="rect">
            <a:avLst/>
          </a:prstGeom>
          <a:noFill/>
        </p:spPr>
        <p:txBody>
          <a:bodyPr wrap="square">
            <a:spAutoFit/>
          </a:bodyPr>
          <a:lstStyle/>
          <a:p>
            <a:pPr defTabSz="1219170" fontAlgn="base">
              <a:spcBef>
                <a:spcPct val="0"/>
              </a:spcBef>
              <a:spcAft>
                <a:spcPct val="0"/>
              </a:spcAft>
            </a:pPr>
            <a:r>
              <a:rPr kumimoji="1" lang="zh-CN" altLang="en-US" sz="1600" dirty="0">
                <a:solidFill>
                  <a:prstClr val="black"/>
                </a:solidFill>
                <a:latin typeface="微软雅黑" panose="020B0503020204020204" pitchFamily="34" charset="-122"/>
                <a:ea typeface="微软雅黑" panose="020B0503020204020204" pitchFamily="34" charset="-122"/>
              </a:rPr>
              <a:t>优化设计与制造过程</a:t>
            </a:r>
          </a:p>
        </p:txBody>
      </p:sp>
      <p:sp>
        <p:nvSpPr>
          <p:cNvPr id="72" name="矩形: 圆角 71">
            <a:extLst>
              <a:ext uri="{FF2B5EF4-FFF2-40B4-BE49-F238E27FC236}">
                <a16:creationId xmlns:a16="http://schemas.microsoft.com/office/drawing/2014/main" id="{C1861656-A64A-F87A-00DF-C5BF89B1F6AB}"/>
              </a:ext>
            </a:extLst>
          </p:cNvPr>
          <p:cNvSpPr/>
          <p:nvPr/>
        </p:nvSpPr>
        <p:spPr>
          <a:xfrm>
            <a:off x="5221343" y="4753521"/>
            <a:ext cx="2538920" cy="1579223"/>
          </a:xfrm>
          <a:prstGeom prst="roundRect">
            <a:avLst>
              <a:gd name="adj" fmla="val 10233"/>
            </a:avLst>
          </a:prstGeom>
          <a:noFill/>
          <a:ln w="12700" cap="flat" cmpd="sng" algn="ctr">
            <a:solidFill>
              <a:srgbClr val="4F81BD">
                <a:shade val="15000"/>
              </a:srgbClr>
            </a:solidFill>
            <a:prstDash val="dashDot"/>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3" name="文本框 72">
            <a:extLst>
              <a:ext uri="{FF2B5EF4-FFF2-40B4-BE49-F238E27FC236}">
                <a16:creationId xmlns:a16="http://schemas.microsoft.com/office/drawing/2014/main" id="{1F25E12A-2706-E773-D1F2-9F6D2DB3BA59}"/>
              </a:ext>
            </a:extLst>
          </p:cNvPr>
          <p:cNvSpPr txBox="1"/>
          <p:nvPr/>
        </p:nvSpPr>
        <p:spPr>
          <a:xfrm>
            <a:off x="5320315" y="5293982"/>
            <a:ext cx="2319936" cy="738664"/>
          </a:xfrm>
          <a:prstGeom prst="rect">
            <a:avLst/>
          </a:prstGeom>
          <a:noFill/>
        </p:spPr>
        <p:txBody>
          <a:bodyPr wrap="square">
            <a:spAutoFit/>
          </a:bodyPr>
          <a:lstStyle/>
          <a:p>
            <a:pPr defTabSz="1219170" fontAlgn="base">
              <a:spcBef>
                <a:spcPct val="0"/>
              </a:spcBef>
              <a:spcAft>
                <a:spcPct val="0"/>
              </a:spcAft>
            </a:pPr>
            <a:r>
              <a:rPr kumimoji="1" lang="zh-CN" altLang="en-US" sz="1400" b="1" dirty="0">
                <a:solidFill>
                  <a:prstClr val="black"/>
                </a:solidFill>
                <a:latin typeface="Tahoma" panose="020B0604030504040204" charset="0"/>
                <a:ea typeface="宋体" panose="02010600030101010101" pitchFamily="2" charset="-122"/>
              </a:rPr>
              <a:t>通过优化设计流程以及智能制造与过程优化，推动工业母机的持续创新与改进。</a:t>
            </a:r>
          </a:p>
        </p:txBody>
      </p:sp>
      <p:sp>
        <p:nvSpPr>
          <p:cNvPr id="74" name="文本框 73">
            <a:extLst>
              <a:ext uri="{FF2B5EF4-FFF2-40B4-BE49-F238E27FC236}">
                <a16:creationId xmlns:a16="http://schemas.microsoft.com/office/drawing/2014/main" id="{B3D788CA-AEB7-87C8-A0A7-A60473A8EE20}"/>
              </a:ext>
            </a:extLst>
          </p:cNvPr>
          <p:cNvSpPr txBox="1"/>
          <p:nvPr/>
        </p:nvSpPr>
        <p:spPr>
          <a:xfrm>
            <a:off x="8178703" y="4833348"/>
            <a:ext cx="3882149" cy="338554"/>
          </a:xfrm>
          <a:prstGeom prst="rect">
            <a:avLst/>
          </a:prstGeom>
          <a:noFill/>
        </p:spPr>
        <p:txBody>
          <a:bodyPr wrap="square">
            <a:spAutoFit/>
          </a:bodyPr>
          <a:lstStyle/>
          <a:p>
            <a:pPr defTabSz="1219170" fontAlgn="base">
              <a:spcBef>
                <a:spcPct val="0"/>
              </a:spcBef>
              <a:spcAft>
                <a:spcPct val="0"/>
              </a:spcAft>
            </a:pPr>
            <a:r>
              <a:rPr kumimoji="1" lang="zh-CN" altLang="en-US" sz="1600" dirty="0">
                <a:solidFill>
                  <a:prstClr val="black"/>
                </a:solidFill>
                <a:latin typeface="微软雅黑" panose="020B0503020204020204" pitchFamily="34" charset="-122"/>
                <a:ea typeface="微软雅黑" panose="020B0503020204020204" pitchFamily="34" charset="-122"/>
              </a:rPr>
              <a:t>推动智能化与自主维护的发展</a:t>
            </a:r>
          </a:p>
        </p:txBody>
      </p:sp>
      <p:sp>
        <p:nvSpPr>
          <p:cNvPr id="75" name="矩形: 圆角 74">
            <a:extLst>
              <a:ext uri="{FF2B5EF4-FFF2-40B4-BE49-F238E27FC236}">
                <a16:creationId xmlns:a16="http://schemas.microsoft.com/office/drawing/2014/main" id="{D740BF14-7E97-3F7C-C873-88CE4A955AE1}"/>
              </a:ext>
            </a:extLst>
          </p:cNvPr>
          <p:cNvSpPr/>
          <p:nvPr/>
        </p:nvSpPr>
        <p:spPr>
          <a:xfrm>
            <a:off x="7969927" y="4748938"/>
            <a:ext cx="3751911" cy="1579224"/>
          </a:xfrm>
          <a:prstGeom prst="roundRect">
            <a:avLst>
              <a:gd name="adj" fmla="val 10233"/>
            </a:avLst>
          </a:prstGeom>
          <a:noFill/>
          <a:ln w="12700" cap="flat" cmpd="sng" algn="ctr">
            <a:solidFill>
              <a:srgbClr val="4F81BD">
                <a:shade val="15000"/>
              </a:srgbClr>
            </a:solidFill>
            <a:prstDash val="dashDot"/>
            <a:miter lim="800000"/>
          </a:ln>
          <a:effectLst/>
        </p:spPr>
        <p:txBody>
          <a:bodyPr rtlCol="0" anchor="ctr"/>
          <a:lstStyle/>
          <a:p>
            <a:pPr marL="0" marR="0" lvl="0" indent="0" algn="ctr" defTabSz="1219170" eaLnBrk="1" fontAlgn="base" latinLnBrk="0" hangingPunct="1">
              <a:lnSpc>
                <a:spcPct val="100000"/>
              </a:lnSpc>
              <a:spcBef>
                <a:spcPct val="0"/>
              </a:spcBef>
              <a:spcAft>
                <a:spcPct val="0"/>
              </a:spcAft>
              <a:buClrTx/>
              <a:buSzTx/>
              <a:buFontTx/>
              <a:buNone/>
              <a:tabLst/>
              <a:defRPr/>
            </a:pPr>
            <a:endParaRPr kumimoji="1"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6" name="文本框 75">
            <a:extLst>
              <a:ext uri="{FF2B5EF4-FFF2-40B4-BE49-F238E27FC236}">
                <a16:creationId xmlns:a16="http://schemas.microsoft.com/office/drawing/2014/main" id="{F5E355C2-22B7-45FD-69F8-391D58C75D2F}"/>
              </a:ext>
            </a:extLst>
          </p:cNvPr>
          <p:cNvSpPr txBox="1"/>
          <p:nvPr/>
        </p:nvSpPr>
        <p:spPr>
          <a:xfrm>
            <a:off x="8068900" y="5258637"/>
            <a:ext cx="3652937" cy="954107"/>
          </a:xfrm>
          <a:prstGeom prst="rect">
            <a:avLst/>
          </a:prstGeom>
          <a:noFill/>
        </p:spPr>
        <p:txBody>
          <a:bodyPr wrap="square">
            <a:spAutoFit/>
          </a:bodyPr>
          <a:lstStyle/>
          <a:p>
            <a:pPr defTabSz="1219170" fontAlgn="base">
              <a:spcBef>
                <a:spcPct val="0"/>
              </a:spcBef>
              <a:spcAft>
                <a:spcPct val="0"/>
              </a:spcAft>
            </a:pPr>
            <a:r>
              <a:rPr kumimoji="1" lang="zh-CN" altLang="en-US" sz="1400" b="1" dirty="0">
                <a:solidFill>
                  <a:prstClr val="black"/>
                </a:solidFill>
                <a:latin typeface="Tahoma" panose="020B0604030504040204" charset="0"/>
                <a:ea typeface="宋体" panose="02010600030101010101" pitchFamily="2" charset="-122"/>
              </a:rPr>
              <a:t>多模型融合的可靠性设计技术通过预测性维护、自主故障诊断。为工业母机的智能化和自主维护提供了坚实基础，显著提升设备的自我管理能力。</a:t>
            </a:r>
          </a:p>
        </p:txBody>
      </p:sp>
    </p:spTree>
    <p:extLst>
      <p:ext uri="{BB962C8B-B14F-4D97-AF65-F5344CB8AC3E}">
        <p14:creationId xmlns:p14="http://schemas.microsoft.com/office/powerpoint/2010/main" val="3189428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0374-5682-8E3A-BF01-FB0B12F2F77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F6BD843-C9BE-5B92-F536-5D2BB1AC820C}"/>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dirty="0">
                <a:solidFill>
                  <a:schemeClr val="bg1"/>
                </a:solidFill>
                <a:latin typeface="汉仪文润宋韵 U" pitchFamily="2" charset="-122"/>
                <a:ea typeface="汉仪文润宋韵 U" pitchFamily="2" charset="-122"/>
              </a:rPr>
              <a:t>培育期研究规划</a:t>
            </a:r>
          </a:p>
        </p:txBody>
      </p:sp>
      <p:sp>
        <p:nvSpPr>
          <p:cNvPr id="49" name="文本框 48">
            <a:extLst>
              <a:ext uri="{FF2B5EF4-FFF2-40B4-BE49-F238E27FC236}">
                <a16:creationId xmlns:a16="http://schemas.microsoft.com/office/drawing/2014/main" id="{D142F776-10D1-B85A-6F22-8A9FC0AC72E0}"/>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培养展望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4D048A7F-F5C4-D125-F071-B16785D3EC8E}"/>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EC2CC45-C608-DC65-5818-773AE2272BF1}"/>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04</a:t>
            </a:r>
          </a:p>
        </p:txBody>
      </p:sp>
      <p:sp>
        <p:nvSpPr>
          <p:cNvPr id="3" name="任意多边形: 形状 2">
            <a:extLst>
              <a:ext uri="{FF2B5EF4-FFF2-40B4-BE49-F238E27FC236}">
                <a16:creationId xmlns:a16="http://schemas.microsoft.com/office/drawing/2014/main" id="{470439DB-509F-D262-2D0F-96D1E6950D3E}"/>
              </a:ext>
            </a:extLst>
          </p:cNvPr>
          <p:cNvSpPr/>
          <p:nvPr/>
        </p:nvSpPr>
        <p:spPr>
          <a:xfrm>
            <a:off x="2939630" y="2325251"/>
            <a:ext cx="1161914" cy="665304"/>
          </a:xfrm>
          <a:custGeom>
            <a:avLst/>
            <a:gdLst>
              <a:gd name="csX0" fmla="*/ 0 w 1161914"/>
              <a:gd name="csY0" fmla="*/ 0 h 665304"/>
              <a:gd name="csX1" fmla="*/ 496455 w 1161914"/>
              <a:gd name="csY1" fmla="*/ 0 h 665304"/>
              <a:gd name="csX2" fmla="*/ 580957 w 1161914"/>
              <a:gd name="csY2" fmla="*/ 84483 h 665304"/>
              <a:gd name="csX3" fmla="*/ 580957 w 1161914"/>
              <a:gd name="csY3" fmla="*/ 580822 h 665304"/>
              <a:gd name="csX4" fmla="*/ 665460 w 1161914"/>
              <a:gd name="csY4" fmla="*/ 665305 h 665304"/>
              <a:gd name="csX5" fmla="*/ 1161915 w 1161914"/>
              <a:gd name="csY5" fmla="*/ 665305 h 665304"/>
            </a:gdLst>
            <a:ahLst/>
            <a:cxnLst>
              <a:cxn ang="0">
                <a:pos x="csX0" y="csY0"/>
              </a:cxn>
              <a:cxn ang="0">
                <a:pos x="csX1" y="csY1"/>
              </a:cxn>
              <a:cxn ang="0">
                <a:pos x="csX2" y="csY2"/>
              </a:cxn>
              <a:cxn ang="0">
                <a:pos x="csX3" y="csY3"/>
              </a:cxn>
              <a:cxn ang="0">
                <a:pos x="csX4" y="csY4"/>
              </a:cxn>
              <a:cxn ang="0">
                <a:pos x="csX5" y="csY5"/>
              </a:cxn>
            </a:cxnLst>
            <a:rect l="l" t="t" r="r" b="b"/>
            <a:pathLst>
              <a:path w="1161914" h="665304">
                <a:moveTo>
                  <a:pt x="0" y="0"/>
                </a:moveTo>
                <a:lnTo>
                  <a:pt x="496455" y="0"/>
                </a:lnTo>
                <a:cubicBezTo>
                  <a:pt x="552786" y="0"/>
                  <a:pt x="580957" y="28165"/>
                  <a:pt x="580957" y="84483"/>
                </a:cubicBezTo>
                <a:lnTo>
                  <a:pt x="580957" y="580822"/>
                </a:lnTo>
                <a:cubicBezTo>
                  <a:pt x="580957" y="637140"/>
                  <a:pt x="609129" y="665305"/>
                  <a:pt x="665460" y="665305"/>
                </a:cubicBezTo>
                <a:lnTo>
                  <a:pt x="1161915" y="665305"/>
                </a:lnTo>
              </a:path>
            </a:pathLst>
          </a:custGeom>
          <a:noFill/>
          <a:ln w="16891" cap="flat">
            <a:solidFill>
              <a:srgbClr val="7089A8"/>
            </a:solidFill>
            <a:prstDash val="solid"/>
            <a:miter/>
          </a:ln>
        </p:spPr>
        <p:txBody>
          <a:bodyPr/>
          <a:lstStyle/>
          <a:p>
            <a:endParaRPr lang="zh-CN" altLang="en-US" sz="2400"/>
          </a:p>
        </p:txBody>
      </p:sp>
      <p:sp>
        <p:nvSpPr>
          <p:cNvPr id="4" name="任意多边形: 形状 3">
            <a:extLst>
              <a:ext uri="{FF2B5EF4-FFF2-40B4-BE49-F238E27FC236}">
                <a16:creationId xmlns:a16="http://schemas.microsoft.com/office/drawing/2014/main" id="{B3339031-E2E5-5318-813A-D08597403CC8}"/>
              </a:ext>
            </a:extLst>
          </p:cNvPr>
          <p:cNvSpPr/>
          <p:nvPr/>
        </p:nvSpPr>
        <p:spPr>
          <a:xfrm>
            <a:off x="2939630" y="3106720"/>
            <a:ext cx="1161914" cy="10560"/>
          </a:xfrm>
          <a:custGeom>
            <a:avLst/>
            <a:gdLst>
              <a:gd name="csX0" fmla="*/ 0 w 1161914"/>
              <a:gd name="csY0" fmla="*/ 0 h 10560"/>
              <a:gd name="csX1" fmla="*/ 1161915 w 1161914"/>
              <a:gd name="csY1" fmla="*/ 0 h 10560"/>
            </a:gdLst>
            <a:ahLst/>
            <a:cxnLst>
              <a:cxn ang="0">
                <a:pos x="csX0" y="csY0"/>
              </a:cxn>
              <a:cxn ang="0">
                <a:pos x="csX1" y="csY1"/>
              </a:cxn>
            </a:cxnLst>
            <a:rect l="l" t="t" r="r" b="b"/>
            <a:pathLst>
              <a:path w="1161914" h="10560">
                <a:moveTo>
                  <a:pt x="0" y="0"/>
                </a:moveTo>
                <a:lnTo>
                  <a:pt x="1161915" y="0"/>
                </a:lnTo>
              </a:path>
            </a:pathLst>
          </a:custGeom>
          <a:noFill/>
          <a:ln w="16891" cap="flat">
            <a:solidFill>
              <a:srgbClr val="7089A8"/>
            </a:solidFill>
            <a:prstDash val="solid"/>
            <a:miter/>
          </a:ln>
        </p:spPr>
        <p:txBody>
          <a:bodyPr/>
          <a:lstStyle/>
          <a:p>
            <a:endParaRPr lang="zh-CN" altLang="en-US" sz="2400"/>
          </a:p>
        </p:txBody>
      </p:sp>
      <p:sp>
        <p:nvSpPr>
          <p:cNvPr id="6" name="任意多边形: 形状 5">
            <a:extLst>
              <a:ext uri="{FF2B5EF4-FFF2-40B4-BE49-F238E27FC236}">
                <a16:creationId xmlns:a16="http://schemas.microsoft.com/office/drawing/2014/main" id="{1661B3FA-55B4-27CC-8995-103AE9BA9787}"/>
              </a:ext>
            </a:extLst>
          </p:cNvPr>
          <p:cNvSpPr/>
          <p:nvPr/>
        </p:nvSpPr>
        <p:spPr>
          <a:xfrm>
            <a:off x="2939630" y="3222884"/>
            <a:ext cx="1161914" cy="665304"/>
          </a:xfrm>
          <a:custGeom>
            <a:avLst/>
            <a:gdLst>
              <a:gd name="csX0" fmla="*/ 0 w 1161914"/>
              <a:gd name="csY0" fmla="*/ 665305 h 665304"/>
              <a:gd name="csX1" fmla="*/ 496455 w 1161914"/>
              <a:gd name="csY1" fmla="*/ 665305 h 665304"/>
              <a:gd name="csX2" fmla="*/ 580957 w 1161914"/>
              <a:gd name="csY2" fmla="*/ 580822 h 665304"/>
              <a:gd name="csX3" fmla="*/ 580957 w 1161914"/>
              <a:gd name="csY3" fmla="*/ 84483 h 665304"/>
              <a:gd name="csX4" fmla="*/ 665460 w 1161914"/>
              <a:gd name="csY4" fmla="*/ 0 h 665304"/>
              <a:gd name="csX5" fmla="*/ 1161915 w 1161914"/>
              <a:gd name="csY5" fmla="*/ 0 h 665304"/>
            </a:gdLst>
            <a:ahLst/>
            <a:cxnLst>
              <a:cxn ang="0">
                <a:pos x="csX0" y="csY0"/>
              </a:cxn>
              <a:cxn ang="0">
                <a:pos x="csX1" y="csY1"/>
              </a:cxn>
              <a:cxn ang="0">
                <a:pos x="csX2" y="csY2"/>
              </a:cxn>
              <a:cxn ang="0">
                <a:pos x="csX3" y="csY3"/>
              </a:cxn>
              <a:cxn ang="0">
                <a:pos x="csX4" y="csY4"/>
              </a:cxn>
              <a:cxn ang="0">
                <a:pos x="csX5" y="csY5"/>
              </a:cxn>
            </a:cxnLst>
            <a:rect l="l" t="t" r="r" b="b"/>
            <a:pathLst>
              <a:path w="1161914" h="665304">
                <a:moveTo>
                  <a:pt x="0" y="665305"/>
                </a:moveTo>
                <a:lnTo>
                  <a:pt x="496455" y="665305"/>
                </a:lnTo>
                <a:cubicBezTo>
                  <a:pt x="552786" y="665305"/>
                  <a:pt x="580957" y="637140"/>
                  <a:pt x="580957" y="580822"/>
                </a:cubicBezTo>
                <a:lnTo>
                  <a:pt x="580957" y="84483"/>
                </a:lnTo>
                <a:cubicBezTo>
                  <a:pt x="580957" y="28165"/>
                  <a:pt x="609129" y="0"/>
                  <a:pt x="665460" y="0"/>
                </a:cubicBezTo>
                <a:lnTo>
                  <a:pt x="1161915" y="0"/>
                </a:lnTo>
              </a:path>
            </a:pathLst>
          </a:custGeom>
          <a:noFill/>
          <a:ln w="16891" cap="flat">
            <a:solidFill>
              <a:srgbClr val="7089A8"/>
            </a:solidFill>
            <a:prstDash val="solid"/>
            <a:miter/>
          </a:ln>
        </p:spPr>
        <p:txBody>
          <a:bodyPr/>
          <a:lstStyle/>
          <a:p>
            <a:endParaRPr lang="zh-CN" altLang="en-US" sz="2400"/>
          </a:p>
        </p:txBody>
      </p:sp>
      <p:grpSp>
        <p:nvGrpSpPr>
          <p:cNvPr id="14"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374C9523-AD87-C3FA-E9F4-6CCA4BEBF1D3}"/>
              </a:ext>
            </a:extLst>
          </p:cNvPr>
          <p:cNvGrpSpPr/>
          <p:nvPr/>
        </p:nvGrpSpPr>
        <p:grpSpPr>
          <a:xfrm>
            <a:off x="510171" y="2040120"/>
            <a:ext cx="2429458" cy="570261"/>
            <a:chOff x="1268771" y="2537935"/>
            <a:chExt cx="2429458" cy="570261"/>
          </a:xfrm>
        </p:grpSpPr>
        <p:sp>
          <p:nvSpPr>
            <p:cNvPr id="15" name="矩形: 圆角 14">
              <a:extLst>
                <a:ext uri="{FF2B5EF4-FFF2-40B4-BE49-F238E27FC236}">
                  <a16:creationId xmlns:a16="http://schemas.microsoft.com/office/drawing/2014/main" id="{4E78EDFD-0F7D-A7B0-60B4-24D09245A7C1}"/>
                </a:ext>
              </a:extLst>
            </p:cNvPr>
            <p:cNvSpPr/>
            <p:nvPr/>
          </p:nvSpPr>
          <p:spPr>
            <a:xfrm>
              <a:off x="1268771" y="2537935"/>
              <a:ext cx="2429458" cy="570261"/>
            </a:xfrm>
            <a:prstGeom prst="roundRect">
              <a:avLst>
                <a:gd name="adj" fmla="val 11113"/>
              </a:avLst>
            </a:prstGeom>
            <a:solidFill>
              <a:srgbClr val="EAF1F8"/>
            </a:solidFill>
            <a:ln w="16891" cap="flat">
              <a:solidFill>
                <a:srgbClr val="567BB1"/>
              </a:solidFill>
              <a:prstDash val="solid"/>
              <a:miter/>
            </a:ln>
          </p:spPr>
          <p:txBody>
            <a:bodyPr/>
            <a:lstStyle/>
            <a:p>
              <a:endParaRPr lang="zh-CN" altLang="en-US" sz="2400"/>
            </a:p>
          </p:txBody>
        </p:sp>
        <p:sp>
          <p:nvSpPr>
            <p:cNvPr id="16" name="矩形: 圆角 15">
              <a:extLst>
                <a:ext uri="{FF2B5EF4-FFF2-40B4-BE49-F238E27FC236}">
                  <a16:creationId xmlns:a16="http://schemas.microsoft.com/office/drawing/2014/main" id="{736A2488-8B9E-15B2-1DA4-E676A2A49075}"/>
                </a:ext>
              </a:extLst>
            </p:cNvPr>
            <p:cNvSpPr/>
            <p:nvPr/>
          </p:nvSpPr>
          <p:spPr>
            <a:xfrm>
              <a:off x="1268771" y="2537935"/>
              <a:ext cx="2429458" cy="570261"/>
            </a:xfrm>
            <a:prstGeom prst="roundRect">
              <a:avLst>
                <a:gd name="adj" fmla="val 11113"/>
              </a:avLst>
            </a:prstGeom>
            <a:solidFill>
              <a:srgbClr val="EAF1F8"/>
            </a:solidFill>
            <a:ln w="16891" cap="flat">
              <a:solidFill>
                <a:srgbClr val="567BB1"/>
              </a:solidFill>
              <a:prstDash val="solid"/>
              <a:miter/>
            </a:ln>
          </p:spPr>
          <p:txBody>
            <a:bodyPr/>
            <a:lstStyle/>
            <a:p>
              <a:endParaRPr lang="zh-CN" altLang="en-US" sz="2400"/>
            </a:p>
          </p:txBody>
        </p:sp>
        <p:sp>
          <p:nvSpPr>
            <p:cNvPr id="17" name="文本框 16">
              <a:extLst>
                <a:ext uri="{FF2B5EF4-FFF2-40B4-BE49-F238E27FC236}">
                  <a16:creationId xmlns:a16="http://schemas.microsoft.com/office/drawing/2014/main" id="{CB653126-6DBA-150E-21A0-E6F20ED96A35}"/>
                </a:ext>
              </a:extLst>
            </p:cNvPr>
            <p:cNvSpPr txBox="1"/>
            <p:nvPr/>
          </p:nvSpPr>
          <p:spPr>
            <a:xfrm>
              <a:off x="1916732" y="2588615"/>
              <a:ext cx="1261884" cy="307777"/>
            </a:xfrm>
            <a:prstGeom prst="rect">
              <a:avLst/>
            </a:prstGeom>
            <a:noFill/>
          </p:spPr>
          <p:txBody>
            <a:bodyPr wrap="none" rtlCol="0">
              <a:spAutoFit/>
            </a:bodyPr>
            <a:lstStyle/>
            <a:p>
              <a:pPr algn="l"/>
              <a:r>
                <a:rPr lang="zh-CN" altLang="en-US" sz="1400" b="1" spc="0" baseline="0">
                  <a:ln/>
                  <a:solidFill>
                    <a:srgbClr val="315995"/>
                  </a:solidFill>
                  <a:latin typeface="微软雅黑"/>
                  <a:ea typeface="微软雅黑"/>
                  <a:sym typeface="微软雅黑"/>
                  <a:rtl val="0"/>
                </a:rPr>
                <a:t>人工智能方法</a:t>
              </a:r>
            </a:p>
          </p:txBody>
        </p:sp>
        <p:sp>
          <p:nvSpPr>
            <p:cNvPr id="18" name="文本框 17">
              <a:extLst>
                <a:ext uri="{FF2B5EF4-FFF2-40B4-BE49-F238E27FC236}">
                  <a16:creationId xmlns:a16="http://schemas.microsoft.com/office/drawing/2014/main" id="{5FE90CAC-F107-5B90-CB48-F4E6D29BB3AA}"/>
                </a:ext>
              </a:extLst>
            </p:cNvPr>
            <p:cNvSpPr txBox="1"/>
            <p:nvPr/>
          </p:nvSpPr>
          <p:spPr>
            <a:xfrm>
              <a:off x="1504780" y="2807864"/>
              <a:ext cx="2031325" cy="230832"/>
            </a:xfrm>
            <a:prstGeom prst="rect">
              <a:avLst/>
            </a:prstGeom>
            <a:noFill/>
          </p:spPr>
          <p:txBody>
            <a:bodyPr wrap="none" rtlCol="0">
              <a:spAutoFit/>
            </a:bodyPr>
            <a:lstStyle/>
            <a:p>
              <a:pPr algn="l"/>
              <a:r>
                <a:rPr lang="zh-CN" altLang="en-US" sz="900" spc="0" baseline="0" dirty="0">
                  <a:ln/>
                  <a:solidFill>
                    <a:srgbClr val="466590"/>
                  </a:solidFill>
                  <a:latin typeface="微软雅黑"/>
                  <a:ea typeface="微软雅黑"/>
                  <a:sym typeface="微软雅黑"/>
                  <a:rtl val="0"/>
                </a:rPr>
                <a:t>过程量优化、目标对齐、自适应选择</a:t>
              </a:r>
            </a:p>
          </p:txBody>
        </p:sp>
      </p:grpSp>
      <p:grpSp>
        <p:nvGrpSpPr>
          <p:cNvPr id="19"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0FCCAD94-D54E-DA1C-8787-977AF2D9A2E6}"/>
              </a:ext>
            </a:extLst>
          </p:cNvPr>
          <p:cNvGrpSpPr/>
          <p:nvPr/>
        </p:nvGrpSpPr>
        <p:grpSpPr>
          <a:xfrm>
            <a:off x="510171" y="2821589"/>
            <a:ext cx="2429458" cy="570261"/>
            <a:chOff x="1268771" y="3319404"/>
            <a:chExt cx="2429458" cy="570261"/>
          </a:xfrm>
        </p:grpSpPr>
        <p:sp>
          <p:nvSpPr>
            <p:cNvPr id="20" name="矩形: 圆角 19">
              <a:extLst>
                <a:ext uri="{FF2B5EF4-FFF2-40B4-BE49-F238E27FC236}">
                  <a16:creationId xmlns:a16="http://schemas.microsoft.com/office/drawing/2014/main" id="{73804498-3A2A-8C08-1919-56C65FFDB4D4}"/>
                </a:ext>
              </a:extLst>
            </p:cNvPr>
            <p:cNvSpPr/>
            <p:nvPr/>
          </p:nvSpPr>
          <p:spPr>
            <a:xfrm>
              <a:off x="1268771" y="3319404"/>
              <a:ext cx="2429458" cy="570261"/>
            </a:xfrm>
            <a:prstGeom prst="roundRect">
              <a:avLst>
                <a:gd name="adj" fmla="val 11113"/>
              </a:avLst>
            </a:prstGeom>
            <a:solidFill>
              <a:srgbClr val="EAF1F8"/>
            </a:solidFill>
            <a:ln w="16891" cap="flat">
              <a:solidFill>
                <a:srgbClr val="567BB1"/>
              </a:solidFill>
              <a:prstDash val="solid"/>
              <a:miter/>
            </a:ln>
          </p:spPr>
          <p:txBody>
            <a:bodyPr/>
            <a:lstStyle/>
            <a:p>
              <a:endParaRPr lang="zh-CN" altLang="en-US" sz="2400"/>
            </a:p>
          </p:txBody>
        </p:sp>
        <p:sp>
          <p:nvSpPr>
            <p:cNvPr id="21" name="矩形: 圆角 20">
              <a:extLst>
                <a:ext uri="{FF2B5EF4-FFF2-40B4-BE49-F238E27FC236}">
                  <a16:creationId xmlns:a16="http://schemas.microsoft.com/office/drawing/2014/main" id="{C0A5E9FD-05E9-34FD-E4BE-CE7CD421D569}"/>
                </a:ext>
              </a:extLst>
            </p:cNvPr>
            <p:cNvSpPr/>
            <p:nvPr/>
          </p:nvSpPr>
          <p:spPr>
            <a:xfrm>
              <a:off x="1268771" y="3319404"/>
              <a:ext cx="2429458" cy="570261"/>
            </a:xfrm>
            <a:prstGeom prst="roundRect">
              <a:avLst>
                <a:gd name="adj" fmla="val 11113"/>
              </a:avLst>
            </a:prstGeom>
            <a:solidFill>
              <a:srgbClr val="EAF1F8"/>
            </a:solidFill>
            <a:ln w="16891" cap="flat">
              <a:solidFill>
                <a:srgbClr val="567BB1"/>
              </a:solidFill>
              <a:prstDash val="solid"/>
              <a:miter/>
            </a:ln>
          </p:spPr>
          <p:txBody>
            <a:bodyPr/>
            <a:lstStyle/>
            <a:p>
              <a:endParaRPr lang="zh-CN" altLang="en-US" sz="2400"/>
            </a:p>
          </p:txBody>
        </p:sp>
        <p:sp>
          <p:nvSpPr>
            <p:cNvPr id="22" name="文本框 21">
              <a:extLst>
                <a:ext uri="{FF2B5EF4-FFF2-40B4-BE49-F238E27FC236}">
                  <a16:creationId xmlns:a16="http://schemas.microsoft.com/office/drawing/2014/main" id="{998FCB45-9960-148E-CA6C-6543FA9DC5B2}"/>
                </a:ext>
              </a:extLst>
            </p:cNvPr>
            <p:cNvSpPr txBox="1"/>
            <p:nvPr/>
          </p:nvSpPr>
          <p:spPr>
            <a:xfrm>
              <a:off x="1916732" y="3370084"/>
              <a:ext cx="1261884" cy="307777"/>
            </a:xfrm>
            <a:prstGeom prst="rect">
              <a:avLst/>
            </a:prstGeom>
            <a:noFill/>
          </p:spPr>
          <p:txBody>
            <a:bodyPr wrap="none" rtlCol="0">
              <a:spAutoFit/>
            </a:bodyPr>
            <a:lstStyle/>
            <a:p>
              <a:pPr algn="l"/>
              <a:r>
                <a:rPr lang="zh-CN" altLang="en-US" sz="1400" b="1" spc="0" baseline="0">
                  <a:ln/>
                  <a:solidFill>
                    <a:srgbClr val="315995"/>
                  </a:solidFill>
                  <a:latin typeface="微软雅黑"/>
                  <a:ea typeface="微软雅黑"/>
                  <a:sym typeface="微软雅黑"/>
                  <a:rtl val="0"/>
                </a:rPr>
                <a:t>参数估计方法</a:t>
              </a:r>
            </a:p>
          </p:txBody>
        </p:sp>
        <p:sp>
          <p:nvSpPr>
            <p:cNvPr id="23" name="文本框 22">
              <a:extLst>
                <a:ext uri="{FF2B5EF4-FFF2-40B4-BE49-F238E27FC236}">
                  <a16:creationId xmlns:a16="http://schemas.microsoft.com/office/drawing/2014/main" id="{7C537554-1790-CF4B-670A-4D51CD50AFE0}"/>
                </a:ext>
              </a:extLst>
            </p:cNvPr>
            <p:cNvSpPr txBox="1"/>
            <p:nvPr/>
          </p:nvSpPr>
          <p:spPr>
            <a:xfrm>
              <a:off x="1837510" y="3589333"/>
              <a:ext cx="1338828" cy="230832"/>
            </a:xfrm>
            <a:prstGeom prst="rect">
              <a:avLst/>
            </a:prstGeom>
            <a:noFill/>
          </p:spPr>
          <p:txBody>
            <a:bodyPr wrap="none" rtlCol="0">
              <a:spAutoFit/>
            </a:bodyPr>
            <a:lstStyle/>
            <a:p>
              <a:pPr algn="l"/>
              <a:r>
                <a:rPr lang="zh-CN" altLang="en-US" sz="900" spc="0" baseline="0">
                  <a:ln/>
                  <a:solidFill>
                    <a:srgbClr val="466590"/>
                  </a:solidFill>
                  <a:latin typeface="微软雅黑"/>
                  <a:ea typeface="微软雅黑"/>
                  <a:sym typeface="微软雅黑"/>
                  <a:rtl val="0"/>
                </a:rPr>
                <a:t>最小差异法、极大似然</a:t>
              </a:r>
            </a:p>
          </p:txBody>
        </p:sp>
      </p:grpSp>
      <p:grpSp>
        <p:nvGrpSpPr>
          <p:cNvPr id="24"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17674BE4-5E54-93A1-1EDE-8B42B892964A}"/>
              </a:ext>
            </a:extLst>
          </p:cNvPr>
          <p:cNvGrpSpPr/>
          <p:nvPr/>
        </p:nvGrpSpPr>
        <p:grpSpPr>
          <a:xfrm>
            <a:off x="510171" y="3603058"/>
            <a:ext cx="2429458" cy="570261"/>
            <a:chOff x="1268771" y="4100873"/>
            <a:chExt cx="2429458" cy="570261"/>
          </a:xfrm>
        </p:grpSpPr>
        <p:sp>
          <p:nvSpPr>
            <p:cNvPr id="25" name="矩形: 圆角 24">
              <a:extLst>
                <a:ext uri="{FF2B5EF4-FFF2-40B4-BE49-F238E27FC236}">
                  <a16:creationId xmlns:a16="http://schemas.microsoft.com/office/drawing/2014/main" id="{0017FC0E-896D-C5BE-CA34-D4FDC02B7345}"/>
                </a:ext>
              </a:extLst>
            </p:cNvPr>
            <p:cNvSpPr/>
            <p:nvPr/>
          </p:nvSpPr>
          <p:spPr>
            <a:xfrm>
              <a:off x="1268771" y="4100873"/>
              <a:ext cx="2429458" cy="570261"/>
            </a:xfrm>
            <a:prstGeom prst="roundRect">
              <a:avLst>
                <a:gd name="adj" fmla="val 11113"/>
              </a:avLst>
            </a:prstGeom>
            <a:solidFill>
              <a:srgbClr val="FBEFE4"/>
            </a:solidFill>
            <a:ln w="16891" cap="flat">
              <a:solidFill>
                <a:srgbClr val="B95714"/>
              </a:solidFill>
              <a:prstDash val="solid"/>
              <a:miter/>
            </a:ln>
          </p:spPr>
          <p:txBody>
            <a:bodyPr/>
            <a:lstStyle/>
            <a:p>
              <a:endParaRPr lang="zh-CN" altLang="en-US" sz="2400"/>
            </a:p>
          </p:txBody>
        </p:sp>
        <p:sp>
          <p:nvSpPr>
            <p:cNvPr id="26" name="矩形: 圆角 25">
              <a:extLst>
                <a:ext uri="{FF2B5EF4-FFF2-40B4-BE49-F238E27FC236}">
                  <a16:creationId xmlns:a16="http://schemas.microsoft.com/office/drawing/2014/main" id="{95DC1C20-3F2B-6267-FEC3-1B69218840D4}"/>
                </a:ext>
              </a:extLst>
            </p:cNvPr>
            <p:cNvSpPr/>
            <p:nvPr/>
          </p:nvSpPr>
          <p:spPr>
            <a:xfrm>
              <a:off x="1268771" y="4100873"/>
              <a:ext cx="2429458" cy="570261"/>
            </a:xfrm>
            <a:prstGeom prst="roundRect">
              <a:avLst>
                <a:gd name="adj" fmla="val 11113"/>
              </a:avLst>
            </a:prstGeom>
            <a:solidFill>
              <a:srgbClr val="FBEFE4"/>
            </a:solidFill>
            <a:ln w="16891" cap="flat">
              <a:solidFill>
                <a:srgbClr val="B95714"/>
              </a:solidFill>
              <a:prstDash val="solid"/>
              <a:miter/>
            </a:ln>
          </p:spPr>
          <p:txBody>
            <a:bodyPr/>
            <a:lstStyle/>
            <a:p>
              <a:endParaRPr lang="zh-CN" altLang="en-US" sz="2400"/>
            </a:p>
          </p:txBody>
        </p:sp>
        <p:sp>
          <p:nvSpPr>
            <p:cNvPr id="27" name="文本框 26">
              <a:extLst>
                <a:ext uri="{FF2B5EF4-FFF2-40B4-BE49-F238E27FC236}">
                  <a16:creationId xmlns:a16="http://schemas.microsoft.com/office/drawing/2014/main" id="{A71BD746-42C5-1C4F-929B-10B44AA02DF5}"/>
                </a:ext>
              </a:extLst>
            </p:cNvPr>
            <p:cNvSpPr txBox="1"/>
            <p:nvPr/>
          </p:nvSpPr>
          <p:spPr>
            <a:xfrm>
              <a:off x="1904237" y="4151553"/>
              <a:ext cx="1285673" cy="307777"/>
            </a:xfrm>
            <a:prstGeom prst="rect">
              <a:avLst/>
            </a:prstGeom>
            <a:noFill/>
          </p:spPr>
          <p:txBody>
            <a:bodyPr wrap="none" rtlCol="0">
              <a:spAutoFit/>
            </a:bodyPr>
            <a:lstStyle/>
            <a:p>
              <a:pPr algn="l"/>
              <a:r>
                <a:rPr lang="zh-CN" altLang="en-US" sz="1400" b="1" spc="0" baseline="0">
                  <a:ln/>
                  <a:solidFill>
                    <a:srgbClr val="B95714"/>
                  </a:solidFill>
                  <a:latin typeface="微软雅黑"/>
                  <a:ea typeface="微软雅黑"/>
                  <a:sym typeface="微软雅黑"/>
                  <a:rtl val="0"/>
                </a:rPr>
                <a:t>Weibull 平台</a:t>
              </a:r>
            </a:p>
          </p:txBody>
        </p:sp>
        <p:sp>
          <p:nvSpPr>
            <p:cNvPr id="28" name="文本框 27">
              <a:extLst>
                <a:ext uri="{FF2B5EF4-FFF2-40B4-BE49-F238E27FC236}">
                  <a16:creationId xmlns:a16="http://schemas.microsoft.com/office/drawing/2014/main" id="{9500FB0C-18F3-2FE7-53F7-865BF509E74E}"/>
                </a:ext>
              </a:extLst>
            </p:cNvPr>
            <p:cNvSpPr txBox="1"/>
            <p:nvPr/>
          </p:nvSpPr>
          <p:spPr>
            <a:xfrm>
              <a:off x="2003875" y="4370802"/>
              <a:ext cx="992579" cy="230832"/>
            </a:xfrm>
            <a:prstGeom prst="rect">
              <a:avLst/>
            </a:prstGeom>
            <a:noFill/>
          </p:spPr>
          <p:txBody>
            <a:bodyPr wrap="none" rtlCol="0">
              <a:spAutoFit/>
            </a:bodyPr>
            <a:lstStyle/>
            <a:p>
              <a:pPr algn="l"/>
              <a:r>
                <a:rPr lang="zh-CN" altLang="en-US" sz="900" spc="0" baseline="0">
                  <a:ln/>
                  <a:solidFill>
                    <a:srgbClr val="A9683A"/>
                  </a:solidFill>
                  <a:latin typeface="微软雅黑"/>
                  <a:ea typeface="微软雅黑"/>
                  <a:sym typeface="微软雅黑"/>
                  <a:rtl val="0"/>
                </a:rPr>
                <a:t>研究与实践平台</a:t>
              </a:r>
            </a:p>
          </p:txBody>
        </p:sp>
      </p:grpSp>
      <p:grpSp>
        <p:nvGrpSpPr>
          <p:cNvPr id="29"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706AEEF4-21FB-D0B3-300A-36B8B78D1F89}"/>
              </a:ext>
            </a:extLst>
          </p:cNvPr>
          <p:cNvGrpSpPr/>
          <p:nvPr/>
        </p:nvGrpSpPr>
        <p:grpSpPr>
          <a:xfrm>
            <a:off x="4101546" y="2821589"/>
            <a:ext cx="1453094" cy="570261"/>
            <a:chOff x="4860145" y="3319404"/>
            <a:chExt cx="1694827" cy="570261"/>
          </a:xfrm>
        </p:grpSpPr>
        <p:sp>
          <p:nvSpPr>
            <p:cNvPr id="31" name="矩形: 圆角 30">
              <a:extLst>
                <a:ext uri="{FF2B5EF4-FFF2-40B4-BE49-F238E27FC236}">
                  <a16:creationId xmlns:a16="http://schemas.microsoft.com/office/drawing/2014/main" id="{2901EF2B-6BA5-2C5B-4BB1-5FE12FF1A800}"/>
                </a:ext>
              </a:extLst>
            </p:cNvPr>
            <p:cNvSpPr/>
            <p:nvPr/>
          </p:nvSpPr>
          <p:spPr>
            <a:xfrm>
              <a:off x="4860145" y="3319404"/>
              <a:ext cx="1694827" cy="570261"/>
            </a:xfrm>
            <a:prstGeom prst="roundRect">
              <a:avLst>
                <a:gd name="adj" fmla="val 11113"/>
              </a:avLst>
            </a:prstGeom>
            <a:solidFill>
              <a:srgbClr val="EAF1F8"/>
            </a:solidFill>
            <a:ln w="16891" cap="flat">
              <a:solidFill>
                <a:srgbClr val="567BB1"/>
              </a:solidFill>
              <a:prstDash val="solid"/>
              <a:miter/>
            </a:ln>
          </p:spPr>
          <p:txBody>
            <a:bodyPr/>
            <a:lstStyle/>
            <a:p>
              <a:endParaRPr lang="zh-CN" altLang="en-US" sz="2400"/>
            </a:p>
          </p:txBody>
        </p:sp>
        <p:sp>
          <p:nvSpPr>
            <p:cNvPr id="32" name="文本框 31">
              <a:extLst>
                <a:ext uri="{FF2B5EF4-FFF2-40B4-BE49-F238E27FC236}">
                  <a16:creationId xmlns:a16="http://schemas.microsoft.com/office/drawing/2014/main" id="{609A823F-D734-90D8-94DE-80CD3B51C6FC}"/>
                </a:ext>
              </a:extLst>
            </p:cNvPr>
            <p:cNvSpPr txBox="1"/>
            <p:nvPr/>
          </p:nvSpPr>
          <p:spPr>
            <a:xfrm>
              <a:off x="4970122" y="3338564"/>
              <a:ext cx="1471808" cy="523220"/>
            </a:xfrm>
            <a:prstGeom prst="rect">
              <a:avLst/>
            </a:prstGeom>
            <a:noFill/>
          </p:spPr>
          <p:txBody>
            <a:bodyPr wrap="none" rtlCol="0">
              <a:spAutoFit/>
            </a:bodyPr>
            <a:lstStyle/>
            <a:p>
              <a:pPr algn="l"/>
              <a:r>
                <a:rPr lang="zh-CN" altLang="en-US" sz="1400" b="1" spc="0" baseline="0" dirty="0">
                  <a:ln/>
                  <a:solidFill>
                    <a:srgbClr val="315995"/>
                  </a:solidFill>
                  <a:latin typeface="微软雅黑"/>
                  <a:ea typeface="微软雅黑"/>
                  <a:sym typeface="微软雅黑"/>
                  <a:rtl val="0"/>
                </a:rPr>
                <a:t>人工智能方法</a:t>
              </a:r>
              <a:endParaRPr lang="en-US" altLang="zh-CN" sz="1400" b="1" spc="0" baseline="0" dirty="0">
                <a:ln/>
                <a:solidFill>
                  <a:srgbClr val="315995"/>
                </a:solidFill>
                <a:latin typeface="微软雅黑"/>
                <a:ea typeface="微软雅黑"/>
                <a:sym typeface="微软雅黑"/>
                <a:rtl val="0"/>
              </a:endParaRPr>
            </a:p>
            <a:p>
              <a:pPr algn="l"/>
              <a:r>
                <a:rPr lang="zh-CN" altLang="en-US" sz="1400" b="1" spc="0" baseline="0" dirty="0">
                  <a:ln/>
                  <a:solidFill>
                    <a:srgbClr val="315995"/>
                  </a:solidFill>
                  <a:latin typeface="微软雅黑"/>
                  <a:ea typeface="微软雅黑"/>
                  <a:sym typeface="微软雅黑"/>
                  <a:rtl val="0"/>
                </a:rPr>
                <a:t>辅助参数估计</a:t>
              </a:r>
            </a:p>
          </p:txBody>
        </p:sp>
      </p:grpSp>
      <p:grpSp>
        <p:nvGrpSpPr>
          <p:cNvPr id="33"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5A8D3FC8-E347-7440-1829-D896D942DC8E}"/>
              </a:ext>
            </a:extLst>
          </p:cNvPr>
          <p:cNvGrpSpPr/>
          <p:nvPr/>
        </p:nvGrpSpPr>
        <p:grpSpPr>
          <a:xfrm>
            <a:off x="6806379" y="2821589"/>
            <a:ext cx="2006943" cy="570261"/>
            <a:chOff x="8029003" y="3319404"/>
            <a:chExt cx="2006943" cy="570261"/>
          </a:xfrm>
        </p:grpSpPr>
        <p:sp>
          <p:nvSpPr>
            <p:cNvPr id="34" name="矩形: 圆角 33">
              <a:extLst>
                <a:ext uri="{FF2B5EF4-FFF2-40B4-BE49-F238E27FC236}">
                  <a16:creationId xmlns:a16="http://schemas.microsoft.com/office/drawing/2014/main" id="{6227B379-36F8-C42F-D2D9-67EB5799F57B}"/>
                </a:ext>
              </a:extLst>
            </p:cNvPr>
            <p:cNvSpPr/>
            <p:nvPr/>
          </p:nvSpPr>
          <p:spPr>
            <a:xfrm>
              <a:off x="8029003" y="3319404"/>
              <a:ext cx="2006943" cy="570261"/>
            </a:xfrm>
            <a:prstGeom prst="roundRect">
              <a:avLst>
                <a:gd name="adj" fmla="val 11113"/>
              </a:avLst>
            </a:prstGeom>
            <a:solidFill>
              <a:srgbClr val="FBEFE4"/>
            </a:solidFill>
            <a:ln w="16891" cap="flat">
              <a:solidFill>
                <a:srgbClr val="B95714"/>
              </a:solidFill>
              <a:prstDash val="solid"/>
              <a:miter/>
            </a:ln>
          </p:spPr>
          <p:txBody>
            <a:bodyPr/>
            <a:lstStyle/>
            <a:p>
              <a:endParaRPr lang="zh-CN" altLang="en-US" sz="2400"/>
            </a:p>
          </p:txBody>
        </p:sp>
        <p:sp>
          <p:nvSpPr>
            <p:cNvPr id="35" name="矩形: 圆角 34">
              <a:extLst>
                <a:ext uri="{FF2B5EF4-FFF2-40B4-BE49-F238E27FC236}">
                  <a16:creationId xmlns:a16="http://schemas.microsoft.com/office/drawing/2014/main" id="{5C9058B8-0962-A23A-D5E3-869A26AAA641}"/>
                </a:ext>
              </a:extLst>
            </p:cNvPr>
            <p:cNvSpPr/>
            <p:nvPr/>
          </p:nvSpPr>
          <p:spPr>
            <a:xfrm>
              <a:off x="8029003" y="3319404"/>
              <a:ext cx="2006943" cy="570261"/>
            </a:xfrm>
            <a:prstGeom prst="roundRect">
              <a:avLst>
                <a:gd name="adj" fmla="val 11113"/>
              </a:avLst>
            </a:prstGeom>
            <a:solidFill>
              <a:srgbClr val="FBEFE4"/>
            </a:solidFill>
            <a:ln w="16891" cap="flat">
              <a:solidFill>
                <a:srgbClr val="B95714"/>
              </a:solidFill>
              <a:prstDash val="solid"/>
              <a:miter/>
            </a:ln>
          </p:spPr>
          <p:txBody>
            <a:bodyPr/>
            <a:lstStyle/>
            <a:p>
              <a:endParaRPr lang="zh-CN" altLang="en-US" sz="2400"/>
            </a:p>
          </p:txBody>
        </p:sp>
        <p:sp>
          <p:nvSpPr>
            <p:cNvPr id="36" name="文本框 35">
              <a:extLst>
                <a:ext uri="{FF2B5EF4-FFF2-40B4-BE49-F238E27FC236}">
                  <a16:creationId xmlns:a16="http://schemas.microsoft.com/office/drawing/2014/main" id="{5345E1CF-4388-120C-44C6-B188219BDF29}"/>
                </a:ext>
              </a:extLst>
            </p:cNvPr>
            <p:cNvSpPr txBox="1"/>
            <p:nvPr/>
          </p:nvSpPr>
          <p:spPr>
            <a:xfrm>
              <a:off x="8311421" y="3433446"/>
              <a:ext cx="1441420" cy="307777"/>
            </a:xfrm>
            <a:prstGeom prst="rect">
              <a:avLst/>
            </a:prstGeom>
            <a:noFill/>
          </p:spPr>
          <p:txBody>
            <a:bodyPr wrap="none" rtlCol="0">
              <a:spAutoFit/>
            </a:bodyPr>
            <a:lstStyle/>
            <a:p>
              <a:pPr algn="l"/>
              <a:r>
                <a:rPr lang="zh-CN" altLang="en-US" sz="1400" b="1" spc="0" baseline="0" dirty="0">
                  <a:ln/>
                  <a:solidFill>
                    <a:srgbClr val="B95714"/>
                  </a:solidFill>
                  <a:latin typeface="微软雅黑"/>
                  <a:ea typeface="微软雅黑"/>
                  <a:sym typeface="微软雅黑"/>
                  <a:rtl val="0"/>
                </a:rPr>
                <a:t>可靠性工程实践</a:t>
              </a:r>
            </a:p>
          </p:txBody>
        </p:sp>
      </p:grpSp>
      <p:grpSp>
        <p:nvGrpSpPr>
          <p:cNvPr id="37"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7B9B06EE-33F4-FC91-F633-E7D968C0BB86}"/>
              </a:ext>
            </a:extLst>
          </p:cNvPr>
          <p:cNvGrpSpPr/>
          <p:nvPr/>
        </p:nvGrpSpPr>
        <p:grpSpPr>
          <a:xfrm>
            <a:off x="10375144" y="1850033"/>
            <a:ext cx="1267543" cy="485778"/>
            <a:chOff x="10669719" y="2347848"/>
            <a:chExt cx="1267543" cy="485778"/>
          </a:xfrm>
        </p:grpSpPr>
        <p:sp>
          <p:nvSpPr>
            <p:cNvPr id="38" name="矩形: 圆角 37">
              <a:extLst>
                <a:ext uri="{FF2B5EF4-FFF2-40B4-BE49-F238E27FC236}">
                  <a16:creationId xmlns:a16="http://schemas.microsoft.com/office/drawing/2014/main" id="{8BE44D30-AF45-16E5-FE30-C9FE7C7E5974}"/>
                </a:ext>
              </a:extLst>
            </p:cNvPr>
            <p:cNvSpPr/>
            <p:nvPr/>
          </p:nvSpPr>
          <p:spPr>
            <a:xfrm>
              <a:off x="10669719" y="2347848"/>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39" name="矩形: 圆角 38">
              <a:extLst>
                <a:ext uri="{FF2B5EF4-FFF2-40B4-BE49-F238E27FC236}">
                  <a16:creationId xmlns:a16="http://schemas.microsoft.com/office/drawing/2014/main" id="{90C2291E-B8F0-3C5A-493F-46E6E685E7C9}"/>
                </a:ext>
              </a:extLst>
            </p:cNvPr>
            <p:cNvSpPr/>
            <p:nvPr/>
          </p:nvSpPr>
          <p:spPr>
            <a:xfrm>
              <a:off x="10669719" y="2347848"/>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40" name="文本框 39">
              <a:extLst>
                <a:ext uri="{FF2B5EF4-FFF2-40B4-BE49-F238E27FC236}">
                  <a16:creationId xmlns:a16="http://schemas.microsoft.com/office/drawing/2014/main" id="{F6E1AE03-76D8-6CFD-33CF-C532221F0E03}"/>
                </a:ext>
              </a:extLst>
            </p:cNvPr>
            <p:cNvSpPr txBox="1"/>
            <p:nvPr/>
          </p:nvSpPr>
          <p:spPr>
            <a:xfrm>
              <a:off x="11053608" y="2419648"/>
              <a:ext cx="543739" cy="307777"/>
            </a:xfrm>
            <a:prstGeom prst="rect">
              <a:avLst/>
            </a:prstGeom>
            <a:noFill/>
          </p:spPr>
          <p:txBody>
            <a:bodyPr wrap="none" rtlCol="0">
              <a:spAutoFit/>
            </a:bodyPr>
            <a:lstStyle/>
            <a:p>
              <a:pPr algn="l"/>
              <a:r>
                <a:rPr lang="zh-CN" altLang="en-US" sz="1400" b="1" spc="0" baseline="0">
                  <a:ln/>
                  <a:solidFill>
                    <a:srgbClr val="B95714"/>
                  </a:solidFill>
                  <a:latin typeface="微软雅黑"/>
                  <a:ea typeface="微软雅黑"/>
                  <a:sym typeface="微软雅黑"/>
                  <a:rtl val="0"/>
                </a:rPr>
                <a:t>焊接</a:t>
              </a:r>
            </a:p>
          </p:txBody>
        </p:sp>
      </p:grpSp>
      <p:grpSp>
        <p:nvGrpSpPr>
          <p:cNvPr id="41"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4E39291A-B2CD-8CC0-7435-1F2E6756D738}"/>
              </a:ext>
            </a:extLst>
          </p:cNvPr>
          <p:cNvGrpSpPr/>
          <p:nvPr/>
        </p:nvGrpSpPr>
        <p:grpSpPr>
          <a:xfrm>
            <a:off x="10375144" y="2525898"/>
            <a:ext cx="1267543" cy="485778"/>
            <a:chOff x="10669719" y="3023713"/>
            <a:chExt cx="1267543" cy="485778"/>
          </a:xfrm>
        </p:grpSpPr>
        <p:sp>
          <p:nvSpPr>
            <p:cNvPr id="42" name="矩形: 圆角 41">
              <a:extLst>
                <a:ext uri="{FF2B5EF4-FFF2-40B4-BE49-F238E27FC236}">
                  <a16:creationId xmlns:a16="http://schemas.microsoft.com/office/drawing/2014/main" id="{2FD3E29B-56B1-4141-478A-0C91CB6227F0}"/>
                </a:ext>
              </a:extLst>
            </p:cNvPr>
            <p:cNvSpPr/>
            <p:nvPr/>
          </p:nvSpPr>
          <p:spPr>
            <a:xfrm>
              <a:off x="10669719" y="3023713"/>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43" name="矩形: 圆角 42">
              <a:extLst>
                <a:ext uri="{FF2B5EF4-FFF2-40B4-BE49-F238E27FC236}">
                  <a16:creationId xmlns:a16="http://schemas.microsoft.com/office/drawing/2014/main" id="{82EB98A1-47C8-51EC-8D67-13225C8DED9A}"/>
                </a:ext>
              </a:extLst>
            </p:cNvPr>
            <p:cNvSpPr/>
            <p:nvPr/>
          </p:nvSpPr>
          <p:spPr>
            <a:xfrm>
              <a:off x="10669719" y="3023713"/>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44" name="文本框 43">
              <a:extLst>
                <a:ext uri="{FF2B5EF4-FFF2-40B4-BE49-F238E27FC236}">
                  <a16:creationId xmlns:a16="http://schemas.microsoft.com/office/drawing/2014/main" id="{39CE422F-C6B7-32B8-D0B2-42F3093F6476}"/>
                </a:ext>
              </a:extLst>
            </p:cNvPr>
            <p:cNvSpPr txBox="1"/>
            <p:nvPr/>
          </p:nvSpPr>
          <p:spPr>
            <a:xfrm>
              <a:off x="11053608" y="3095514"/>
              <a:ext cx="543739" cy="307777"/>
            </a:xfrm>
            <a:prstGeom prst="rect">
              <a:avLst/>
            </a:prstGeom>
            <a:noFill/>
          </p:spPr>
          <p:txBody>
            <a:bodyPr wrap="none" rtlCol="0">
              <a:spAutoFit/>
            </a:bodyPr>
            <a:lstStyle/>
            <a:p>
              <a:pPr algn="l"/>
              <a:r>
                <a:rPr lang="zh-CN" altLang="en-US" sz="1400" b="1" spc="0" baseline="0">
                  <a:ln/>
                  <a:solidFill>
                    <a:srgbClr val="B95714"/>
                  </a:solidFill>
                  <a:latin typeface="微软雅黑"/>
                  <a:ea typeface="微软雅黑"/>
                  <a:sym typeface="微软雅黑"/>
                  <a:rtl val="0"/>
                </a:rPr>
                <a:t>增材</a:t>
              </a:r>
            </a:p>
          </p:txBody>
        </p:sp>
      </p:grpSp>
      <p:grpSp>
        <p:nvGrpSpPr>
          <p:cNvPr id="45"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FF25F148-820C-C74C-633A-7C31381CEC1C}"/>
              </a:ext>
            </a:extLst>
          </p:cNvPr>
          <p:cNvGrpSpPr/>
          <p:nvPr/>
        </p:nvGrpSpPr>
        <p:grpSpPr>
          <a:xfrm>
            <a:off x="10375144" y="3201763"/>
            <a:ext cx="1267543" cy="485778"/>
            <a:chOff x="10669719" y="3699578"/>
            <a:chExt cx="1267543" cy="485778"/>
          </a:xfrm>
        </p:grpSpPr>
        <p:sp>
          <p:nvSpPr>
            <p:cNvPr id="46" name="矩形: 圆角 45">
              <a:extLst>
                <a:ext uri="{FF2B5EF4-FFF2-40B4-BE49-F238E27FC236}">
                  <a16:creationId xmlns:a16="http://schemas.microsoft.com/office/drawing/2014/main" id="{2530F07C-3F69-D34C-F911-318737F885A0}"/>
                </a:ext>
              </a:extLst>
            </p:cNvPr>
            <p:cNvSpPr/>
            <p:nvPr/>
          </p:nvSpPr>
          <p:spPr>
            <a:xfrm>
              <a:off x="10669719" y="3699578"/>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47" name="矩形: 圆角 46">
              <a:extLst>
                <a:ext uri="{FF2B5EF4-FFF2-40B4-BE49-F238E27FC236}">
                  <a16:creationId xmlns:a16="http://schemas.microsoft.com/office/drawing/2014/main" id="{FB85244E-4292-9E69-721B-8A9C4B77ADFD}"/>
                </a:ext>
              </a:extLst>
            </p:cNvPr>
            <p:cNvSpPr/>
            <p:nvPr/>
          </p:nvSpPr>
          <p:spPr>
            <a:xfrm>
              <a:off x="10669719" y="3699578"/>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48" name="文本框 47">
              <a:extLst>
                <a:ext uri="{FF2B5EF4-FFF2-40B4-BE49-F238E27FC236}">
                  <a16:creationId xmlns:a16="http://schemas.microsoft.com/office/drawing/2014/main" id="{AEB945F1-C52D-5F2D-1A9B-8FD19187887F}"/>
                </a:ext>
              </a:extLst>
            </p:cNvPr>
            <p:cNvSpPr txBox="1"/>
            <p:nvPr/>
          </p:nvSpPr>
          <p:spPr>
            <a:xfrm>
              <a:off x="10895165" y="3771379"/>
              <a:ext cx="902811" cy="307777"/>
            </a:xfrm>
            <a:prstGeom prst="rect">
              <a:avLst/>
            </a:prstGeom>
            <a:noFill/>
          </p:spPr>
          <p:txBody>
            <a:bodyPr wrap="none" rtlCol="0">
              <a:spAutoFit/>
            </a:bodyPr>
            <a:lstStyle/>
            <a:p>
              <a:pPr algn="l"/>
              <a:r>
                <a:rPr lang="zh-CN" altLang="en-US" sz="1400" b="1" spc="0" baseline="0">
                  <a:ln/>
                  <a:solidFill>
                    <a:srgbClr val="B95714"/>
                  </a:solidFill>
                  <a:latin typeface="微软雅黑"/>
                  <a:ea typeface="微软雅黑"/>
                  <a:sym typeface="微软雅黑"/>
                  <a:rtl val="0"/>
                </a:rPr>
                <a:t>激光加工</a:t>
              </a:r>
            </a:p>
          </p:txBody>
        </p:sp>
      </p:grpSp>
      <p:grpSp>
        <p:nvGrpSpPr>
          <p:cNvPr id="52"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7B8230EE-3A41-1397-F21F-393247687E48}"/>
              </a:ext>
            </a:extLst>
          </p:cNvPr>
          <p:cNvGrpSpPr/>
          <p:nvPr/>
        </p:nvGrpSpPr>
        <p:grpSpPr>
          <a:xfrm>
            <a:off x="10375144" y="3877629"/>
            <a:ext cx="1267543" cy="485778"/>
            <a:chOff x="10669719" y="4375444"/>
            <a:chExt cx="1267543" cy="485778"/>
          </a:xfrm>
        </p:grpSpPr>
        <p:sp>
          <p:nvSpPr>
            <p:cNvPr id="53" name="矩形: 圆角 52">
              <a:extLst>
                <a:ext uri="{FF2B5EF4-FFF2-40B4-BE49-F238E27FC236}">
                  <a16:creationId xmlns:a16="http://schemas.microsoft.com/office/drawing/2014/main" id="{DEAB339D-6E2D-53B3-34E1-A55FF7662B9C}"/>
                </a:ext>
              </a:extLst>
            </p:cNvPr>
            <p:cNvSpPr/>
            <p:nvPr/>
          </p:nvSpPr>
          <p:spPr>
            <a:xfrm>
              <a:off x="10669719" y="4375444"/>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54" name="矩形: 圆角 53">
              <a:extLst>
                <a:ext uri="{FF2B5EF4-FFF2-40B4-BE49-F238E27FC236}">
                  <a16:creationId xmlns:a16="http://schemas.microsoft.com/office/drawing/2014/main" id="{E52D2743-DFDB-9776-BDCA-82BFEF704991}"/>
                </a:ext>
              </a:extLst>
            </p:cNvPr>
            <p:cNvSpPr/>
            <p:nvPr/>
          </p:nvSpPr>
          <p:spPr>
            <a:xfrm>
              <a:off x="10669719" y="4375444"/>
              <a:ext cx="1267543" cy="485778"/>
            </a:xfrm>
            <a:prstGeom prst="roundRect">
              <a:avLst>
                <a:gd name="adj" fmla="val 13046"/>
              </a:avLst>
            </a:prstGeom>
            <a:solidFill>
              <a:srgbClr val="FBEFE4"/>
            </a:solidFill>
            <a:ln w="16891" cap="flat">
              <a:solidFill>
                <a:srgbClr val="B95714"/>
              </a:solidFill>
              <a:prstDash val="solid"/>
              <a:miter/>
            </a:ln>
          </p:spPr>
          <p:txBody>
            <a:bodyPr/>
            <a:lstStyle/>
            <a:p>
              <a:endParaRPr lang="zh-CN" altLang="en-US" sz="2400"/>
            </a:p>
          </p:txBody>
        </p:sp>
        <p:sp>
          <p:nvSpPr>
            <p:cNvPr id="55" name="文本框 54">
              <a:extLst>
                <a:ext uri="{FF2B5EF4-FFF2-40B4-BE49-F238E27FC236}">
                  <a16:creationId xmlns:a16="http://schemas.microsoft.com/office/drawing/2014/main" id="{A97980BB-AAB2-0017-2AAB-B2D2359AAB89}"/>
                </a:ext>
              </a:extLst>
            </p:cNvPr>
            <p:cNvSpPr txBox="1"/>
            <p:nvPr/>
          </p:nvSpPr>
          <p:spPr>
            <a:xfrm>
              <a:off x="11065367" y="4430008"/>
              <a:ext cx="530915" cy="307777"/>
            </a:xfrm>
            <a:prstGeom prst="rect">
              <a:avLst/>
            </a:prstGeom>
            <a:noFill/>
          </p:spPr>
          <p:txBody>
            <a:bodyPr wrap="none" rtlCol="0">
              <a:spAutoFit/>
            </a:bodyPr>
            <a:lstStyle/>
            <a:p>
              <a:pPr algn="l"/>
              <a:r>
                <a:rPr lang="zh-CN" altLang="en-US" sz="1400" b="1" spc="0" baseline="0" dirty="0">
                  <a:ln/>
                  <a:solidFill>
                    <a:srgbClr val="B95714"/>
                  </a:solidFill>
                  <a:latin typeface="微软雅黑"/>
                  <a:ea typeface="微软雅黑"/>
                  <a:sym typeface="微软雅黑"/>
                  <a:rtl val="0"/>
                </a:rPr>
                <a:t>……</a:t>
              </a:r>
            </a:p>
          </p:txBody>
        </p:sp>
      </p:grpSp>
      <p:grpSp>
        <p:nvGrpSpPr>
          <p:cNvPr id="57" name="P21-archify-structure" descr="结构图：人工智能方法、参数估计方法、Weibull 平台汇聚为人工智能方法辅助参数估计；经“结合”虚线连到“可靠性工程实践”，向右引出焊接、增材、激光加工、……（等等等等）；底部“培育期赋能”（学术交流、政治训练、专业锻炼、社会历练）向上赋能两侧。">
            <a:extLst>
              <a:ext uri="{FF2B5EF4-FFF2-40B4-BE49-F238E27FC236}">
                <a16:creationId xmlns:a16="http://schemas.microsoft.com/office/drawing/2014/main" id="{A84761F3-EF65-E4E3-ACAA-EDF0E2A8BC1E}"/>
              </a:ext>
            </a:extLst>
          </p:cNvPr>
          <p:cNvGrpSpPr/>
          <p:nvPr/>
        </p:nvGrpSpPr>
        <p:grpSpPr>
          <a:xfrm>
            <a:off x="2661757" y="5349466"/>
            <a:ext cx="6760232" cy="785058"/>
            <a:chOff x="2536315" y="5811657"/>
            <a:chExt cx="6760232" cy="570261"/>
          </a:xfrm>
        </p:grpSpPr>
        <p:sp>
          <p:nvSpPr>
            <p:cNvPr id="58" name="矩形: 圆角 57">
              <a:extLst>
                <a:ext uri="{FF2B5EF4-FFF2-40B4-BE49-F238E27FC236}">
                  <a16:creationId xmlns:a16="http://schemas.microsoft.com/office/drawing/2014/main" id="{B44E53DD-5775-FBC2-FA8A-6C4CA9C08A2B}"/>
                </a:ext>
              </a:extLst>
            </p:cNvPr>
            <p:cNvSpPr/>
            <p:nvPr/>
          </p:nvSpPr>
          <p:spPr>
            <a:xfrm>
              <a:off x="2536315" y="5811657"/>
              <a:ext cx="6760232" cy="570261"/>
            </a:xfrm>
            <a:prstGeom prst="roundRect">
              <a:avLst>
                <a:gd name="adj" fmla="val 11113"/>
              </a:avLst>
            </a:prstGeom>
            <a:solidFill>
              <a:srgbClr val="FBF6E9"/>
            </a:solidFill>
            <a:ln w="16891" cap="flat">
              <a:solidFill>
                <a:srgbClr val="D9C079"/>
              </a:solidFill>
              <a:prstDash val="solid"/>
              <a:miter/>
            </a:ln>
          </p:spPr>
          <p:txBody>
            <a:bodyPr/>
            <a:lstStyle/>
            <a:p>
              <a:endParaRPr lang="zh-CN" altLang="en-US" sz="2400"/>
            </a:p>
          </p:txBody>
        </p:sp>
        <p:sp>
          <p:nvSpPr>
            <p:cNvPr id="59" name="矩形: 圆角 58">
              <a:extLst>
                <a:ext uri="{FF2B5EF4-FFF2-40B4-BE49-F238E27FC236}">
                  <a16:creationId xmlns:a16="http://schemas.microsoft.com/office/drawing/2014/main" id="{9289CFD6-5CBE-1F82-2FFC-EDD7AD683B55}"/>
                </a:ext>
              </a:extLst>
            </p:cNvPr>
            <p:cNvSpPr/>
            <p:nvPr/>
          </p:nvSpPr>
          <p:spPr>
            <a:xfrm>
              <a:off x="2536315" y="5811657"/>
              <a:ext cx="6760232" cy="570261"/>
            </a:xfrm>
            <a:prstGeom prst="roundRect">
              <a:avLst>
                <a:gd name="adj" fmla="val 11113"/>
              </a:avLst>
            </a:prstGeom>
            <a:solidFill>
              <a:srgbClr val="FBF6E9"/>
            </a:solidFill>
            <a:ln w="16891" cap="flat">
              <a:solidFill>
                <a:srgbClr val="D9C079"/>
              </a:solidFill>
              <a:prstDash val="solid"/>
              <a:miter/>
            </a:ln>
          </p:spPr>
          <p:txBody>
            <a:bodyPr/>
            <a:lstStyle/>
            <a:p>
              <a:endParaRPr lang="zh-CN" altLang="en-US" sz="2400"/>
            </a:p>
          </p:txBody>
        </p:sp>
        <p:sp>
          <p:nvSpPr>
            <p:cNvPr id="60" name="文本框 59">
              <a:extLst>
                <a:ext uri="{FF2B5EF4-FFF2-40B4-BE49-F238E27FC236}">
                  <a16:creationId xmlns:a16="http://schemas.microsoft.com/office/drawing/2014/main" id="{6DD55B39-D2BD-1107-B316-5D7AE30F5C20}"/>
                </a:ext>
              </a:extLst>
            </p:cNvPr>
            <p:cNvSpPr txBox="1"/>
            <p:nvPr/>
          </p:nvSpPr>
          <p:spPr>
            <a:xfrm>
              <a:off x="5428883" y="5862337"/>
              <a:ext cx="1082348" cy="307777"/>
            </a:xfrm>
            <a:prstGeom prst="rect">
              <a:avLst/>
            </a:prstGeom>
            <a:noFill/>
          </p:spPr>
          <p:txBody>
            <a:bodyPr wrap="none" rtlCol="0">
              <a:spAutoFit/>
            </a:bodyPr>
            <a:lstStyle/>
            <a:p>
              <a:pPr algn="l"/>
              <a:r>
                <a:rPr lang="zh-CN" altLang="en-US" sz="1400" b="1" spc="0" baseline="0">
                  <a:ln/>
                  <a:solidFill>
                    <a:srgbClr val="8A6A1E"/>
                  </a:solidFill>
                  <a:latin typeface="微软雅黑"/>
                  <a:ea typeface="微软雅黑"/>
                  <a:sym typeface="微软雅黑"/>
                  <a:rtl val="0"/>
                </a:rPr>
                <a:t>培育期赋能</a:t>
              </a:r>
            </a:p>
          </p:txBody>
        </p:sp>
        <p:sp>
          <p:nvSpPr>
            <p:cNvPr id="61" name="文本框 60">
              <a:extLst>
                <a:ext uri="{FF2B5EF4-FFF2-40B4-BE49-F238E27FC236}">
                  <a16:creationId xmlns:a16="http://schemas.microsoft.com/office/drawing/2014/main" id="{395DBCD7-E746-D419-BEBF-41D8AEF20584}"/>
                </a:ext>
              </a:extLst>
            </p:cNvPr>
            <p:cNvSpPr txBox="1"/>
            <p:nvPr/>
          </p:nvSpPr>
          <p:spPr>
            <a:xfrm>
              <a:off x="4573680" y="6132891"/>
              <a:ext cx="2792752" cy="190032"/>
            </a:xfrm>
            <a:prstGeom prst="rect">
              <a:avLst/>
            </a:prstGeom>
            <a:noFill/>
          </p:spPr>
          <p:txBody>
            <a:bodyPr wrap="none" rtlCol="0">
              <a:spAutoFit/>
            </a:bodyPr>
            <a:lstStyle/>
            <a:p>
              <a:pPr algn="l"/>
              <a:r>
                <a:rPr lang="zh-CN" altLang="en-US" sz="1100" spc="0" baseline="0" dirty="0">
                  <a:ln/>
                  <a:solidFill>
                    <a:srgbClr val="A08444"/>
                  </a:solidFill>
                  <a:latin typeface="微软雅黑"/>
                  <a:ea typeface="微软雅黑"/>
                  <a:sym typeface="微软雅黑"/>
                  <a:rtl val="0"/>
                </a:rPr>
                <a:t>学术交流 · 政治训练 · 专业锻炼 · 社会历练</a:t>
              </a:r>
            </a:p>
          </p:txBody>
        </p:sp>
      </p:grpSp>
      <p:sp>
        <p:nvSpPr>
          <p:cNvPr id="65" name="文本框 64">
            <a:extLst>
              <a:ext uri="{FF2B5EF4-FFF2-40B4-BE49-F238E27FC236}">
                <a16:creationId xmlns:a16="http://schemas.microsoft.com/office/drawing/2014/main" id="{64DFAE4D-2D70-3BEA-171F-75EDB977436F}"/>
              </a:ext>
            </a:extLst>
          </p:cNvPr>
          <p:cNvSpPr txBox="1"/>
          <p:nvPr/>
        </p:nvSpPr>
        <p:spPr>
          <a:xfrm>
            <a:off x="5920782" y="2846905"/>
            <a:ext cx="466794" cy="261610"/>
          </a:xfrm>
          <a:prstGeom prst="rect">
            <a:avLst/>
          </a:prstGeom>
          <a:noFill/>
        </p:spPr>
        <p:txBody>
          <a:bodyPr wrap="none" rtlCol="0">
            <a:spAutoFit/>
          </a:bodyPr>
          <a:lstStyle/>
          <a:p>
            <a:pPr algn="l"/>
            <a:r>
              <a:rPr lang="zh-CN" altLang="en-US" sz="1100" b="1" spc="0" baseline="0" dirty="0">
                <a:ln/>
                <a:solidFill>
                  <a:srgbClr val="7089A8"/>
                </a:solidFill>
                <a:latin typeface="微软雅黑"/>
                <a:ea typeface="微软雅黑"/>
                <a:sym typeface="微软雅黑"/>
                <a:rtl val="0"/>
              </a:rPr>
              <a:t>结合</a:t>
            </a:r>
          </a:p>
        </p:txBody>
      </p:sp>
      <p:sp>
        <p:nvSpPr>
          <p:cNvPr id="70" name="矩形: 圆角 69">
            <a:extLst>
              <a:ext uri="{FF2B5EF4-FFF2-40B4-BE49-F238E27FC236}">
                <a16:creationId xmlns:a16="http://schemas.microsoft.com/office/drawing/2014/main" id="{A8068E01-2291-8BB0-D4F0-0C9DBE950EE1}"/>
              </a:ext>
            </a:extLst>
          </p:cNvPr>
          <p:cNvSpPr/>
          <p:nvPr/>
        </p:nvSpPr>
        <p:spPr>
          <a:xfrm>
            <a:off x="6594380" y="4352846"/>
            <a:ext cx="316885" cy="147845"/>
          </a:xfrm>
          <a:prstGeom prst="roundRect">
            <a:avLst>
              <a:gd name="adj" fmla="val 21433"/>
            </a:avLst>
          </a:prstGeom>
          <a:solidFill>
            <a:srgbClr val="FFFFFF"/>
          </a:solidFill>
          <a:ln w="10557" cap="flat">
            <a:noFill/>
            <a:prstDash val="solid"/>
            <a:miter/>
          </a:ln>
        </p:spPr>
        <p:txBody>
          <a:bodyPr/>
          <a:lstStyle/>
          <a:p>
            <a:endParaRPr lang="zh-CN" altLang="en-US" sz="2400"/>
          </a:p>
        </p:txBody>
      </p:sp>
      <p:cxnSp>
        <p:nvCxnSpPr>
          <p:cNvPr id="73" name="直接连接符 72">
            <a:extLst>
              <a:ext uri="{FF2B5EF4-FFF2-40B4-BE49-F238E27FC236}">
                <a16:creationId xmlns:a16="http://schemas.microsoft.com/office/drawing/2014/main" id="{4178AD44-23CC-39C8-2F18-5E0B120B0216}"/>
              </a:ext>
            </a:extLst>
          </p:cNvPr>
          <p:cNvCxnSpPr>
            <a:cxnSpLocks/>
            <a:stCxn id="31" idx="3"/>
            <a:endCxn id="35" idx="1"/>
          </p:cNvCxnSpPr>
          <p:nvPr/>
        </p:nvCxnSpPr>
        <p:spPr>
          <a:xfrm>
            <a:off x="5554640" y="3106720"/>
            <a:ext cx="1251739" cy="0"/>
          </a:xfrm>
          <a:prstGeom prst="line">
            <a:avLst/>
          </a:prstGeom>
          <a:ln w="12700">
            <a:prstDash val="dashDot"/>
          </a:ln>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F65F9E05-63DD-C1AA-3834-49E220F4B160}"/>
              </a:ext>
            </a:extLst>
          </p:cNvPr>
          <p:cNvCxnSpPr>
            <a:stCxn id="35" idx="3"/>
            <a:endCxn id="39" idx="1"/>
          </p:cNvCxnSpPr>
          <p:nvPr/>
        </p:nvCxnSpPr>
        <p:spPr>
          <a:xfrm flipV="1">
            <a:off x="8813322" y="2092922"/>
            <a:ext cx="1561822" cy="1013798"/>
          </a:xfrm>
          <a:prstGeom prst="bentConnector3">
            <a:avLst>
              <a:gd name="adj1" fmla="val 49788"/>
            </a:avLst>
          </a:prstGeom>
          <a:ln w="12700">
            <a:prstDash val="lgDashDotDot"/>
            <a:round/>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32F131B9-1973-3CC5-BD4D-BA63FEF8034D}"/>
              </a:ext>
            </a:extLst>
          </p:cNvPr>
          <p:cNvCxnSpPr>
            <a:cxnSpLocks/>
            <a:stCxn id="35" idx="3"/>
            <a:endCxn id="43" idx="1"/>
          </p:cNvCxnSpPr>
          <p:nvPr/>
        </p:nvCxnSpPr>
        <p:spPr>
          <a:xfrm flipV="1">
            <a:off x="8813322" y="2768787"/>
            <a:ext cx="1561822" cy="337933"/>
          </a:xfrm>
          <a:prstGeom prst="bentConnector3">
            <a:avLst>
              <a:gd name="adj1" fmla="val 50000"/>
            </a:avLst>
          </a:prstGeom>
          <a:ln w="12700">
            <a:prstDash val="lgDashDotDot"/>
            <a:round/>
          </a:ln>
        </p:spPr>
        <p:style>
          <a:lnRef idx="1">
            <a:schemeClr val="accent1"/>
          </a:lnRef>
          <a:fillRef idx="0">
            <a:schemeClr val="accent1"/>
          </a:fillRef>
          <a:effectRef idx="0">
            <a:schemeClr val="accent1"/>
          </a:effectRef>
          <a:fontRef idx="minor">
            <a:schemeClr val="tx1"/>
          </a:fontRef>
        </p:style>
      </p:cxnSp>
      <p:cxnSp>
        <p:nvCxnSpPr>
          <p:cNvPr id="82" name="连接符: 肘形 81">
            <a:extLst>
              <a:ext uri="{FF2B5EF4-FFF2-40B4-BE49-F238E27FC236}">
                <a16:creationId xmlns:a16="http://schemas.microsoft.com/office/drawing/2014/main" id="{ED9C6333-ABAF-73E0-7B6C-1C0340F7DE15}"/>
              </a:ext>
            </a:extLst>
          </p:cNvPr>
          <p:cNvCxnSpPr>
            <a:cxnSpLocks/>
            <a:stCxn id="35" idx="3"/>
            <a:endCxn id="47" idx="1"/>
          </p:cNvCxnSpPr>
          <p:nvPr/>
        </p:nvCxnSpPr>
        <p:spPr>
          <a:xfrm>
            <a:off x="8813322" y="3106720"/>
            <a:ext cx="1561822" cy="337932"/>
          </a:xfrm>
          <a:prstGeom prst="bentConnector3">
            <a:avLst>
              <a:gd name="adj1" fmla="val 50000"/>
            </a:avLst>
          </a:prstGeom>
          <a:ln w="12700">
            <a:prstDash val="lgDashDotDot"/>
            <a:round/>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FBBD815F-B8F0-3FA9-9443-2230290F458D}"/>
              </a:ext>
            </a:extLst>
          </p:cNvPr>
          <p:cNvCxnSpPr>
            <a:cxnSpLocks/>
            <a:stCxn id="35" idx="3"/>
            <a:endCxn id="54" idx="1"/>
          </p:cNvCxnSpPr>
          <p:nvPr/>
        </p:nvCxnSpPr>
        <p:spPr>
          <a:xfrm>
            <a:off x="8813322" y="3106720"/>
            <a:ext cx="1561822" cy="1013798"/>
          </a:xfrm>
          <a:prstGeom prst="bentConnector3">
            <a:avLst>
              <a:gd name="adj1" fmla="val 50000"/>
            </a:avLst>
          </a:prstGeom>
          <a:ln w="12700">
            <a:prstDash val="lgDashDotDot"/>
            <a:round/>
          </a:ln>
        </p:spPr>
        <p:style>
          <a:lnRef idx="1">
            <a:schemeClr val="accent1"/>
          </a:lnRef>
          <a:fillRef idx="0">
            <a:schemeClr val="accent1"/>
          </a:fillRef>
          <a:effectRef idx="0">
            <a:schemeClr val="accent1"/>
          </a:effectRef>
          <a:fontRef idx="minor">
            <a:schemeClr val="tx1"/>
          </a:fontRef>
        </p:style>
      </p:cxnSp>
      <p:sp>
        <p:nvSpPr>
          <p:cNvPr id="89" name="矩形: 圆角 88">
            <a:extLst>
              <a:ext uri="{FF2B5EF4-FFF2-40B4-BE49-F238E27FC236}">
                <a16:creationId xmlns:a16="http://schemas.microsoft.com/office/drawing/2014/main" id="{88F74F8C-C466-6C25-CD25-6C365C4D3383}"/>
              </a:ext>
            </a:extLst>
          </p:cNvPr>
          <p:cNvSpPr/>
          <p:nvPr/>
        </p:nvSpPr>
        <p:spPr>
          <a:xfrm>
            <a:off x="339090" y="1467197"/>
            <a:ext cx="11513820" cy="3206403"/>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0" name="箭头: 上 41">
            <a:extLst>
              <a:ext uri="{FF2B5EF4-FFF2-40B4-BE49-F238E27FC236}">
                <a16:creationId xmlns:a16="http://schemas.microsoft.com/office/drawing/2014/main" id="{C7CE4C02-6A48-8E0E-E502-088DEF5D172C}"/>
              </a:ext>
            </a:extLst>
          </p:cNvPr>
          <p:cNvSpPr/>
          <p:nvPr/>
        </p:nvSpPr>
        <p:spPr>
          <a:xfrm rot="10800000" flipV="1">
            <a:off x="5315819" y="4254217"/>
            <a:ext cx="1559360" cy="978304"/>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Tree>
    <p:extLst>
      <p:ext uri="{BB962C8B-B14F-4D97-AF65-F5344CB8AC3E}">
        <p14:creationId xmlns:p14="http://schemas.microsoft.com/office/powerpoint/2010/main" val="894650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CF0BF-ECBA-F6E5-4891-87C4BA8C76A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7E75E18-55C1-925F-649F-C39931EAF5F8}"/>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u="sng" spc="-150" dirty="0">
                <a:solidFill>
                  <a:schemeClr val="bg1"/>
                </a:solidFill>
                <a:latin typeface="汉仪文润宋韵 U" pitchFamily="2" charset="-122"/>
                <a:ea typeface="汉仪文润宋韵 U" pitchFamily="2" charset="-122"/>
              </a:rPr>
              <a:t>我的科研承诺</a:t>
            </a:r>
            <a:endParaRPr lang="zh-CN" altLang="en-US" sz="2400" b="1" u="sng"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E608F768-495F-2809-267A-6BF3579CC1BF}"/>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培养展望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3D32E933-4D80-4D50-1CA4-B283C1ADA194}"/>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C1026B5-0336-CC2D-D8CD-4DBACD1DB562}"/>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04</a:t>
            </a:r>
          </a:p>
        </p:txBody>
      </p:sp>
      <p:grpSp>
        <p:nvGrpSpPr>
          <p:cNvPr id="2" name="组合 1">
            <a:extLst>
              <a:ext uri="{FF2B5EF4-FFF2-40B4-BE49-F238E27FC236}">
                <a16:creationId xmlns:a16="http://schemas.microsoft.com/office/drawing/2014/main" id="{DF2DC391-08DA-C29B-5EF0-EFAF0F4610E6}"/>
              </a:ext>
            </a:extLst>
          </p:cNvPr>
          <p:cNvGrpSpPr/>
          <p:nvPr/>
        </p:nvGrpSpPr>
        <p:grpSpPr>
          <a:xfrm>
            <a:off x="495783" y="1920476"/>
            <a:ext cx="7921721" cy="3856745"/>
            <a:chOff x="591863" y="740230"/>
            <a:chExt cx="11057363" cy="5383354"/>
          </a:xfrm>
        </p:grpSpPr>
        <p:sp>
          <p:nvSpPr>
            <p:cNvPr id="3" name="梯形 322">
              <a:extLst>
                <a:ext uri="{FF2B5EF4-FFF2-40B4-BE49-F238E27FC236}">
                  <a16:creationId xmlns:a16="http://schemas.microsoft.com/office/drawing/2014/main" id="{168FF164-1F9D-A2BB-2444-FFE3771D8AA7}"/>
                </a:ext>
              </a:extLst>
            </p:cNvPr>
            <p:cNvSpPr/>
            <p:nvPr/>
          </p:nvSpPr>
          <p:spPr>
            <a:xfrm>
              <a:off x="1296794" y="4038879"/>
              <a:ext cx="9661492" cy="1454163"/>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45261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97267 w 965390"/>
                <a:gd name="connsiteY1" fmla="*/ 0 h 697627"/>
                <a:gd name="connsiteX2" fmla="*/ 745261 w 965390"/>
                <a:gd name="connsiteY2" fmla="*/ 0 h 697627"/>
                <a:gd name="connsiteX3" fmla="*/ 965390 w 965390"/>
                <a:gd name="connsiteY3" fmla="*/ 697627 h 697627"/>
                <a:gd name="connsiteX4" fmla="*/ 0 w 965390"/>
                <a:gd name="connsiteY4" fmla="*/ 697627 h 697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390" h="697627">
                  <a:moveTo>
                    <a:pt x="0" y="697627"/>
                  </a:moveTo>
                  <a:cubicBezTo>
                    <a:pt x="142112" y="493080"/>
                    <a:pt x="223106" y="307190"/>
                    <a:pt x="197267" y="0"/>
                  </a:cubicBezTo>
                  <a:lnTo>
                    <a:pt x="745261" y="0"/>
                  </a:lnTo>
                  <a:cubicBezTo>
                    <a:pt x="747414" y="269867"/>
                    <a:pt x="823278" y="399774"/>
                    <a:pt x="965390" y="697627"/>
                  </a:cubicBezTo>
                  <a:lnTo>
                    <a:pt x="0" y="697627"/>
                  </a:lnTo>
                  <a:close/>
                </a:path>
              </a:pathLst>
            </a:custGeom>
            <a:gradFill flip="none" rotWithShape="1">
              <a:gsLst>
                <a:gs pos="0">
                  <a:srgbClr val="000000">
                    <a:lumMod val="75000"/>
                    <a:lumOff val="25000"/>
                    <a:alpha val="0"/>
                  </a:srgbClr>
                </a:gs>
                <a:gs pos="100000">
                  <a:srgbClr val="000000">
                    <a:lumMod val="75000"/>
                    <a:lumOff val="25000"/>
                    <a:alpha val="46000"/>
                  </a:srgbClr>
                </a:gs>
              </a:gsLst>
              <a:lin ang="16200000" scaled="1"/>
              <a:tileRect/>
            </a:gradFill>
            <a:ln w="12700" cap="flat" cmpd="sng" algn="ctr">
              <a:gradFill flip="none" rotWithShape="1">
                <a:gsLst>
                  <a:gs pos="50500">
                    <a:srgbClr val="000000">
                      <a:lumMod val="75000"/>
                      <a:lumOff val="25000"/>
                    </a:srgbClr>
                  </a:gs>
                  <a:gs pos="0">
                    <a:srgbClr val="000000">
                      <a:lumMod val="75000"/>
                      <a:lumOff val="25000"/>
                      <a:alpha val="0"/>
                    </a:srgbClr>
                  </a:gs>
                  <a:gs pos="100000">
                    <a:srgbClr val="000000">
                      <a:lumMod val="75000"/>
                      <a:lumOff val="25000"/>
                      <a:alpha val="0"/>
                    </a:srgbClr>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FFFFFF"/>
                </a:solidFill>
                <a:effectLst/>
                <a:uLnTx/>
                <a:uFillTx/>
                <a:latin typeface="思源黑体 CN Bold"/>
                <a:ea typeface="宋体" panose="02010600030101010101" pitchFamily="2" charset="-122"/>
                <a:sym typeface="Microsoft YaHei" panose="020B0503020204020204" pitchFamily="34" charset="-122"/>
              </a:endParaRPr>
            </a:p>
          </p:txBody>
        </p:sp>
        <p:sp>
          <p:nvSpPr>
            <p:cNvPr id="4" name="不完整圆 235">
              <a:extLst>
                <a:ext uri="{FF2B5EF4-FFF2-40B4-BE49-F238E27FC236}">
                  <a16:creationId xmlns:a16="http://schemas.microsoft.com/office/drawing/2014/main" id="{5C757AA6-527B-58A5-2962-BDDEDF3F3449}"/>
                </a:ext>
              </a:extLst>
            </p:cNvPr>
            <p:cNvSpPr/>
            <p:nvPr/>
          </p:nvSpPr>
          <p:spPr>
            <a:xfrm>
              <a:off x="3198922" y="3730171"/>
              <a:ext cx="5857235" cy="77681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rgbClr val="FFFFFF">
                    <a:alpha val="0"/>
                  </a:srgbClr>
                </a:gs>
                <a:gs pos="40000">
                  <a:srgbClr val="FFFFFF"/>
                </a:gs>
              </a:gsLst>
              <a:lin ang="5400000" scaled="1"/>
            </a:gradFill>
            <a:ln w="76200" cap="flat" cmpd="sng" algn="ctr">
              <a:gradFill flip="none" rotWithShape="1">
                <a:gsLst>
                  <a:gs pos="0">
                    <a:srgbClr val="0F6FC6">
                      <a:alpha val="0"/>
                    </a:srgbClr>
                  </a:gs>
                  <a:gs pos="100000">
                    <a:srgbClr val="0F6FC6"/>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srgbClr val="FFFFFF"/>
                </a:solidFill>
                <a:effectLst/>
                <a:uLnTx/>
                <a:uFillTx/>
                <a:latin typeface="思源黑体 CN Bold"/>
                <a:ea typeface="宋体" panose="02010600030101010101" pitchFamily="2" charset="-122"/>
                <a:sym typeface="Microsoft YaHei" panose="020B0503020204020204" pitchFamily="34" charset="-122"/>
              </a:endParaRPr>
            </a:p>
          </p:txBody>
        </p:sp>
        <p:sp>
          <p:nvSpPr>
            <p:cNvPr id="6" name="不完整圆 235">
              <a:extLst>
                <a:ext uri="{FF2B5EF4-FFF2-40B4-BE49-F238E27FC236}">
                  <a16:creationId xmlns:a16="http://schemas.microsoft.com/office/drawing/2014/main" id="{CD00C159-E36E-F588-9196-37E2814EBB9D}"/>
                </a:ext>
              </a:extLst>
            </p:cNvPr>
            <p:cNvSpPr/>
            <p:nvPr/>
          </p:nvSpPr>
          <p:spPr>
            <a:xfrm>
              <a:off x="1470775" y="4901359"/>
              <a:ext cx="9313529" cy="122222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76200" cap="flat" cmpd="sng" algn="ctr">
              <a:gradFill flip="none" rotWithShape="1">
                <a:gsLst>
                  <a:gs pos="0">
                    <a:srgbClr val="000000">
                      <a:lumMod val="75000"/>
                      <a:lumOff val="25000"/>
                      <a:alpha val="0"/>
                    </a:srgbClr>
                  </a:gs>
                  <a:gs pos="100000">
                    <a:srgbClr val="000000">
                      <a:lumMod val="50000"/>
                      <a:lumOff val="50000"/>
                    </a:srgbClr>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7" name="任意多边形: 形状 6">
              <a:extLst>
                <a:ext uri="{FF2B5EF4-FFF2-40B4-BE49-F238E27FC236}">
                  <a16:creationId xmlns:a16="http://schemas.microsoft.com/office/drawing/2014/main" id="{B0395467-79BC-7795-76E4-5A8E32D957DC}"/>
                </a:ext>
              </a:extLst>
            </p:cNvPr>
            <p:cNvSpPr/>
            <p:nvPr/>
          </p:nvSpPr>
          <p:spPr>
            <a:xfrm>
              <a:off x="4191000" y="740230"/>
              <a:ext cx="3810000" cy="361405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 name="connsiteX0" fmla="*/ 211655 w 425194"/>
                <a:gd name="connsiteY0" fmla="*/ 0 h 485927"/>
                <a:gd name="connsiteX1" fmla="*/ 383105 w 425194"/>
                <a:gd name="connsiteY1" fmla="*/ 157551 h 485927"/>
                <a:gd name="connsiteX2" fmla="*/ 303297 w 425194"/>
                <a:gd name="connsiteY2" fmla="*/ 157551 h 485927"/>
                <a:gd name="connsiteX3" fmla="*/ 315037 w 425194"/>
                <a:gd name="connsiteY3" fmla="*/ 222549 h 485927"/>
                <a:gd name="connsiteX4" fmla="*/ 425194 w 425194"/>
                <a:gd name="connsiteY4" fmla="*/ 485927 h 485927"/>
                <a:gd name="connsiteX5" fmla="*/ 9022 w 425194"/>
                <a:gd name="connsiteY5" fmla="*/ 485927 h 485927"/>
                <a:gd name="connsiteX6" fmla="*/ 131351 w 425194"/>
                <a:gd name="connsiteY6" fmla="*/ 157551 h 485927"/>
                <a:gd name="connsiteX7" fmla="*/ 40205 w 425194"/>
                <a:gd name="connsiteY7" fmla="*/ 157551 h 485927"/>
                <a:gd name="connsiteX8" fmla="*/ 211655 w 425194"/>
                <a:gd name="connsiteY8" fmla="*/ 0 h 485927"/>
                <a:gd name="connsiteX0" fmla="*/ 211655 w 425194"/>
                <a:gd name="connsiteY0" fmla="*/ 0 h 485927"/>
                <a:gd name="connsiteX1" fmla="*/ 383105 w 425194"/>
                <a:gd name="connsiteY1" fmla="*/ 157551 h 485927"/>
                <a:gd name="connsiteX2" fmla="*/ 303297 w 425194"/>
                <a:gd name="connsiteY2" fmla="*/ 157551 h 485927"/>
                <a:gd name="connsiteX3" fmla="*/ 425194 w 425194"/>
                <a:gd name="connsiteY3" fmla="*/ 485927 h 485927"/>
                <a:gd name="connsiteX4" fmla="*/ 9022 w 425194"/>
                <a:gd name="connsiteY4" fmla="*/ 485927 h 485927"/>
                <a:gd name="connsiteX5" fmla="*/ 131351 w 425194"/>
                <a:gd name="connsiteY5" fmla="*/ 157551 h 485927"/>
                <a:gd name="connsiteX6" fmla="*/ 40205 w 425194"/>
                <a:gd name="connsiteY6" fmla="*/ 157551 h 485927"/>
                <a:gd name="connsiteX7" fmla="*/ 211655 w 425194"/>
                <a:gd name="connsiteY7" fmla="*/ 0 h 485927"/>
                <a:gd name="connsiteX0" fmla="*/ 211655 w 425194"/>
                <a:gd name="connsiteY0" fmla="*/ 0 h 485927"/>
                <a:gd name="connsiteX1" fmla="*/ 383105 w 425194"/>
                <a:gd name="connsiteY1" fmla="*/ 157551 h 485927"/>
                <a:gd name="connsiteX2" fmla="*/ 303297 w 425194"/>
                <a:gd name="connsiteY2" fmla="*/ 157551 h 485927"/>
                <a:gd name="connsiteX3" fmla="*/ 425194 w 425194"/>
                <a:gd name="connsiteY3" fmla="*/ 485927 h 485927"/>
                <a:gd name="connsiteX4" fmla="*/ 9022 w 425194"/>
                <a:gd name="connsiteY4" fmla="*/ 485927 h 485927"/>
                <a:gd name="connsiteX5" fmla="*/ 131351 w 425194"/>
                <a:gd name="connsiteY5" fmla="*/ 157551 h 485927"/>
                <a:gd name="connsiteX6" fmla="*/ 40205 w 425194"/>
                <a:gd name="connsiteY6" fmla="*/ 157551 h 485927"/>
                <a:gd name="connsiteX7" fmla="*/ 211655 w 425194"/>
                <a:gd name="connsiteY7" fmla="*/ 0 h 485927"/>
                <a:gd name="connsiteX0" fmla="*/ 211655 w 425194"/>
                <a:gd name="connsiteY0" fmla="*/ 0 h 485927"/>
                <a:gd name="connsiteX1" fmla="*/ 383105 w 425194"/>
                <a:gd name="connsiteY1" fmla="*/ 157551 h 485927"/>
                <a:gd name="connsiteX2" fmla="*/ 303297 w 425194"/>
                <a:gd name="connsiteY2" fmla="*/ 157551 h 485927"/>
                <a:gd name="connsiteX3" fmla="*/ 425194 w 425194"/>
                <a:gd name="connsiteY3" fmla="*/ 485927 h 485927"/>
                <a:gd name="connsiteX4" fmla="*/ 9022 w 425194"/>
                <a:gd name="connsiteY4" fmla="*/ 485927 h 485927"/>
                <a:gd name="connsiteX5" fmla="*/ 131351 w 425194"/>
                <a:gd name="connsiteY5" fmla="*/ 157551 h 485927"/>
                <a:gd name="connsiteX6" fmla="*/ 40205 w 425194"/>
                <a:gd name="connsiteY6" fmla="*/ 157551 h 485927"/>
                <a:gd name="connsiteX7" fmla="*/ 211655 w 425194"/>
                <a:gd name="connsiteY7" fmla="*/ 0 h 485927"/>
                <a:gd name="connsiteX0" fmla="*/ 211049 w 424588"/>
                <a:gd name="connsiteY0" fmla="*/ 0 h 485927"/>
                <a:gd name="connsiteX1" fmla="*/ 382499 w 424588"/>
                <a:gd name="connsiteY1" fmla="*/ 157551 h 485927"/>
                <a:gd name="connsiteX2" fmla="*/ 302691 w 424588"/>
                <a:gd name="connsiteY2" fmla="*/ 157551 h 485927"/>
                <a:gd name="connsiteX3" fmla="*/ 424588 w 424588"/>
                <a:gd name="connsiteY3" fmla="*/ 485927 h 485927"/>
                <a:gd name="connsiteX4" fmla="*/ 8416 w 424588"/>
                <a:gd name="connsiteY4" fmla="*/ 485927 h 485927"/>
                <a:gd name="connsiteX5" fmla="*/ 130745 w 424588"/>
                <a:gd name="connsiteY5" fmla="*/ 157551 h 485927"/>
                <a:gd name="connsiteX6" fmla="*/ 39599 w 424588"/>
                <a:gd name="connsiteY6" fmla="*/ 157551 h 485927"/>
                <a:gd name="connsiteX7" fmla="*/ 211049 w 424588"/>
                <a:gd name="connsiteY7" fmla="*/ 0 h 485927"/>
                <a:gd name="connsiteX0" fmla="*/ 202633 w 416172"/>
                <a:gd name="connsiteY0" fmla="*/ 0 h 485927"/>
                <a:gd name="connsiteX1" fmla="*/ 374083 w 416172"/>
                <a:gd name="connsiteY1" fmla="*/ 157551 h 485927"/>
                <a:gd name="connsiteX2" fmla="*/ 294275 w 416172"/>
                <a:gd name="connsiteY2" fmla="*/ 157551 h 485927"/>
                <a:gd name="connsiteX3" fmla="*/ 416172 w 416172"/>
                <a:gd name="connsiteY3" fmla="*/ 485927 h 485927"/>
                <a:gd name="connsiteX4" fmla="*/ 0 w 416172"/>
                <a:gd name="connsiteY4" fmla="*/ 485927 h 485927"/>
                <a:gd name="connsiteX5" fmla="*/ 122329 w 416172"/>
                <a:gd name="connsiteY5" fmla="*/ 157551 h 485927"/>
                <a:gd name="connsiteX6" fmla="*/ 31183 w 416172"/>
                <a:gd name="connsiteY6" fmla="*/ 157551 h 485927"/>
                <a:gd name="connsiteX7" fmla="*/ 202633 w 416172"/>
                <a:gd name="connsiteY7" fmla="*/ 0 h 485927"/>
                <a:gd name="connsiteX0" fmla="*/ 204141 w 416172"/>
                <a:gd name="connsiteY0" fmla="*/ 0 h 493579"/>
                <a:gd name="connsiteX1" fmla="*/ 374083 w 416172"/>
                <a:gd name="connsiteY1" fmla="*/ 165203 h 493579"/>
                <a:gd name="connsiteX2" fmla="*/ 294275 w 416172"/>
                <a:gd name="connsiteY2" fmla="*/ 165203 h 493579"/>
                <a:gd name="connsiteX3" fmla="*/ 416172 w 416172"/>
                <a:gd name="connsiteY3" fmla="*/ 493579 h 493579"/>
                <a:gd name="connsiteX4" fmla="*/ 0 w 416172"/>
                <a:gd name="connsiteY4" fmla="*/ 493579 h 493579"/>
                <a:gd name="connsiteX5" fmla="*/ 122329 w 416172"/>
                <a:gd name="connsiteY5" fmla="*/ 165203 h 493579"/>
                <a:gd name="connsiteX6" fmla="*/ 31183 w 416172"/>
                <a:gd name="connsiteY6" fmla="*/ 165203 h 493579"/>
                <a:gd name="connsiteX7" fmla="*/ 204141 w 416172"/>
                <a:gd name="connsiteY7" fmla="*/ 0 h 493579"/>
                <a:gd name="connsiteX0" fmla="*/ 207157 w 416172"/>
                <a:gd name="connsiteY0" fmla="*/ 0 h 480187"/>
                <a:gd name="connsiteX1" fmla="*/ 374083 w 416172"/>
                <a:gd name="connsiteY1" fmla="*/ 151811 h 480187"/>
                <a:gd name="connsiteX2" fmla="*/ 294275 w 416172"/>
                <a:gd name="connsiteY2" fmla="*/ 151811 h 480187"/>
                <a:gd name="connsiteX3" fmla="*/ 416172 w 416172"/>
                <a:gd name="connsiteY3" fmla="*/ 480187 h 480187"/>
                <a:gd name="connsiteX4" fmla="*/ 0 w 416172"/>
                <a:gd name="connsiteY4" fmla="*/ 480187 h 480187"/>
                <a:gd name="connsiteX5" fmla="*/ 122329 w 416172"/>
                <a:gd name="connsiteY5" fmla="*/ 151811 h 480187"/>
                <a:gd name="connsiteX6" fmla="*/ 31183 w 416172"/>
                <a:gd name="connsiteY6" fmla="*/ 151811 h 480187"/>
                <a:gd name="connsiteX7" fmla="*/ 207157 w 416172"/>
                <a:gd name="connsiteY7" fmla="*/ 0 h 48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172" h="480187">
                  <a:moveTo>
                    <a:pt x="207157" y="0"/>
                  </a:moveTo>
                  <a:cubicBezTo>
                    <a:pt x="242876" y="59661"/>
                    <a:pt x="269308" y="99294"/>
                    <a:pt x="374083" y="151811"/>
                  </a:cubicBezTo>
                  <a:lnTo>
                    <a:pt x="294275" y="151811"/>
                  </a:lnTo>
                  <a:cubicBezTo>
                    <a:pt x="294195" y="282314"/>
                    <a:pt x="348398" y="387946"/>
                    <a:pt x="416172" y="480187"/>
                  </a:cubicBezTo>
                  <a:lnTo>
                    <a:pt x="0" y="480187"/>
                  </a:lnTo>
                  <a:cubicBezTo>
                    <a:pt x="59593" y="423545"/>
                    <a:pt x="132211" y="237150"/>
                    <a:pt x="122329" y="151811"/>
                  </a:cubicBezTo>
                  <a:lnTo>
                    <a:pt x="31183" y="151811"/>
                  </a:lnTo>
                  <a:cubicBezTo>
                    <a:pt x="131195" y="101675"/>
                    <a:pt x="185726" y="45373"/>
                    <a:pt x="207157" y="0"/>
                  </a:cubicBezTo>
                  <a:close/>
                </a:path>
              </a:pathLst>
            </a:custGeom>
            <a:gradFill flip="none" rotWithShape="1">
              <a:gsLst>
                <a:gs pos="21000">
                  <a:srgbClr val="0F6FC6"/>
                </a:gs>
                <a:gs pos="0">
                  <a:srgbClr val="0F6FC6">
                    <a:alpha val="0"/>
                  </a:srgbClr>
                </a:gs>
                <a:gs pos="100000">
                  <a:srgbClr val="0F6FC6">
                    <a:lumMod val="80000"/>
                    <a:lumOff val="20000"/>
                  </a:srgbClr>
                </a:gs>
              </a:gsLst>
              <a:lin ang="16200000" scaled="1"/>
              <a:tileRect/>
            </a:gradFill>
            <a:ln w="38100" cap="flat" cmpd="sng" algn="ctr">
              <a:noFill/>
              <a:prstDash val="solid"/>
              <a:miter lim="800000"/>
            </a:ln>
            <a:effectLst>
              <a:outerShdw blurRad="411480" dist="123444" dir="5400000" sx="108000" sy="108000" algn="ctr" rotWithShape="0">
                <a:srgbClr val="0F6FC6">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44"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思源黑体 CN Bold"/>
                <a:ea typeface="宋体" panose="02010600030101010101" pitchFamily="2" charset="-122"/>
              </a:endParaRPr>
            </a:p>
          </p:txBody>
        </p:sp>
        <p:sp>
          <p:nvSpPr>
            <p:cNvPr id="8" name="文本框 7">
              <a:extLst>
                <a:ext uri="{FF2B5EF4-FFF2-40B4-BE49-F238E27FC236}">
                  <a16:creationId xmlns:a16="http://schemas.microsoft.com/office/drawing/2014/main" id="{250C53B1-D7D0-50C6-A33B-34194274C5F9}"/>
                </a:ext>
              </a:extLst>
            </p:cNvPr>
            <p:cNvSpPr txBox="1"/>
            <p:nvPr/>
          </p:nvSpPr>
          <p:spPr>
            <a:xfrm>
              <a:off x="4487409" y="5324753"/>
              <a:ext cx="3217182" cy="436942"/>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apple-system"/>
                  <a:ea typeface="思源黑体 CN Normal"/>
                </a:rPr>
                <a:t>目前工业母机领域存在的问题</a:t>
              </a:r>
            </a:p>
          </p:txBody>
        </p:sp>
        <p:sp>
          <p:nvSpPr>
            <p:cNvPr id="9" name="文本框 8">
              <a:extLst>
                <a:ext uri="{FF2B5EF4-FFF2-40B4-BE49-F238E27FC236}">
                  <a16:creationId xmlns:a16="http://schemas.microsoft.com/office/drawing/2014/main" id="{D3EDCED9-0E7B-524F-100A-D55F180BBCEC}"/>
                </a:ext>
              </a:extLst>
            </p:cNvPr>
            <p:cNvSpPr txBox="1"/>
            <p:nvPr/>
          </p:nvSpPr>
          <p:spPr>
            <a:xfrm>
              <a:off x="4989799" y="4700656"/>
              <a:ext cx="2249904" cy="55848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lumMod val="75000"/>
                      <a:lumOff val="25000"/>
                    </a:srgbClr>
                  </a:solidFill>
                  <a:effectLst/>
                  <a:uLnTx/>
                  <a:uFillTx/>
                  <a:ea typeface="思源宋体 CN Heavy" panose="02020900000000000000" pitchFamily="18" charset="-122"/>
                </a:rPr>
                <a:t>现状及痛点</a:t>
              </a:r>
            </a:p>
          </p:txBody>
        </p:sp>
        <p:sp>
          <p:nvSpPr>
            <p:cNvPr id="10" name="文本框 9">
              <a:extLst>
                <a:ext uri="{FF2B5EF4-FFF2-40B4-BE49-F238E27FC236}">
                  <a16:creationId xmlns:a16="http://schemas.microsoft.com/office/drawing/2014/main" id="{8E904D4A-2DBD-3E44-BAB8-363457359976}"/>
                </a:ext>
              </a:extLst>
            </p:cNvPr>
            <p:cNvSpPr txBox="1"/>
            <p:nvPr/>
          </p:nvSpPr>
          <p:spPr>
            <a:xfrm>
              <a:off x="4864160" y="2302163"/>
              <a:ext cx="2301875" cy="515524"/>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ea typeface="思源宋体 CN Heavy" panose="02020900000000000000" pitchFamily="18" charset="-122"/>
                </a:rPr>
                <a:t>“四性”提升</a:t>
              </a:r>
            </a:p>
          </p:txBody>
        </p:sp>
        <p:sp>
          <p:nvSpPr>
            <p:cNvPr id="11" name="椭圆 10">
              <a:extLst>
                <a:ext uri="{FF2B5EF4-FFF2-40B4-BE49-F238E27FC236}">
                  <a16:creationId xmlns:a16="http://schemas.microsoft.com/office/drawing/2014/main" id="{7CB43D27-E99B-01FE-99DF-4721657D2F59}"/>
                </a:ext>
              </a:extLst>
            </p:cNvPr>
            <p:cNvSpPr/>
            <p:nvPr/>
          </p:nvSpPr>
          <p:spPr>
            <a:xfrm>
              <a:off x="5892658" y="1800678"/>
              <a:ext cx="408952" cy="408952"/>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F6FC6"/>
                  </a:solidFill>
                  <a:effectLst/>
                  <a:uLnTx/>
                  <a:uFillTx/>
                  <a:ea typeface="思源黑体 CN Normal"/>
                </a:rPr>
                <a:t>✔</a:t>
              </a:r>
            </a:p>
          </p:txBody>
        </p:sp>
        <p:sp>
          <p:nvSpPr>
            <p:cNvPr id="12" name="弧形 11">
              <a:extLst>
                <a:ext uri="{FF2B5EF4-FFF2-40B4-BE49-F238E27FC236}">
                  <a16:creationId xmlns:a16="http://schemas.microsoft.com/office/drawing/2014/main" id="{84F86715-D5FD-D7A0-2E2B-70D40290458B}"/>
                </a:ext>
              </a:extLst>
            </p:cNvPr>
            <p:cNvSpPr/>
            <p:nvPr/>
          </p:nvSpPr>
          <p:spPr>
            <a:xfrm rot="21266518">
              <a:off x="2758876" y="2453115"/>
              <a:ext cx="6693134" cy="803776"/>
            </a:xfrm>
            <a:prstGeom prst="arc">
              <a:avLst>
                <a:gd name="adj1" fmla="val 19339170"/>
                <a:gd name="adj2" fmla="val 13336479"/>
              </a:avLst>
            </a:prstGeom>
            <a:noFill/>
            <a:ln w="6350" cap="flat" cmpd="sng" algn="ctr">
              <a:solidFill>
                <a:srgbClr val="0F6FC6"/>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思源黑体 CN Normal"/>
              </a:endParaRPr>
            </a:p>
          </p:txBody>
        </p:sp>
        <p:sp>
          <p:nvSpPr>
            <p:cNvPr id="13" name="矩形: 圆角 12">
              <a:extLst>
                <a:ext uri="{FF2B5EF4-FFF2-40B4-BE49-F238E27FC236}">
                  <a16:creationId xmlns:a16="http://schemas.microsoft.com/office/drawing/2014/main" id="{293BEA20-72AD-4CD5-A113-9BAC58E84EF9}"/>
                </a:ext>
              </a:extLst>
            </p:cNvPr>
            <p:cNvSpPr/>
            <p:nvPr/>
          </p:nvSpPr>
          <p:spPr>
            <a:xfrm>
              <a:off x="8270123" y="1810472"/>
              <a:ext cx="3237440" cy="576000"/>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44"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思源黑体 CN Bold"/>
                <a:ea typeface="宋体" panose="02010600030101010101" pitchFamily="2" charset="-122"/>
              </a:endParaRPr>
            </a:p>
          </p:txBody>
        </p:sp>
        <p:sp>
          <p:nvSpPr>
            <p:cNvPr id="14" name="文本框 13">
              <a:extLst>
                <a:ext uri="{FF2B5EF4-FFF2-40B4-BE49-F238E27FC236}">
                  <a16:creationId xmlns:a16="http://schemas.microsoft.com/office/drawing/2014/main" id="{80154CB5-E9D3-C866-8601-2AD87E3A21FD}"/>
                </a:ext>
              </a:extLst>
            </p:cNvPr>
            <p:cNvSpPr txBox="1"/>
            <p:nvPr/>
          </p:nvSpPr>
          <p:spPr>
            <a:xfrm>
              <a:off x="8872154" y="1769708"/>
              <a:ext cx="2673124" cy="575401"/>
            </a:xfrm>
            <a:prstGeom prst="rect">
              <a:avLst/>
            </a:prstGeom>
            <a:noFill/>
          </p:spPr>
          <p:txBody>
            <a:bodyPr wrap="square" rtlCol="0">
              <a:spAutoFit/>
            </a:bodyPr>
            <a:lstStyle>
              <a:defPPr>
                <a:defRPr lang="zh-CN"/>
              </a:defPPr>
              <a:lvl1pPr algn="r">
                <a:lnSpc>
                  <a:spcPct val="125000"/>
                </a:lnSpc>
                <a:defRPr sz="1050">
                  <a:solidFill>
                    <a:schemeClr val="bg1"/>
                  </a:solidFill>
                </a:defRPr>
              </a:lvl1pPr>
            </a:lstStyle>
            <a:p>
              <a:pPr marL="0" marR="0" lvl="0" indent="0" algn="l" defTabSz="914400" eaLnBrk="1" fontAlgn="auto" latinLnBrk="0" hangingPunct="1">
                <a:lnSpc>
                  <a:spcPct val="125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rPr>
                <a:t>可靠性</a:t>
              </a:r>
            </a:p>
          </p:txBody>
        </p:sp>
        <p:sp>
          <p:nvSpPr>
            <p:cNvPr id="15" name="椭圆 14">
              <a:extLst>
                <a:ext uri="{FF2B5EF4-FFF2-40B4-BE49-F238E27FC236}">
                  <a16:creationId xmlns:a16="http://schemas.microsoft.com/office/drawing/2014/main" id="{C9E33706-F27E-D5AD-BF20-A38120CD12BD}"/>
                </a:ext>
              </a:extLst>
            </p:cNvPr>
            <p:cNvSpPr/>
            <p:nvPr/>
          </p:nvSpPr>
          <p:spPr>
            <a:xfrm>
              <a:off x="8397834" y="1954807"/>
              <a:ext cx="266074" cy="266074"/>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9DD9"/>
                  </a:solidFill>
                  <a:effectLst/>
                  <a:uLnTx/>
                  <a:uFillTx/>
                  <a:ea typeface="思源黑体 CN Normal"/>
                </a:rPr>
                <a:t>✔</a:t>
              </a:r>
            </a:p>
          </p:txBody>
        </p:sp>
        <p:sp>
          <p:nvSpPr>
            <p:cNvPr id="16" name="椭圆 15">
              <a:extLst>
                <a:ext uri="{FF2B5EF4-FFF2-40B4-BE49-F238E27FC236}">
                  <a16:creationId xmlns:a16="http://schemas.microsoft.com/office/drawing/2014/main" id="{56DB1657-F623-3085-09B3-3BCC0E187D98}"/>
                </a:ext>
              </a:extLst>
            </p:cNvPr>
            <p:cNvSpPr/>
            <p:nvPr>
              <p:custDataLst>
                <p:tags r:id="rId1"/>
              </p:custDataLst>
            </p:nvPr>
          </p:nvSpPr>
          <p:spPr>
            <a:xfrm flipH="1">
              <a:off x="8113681" y="2292239"/>
              <a:ext cx="84130" cy="84130"/>
            </a:xfrm>
            <a:prstGeom prst="ellipse">
              <a:avLst/>
            </a:prstGeom>
            <a:solidFill>
              <a:srgbClr val="FFFFFF"/>
            </a:solidFill>
            <a:ln w="12700" cap="flat" cmpd="sng" algn="ctr">
              <a:noFill/>
              <a:prstDash val="solid"/>
              <a:miter lim="800000"/>
            </a:ln>
            <a:effectLst>
              <a:outerShdw blurRad="137160" algn="ctr" rotWithShape="0">
                <a:srgbClr val="0BD0D9">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17" name="椭圆 16">
              <a:extLst>
                <a:ext uri="{FF2B5EF4-FFF2-40B4-BE49-F238E27FC236}">
                  <a16:creationId xmlns:a16="http://schemas.microsoft.com/office/drawing/2014/main" id="{8171687C-8C21-8A1D-FA20-89064F70CC7F}"/>
                </a:ext>
              </a:extLst>
            </p:cNvPr>
            <p:cNvSpPr/>
            <p:nvPr/>
          </p:nvSpPr>
          <p:spPr>
            <a:xfrm flipH="1">
              <a:off x="8136731" y="2315278"/>
              <a:ext cx="38063" cy="38063"/>
            </a:xfrm>
            <a:prstGeom prst="ellipse">
              <a:avLst/>
            </a:prstGeom>
            <a:solidFill>
              <a:srgbClr val="0F6FC6"/>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18" name="椭圆 17">
              <a:extLst>
                <a:ext uri="{FF2B5EF4-FFF2-40B4-BE49-F238E27FC236}">
                  <a16:creationId xmlns:a16="http://schemas.microsoft.com/office/drawing/2014/main" id="{A1466BC1-F9C2-5EBA-25DC-FA79862C8661}"/>
                </a:ext>
              </a:extLst>
            </p:cNvPr>
            <p:cNvSpPr/>
            <p:nvPr>
              <p:custDataLst>
                <p:tags r:id="rId2"/>
              </p:custDataLst>
            </p:nvPr>
          </p:nvSpPr>
          <p:spPr>
            <a:xfrm flipH="1">
              <a:off x="7440581" y="3057867"/>
              <a:ext cx="84130" cy="84130"/>
            </a:xfrm>
            <a:prstGeom prst="ellipse">
              <a:avLst/>
            </a:prstGeom>
            <a:solidFill>
              <a:srgbClr val="FFFFFF"/>
            </a:solidFill>
            <a:ln w="12700" cap="flat" cmpd="sng" algn="ctr">
              <a:noFill/>
              <a:prstDash val="solid"/>
              <a:miter lim="800000"/>
            </a:ln>
            <a:effectLst>
              <a:outerShdw blurRad="137160" algn="ctr" rotWithShape="0">
                <a:srgbClr val="0BD0D9">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19" name="椭圆 18">
              <a:extLst>
                <a:ext uri="{FF2B5EF4-FFF2-40B4-BE49-F238E27FC236}">
                  <a16:creationId xmlns:a16="http://schemas.microsoft.com/office/drawing/2014/main" id="{66913191-AFF5-A9D3-7C86-E43363EC7B2D}"/>
                </a:ext>
              </a:extLst>
            </p:cNvPr>
            <p:cNvSpPr/>
            <p:nvPr/>
          </p:nvSpPr>
          <p:spPr>
            <a:xfrm flipH="1">
              <a:off x="7463631" y="3080906"/>
              <a:ext cx="38063" cy="38063"/>
            </a:xfrm>
            <a:prstGeom prst="ellipse">
              <a:avLst/>
            </a:prstGeom>
            <a:solidFill>
              <a:srgbClr val="0F6FC6"/>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20" name="矩形: 圆角 19">
              <a:extLst>
                <a:ext uri="{FF2B5EF4-FFF2-40B4-BE49-F238E27FC236}">
                  <a16:creationId xmlns:a16="http://schemas.microsoft.com/office/drawing/2014/main" id="{61B9EDDD-FE0A-FA85-CD57-F2BAC7EE1883}"/>
                </a:ext>
              </a:extLst>
            </p:cNvPr>
            <p:cNvSpPr/>
            <p:nvPr/>
          </p:nvSpPr>
          <p:spPr>
            <a:xfrm>
              <a:off x="1404865" y="2158814"/>
              <a:ext cx="3237440" cy="576000"/>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44"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思源黑体 CN Bold"/>
                <a:ea typeface="宋体" panose="02010600030101010101" pitchFamily="2" charset="-122"/>
              </a:endParaRPr>
            </a:p>
          </p:txBody>
        </p:sp>
        <p:sp>
          <p:nvSpPr>
            <p:cNvPr id="21" name="文本框 20">
              <a:extLst>
                <a:ext uri="{FF2B5EF4-FFF2-40B4-BE49-F238E27FC236}">
                  <a16:creationId xmlns:a16="http://schemas.microsoft.com/office/drawing/2014/main" id="{86FC0342-EA0D-8019-46F9-66425657A733}"/>
                </a:ext>
              </a:extLst>
            </p:cNvPr>
            <p:cNvSpPr txBox="1"/>
            <p:nvPr/>
          </p:nvSpPr>
          <p:spPr>
            <a:xfrm>
              <a:off x="1687895" y="2110230"/>
              <a:ext cx="2544531" cy="575401"/>
            </a:xfrm>
            <a:prstGeom prst="rect">
              <a:avLst/>
            </a:prstGeom>
            <a:noFill/>
          </p:spPr>
          <p:txBody>
            <a:bodyPr wrap="square" rtlCol="0">
              <a:spAutoFit/>
            </a:bodyPr>
            <a:lstStyle>
              <a:defPPr>
                <a:defRPr lang="zh-CN"/>
              </a:defPPr>
              <a:lvl1pPr algn="r">
                <a:lnSpc>
                  <a:spcPct val="125000"/>
                </a:lnSpc>
                <a:defRPr sz="1050">
                  <a:solidFill>
                    <a:schemeClr val="tx1">
                      <a:lumMod val="75000"/>
                      <a:lumOff val="25000"/>
                    </a:schemeClr>
                  </a:solidFill>
                </a:defRPr>
              </a:lvl1pPr>
            </a:lstStyle>
            <a:p>
              <a:pPr marL="0" marR="0" lvl="0" indent="0" algn="r" defTabSz="914400" eaLnBrk="1" fontAlgn="auto" latinLnBrk="0" hangingPunct="1">
                <a:lnSpc>
                  <a:spcPct val="125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rPr>
                <a:t>工艺适应性</a:t>
              </a:r>
              <a:endParaRPr kumimoji="0" lang="zh-CN" altLang="en-US" sz="1050" b="0" i="0" u="none" strike="noStrike" kern="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endParaRPr>
            </a:p>
          </p:txBody>
        </p:sp>
        <p:sp>
          <p:nvSpPr>
            <p:cNvPr id="22" name="椭圆 21">
              <a:extLst>
                <a:ext uri="{FF2B5EF4-FFF2-40B4-BE49-F238E27FC236}">
                  <a16:creationId xmlns:a16="http://schemas.microsoft.com/office/drawing/2014/main" id="{49D98B9E-1FC1-6BDD-8695-AF7C966B10FA}"/>
                </a:ext>
              </a:extLst>
            </p:cNvPr>
            <p:cNvSpPr/>
            <p:nvPr/>
          </p:nvSpPr>
          <p:spPr>
            <a:xfrm>
              <a:off x="4212276" y="2299520"/>
              <a:ext cx="266074" cy="266074"/>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9DD9"/>
                  </a:solidFill>
                  <a:effectLst/>
                  <a:uLnTx/>
                  <a:uFillTx/>
                  <a:ea typeface="思源黑体 CN Normal"/>
                </a:rPr>
                <a:t>✔</a:t>
              </a:r>
            </a:p>
          </p:txBody>
        </p:sp>
        <p:sp>
          <p:nvSpPr>
            <p:cNvPr id="23" name="椭圆 22">
              <a:extLst>
                <a:ext uri="{FF2B5EF4-FFF2-40B4-BE49-F238E27FC236}">
                  <a16:creationId xmlns:a16="http://schemas.microsoft.com/office/drawing/2014/main" id="{36C57E6D-4810-8534-2D0B-2D2F00FAACD7}"/>
                </a:ext>
              </a:extLst>
            </p:cNvPr>
            <p:cNvSpPr/>
            <p:nvPr>
              <p:custDataLst>
                <p:tags r:id="rId3"/>
              </p:custDataLst>
            </p:nvPr>
          </p:nvSpPr>
          <p:spPr>
            <a:xfrm flipH="1">
              <a:off x="4737295" y="2568011"/>
              <a:ext cx="84130" cy="84130"/>
            </a:xfrm>
            <a:prstGeom prst="ellipse">
              <a:avLst/>
            </a:prstGeom>
            <a:solidFill>
              <a:srgbClr val="FFFFFF"/>
            </a:solidFill>
            <a:ln w="12700" cap="flat" cmpd="sng" algn="ctr">
              <a:noFill/>
              <a:prstDash val="solid"/>
              <a:miter lim="800000"/>
            </a:ln>
            <a:effectLst>
              <a:outerShdw blurRad="137160" algn="ctr" rotWithShape="0">
                <a:srgbClr val="0BD0D9">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24" name="椭圆 23">
              <a:extLst>
                <a:ext uri="{FF2B5EF4-FFF2-40B4-BE49-F238E27FC236}">
                  <a16:creationId xmlns:a16="http://schemas.microsoft.com/office/drawing/2014/main" id="{3B6867C4-E189-2F7E-9D68-19838E5FF10A}"/>
                </a:ext>
              </a:extLst>
            </p:cNvPr>
            <p:cNvSpPr/>
            <p:nvPr/>
          </p:nvSpPr>
          <p:spPr>
            <a:xfrm flipH="1">
              <a:off x="4760345" y="2591050"/>
              <a:ext cx="38063" cy="38063"/>
            </a:xfrm>
            <a:prstGeom prst="ellipse">
              <a:avLst/>
            </a:prstGeom>
            <a:solidFill>
              <a:srgbClr val="0F6FC6"/>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25" name="椭圆 24">
              <a:extLst>
                <a:ext uri="{FF2B5EF4-FFF2-40B4-BE49-F238E27FC236}">
                  <a16:creationId xmlns:a16="http://schemas.microsoft.com/office/drawing/2014/main" id="{D616B942-3048-BAF8-0136-D25B92F84A93}"/>
                </a:ext>
              </a:extLst>
            </p:cNvPr>
            <p:cNvSpPr/>
            <p:nvPr>
              <p:custDataLst>
                <p:tags r:id="rId4"/>
              </p:custDataLst>
            </p:nvPr>
          </p:nvSpPr>
          <p:spPr>
            <a:xfrm flipH="1">
              <a:off x="4089595" y="3346339"/>
              <a:ext cx="84130" cy="84130"/>
            </a:xfrm>
            <a:prstGeom prst="ellipse">
              <a:avLst/>
            </a:prstGeom>
            <a:solidFill>
              <a:srgbClr val="FFFFFF"/>
            </a:solidFill>
            <a:ln w="12700" cap="flat" cmpd="sng" algn="ctr">
              <a:noFill/>
              <a:prstDash val="solid"/>
              <a:miter lim="800000"/>
            </a:ln>
            <a:effectLst>
              <a:outerShdw blurRad="137160" algn="ctr" rotWithShape="0">
                <a:srgbClr val="0BD0D9">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26" name="椭圆 25">
              <a:extLst>
                <a:ext uri="{FF2B5EF4-FFF2-40B4-BE49-F238E27FC236}">
                  <a16:creationId xmlns:a16="http://schemas.microsoft.com/office/drawing/2014/main" id="{BCD21AEC-E5F1-A79D-3F38-E5E1571243DA}"/>
                </a:ext>
              </a:extLst>
            </p:cNvPr>
            <p:cNvSpPr/>
            <p:nvPr/>
          </p:nvSpPr>
          <p:spPr>
            <a:xfrm flipH="1">
              <a:off x="4112645" y="3369378"/>
              <a:ext cx="38063" cy="38063"/>
            </a:xfrm>
            <a:prstGeom prst="ellipse">
              <a:avLst/>
            </a:prstGeom>
            <a:solidFill>
              <a:srgbClr val="0F6FC6"/>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思源黑体 CN Bold"/>
                <a:ea typeface="宋体" panose="02010600030101010101" pitchFamily="2" charset="-122"/>
                <a:sym typeface="Microsoft YaHei" panose="020B0503020204020204" pitchFamily="34" charset="-122"/>
              </a:endParaRPr>
            </a:p>
          </p:txBody>
        </p:sp>
        <p:sp>
          <p:nvSpPr>
            <p:cNvPr id="27" name="矩形: 圆角 26">
              <a:extLst>
                <a:ext uri="{FF2B5EF4-FFF2-40B4-BE49-F238E27FC236}">
                  <a16:creationId xmlns:a16="http://schemas.microsoft.com/office/drawing/2014/main" id="{33C09EAF-29AF-4D52-3A02-50999F37EEBB}"/>
                </a:ext>
              </a:extLst>
            </p:cNvPr>
            <p:cNvSpPr/>
            <p:nvPr/>
          </p:nvSpPr>
          <p:spPr>
            <a:xfrm>
              <a:off x="994986" y="4519988"/>
              <a:ext cx="3237440" cy="577546"/>
            </a:xfrm>
            <a:prstGeom prst="roundRect">
              <a:avLst>
                <a:gd name="adj" fmla="val 50000"/>
              </a:avLst>
            </a:prstGeom>
            <a:gradFill flip="none" rotWithShape="1">
              <a:gsLst>
                <a:gs pos="0">
                  <a:srgbClr val="FFFFFF"/>
                </a:gs>
                <a:gs pos="100000">
                  <a:srgbClr val="FFFFFF"/>
                </a:gs>
                <a:gs pos="46000">
                  <a:srgbClr val="0F6FC6">
                    <a:lumMod val="5000"/>
                    <a:lumOff val="95000"/>
                  </a:srgbClr>
                </a:gs>
              </a:gsLst>
              <a:path path="circle">
                <a:fillToRect r="100000" b="100000"/>
              </a:path>
              <a:tileRect l="-100000" t="-100000"/>
            </a:gradFill>
            <a:ln w="11430" cap="flat" cmpd="sng" algn="ctr">
              <a:solidFill>
                <a:srgbClr val="FFFFFF">
                  <a:lumMod val="75000"/>
                </a:srgbClr>
              </a:solidFill>
              <a:prstDash val="dash"/>
              <a:miter lim="800000"/>
            </a:ln>
            <a:effectLst/>
          </p:spPr>
          <p:txBody>
            <a:bodyPr lIns="82296" tIns="41148" rIns="82296" bIns="4114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lumMod val="75000"/>
                    <a:lumOff val="25000"/>
                  </a:srgbClr>
                </a:solidFill>
                <a:effectLst/>
                <a:uLnTx/>
                <a:uFillTx/>
                <a:ea typeface="思源黑体 CN Normal"/>
              </a:endParaRPr>
            </a:p>
          </p:txBody>
        </p:sp>
        <p:sp>
          <p:nvSpPr>
            <p:cNvPr id="28" name="椭圆 27">
              <a:extLst>
                <a:ext uri="{FF2B5EF4-FFF2-40B4-BE49-F238E27FC236}">
                  <a16:creationId xmlns:a16="http://schemas.microsoft.com/office/drawing/2014/main" id="{9B9E8DA1-79CA-E313-7970-B47C09E0DAFA}"/>
                </a:ext>
              </a:extLst>
            </p:cNvPr>
            <p:cNvSpPr/>
            <p:nvPr/>
          </p:nvSpPr>
          <p:spPr>
            <a:xfrm>
              <a:off x="3817517" y="4669402"/>
              <a:ext cx="303672" cy="303672"/>
            </a:xfrm>
            <a:prstGeom prst="ellipse">
              <a:avLst/>
            </a:prstGeom>
            <a:solidFill>
              <a:srgbClr val="000000">
                <a:lumMod val="65000"/>
                <a:lumOff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FFFFFF"/>
                  </a:solidFill>
                  <a:effectLst/>
                  <a:uLnTx/>
                  <a:uFillTx/>
                  <a:ea typeface="思源黑体 CN Normal"/>
                </a:rPr>
                <a:t>X</a:t>
              </a:r>
              <a:endParaRPr kumimoji="0" lang="zh-CN" altLang="en-US" sz="1000" b="0" i="0" u="none" strike="noStrike" kern="0" cap="none" spc="0" normalizeH="0" baseline="0" noProof="0" dirty="0">
                <a:ln>
                  <a:noFill/>
                </a:ln>
                <a:solidFill>
                  <a:srgbClr val="FFFFFF"/>
                </a:solidFill>
                <a:effectLst/>
                <a:uLnTx/>
                <a:uFillTx/>
                <a:ea typeface="思源黑体 CN Normal"/>
              </a:endParaRPr>
            </a:p>
          </p:txBody>
        </p:sp>
        <p:sp>
          <p:nvSpPr>
            <p:cNvPr id="29" name="矩形: 圆角 28">
              <a:extLst>
                <a:ext uri="{FF2B5EF4-FFF2-40B4-BE49-F238E27FC236}">
                  <a16:creationId xmlns:a16="http://schemas.microsoft.com/office/drawing/2014/main" id="{E8451B20-2A63-38B9-AA07-A879A52975FB}"/>
                </a:ext>
              </a:extLst>
            </p:cNvPr>
            <p:cNvSpPr/>
            <p:nvPr/>
          </p:nvSpPr>
          <p:spPr>
            <a:xfrm>
              <a:off x="591863" y="5345898"/>
              <a:ext cx="3237440" cy="577546"/>
            </a:xfrm>
            <a:prstGeom prst="roundRect">
              <a:avLst>
                <a:gd name="adj" fmla="val 50000"/>
              </a:avLst>
            </a:prstGeom>
            <a:gradFill flip="none" rotWithShape="1">
              <a:gsLst>
                <a:gs pos="0">
                  <a:srgbClr val="FFFFFF"/>
                </a:gs>
                <a:gs pos="100000">
                  <a:srgbClr val="FFFFFF"/>
                </a:gs>
                <a:gs pos="46000">
                  <a:srgbClr val="0F6FC6">
                    <a:lumMod val="5000"/>
                    <a:lumOff val="95000"/>
                  </a:srgbClr>
                </a:gs>
              </a:gsLst>
              <a:path path="circle">
                <a:fillToRect r="100000" b="100000"/>
              </a:path>
              <a:tileRect l="-100000" t="-100000"/>
            </a:gradFill>
            <a:ln w="11430" cap="flat" cmpd="sng" algn="ctr">
              <a:solidFill>
                <a:srgbClr val="FFFFFF">
                  <a:lumMod val="75000"/>
                </a:srgbClr>
              </a:solidFill>
              <a:prstDash val="dash"/>
              <a:miter lim="800000"/>
            </a:ln>
            <a:effectLst/>
          </p:spPr>
          <p:txBody>
            <a:bodyPr lIns="82296" tIns="41148" rIns="82296" bIns="4114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lumMod val="75000"/>
                    <a:lumOff val="25000"/>
                  </a:srgbClr>
                </a:solidFill>
                <a:effectLst/>
                <a:uLnTx/>
                <a:uFillTx/>
                <a:ea typeface="思源黑体 CN Normal"/>
              </a:endParaRPr>
            </a:p>
          </p:txBody>
        </p:sp>
        <p:sp>
          <p:nvSpPr>
            <p:cNvPr id="30" name="椭圆 29">
              <a:extLst>
                <a:ext uri="{FF2B5EF4-FFF2-40B4-BE49-F238E27FC236}">
                  <a16:creationId xmlns:a16="http://schemas.microsoft.com/office/drawing/2014/main" id="{C29C6E7F-597E-DC8F-D9EC-6E5BE1A1BAFC}"/>
                </a:ext>
              </a:extLst>
            </p:cNvPr>
            <p:cNvSpPr/>
            <p:nvPr/>
          </p:nvSpPr>
          <p:spPr>
            <a:xfrm>
              <a:off x="3414394" y="5495312"/>
              <a:ext cx="303672" cy="303672"/>
            </a:xfrm>
            <a:prstGeom prst="ellipse">
              <a:avLst/>
            </a:prstGeom>
            <a:solidFill>
              <a:srgbClr val="000000">
                <a:lumMod val="65000"/>
                <a:lumOff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FFFFFF"/>
                  </a:solidFill>
                  <a:effectLst/>
                  <a:uLnTx/>
                  <a:uFillTx/>
                  <a:ea typeface="思源黑体 CN Normal"/>
                </a:rPr>
                <a:t>X</a:t>
              </a:r>
              <a:endParaRPr kumimoji="0" lang="zh-CN" altLang="en-US" sz="1000" b="0" i="0" u="none" strike="noStrike" kern="0" cap="none" spc="0" normalizeH="0" baseline="0" noProof="0" dirty="0">
                <a:ln>
                  <a:noFill/>
                </a:ln>
                <a:solidFill>
                  <a:srgbClr val="FFFFFF"/>
                </a:solidFill>
                <a:effectLst/>
                <a:uLnTx/>
                <a:uFillTx/>
                <a:ea typeface="思源黑体 CN Normal"/>
              </a:endParaRPr>
            </a:p>
          </p:txBody>
        </p:sp>
        <p:sp>
          <p:nvSpPr>
            <p:cNvPr id="31" name="矩形: 圆角 30">
              <a:extLst>
                <a:ext uri="{FF2B5EF4-FFF2-40B4-BE49-F238E27FC236}">
                  <a16:creationId xmlns:a16="http://schemas.microsoft.com/office/drawing/2014/main" id="{8492ED2D-3B81-4186-6506-41FF73C5FA58}"/>
                </a:ext>
              </a:extLst>
            </p:cNvPr>
            <p:cNvSpPr/>
            <p:nvPr/>
          </p:nvSpPr>
          <p:spPr>
            <a:xfrm flipH="1">
              <a:off x="8008663" y="4519988"/>
              <a:ext cx="3237440" cy="577546"/>
            </a:xfrm>
            <a:prstGeom prst="roundRect">
              <a:avLst>
                <a:gd name="adj" fmla="val 50000"/>
              </a:avLst>
            </a:prstGeom>
            <a:gradFill flip="none" rotWithShape="1">
              <a:gsLst>
                <a:gs pos="0">
                  <a:srgbClr val="FFFFFF"/>
                </a:gs>
                <a:gs pos="100000">
                  <a:srgbClr val="FFFFFF"/>
                </a:gs>
                <a:gs pos="46000">
                  <a:srgbClr val="0F6FC6">
                    <a:lumMod val="5000"/>
                    <a:lumOff val="95000"/>
                  </a:srgbClr>
                </a:gs>
              </a:gsLst>
              <a:path path="circle">
                <a:fillToRect r="100000" b="100000"/>
              </a:path>
              <a:tileRect l="-100000" t="-100000"/>
            </a:gradFill>
            <a:ln w="11430" cap="flat" cmpd="sng" algn="ctr">
              <a:solidFill>
                <a:srgbClr val="FFFFFF">
                  <a:lumMod val="75000"/>
                </a:srgbClr>
              </a:solidFill>
              <a:prstDash val="dash"/>
              <a:miter lim="800000"/>
            </a:ln>
            <a:effectLst/>
          </p:spPr>
          <p:txBody>
            <a:bodyPr lIns="82296" tIns="41148" rIns="82296" bIns="4114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lumMod val="75000"/>
                    <a:lumOff val="25000"/>
                  </a:srgbClr>
                </a:solidFill>
                <a:effectLst/>
                <a:uLnTx/>
                <a:uFillTx/>
                <a:ea typeface="思源黑体 CN Normal"/>
              </a:endParaRPr>
            </a:p>
          </p:txBody>
        </p:sp>
        <p:sp>
          <p:nvSpPr>
            <p:cNvPr id="32" name="椭圆 31">
              <a:extLst>
                <a:ext uri="{FF2B5EF4-FFF2-40B4-BE49-F238E27FC236}">
                  <a16:creationId xmlns:a16="http://schemas.microsoft.com/office/drawing/2014/main" id="{C1D2693E-2A1E-C602-D2C7-B17F8E730DF1}"/>
                </a:ext>
              </a:extLst>
            </p:cNvPr>
            <p:cNvSpPr/>
            <p:nvPr/>
          </p:nvSpPr>
          <p:spPr>
            <a:xfrm flipH="1">
              <a:off x="8119900" y="4669402"/>
              <a:ext cx="303672" cy="303672"/>
            </a:xfrm>
            <a:prstGeom prst="ellipse">
              <a:avLst/>
            </a:prstGeom>
            <a:solidFill>
              <a:srgbClr val="000000">
                <a:lumMod val="65000"/>
                <a:lumOff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FFFFFF"/>
                  </a:solidFill>
                  <a:effectLst/>
                  <a:uLnTx/>
                  <a:uFillTx/>
                  <a:ea typeface="思源黑体 CN Normal"/>
                </a:rPr>
                <a:t>X</a:t>
              </a:r>
              <a:endParaRPr kumimoji="0" lang="zh-CN" altLang="en-US" sz="1000" b="0" i="0" u="none" strike="noStrike" kern="0" cap="none" spc="0" normalizeH="0" baseline="0" noProof="0" dirty="0">
                <a:ln>
                  <a:noFill/>
                </a:ln>
                <a:solidFill>
                  <a:srgbClr val="FFFFFF"/>
                </a:solidFill>
                <a:effectLst/>
                <a:uLnTx/>
                <a:uFillTx/>
                <a:ea typeface="思源黑体 CN Normal"/>
              </a:endParaRPr>
            </a:p>
          </p:txBody>
        </p:sp>
        <p:sp>
          <p:nvSpPr>
            <p:cNvPr id="33" name="矩形: 圆角 32">
              <a:extLst>
                <a:ext uri="{FF2B5EF4-FFF2-40B4-BE49-F238E27FC236}">
                  <a16:creationId xmlns:a16="http://schemas.microsoft.com/office/drawing/2014/main" id="{E53CBCD7-E282-A5D3-51D3-EABFC908D805}"/>
                </a:ext>
              </a:extLst>
            </p:cNvPr>
            <p:cNvSpPr/>
            <p:nvPr/>
          </p:nvSpPr>
          <p:spPr>
            <a:xfrm flipH="1">
              <a:off x="8411786" y="5345898"/>
              <a:ext cx="3237440" cy="577546"/>
            </a:xfrm>
            <a:prstGeom prst="roundRect">
              <a:avLst>
                <a:gd name="adj" fmla="val 50000"/>
              </a:avLst>
            </a:prstGeom>
            <a:gradFill flip="none" rotWithShape="1">
              <a:gsLst>
                <a:gs pos="0">
                  <a:srgbClr val="FFFFFF"/>
                </a:gs>
                <a:gs pos="100000">
                  <a:srgbClr val="FFFFFF"/>
                </a:gs>
                <a:gs pos="46000">
                  <a:srgbClr val="0F6FC6">
                    <a:lumMod val="5000"/>
                    <a:lumOff val="95000"/>
                  </a:srgbClr>
                </a:gs>
              </a:gsLst>
              <a:path path="circle">
                <a:fillToRect r="100000" b="100000"/>
              </a:path>
              <a:tileRect l="-100000" t="-100000"/>
            </a:gradFill>
            <a:ln w="11430" cap="flat" cmpd="sng" algn="ctr">
              <a:solidFill>
                <a:srgbClr val="FFFFFF">
                  <a:lumMod val="75000"/>
                </a:srgbClr>
              </a:solidFill>
              <a:prstDash val="dash"/>
              <a:miter lim="800000"/>
            </a:ln>
            <a:effectLst/>
          </p:spPr>
          <p:txBody>
            <a:bodyPr lIns="82296" tIns="41148" rIns="82296" bIns="4114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lumMod val="75000"/>
                    <a:lumOff val="25000"/>
                  </a:srgbClr>
                </a:solidFill>
                <a:effectLst/>
                <a:uLnTx/>
                <a:uFillTx/>
                <a:ea typeface="思源黑体 CN Normal"/>
              </a:endParaRPr>
            </a:p>
          </p:txBody>
        </p:sp>
        <p:sp>
          <p:nvSpPr>
            <p:cNvPr id="34" name="文本框 33">
              <a:extLst>
                <a:ext uri="{FF2B5EF4-FFF2-40B4-BE49-F238E27FC236}">
                  <a16:creationId xmlns:a16="http://schemas.microsoft.com/office/drawing/2014/main" id="{BF6B1AC2-D8D6-EFA3-FCCF-B03BE045FCAF}"/>
                </a:ext>
              </a:extLst>
            </p:cNvPr>
            <p:cNvSpPr txBox="1"/>
            <p:nvPr/>
          </p:nvSpPr>
          <p:spPr>
            <a:xfrm flipH="1">
              <a:off x="8819833" y="5364636"/>
              <a:ext cx="2684163" cy="61218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可靠性低，</a:t>
              </a:r>
              <a:r>
                <a:rPr kumimoji="0" lang="zh-CN" altLang="en-US" sz="1050" b="0" i="0" u="none" strike="noStrike" kern="0" cap="none" spc="0" normalizeH="0" baseline="0" noProof="0" dirty="0">
                  <a:ln>
                    <a:noFill/>
                  </a:ln>
                  <a:solidFill>
                    <a:srgbClr val="000000">
                      <a:lumMod val="75000"/>
                      <a:lumOff val="25000"/>
                    </a:srgbClr>
                  </a:solidFill>
                  <a:effectLst/>
                  <a:uLnTx/>
                  <a:uFillTx/>
                  <a:ea typeface="思源黑体 CN Normal"/>
                </a:rPr>
                <a:t>生产制造、使用维护中仍存在较多问题</a:t>
              </a:r>
            </a:p>
          </p:txBody>
        </p:sp>
        <p:sp>
          <p:nvSpPr>
            <p:cNvPr id="35" name="椭圆 34">
              <a:extLst>
                <a:ext uri="{FF2B5EF4-FFF2-40B4-BE49-F238E27FC236}">
                  <a16:creationId xmlns:a16="http://schemas.microsoft.com/office/drawing/2014/main" id="{FFB15B2A-EB7E-67C3-CE8D-41D54F1E0EBE}"/>
                </a:ext>
              </a:extLst>
            </p:cNvPr>
            <p:cNvSpPr/>
            <p:nvPr/>
          </p:nvSpPr>
          <p:spPr>
            <a:xfrm flipH="1">
              <a:off x="8523023" y="5495312"/>
              <a:ext cx="303672" cy="303672"/>
            </a:xfrm>
            <a:prstGeom prst="ellipse">
              <a:avLst/>
            </a:prstGeom>
            <a:solidFill>
              <a:srgbClr val="000000">
                <a:lumMod val="65000"/>
                <a:lumOff val="3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FFFFFF"/>
                  </a:solidFill>
                  <a:effectLst/>
                  <a:uLnTx/>
                  <a:uFillTx/>
                  <a:ea typeface="思源黑体 CN Normal"/>
                </a:rPr>
                <a:t>X</a:t>
              </a:r>
              <a:endParaRPr kumimoji="0" lang="zh-CN" altLang="en-US" sz="1000" b="0" i="0" u="none" strike="noStrike" kern="0" cap="none" spc="0" normalizeH="0" baseline="0" noProof="0" dirty="0">
                <a:ln>
                  <a:noFill/>
                </a:ln>
                <a:solidFill>
                  <a:srgbClr val="FFFFFF"/>
                </a:solidFill>
                <a:effectLst/>
                <a:uLnTx/>
                <a:uFillTx/>
                <a:ea typeface="思源黑体 CN Normal"/>
              </a:endParaRPr>
            </a:p>
          </p:txBody>
        </p:sp>
        <p:sp>
          <p:nvSpPr>
            <p:cNvPr id="36" name="矩形: 圆角 35">
              <a:extLst>
                <a:ext uri="{FF2B5EF4-FFF2-40B4-BE49-F238E27FC236}">
                  <a16:creationId xmlns:a16="http://schemas.microsoft.com/office/drawing/2014/main" id="{11C859D5-7F06-AF9D-FBF8-D431515FC688}"/>
                </a:ext>
              </a:extLst>
            </p:cNvPr>
            <p:cNvSpPr/>
            <p:nvPr/>
          </p:nvSpPr>
          <p:spPr>
            <a:xfrm>
              <a:off x="751722" y="3090444"/>
              <a:ext cx="3237440" cy="576000"/>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44"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思源黑体 CN Bold"/>
                <a:ea typeface="宋体" panose="02010600030101010101" pitchFamily="2" charset="-122"/>
              </a:endParaRPr>
            </a:p>
          </p:txBody>
        </p:sp>
        <p:sp>
          <p:nvSpPr>
            <p:cNvPr id="37" name="文本框 36">
              <a:extLst>
                <a:ext uri="{FF2B5EF4-FFF2-40B4-BE49-F238E27FC236}">
                  <a16:creationId xmlns:a16="http://schemas.microsoft.com/office/drawing/2014/main" id="{A7C6FAC8-E09A-1416-4061-C2F78673C109}"/>
                </a:ext>
              </a:extLst>
            </p:cNvPr>
            <p:cNvSpPr txBox="1"/>
            <p:nvPr/>
          </p:nvSpPr>
          <p:spPr>
            <a:xfrm>
              <a:off x="968812" y="3067799"/>
              <a:ext cx="2544531" cy="575401"/>
            </a:xfrm>
            <a:prstGeom prst="rect">
              <a:avLst/>
            </a:prstGeom>
            <a:noFill/>
          </p:spPr>
          <p:txBody>
            <a:bodyPr wrap="square" rtlCol="0">
              <a:spAutoFit/>
            </a:bodyPr>
            <a:lstStyle>
              <a:defPPr>
                <a:defRPr lang="zh-CN"/>
              </a:defPPr>
              <a:lvl1pPr algn="r">
                <a:lnSpc>
                  <a:spcPct val="125000"/>
                </a:lnSpc>
                <a:defRPr sz="1050">
                  <a:solidFill>
                    <a:schemeClr val="tx1">
                      <a:lumMod val="75000"/>
                      <a:lumOff val="25000"/>
                    </a:schemeClr>
                  </a:solidFill>
                </a:defRPr>
              </a:lvl1pPr>
            </a:lstStyle>
            <a:p>
              <a:pPr marL="0" marR="0" lvl="0" indent="0" algn="r" defTabSz="914400" eaLnBrk="1" fontAlgn="auto" latinLnBrk="0" hangingPunct="1">
                <a:lnSpc>
                  <a:spcPct val="125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rPr>
                <a:t>精度保持性</a:t>
              </a:r>
            </a:p>
          </p:txBody>
        </p:sp>
        <p:sp>
          <p:nvSpPr>
            <p:cNvPr id="38" name="椭圆 37">
              <a:extLst>
                <a:ext uri="{FF2B5EF4-FFF2-40B4-BE49-F238E27FC236}">
                  <a16:creationId xmlns:a16="http://schemas.microsoft.com/office/drawing/2014/main" id="{5F0010C1-BC29-0245-0A4F-BE9C907CCD36}"/>
                </a:ext>
              </a:extLst>
            </p:cNvPr>
            <p:cNvSpPr/>
            <p:nvPr/>
          </p:nvSpPr>
          <p:spPr>
            <a:xfrm>
              <a:off x="3559133" y="3231150"/>
              <a:ext cx="266074" cy="266074"/>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9DD9"/>
                  </a:solidFill>
                  <a:effectLst/>
                  <a:uLnTx/>
                  <a:uFillTx/>
                  <a:ea typeface="思源黑体 CN Normal"/>
                </a:rPr>
                <a:t>✔</a:t>
              </a:r>
            </a:p>
          </p:txBody>
        </p:sp>
        <p:sp>
          <p:nvSpPr>
            <p:cNvPr id="77" name="矩形: 圆角 76">
              <a:extLst>
                <a:ext uri="{FF2B5EF4-FFF2-40B4-BE49-F238E27FC236}">
                  <a16:creationId xmlns:a16="http://schemas.microsoft.com/office/drawing/2014/main" id="{678EA266-1419-E6E7-03DF-A8381EA1939D}"/>
                </a:ext>
              </a:extLst>
            </p:cNvPr>
            <p:cNvSpPr/>
            <p:nvPr/>
          </p:nvSpPr>
          <p:spPr>
            <a:xfrm>
              <a:off x="7660523" y="2739386"/>
              <a:ext cx="3237440" cy="576000"/>
            </a:xfrm>
            <a:prstGeom prst="roundRect">
              <a:avLst>
                <a:gd name="adj" fmla="val 50000"/>
              </a:avLst>
            </a:prstGeom>
            <a:gradFill flip="none" rotWithShape="1">
              <a:gsLst>
                <a:gs pos="0">
                  <a:srgbClr val="009DD9"/>
                </a:gs>
                <a:gs pos="100000">
                  <a:srgbClr val="009DD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009DD9">
                  <a:alpha val="40000"/>
                </a:srgbClr>
              </a:outerShdw>
            </a:effectLst>
          </p:spPr>
          <p:txBody>
            <a:bodyPr wrap="square" lIns="98755" tIns="49378" rIns="98755" bIns="49378"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44"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思源黑体 CN Bold"/>
                <a:ea typeface="宋体" panose="02010600030101010101" pitchFamily="2" charset="-122"/>
              </a:endParaRPr>
            </a:p>
          </p:txBody>
        </p:sp>
        <p:sp>
          <p:nvSpPr>
            <p:cNvPr id="78" name="文本框 77">
              <a:extLst>
                <a:ext uri="{FF2B5EF4-FFF2-40B4-BE49-F238E27FC236}">
                  <a16:creationId xmlns:a16="http://schemas.microsoft.com/office/drawing/2014/main" id="{6FE667A9-2558-1E82-4224-61FF0BEBB6A7}"/>
                </a:ext>
              </a:extLst>
            </p:cNvPr>
            <p:cNvSpPr txBox="1"/>
            <p:nvPr/>
          </p:nvSpPr>
          <p:spPr>
            <a:xfrm>
              <a:off x="8107078" y="2699221"/>
              <a:ext cx="2673124" cy="575401"/>
            </a:xfrm>
            <a:prstGeom prst="rect">
              <a:avLst/>
            </a:prstGeom>
            <a:noFill/>
          </p:spPr>
          <p:txBody>
            <a:bodyPr wrap="square" rtlCol="0">
              <a:spAutoFit/>
            </a:bodyPr>
            <a:lstStyle>
              <a:defPPr>
                <a:defRPr lang="zh-CN"/>
              </a:defPPr>
              <a:lvl1pPr algn="r">
                <a:lnSpc>
                  <a:spcPct val="125000"/>
                </a:lnSpc>
                <a:defRPr sz="1050">
                  <a:solidFill>
                    <a:schemeClr val="bg1"/>
                  </a:solidFill>
                </a:defRPr>
              </a:lvl1pPr>
            </a:lstStyle>
            <a:p>
              <a:pPr marL="0" marR="0" lvl="0" indent="0" algn="l" defTabSz="914400" eaLnBrk="1" fontAlgn="auto" latinLnBrk="0" hangingPunct="1">
                <a:lnSpc>
                  <a:spcPct val="125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rPr>
                <a:t>精度稳定性</a:t>
              </a:r>
            </a:p>
          </p:txBody>
        </p:sp>
        <p:sp>
          <p:nvSpPr>
            <p:cNvPr id="79" name="椭圆 78">
              <a:extLst>
                <a:ext uri="{FF2B5EF4-FFF2-40B4-BE49-F238E27FC236}">
                  <a16:creationId xmlns:a16="http://schemas.microsoft.com/office/drawing/2014/main" id="{690DDF45-9FCA-1752-A127-E32050A10BE3}"/>
                </a:ext>
              </a:extLst>
            </p:cNvPr>
            <p:cNvSpPr/>
            <p:nvPr/>
          </p:nvSpPr>
          <p:spPr>
            <a:xfrm>
              <a:off x="7788234" y="2883721"/>
              <a:ext cx="266074" cy="266074"/>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9DD9"/>
                  </a:solidFill>
                  <a:effectLst/>
                  <a:uLnTx/>
                  <a:uFillTx/>
                  <a:ea typeface="思源黑体 CN Normal"/>
                </a:rPr>
                <a:t>✔</a:t>
              </a:r>
            </a:p>
          </p:txBody>
        </p:sp>
        <p:sp>
          <p:nvSpPr>
            <p:cNvPr id="80" name="文本框 79">
              <a:extLst>
                <a:ext uri="{FF2B5EF4-FFF2-40B4-BE49-F238E27FC236}">
                  <a16:creationId xmlns:a16="http://schemas.microsoft.com/office/drawing/2014/main" id="{8E22E25C-C109-D95B-A00D-11CA42BC3071}"/>
                </a:ext>
              </a:extLst>
            </p:cNvPr>
            <p:cNvSpPr txBox="1"/>
            <p:nvPr/>
          </p:nvSpPr>
          <p:spPr>
            <a:xfrm>
              <a:off x="5149996" y="2870561"/>
              <a:ext cx="1974807" cy="1105870"/>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FFFFFF"/>
                  </a:solidFill>
                  <a:effectLst/>
                  <a:uLnTx/>
                  <a:uFillTx/>
                  <a:latin typeface="-apple-system"/>
                  <a:ea typeface="思源黑体 CN Normal"/>
                </a:rPr>
                <a:t>研究面向新材料和新工艺的新原理加工技术与装备</a:t>
              </a:r>
            </a:p>
          </p:txBody>
        </p:sp>
        <p:sp>
          <p:nvSpPr>
            <p:cNvPr id="81" name="任意多边形: 形状 80">
              <a:extLst>
                <a:ext uri="{FF2B5EF4-FFF2-40B4-BE49-F238E27FC236}">
                  <a16:creationId xmlns:a16="http://schemas.microsoft.com/office/drawing/2014/main" id="{27D36212-C6BB-9914-8B0B-7AC725811164}"/>
                </a:ext>
              </a:extLst>
            </p:cNvPr>
            <p:cNvSpPr/>
            <p:nvPr/>
          </p:nvSpPr>
          <p:spPr>
            <a:xfrm flipH="1">
              <a:off x="6982900" y="2187575"/>
              <a:ext cx="1698638" cy="2403476"/>
            </a:xfrm>
            <a:custGeom>
              <a:avLst/>
              <a:gdLst>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91628"/>
                <a:gd name="connsiteY0" fmla="*/ 3005559 h 3005559"/>
                <a:gd name="connsiteX1" fmla="*/ 1891628 w 1891628"/>
                <a:gd name="connsiteY1" fmla="*/ 0 h 3005559"/>
                <a:gd name="connsiteX0" fmla="*/ 0 w 1891628"/>
                <a:gd name="connsiteY0" fmla="*/ 3005559 h 3005559"/>
                <a:gd name="connsiteX1" fmla="*/ 1891628 w 1891628"/>
                <a:gd name="connsiteY1" fmla="*/ 0 h 3005559"/>
              </a:gdLst>
              <a:ahLst/>
              <a:cxnLst>
                <a:cxn ang="0">
                  <a:pos x="connsiteX0" y="connsiteY0"/>
                </a:cxn>
                <a:cxn ang="0">
                  <a:pos x="connsiteX1" y="connsiteY1"/>
                </a:cxn>
              </a:cxnLst>
              <a:rect l="l" t="t" r="r" b="b"/>
              <a:pathLst>
                <a:path w="1891628" h="3005559">
                  <a:moveTo>
                    <a:pt x="0" y="3005559"/>
                  </a:moveTo>
                  <a:cubicBezTo>
                    <a:pt x="969433" y="2294359"/>
                    <a:pt x="1631717" y="1483007"/>
                    <a:pt x="1891628" y="0"/>
                  </a:cubicBezTo>
                </a:path>
              </a:pathLst>
            </a:custGeom>
            <a:noFill/>
            <a:ln w="12700" cap="flat" cmpd="sng" algn="ctr">
              <a:gradFill>
                <a:gsLst>
                  <a:gs pos="0">
                    <a:srgbClr val="0F6FC6">
                      <a:lumMod val="60000"/>
                      <a:lumOff val="40000"/>
                    </a:srgbClr>
                  </a:gs>
                  <a:gs pos="100000">
                    <a:srgbClr val="0F6FC6">
                      <a:lumMod val="20000"/>
                      <a:lumOff val="80000"/>
                      <a:alpha val="0"/>
                    </a:srgbClr>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ea typeface="思源黑体 CN Normal"/>
              </a:endParaRPr>
            </a:p>
          </p:txBody>
        </p:sp>
        <p:sp>
          <p:nvSpPr>
            <p:cNvPr id="82" name="任意多边形: 形状 81">
              <a:extLst>
                <a:ext uri="{FF2B5EF4-FFF2-40B4-BE49-F238E27FC236}">
                  <a16:creationId xmlns:a16="http://schemas.microsoft.com/office/drawing/2014/main" id="{B49A915A-D57E-56F1-DAD3-EB4B541D9DFC}"/>
                </a:ext>
              </a:extLst>
            </p:cNvPr>
            <p:cNvSpPr/>
            <p:nvPr/>
          </p:nvSpPr>
          <p:spPr>
            <a:xfrm>
              <a:off x="3469200" y="2178050"/>
              <a:ext cx="1698636" cy="2403476"/>
            </a:xfrm>
            <a:custGeom>
              <a:avLst/>
              <a:gdLst>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41500"/>
                <a:gd name="connsiteY0" fmla="*/ 2895600 h 2895600"/>
                <a:gd name="connsiteX1" fmla="*/ 1841500 w 1841500"/>
                <a:gd name="connsiteY1" fmla="*/ 0 h 2895600"/>
                <a:gd name="connsiteX0" fmla="*/ 0 w 1891628"/>
                <a:gd name="connsiteY0" fmla="*/ 3005559 h 3005559"/>
                <a:gd name="connsiteX1" fmla="*/ 1891628 w 1891628"/>
                <a:gd name="connsiteY1" fmla="*/ 0 h 3005559"/>
                <a:gd name="connsiteX0" fmla="*/ 0 w 1891628"/>
                <a:gd name="connsiteY0" fmla="*/ 3005559 h 3005559"/>
                <a:gd name="connsiteX1" fmla="*/ 1891628 w 1891628"/>
                <a:gd name="connsiteY1" fmla="*/ 0 h 3005559"/>
              </a:gdLst>
              <a:ahLst/>
              <a:cxnLst>
                <a:cxn ang="0">
                  <a:pos x="connsiteX0" y="connsiteY0"/>
                </a:cxn>
                <a:cxn ang="0">
                  <a:pos x="connsiteX1" y="connsiteY1"/>
                </a:cxn>
              </a:cxnLst>
              <a:rect l="l" t="t" r="r" b="b"/>
              <a:pathLst>
                <a:path w="1891628" h="3005559">
                  <a:moveTo>
                    <a:pt x="0" y="3005559"/>
                  </a:moveTo>
                  <a:cubicBezTo>
                    <a:pt x="969433" y="2294359"/>
                    <a:pt x="1631717" y="1483007"/>
                    <a:pt x="1891628" y="0"/>
                  </a:cubicBezTo>
                </a:path>
              </a:pathLst>
            </a:custGeom>
            <a:noFill/>
            <a:ln w="12700" cap="flat" cmpd="sng" algn="ctr">
              <a:gradFill>
                <a:gsLst>
                  <a:gs pos="0">
                    <a:srgbClr val="0F6FC6">
                      <a:lumMod val="60000"/>
                      <a:lumOff val="40000"/>
                    </a:srgbClr>
                  </a:gs>
                  <a:gs pos="100000">
                    <a:srgbClr val="0F6FC6">
                      <a:lumMod val="20000"/>
                      <a:lumOff val="80000"/>
                      <a:alpha val="0"/>
                    </a:srgbClr>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ea typeface="思源黑体 CN Normal"/>
              </a:endParaRPr>
            </a:p>
          </p:txBody>
        </p:sp>
      </p:grpSp>
      <p:sp>
        <p:nvSpPr>
          <p:cNvPr id="83" name="文本框 82">
            <a:extLst>
              <a:ext uri="{FF2B5EF4-FFF2-40B4-BE49-F238E27FC236}">
                <a16:creationId xmlns:a16="http://schemas.microsoft.com/office/drawing/2014/main" id="{67712340-CF8B-9190-EAFF-E5438FD1FCF5}"/>
              </a:ext>
            </a:extLst>
          </p:cNvPr>
          <p:cNvSpPr txBox="1"/>
          <p:nvPr/>
        </p:nvSpPr>
        <p:spPr>
          <a:xfrm flipH="1">
            <a:off x="6108440" y="4626171"/>
            <a:ext cx="1922989" cy="438582"/>
          </a:xfrm>
          <a:prstGeom prst="rect">
            <a:avLst/>
          </a:prstGeom>
          <a:noFill/>
        </p:spPr>
        <p:txBody>
          <a:bodyPr wrap="square" rtlCol="0">
            <a:spAutoFit/>
          </a:bodyPr>
          <a:lstStyle/>
          <a:p>
            <a:r>
              <a:rPr kumimoji="1" lang="zh-CN" altLang="en-US" sz="1200" b="1" dirty="0">
                <a:solidFill>
                  <a:prstClr val="black"/>
                </a:solidFill>
                <a:latin typeface="微软雅黑" panose="020B0503020204020204" pitchFamily="34" charset="-122"/>
                <a:ea typeface="微软雅黑" panose="020B0503020204020204" pitchFamily="34" charset="-122"/>
              </a:rPr>
              <a:t>智能化水平低，</a:t>
            </a:r>
            <a:r>
              <a:rPr lang="zh-CN" altLang="en-US" sz="1050" dirty="0">
                <a:solidFill>
                  <a:srgbClr val="000000">
                    <a:lumMod val="75000"/>
                    <a:lumOff val="25000"/>
                  </a:srgbClr>
                </a:solidFill>
                <a:ea typeface="思源黑体 CN Normal"/>
              </a:rPr>
              <a:t>传感器、数据分析等技术应用不足</a:t>
            </a:r>
          </a:p>
        </p:txBody>
      </p:sp>
      <p:sp>
        <p:nvSpPr>
          <p:cNvPr id="84" name="文本框 83">
            <a:extLst>
              <a:ext uri="{FF2B5EF4-FFF2-40B4-BE49-F238E27FC236}">
                <a16:creationId xmlns:a16="http://schemas.microsoft.com/office/drawing/2014/main" id="{0349FEB9-422C-7F77-DA51-2DE0FF212B85}"/>
              </a:ext>
            </a:extLst>
          </p:cNvPr>
          <p:cNvSpPr txBox="1"/>
          <p:nvPr/>
        </p:nvSpPr>
        <p:spPr>
          <a:xfrm flipH="1">
            <a:off x="916492" y="4627725"/>
            <a:ext cx="1922989" cy="438582"/>
          </a:xfrm>
          <a:prstGeom prst="rect">
            <a:avLst/>
          </a:prstGeom>
          <a:noFill/>
        </p:spPr>
        <p:txBody>
          <a:bodyPr wrap="square" rtlCol="0">
            <a:spAutoFit/>
          </a:bodyPr>
          <a:lstStyle/>
          <a:p>
            <a:r>
              <a:rPr kumimoji="1" lang="zh-CN" altLang="en-US" sz="1200" b="1" dirty="0">
                <a:solidFill>
                  <a:prstClr val="black"/>
                </a:solidFill>
                <a:latin typeface="微软雅黑" panose="020B0503020204020204" pitchFamily="34" charset="-122"/>
                <a:ea typeface="微软雅黑" panose="020B0503020204020204" pitchFamily="34" charset="-122"/>
              </a:rPr>
              <a:t>产业协同不足，</a:t>
            </a:r>
            <a:r>
              <a:rPr lang="zh-CN" altLang="en-US" sz="1050" dirty="0">
                <a:solidFill>
                  <a:srgbClr val="000000">
                    <a:lumMod val="75000"/>
                    <a:lumOff val="25000"/>
                  </a:srgbClr>
                </a:solidFill>
                <a:ea typeface="思源黑体 CN Normal"/>
              </a:rPr>
              <a:t>各领域交叉合作不足，没能融合发展</a:t>
            </a:r>
          </a:p>
        </p:txBody>
      </p:sp>
      <p:sp>
        <p:nvSpPr>
          <p:cNvPr id="85" name="文本框 84">
            <a:extLst>
              <a:ext uri="{FF2B5EF4-FFF2-40B4-BE49-F238E27FC236}">
                <a16:creationId xmlns:a16="http://schemas.microsoft.com/office/drawing/2014/main" id="{BC8F3711-1167-D5B9-D0A3-18B29693F073}"/>
              </a:ext>
            </a:extLst>
          </p:cNvPr>
          <p:cNvSpPr txBox="1"/>
          <p:nvPr/>
        </p:nvSpPr>
        <p:spPr>
          <a:xfrm flipH="1">
            <a:off x="581145" y="5197905"/>
            <a:ext cx="1922989" cy="438582"/>
          </a:xfrm>
          <a:prstGeom prst="rect">
            <a:avLst/>
          </a:prstGeom>
          <a:noFill/>
        </p:spPr>
        <p:txBody>
          <a:bodyPr wrap="square" rtlCol="0">
            <a:spAutoFit/>
          </a:bodyPr>
          <a:lstStyle/>
          <a:p>
            <a:r>
              <a:rPr kumimoji="1" lang="zh-CN" altLang="en-US" sz="1200" b="1" dirty="0">
                <a:solidFill>
                  <a:prstClr val="black"/>
                </a:solidFill>
                <a:latin typeface="微软雅黑" panose="020B0503020204020204" pitchFamily="34" charset="-122"/>
                <a:ea typeface="微软雅黑" panose="020B0503020204020204" pitchFamily="34" charset="-122"/>
              </a:rPr>
              <a:t>核心零部件依赖进口，</a:t>
            </a:r>
            <a:r>
              <a:rPr lang="zh-CN" altLang="en-US" sz="1050" dirty="0">
                <a:solidFill>
                  <a:srgbClr val="000000">
                    <a:lumMod val="75000"/>
                    <a:lumOff val="25000"/>
                  </a:srgbClr>
                </a:solidFill>
                <a:ea typeface="思源黑体 CN Normal"/>
              </a:rPr>
              <a:t>核心技术受制于人，成本高</a:t>
            </a:r>
          </a:p>
        </p:txBody>
      </p:sp>
      <p:sp>
        <p:nvSpPr>
          <p:cNvPr id="39" name="p22-aspiration-panel">
            <a:extLst>
              <a:ext uri="{FF2B5EF4-FFF2-40B4-BE49-F238E27FC236}">
                <a16:creationId xmlns:a16="http://schemas.microsoft.com/office/drawing/2014/main" id="{24ED8110-CD5C-4310-FFB1-C6636F8E90CE}"/>
              </a:ext>
            </a:extLst>
          </p:cNvPr>
          <p:cNvSpPr/>
          <p:nvPr/>
        </p:nvSpPr>
        <p:spPr>
          <a:xfrm>
            <a:off x="8924153" y="2215288"/>
            <a:ext cx="2937647" cy="3649031"/>
          </a:xfrm>
          <a:prstGeom prst="roundRect">
            <a:avLst>
              <a:gd name="adj" fmla="val 3213"/>
            </a:avLst>
          </a:prstGeom>
          <a:gradFill flip="none" rotWithShape="1">
            <a:gsLst>
              <a:gs pos="0">
                <a:srgbClr val="0268FE">
                  <a:lumMod val="10000"/>
                  <a:lumOff val="90000"/>
                </a:srgbClr>
              </a:gs>
              <a:gs pos="100000">
                <a:srgbClr val="FFFFFF"/>
              </a:gs>
            </a:gsLst>
            <a:lin ang="5400000" scaled="1"/>
            <a:tileRect/>
          </a:gradFill>
          <a:ln w="12700"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dashDot"/>
            <a:miter lim="800000"/>
          </a:ln>
          <a:effectLst/>
        </p:spPr>
        <p:txBody>
          <a:bodyPr rtlCol="0" anchor="ctr"/>
          <a:lstStyle/>
          <a:p>
            <a:pPr algn="ctr"/>
            <a:endParaRPr lang="zh-CN" altLang="en-US" sz="1000" kern="0">
              <a:solidFill>
                <a:srgbClr val="000000">
                  <a:lumMod val="75000"/>
                  <a:lumOff val="25000"/>
                </a:srgbClr>
              </a:solidFill>
              <a:latin typeface="等线" panose="02010600030101010101" charset="-122"/>
              <a:ea typeface="微软雅黑" panose="020B0503020204020204" pitchFamily="34" charset="-122"/>
            </a:endParaRPr>
          </a:p>
        </p:txBody>
      </p:sp>
      <p:sp>
        <p:nvSpPr>
          <p:cNvPr id="41" name="p22-text-1">
            <a:extLst>
              <a:ext uri="{FF2B5EF4-FFF2-40B4-BE49-F238E27FC236}">
                <a16:creationId xmlns:a16="http://schemas.microsoft.com/office/drawing/2014/main" id="{F6EF9925-1119-294C-B5A1-4F122FBA45C5}"/>
              </a:ext>
            </a:extLst>
          </p:cNvPr>
          <p:cNvSpPr txBox="1"/>
          <p:nvPr/>
        </p:nvSpPr>
        <p:spPr>
          <a:xfrm>
            <a:off x="9169966" y="2541198"/>
            <a:ext cx="2794000" cy="276999"/>
          </a:xfrm>
          <a:prstGeom prst="rect">
            <a:avLst/>
          </a:prstGeom>
          <a:noFill/>
        </p:spPr>
        <p:txBody>
          <a:bodyPr vert="horz" wrap="square" lIns="0" tIns="0" rIns="0" bIns="0" rtlCol="0">
            <a:noAutofit/>
          </a:bodyPr>
          <a:lstStyle/>
          <a:p>
            <a:r>
              <a:rPr lang="zh-CN" altLang="en-US" sz="1400" dirty="0">
                <a:solidFill>
                  <a:srgbClr val="315995"/>
                </a:solidFill>
                <a:latin typeface="微软雅黑" panose="020B0503020204020204" pitchFamily="34" charset="-122"/>
              </a:rPr>
              <a:t>遵守科研诚信，保持科研热情</a:t>
            </a:r>
          </a:p>
        </p:txBody>
      </p:sp>
      <p:sp>
        <p:nvSpPr>
          <p:cNvPr id="43" name="p22-text-2">
            <a:extLst>
              <a:ext uri="{FF2B5EF4-FFF2-40B4-BE49-F238E27FC236}">
                <a16:creationId xmlns:a16="http://schemas.microsoft.com/office/drawing/2014/main" id="{A8571177-C385-9717-BDF0-F2150DA6EE67}"/>
              </a:ext>
            </a:extLst>
          </p:cNvPr>
          <p:cNvSpPr txBox="1"/>
          <p:nvPr/>
        </p:nvSpPr>
        <p:spPr>
          <a:xfrm>
            <a:off x="9169966" y="3328598"/>
            <a:ext cx="2342659" cy="276999"/>
          </a:xfrm>
          <a:prstGeom prst="rect">
            <a:avLst/>
          </a:prstGeom>
          <a:noFill/>
        </p:spPr>
        <p:txBody>
          <a:bodyPr vert="horz" wrap="square" lIns="0" tIns="0" rIns="0" bIns="0" rtlCol="0">
            <a:noAutofit/>
          </a:bodyPr>
          <a:lstStyle/>
          <a:p>
            <a:r>
              <a:rPr lang="zh-CN" altLang="en-US" sz="1400" dirty="0">
                <a:solidFill>
                  <a:srgbClr val="315995"/>
                </a:solidFill>
                <a:latin typeface="微软雅黑" panose="020B0503020204020204" pitchFamily="34" charset="-122"/>
              </a:rPr>
              <a:t>利用所学所长，软硬结合、交叉复合，发挥优势就像激光电弧复合焊一样，达到 </a:t>
            </a:r>
            <a:r>
              <a:rPr lang="en-US" altLang="zh-CN" sz="1400" dirty="0">
                <a:solidFill>
                  <a:srgbClr val="315995"/>
                </a:solidFill>
                <a:latin typeface="微软雅黑" panose="020B0503020204020204" pitchFamily="34" charset="-122"/>
              </a:rPr>
              <a:t>1+1&gt;2 </a:t>
            </a:r>
            <a:r>
              <a:rPr lang="zh-CN" altLang="en-US" sz="1400" dirty="0">
                <a:solidFill>
                  <a:srgbClr val="315995"/>
                </a:solidFill>
                <a:latin typeface="微软雅黑" panose="020B0503020204020204" pitchFamily="34" charset="-122"/>
              </a:rPr>
              <a:t>的效果</a:t>
            </a:r>
          </a:p>
          <a:p>
            <a:endParaRPr lang="zh-CN" altLang="en-US" sz="1400" dirty="0">
              <a:solidFill>
                <a:srgbClr val="315995"/>
              </a:solidFill>
              <a:latin typeface="微软雅黑" panose="020B0503020204020204" pitchFamily="34" charset="-122"/>
            </a:endParaRPr>
          </a:p>
        </p:txBody>
      </p:sp>
      <p:sp>
        <p:nvSpPr>
          <p:cNvPr id="47" name="p22-text-4">
            <a:extLst>
              <a:ext uri="{FF2B5EF4-FFF2-40B4-BE49-F238E27FC236}">
                <a16:creationId xmlns:a16="http://schemas.microsoft.com/office/drawing/2014/main" id="{F06ACDF4-D318-1163-AD19-984D79DABA44}"/>
              </a:ext>
            </a:extLst>
          </p:cNvPr>
          <p:cNvSpPr txBox="1"/>
          <p:nvPr/>
        </p:nvSpPr>
        <p:spPr>
          <a:xfrm>
            <a:off x="9169966" y="4903398"/>
            <a:ext cx="2337253" cy="276999"/>
          </a:xfrm>
          <a:prstGeom prst="rect">
            <a:avLst/>
          </a:prstGeom>
          <a:noFill/>
        </p:spPr>
        <p:txBody>
          <a:bodyPr vert="horz" wrap="square" lIns="0" tIns="0" rIns="0" bIns="0" rtlCol="0">
            <a:noAutofit/>
          </a:bodyPr>
          <a:lstStyle/>
          <a:p>
            <a:r>
              <a:rPr lang="zh-CN" altLang="en-US" sz="1400" dirty="0">
                <a:solidFill>
                  <a:srgbClr val="315995"/>
                </a:solidFill>
                <a:latin typeface="微软雅黑" panose="020B0503020204020204" pitchFamily="34" charset="-122"/>
              </a:rPr>
              <a:t>争取为工业母机“四性”提升，尤其是可靠性提升贡献一份力量</a:t>
            </a:r>
          </a:p>
        </p:txBody>
      </p:sp>
    </p:spTree>
    <p:extLst>
      <p:ext uri="{BB962C8B-B14F-4D97-AF65-F5344CB8AC3E}">
        <p14:creationId xmlns:p14="http://schemas.microsoft.com/office/powerpoint/2010/main" val="4053183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CF0BF-ECBA-F6E5-4891-87C4BA8C76A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7E75E18-55C1-925F-649F-C39931EAF5F8}"/>
              </a:ext>
            </a:extLst>
          </p:cNvPr>
          <p:cNvSpPr txBox="1"/>
          <p:nvPr/>
        </p:nvSpPr>
        <p:spPr>
          <a:xfrm>
            <a:off x="86140" y="846307"/>
            <a:ext cx="11911467" cy="461665"/>
          </a:xfrm>
          <a:prstGeom prst="rect">
            <a:avLst/>
          </a:prstGeom>
          <a:noFill/>
        </p:spPr>
        <p:txBody>
          <a:bodyPr wrap="square" rtlCol="0">
            <a:spAutoFit/>
          </a:bodyPr>
          <a:lstStyle/>
          <a:p>
            <a:pPr marL="323850"/>
            <a:r>
              <a:rPr lang="zh-CN" altLang="en-US" sz="2400" b="1" spc="-150">
                <a:solidFill>
                  <a:schemeClr val="bg1"/>
                </a:solidFill>
                <a:latin typeface="汉仪文润宋韵 U" pitchFamily="2" charset="-122"/>
                <a:ea typeface="汉仪文润宋韵 U" pitchFamily="2" charset="-122"/>
              </a:rPr>
              <a:t>曾获得奖励</a:t>
            </a:r>
            <a:endParaRPr lang="zh-CN" altLang="en-US" sz="2400" b="1" u="sng" dirty="0">
              <a:solidFill>
                <a:schemeClr val="bg1"/>
              </a:solidFill>
              <a:latin typeface="汉仪文润宋韵 U" pitchFamily="2" charset="-122"/>
              <a:ea typeface="汉仪文润宋韵 U" pitchFamily="2" charset="-122"/>
            </a:endParaRPr>
          </a:p>
        </p:txBody>
      </p:sp>
      <p:sp>
        <p:nvSpPr>
          <p:cNvPr id="49" name="文本框 48">
            <a:extLst>
              <a:ext uri="{FF2B5EF4-FFF2-40B4-BE49-F238E27FC236}">
                <a16:creationId xmlns:a16="http://schemas.microsoft.com/office/drawing/2014/main" id="{E608F768-495F-2809-267A-6BF3579CC1BF}"/>
              </a:ext>
            </a:extLst>
          </p:cNvPr>
          <p:cNvSpPr txBox="1"/>
          <p:nvPr/>
        </p:nvSpPr>
        <p:spPr>
          <a:xfrm>
            <a:off x="960191" y="338592"/>
            <a:ext cx="2862743" cy="400110"/>
          </a:xfrm>
          <a:prstGeom prst="rect">
            <a:avLst/>
          </a:prstGeom>
          <a:noFill/>
        </p:spPr>
        <p:txBody>
          <a:bodyPr wrap="square" rtlCol="0">
            <a:spAutoFit/>
          </a:bodyPr>
          <a:lstStyle/>
          <a:p>
            <a:r>
              <a:rPr lang="zh-CN" altLang="en-US" sz="2000" dirty="0">
                <a:solidFill>
                  <a:schemeClr val="tx1">
                    <a:lumMod val="75000"/>
                    <a:lumOff val="25000"/>
                  </a:schemeClr>
                </a:solidFill>
                <a:latin typeface="方正宋刻本秀楷简体" panose="02000000000000000000" pitchFamily="50" charset="-122"/>
                <a:ea typeface="汉仪粗宋简" panose="02010600000101010101" pitchFamily="2" charset="-122"/>
              </a:rPr>
              <a:t>培养展望</a:t>
            </a:r>
            <a:endParaRPr lang="en-US" altLang="zh-CN" sz="2000" dirty="0">
              <a:solidFill>
                <a:schemeClr val="tx1">
                  <a:lumMod val="75000"/>
                  <a:lumOff val="25000"/>
                </a:schemeClr>
              </a:solidFill>
              <a:latin typeface="方正宋刻本秀楷简体" panose="02000000000000000000" pitchFamily="50" charset="-122"/>
              <a:ea typeface="汉仪粗宋简" panose="02010600000101010101" pitchFamily="2" charset="-122"/>
            </a:endParaRPr>
          </a:p>
        </p:txBody>
      </p:sp>
      <p:cxnSp>
        <p:nvCxnSpPr>
          <p:cNvPr id="50" name="直接连接符 49">
            <a:extLst>
              <a:ext uri="{FF2B5EF4-FFF2-40B4-BE49-F238E27FC236}">
                <a16:creationId xmlns:a16="http://schemas.microsoft.com/office/drawing/2014/main" id="{3D32E933-4D80-4D50-1CA4-B283C1ADA194}"/>
              </a:ext>
            </a:extLst>
          </p:cNvPr>
          <p:cNvCxnSpPr/>
          <p:nvPr/>
        </p:nvCxnSpPr>
        <p:spPr>
          <a:xfrm flipV="1">
            <a:off x="853591" y="416577"/>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C1026B5-0336-CC2D-D8CD-4DBACD1DB562}"/>
              </a:ext>
            </a:extLst>
          </p:cNvPr>
          <p:cNvSpPr txBox="1"/>
          <p:nvPr/>
        </p:nvSpPr>
        <p:spPr>
          <a:xfrm>
            <a:off x="239550" y="320409"/>
            <a:ext cx="678422" cy="461665"/>
          </a:xfrm>
          <a:prstGeom prst="rect">
            <a:avLst/>
          </a:prstGeom>
          <a:noFill/>
        </p:spPr>
        <p:txBody>
          <a:bodyPr wrap="square" rtlCol="0">
            <a:spAutoFit/>
          </a:bodyPr>
          <a:lstStyle/>
          <a:p>
            <a:r>
              <a:rPr lang="en-US" altLang="zh-CN" sz="2400" dirty="0">
                <a:solidFill>
                  <a:schemeClr val="tx1">
                    <a:lumMod val="75000"/>
                    <a:lumOff val="25000"/>
                  </a:schemeClr>
                </a:solidFill>
                <a:latin typeface="汉仪粗宋简" panose="02010600000101010101" pitchFamily="2" charset="-122"/>
                <a:ea typeface="汉仪粗宋简" panose="02010600000101010101" pitchFamily="2" charset="-122"/>
              </a:rPr>
              <a:t>04</a:t>
            </a:r>
          </a:p>
        </p:txBody>
      </p:sp>
      <p:sp>
        <p:nvSpPr>
          <p:cNvPr id="39" name="grp-a">
            <a:extLst>
              <a:ext uri="{FF2B5EF4-FFF2-40B4-BE49-F238E27FC236}">
                <a16:creationId xmlns:a16="http://schemas.microsoft.com/office/drawing/2014/main" id="{F9734378-57D9-AB9C-E007-4C0DF1E9B9EF}"/>
              </a:ext>
            </a:extLst>
          </p:cNvPr>
          <p:cNvSpPr txBox="1"/>
          <p:nvPr/>
        </p:nvSpPr>
        <p:spPr>
          <a:xfrm>
            <a:off x="762000" y="1600200"/>
            <a:ext cx="3810000" cy="276999"/>
          </a:xfrm>
          <a:prstGeom prst="rect">
            <a:avLst/>
          </a:prstGeom>
          <a:noFill/>
        </p:spPr>
        <p:txBody>
          <a:bodyPr vert="horz" wrap="square" lIns="0" tIns="0" rIns="0" bIns="0" rtlCol="0">
            <a:noAutofit/>
          </a:bodyPr>
          <a:lstStyle/>
          <a:p>
            <a:r>
              <a:rPr lang="zh-CN" altLang="en-US" b="1" dirty="0">
                <a:solidFill>
                  <a:srgbClr val="315995"/>
                </a:solidFill>
                <a:latin typeface="微软雅黑" panose="020B0503020204020204" pitchFamily="34" charset="-122"/>
              </a:rPr>
              <a:t>学业与毕业荣誉</a:t>
            </a:r>
          </a:p>
        </p:txBody>
      </p:sp>
      <p:sp>
        <p:nvSpPr>
          <p:cNvPr id="40" name="grp-b">
            <a:extLst>
              <a:ext uri="{FF2B5EF4-FFF2-40B4-BE49-F238E27FC236}">
                <a16:creationId xmlns:a16="http://schemas.microsoft.com/office/drawing/2014/main" id="{AE59C1D9-8067-A593-369F-821BD420BB93}"/>
              </a:ext>
            </a:extLst>
          </p:cNvPr>
          <p:cNvSpPr txBox="1"/>
          <p:nvPr/>
        </p:nvSpPr>
        <p:spPr>
          <a:xfrm>
            <a:off x="762000" y="3733800"/>
            <a:ext cx="3810000" cy="276999"/>
          </a:xfrm>
          <a:prstGeom prst="rect">
            <a:avLst/>
          </a:prstGeom>
          <a:noFill/>
        </p:spPr>
        <p:txBody>
          <a:bodyPr vert="horz" wrap="square" lIns="0" tIns="0" rIns="0" bIns="0" rtlCol="0">
            <a:noAutofit/>
          </a:bodyPr>
          <a:lstStyle/>
          <a:p>
            <a:r>
              <a:rPr lang="zh-CN" altLang="en-US" b="1" dirty="0">
                <a:solidFill>
                  <a:srgbClr val="315995"/>
                </a:solidFill>
                <a:latin typeface="微软雅黑" panose="020B0503020204020204" pitchFamily="34" charset="-122"/>
              </a:rPr>
              <a:t>科普与宣传</a:t>
            </a:r>
          </a:p>
        </p:txBody>
      </p:sp>
      <p:sp>
        <p:nvSpPr>
          <p:cNvPr id="41" name="award-year-1">
            <a:extLst>
              <a:ext uri="{FF2B5EF4-FFF2-40B4-BE49-F238E27FC236}">
                <a16:creationId xmlns:a16="http://schemas.microsoft.com/office/drawing/2014/main" id="{AC4CEBD8-C7B2-1451-DAD9-3D1A7E6AFFCD}"/>
              </a:ext>
            </a:extLst>
          </p:cNvPr>
          <p:cNvSpPr txBox="1"/>
          <p:nvPr/>
        </p:nvSpPr>
        <p:spPr>
          <a:xfrm>
            <a:off x="762000" y="2079166"/>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2025</a:t>
            </a:r>
            <a:endParaRPr lang="zh-CN" altLang="en-US" dirty="0">
              <a:solidFill>
                <a:srgbClr val="315995"/>
              </a:solidFill>
              <a:latin typeface="微软雅黑" panose="020B0503020204020204" pitchFamily="34" charset="-122"/>
            </a:endParaRPr>
          </a:p>
        </p:txBody>
      </p:sp>
      <p:sp>
        <p:nvSpPr>
          <p:cNvPr id="42" name="award-name-1">
            <a:extLst>
              <a:ext uri="{FF2B5EF4-FFF2-40B4-BE49-F238E27FC236}">
                <a16:creationId xmlns:a16="http://schemas.microsoft.com/office/drawing/2014/main" id="{C98204C8-6C49-06DF-DE5F-20BF2BB49130}"/>
              </a:ext>
            </a:extLst>
          </p:cNvPr>
          <p:cNvSpPr txBox="1"/>
          <p:nvPr/>
        </p:nvSpPr>
        <p:spPr>
          <a:xfrm>
            <a:off x="1778000" y="2041066"/>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优秀毕业研究生</a:t>
            </a:r>
          </a:p>
        </p:txBody>
      </p:sp>
      <p:sp>
        <p:nvSpPr>
          <p:cNvPr id="43" name="award-org-1">
            <a:extLst>
              <a:ext uri="{FF2B5EF4-FFF2-40B4-BE49-F238E27FC236}">
                <a16:creationId xmlns:a16="http://schemas.microsoft.com/office/drawing/2014/main" id="{8B012C93-5A8A-1731-A525-EF4466077505}"/>
              </a:ext>
            </a:extLst>
          </p:cNvPr>
          <p:cNvSpPr txBox="1"/>
          <p:nvPr/>
        </p:nvSpPr>
        <p:spPr>
          <a:xfrm>
            <a:off x="8890000" y="2079166"/>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中国机械总院</a:t>
            </a:r>
          </a:p>
        </p:txBody>
      </p:sp>
      <p:cxnSp>
        <p:nvCxnSpPr>
          <p:cNvPr id="44" name="award-line-1">
            <a:extLst>
              <a:ext uri="{FF2B5EF4-FFF2-40B4-BE49-F238E27FC236}">
                <a16:creationId xmlns:a16="http://schemas.microsoft.com/office/drawing/2014/main" id="{7716461D-68C9-7A09-90BE-6AD94B1B874F}"/>
              </a:ext>
            </a:extLst>
          </p:cNvPr>
          <p:cNvCxnSpPr/>
          <p:nvPr/>
        </p:nvCxnSpPr>
        <p:spPr>
          <a:xfrm>
            <a:off x="762000" y="2561766"/>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45" name="award-year-2">
            <a:extLst>
              <a:ext uri="{FF2B5EF4-FFF2-40B4-BE49-F238E27FC236}">
                <a16:creationId xmlns:a16="http://schemas.microsoft.com/office/drawing/2014/main" id="{C687D431-6BF5-C040-BCA0-1256F0F39F2E}"/>
              </a:ext>
            </a:extLst>
          </p:cNvPr>
          <p:cNvSpPr txBox="1"/>
          <p:nvPr/>
        </p:nvSpPr>
        <p:spPr>
          <a:xfrm>
            <a:off x="762000" y="2637966"/>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2025</a:t>
            </a:r>
            <a:endParaRPr lang="zh-CN" altLang="en-US" dirty="0">
              <a:solidFill>
                <a:srgbClr val="315995"/>
              </a:solidFill>
              <a:latin typeface="微软雅黑" panose="020B0503020204020204" pitchFamily="34" charset="-122"/>
            </a:endParaRPr>
          </a:p>
        </p:txBody>
      </p:sp>
      <p:sp>
        <p:nvSpPr>
          <p:cNvPr id="46" name="award-name-2">
            <a:extLst>
              <a:ext uri="{FF2B5EF4-FFF2-40B4-BE49-F238E27FC236}">
                <a16:creationId xmlns:a16="http://schemas.microsoft.com/office/drawing/2014/main" id="{FD860DAF-7E32-4EA9-6E86-4E2884F3057D}"/>
              </a:ext>
            </a:extLst>
          </p:cNvPr>
          <p:cNvSpPr txBox="1"/>
          <p:nvPr/>
        </p:nvSpPr>
        <p:spPr>
          <a:xfrm>
            <a:off x="1778000" y="2599866"/>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优秀硕士毕业论文</a:t>
            </a:r>
          </a:p>
        </p:txBody>
      </p:sp>
      <p:sp>
        <p:nvSpPr>
          <p:cNvPr id="47" name="award-org-2">
            <a:extLst>
              <a:ext uri="{FF2B5EF4-FFF2-40B4-BE49-F238E27FC236}">
                <a16:creationId xmlns:a16="http://schemas.microsoft.com/office/drawing/2014/main" id="{1D761389-626B-EC46-961B-938C62B563F5}"/>
              </a:ext>
            </a:extLst>
          </p:cNvPr>
          <p:cNvSpPr txBox="1"/>
          <p:nvPr/>
        </p:nvSpPr>
        <p:spPr>
          <a:xfrm>
            <a:off x="8890000" y="2637966"/>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中国机械总院</a:t>
            </a:r>
          </a:p>
        </p:txBody>
      </p:sp>
      <p:cxnSp>
        <p:nvCxnSpPr>
          <p:cNvPr id="48" name="award-line-2">
            <a:extLst>
              <a:ext uri="{FF2B5EF4-FFF2-40B4-BE49-F238E27FC236}">
                <a16:creationId xmlns:a16="http://schemas.microsoft.com/office/drawing/2014/main" id="{3F5889CD-95EB-2C2D-45D9-E51EC2527E68}"/>
              </a:ext>
            </a:extLst>
          </p:cNvPr>
          <p:cNvCxnSpPr/>
          <p:nvPr/>
        </p:nvCxnSpPr>
        <p:spPr>
          <a:xfrm>
            <a:off x="762000" y="3120566"/>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52" name="award-year-3">
            <a:extLst>
              <a:ext uri="{FF2B5EF4-FFF2-40B4-BE49-F238E27FC236}">
                <a16:creationId xmlns:a16="http://schemas.microsoft.com/office/drawing/2014/main" id="{5D179F24-1189-A981-4C27-A359B0636E25}"/>
              </a:ext>
            </a:extLst>
          </p:cNvPr>
          <p:cNvSpPr txBox="1"/>
          <p:nvPr/>
        </p:nvSpPr>
        <p:spPr>
          <a:xfrm>
            <a:off x="762000" y="3196766"/>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2025</a:t>
            </a:r>
            <a:endParaRPr lang="zh-CN" altLang="en-US" dirty="0">
              <a:solidFill>
                <a:srgbClr val="315995"/>
              </a:solidFill>
              <a:latin typeface="微软雅黑" panose="020B0503020204020204" pitchFamily="34" charset="-122"/>
            </a:endParaRPr>
          </a:p>
        </p:txBody>
      </p:sp>
      <p:sp>
        <p:nvSpPr>
          <p:cNvPr id="53" name="award-name-3">
            <a:extLst>
              <a:ext uri="{FF2B5EF4-FFF2-40B4-BE49-F238E27FC236}">
                <a16:creationId xmlns:a16="http://schemas.microsoft.com/office/drawing/2014/main" id="{E3263191-5812-BC24-0523-C2BB8639868A}"/>
              </a:ext>
            </a:extLst>
          </p:cNvPr>
          <p:cNvSpPr txBox="1"/>
          <p:nvPr/>
        </p:nvSpPr>
        <p:spPr>
          <a:xfrm>
            <a:off x="1778000" y="3158666"/>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科技创新成果奖学金</a:t>
            </a:r>
          </a:p>
        </p:txBody>
      </p:sp>
      <p:sp>
        <p:nvSpPr>
          <p:cNvPr id="54" name="award-org-3">
            <a:extLst>
              <a:ext uri="{FF2B5EF4-FFF2-40B4-BE49-F238E27FC236}">
                <a16:creationId xmlns:a16="http://schemas.microsoft.com/office/drawing/2014/main" id="{39A667D7-4000-2857-3F46-86D27C0EBEF3}"/>
              </a:ext>
            </a:extLst>
          </p:cNvPr>
          <p:cNvSpPr txBox="1"/>
          <p:nvPr/>
        </p:nvSpPr>
        <p:spPr>
          <a:xfrm>
            <a:off x="8890000" y="3196766"/>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中国机械总院</a:t>
            </a:r>
          </a:p>
        </p:txBody>
      </p:sp>
      <p:cxnSp>
        <p:nvCxnSpPr>
          <p:cNvPr id="55" name="award-line-3">
            <a:extLst>
              <a:ext uri="{FF2B5EF4-FFF2-40B4-BE49-F238E27FC236}">
                <a16:creationId xmlns:a16="http://schemas.microsoft.com/office/drawing/2014/main" id="{44FCF753-ED3F-239E-751D-EAFC9D93ECEA}"/>
              </a:ext>
            </a:extLst>
          </p:cNvPr>
          <p:cNvCxnSpPr/>
          <p:nvPr/>
        </p:nvCxnSpPr>
        <p:spPr>
          <a:xfrm>
            <a:off x="762000" y="3581400"/>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56" name="award-year-4">
            <a:extLst>
              <a:ext uri="{FF2B5EF4-FFF2-40B4-BE49-F238E27FC236}">
                <a16:creationId xmlns:a16="http://schemas.microsoft.com/office/drawing/2014/main" id="{A103AEC6-D9D3-1F46-945A-1EB91BD41323}"/>
              </a:ext>
            </a:extLst>
          </p:cNvPr>
          <p:cNvSpPr txBox="1"/>
          <p:nvPr/>
        </p:nvSpPr>
        <p:spPr>
          <a:xfrm>
            <a:off x="762000" y="4232361"/>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2022</a:t>
            </a:r>
            <a:endParaRPr lang="zh-CN" altLang="en-US" dirty="0">
              <a:solidFill>
                <a:srgbClr val="315995"/>
              </a:solidFill>
              <a:latin typeface="微软雅黑" panose="020B0503020204020204" pitchFamily="34" charset="-122"/>
            </a:endParaRPr>
          </a:p>
        </p:txBody>
      </p:sp>
      <p:sp>
        <p:nvSpPr>
          <p:cNvPr id="57" name="award-name-4">
            <a:extLst>
              <a:ext uri="{FF2B5EF4-FFF2-40B4-BE49-F238E27FC236}">
                <a16:creationId xmlns:a16="http://schemas.microsoft.com/office/drawing/2014/main" id="{9CE1A10E-8750-0415-F905-77E10E89F848}"/>
              </a:ext>
            </a:extLst>
          </p:cNvPr>
          <p:cNvSpPr txBox="1"/>
          <p:nvPr/>
        </p:nvSpPr>
        <p:spPr>
          <a:xfrm>
            <a:off x="1778000" y="4194261"/>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“云说新科技”科普大赛 全国二等奖</a:t>
            </a:r>
          </a:p>
        </p:txBody>
      </p:sp>
      <p:sp>
        <p:nvSpPr>
          <p:cNvPr id="58" name="award-org-4">
            <a:extLst>
              <a:ext uri="{FF2B5EF4-FFF2-40B4-BE49-F238E27FC236}">
                <a16:creationId xmlns:a16="http://schemas.microsoft.com/office/drawing/2014/main" id="{EA3FE84C-25F5-D984-D067-BFB8CA9525CF}"/>
              </a:ext>
            </a:extLst>
          </p:cNvPr>
          <p:cNvSpPr txBox="1"/>
          <p:nvPr/>
        </p:nvSpPr>
        <p:spPr>
          <a:xfrm>
            <a:off x="8890000" y="4232361"/>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中国机械工程学会</a:t>
            </a:r>
          </a:p>
        </p:txBody>
      </p:sp>
      <p:cxnSp>
        <p:nvCxnSpPr>
          <p:cNvPr id="59" name="award-line-4">
            <a:extLst>
              <a:ext uri="{FF2B5EF4-FFF2-40B4-BE49-F238E27FC236}">
                <a16:creationId xmlns:a16="http://schemas.microsoft.com/office/drawing/2014/main" id="{9B5DCDE2-1820-C0C0-3CB9-3A1E3A8C716D}"/>
              </a:ext>
            </a:extLst>
          </p:cNvPr>
          <p:cNvCxnSpPr/>
          <p:nvPr/>
        </p:nvCxnSpPr>
        <p:spPr>
          <a:xfrm>
            <a:off x="762000" y="4714961"/>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60" name="award-year-5">
            <a:extLst>
              <a:ext uri="{FF2B5EF4-FFF2-40B4-BE49-F238E27FC236}">
                <a16:creationId xmlns:a16="http://schemas.microsoft.com/office/drawing/2014/main" id="{A3007BDD-42BF-2493-3617-F43510310273}"/>
              </a:ext>
            </a:extLst>
          </p:cNvPr>
          <p:cNvSpPr txBox="1"/>
          <p:nvPr/>
        </p:nvSpPr>
        <p:spPr>
          <a:xfrm>
            <a:off x="762000" y="4791161"/>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2023</a:t>
            </a:r>
            <a:endParaRPr lang="zh-CN" altLang="en-US" dirty="0">
              <a:solidFill>
                <a:srgbClr val="315995"/>
              </a:solidFill>
              <a:latin typeface="微软雅黑" panose="020B0503020204020204" pitchFamily="34" charset="-122"/>
            </a:endParaRPr>
          </a:p>
        </p:txBody>
      </p:sp>
      <p:sp>
        <p:nvSpPr>
          <p:cNvPr id="61" name="award-name-5">
            <a:extLst>
              <a:ext uri="{FF2B5EF4-FFF2-40B4-BE49-F238E27FC236}">
                <a16:creationId xmlns:a16="http://schemas.microsoft.com/office/drawing/2014/main" id="{5463B6C4-8F2F-25C3-28C3-395C68689E42}"/>
              </a:ext>
            </a:extLst>
          </p:cNvPr>
          <p:cNvSpPr txBox="1"/>
          <p:nvPr/>
        </p:nvSpPr>
        <p:spPr>
          <a:xfrm>
            <a:off x="1778000" y="4753061"/>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“云说新科技”科普大赛 全国一等奖</a:t>
            </a:r>
          </a:p>
        </p:txBody>
      </p:sp>
      <p:sp>
        <p:nvSpPr>
          <p:cNvPr id="62" name="award-org-5">
            <a:extLst>
              <a:ext uri="{FF2B5EF4-FFF2-40B4-BE49-F238E27FC236}">
                <a16:creationId xmlns:a16="http://schemas.microsoft.com/office/drawing/2014/main" id="{728E90DC-76F4-7446-36FB-98E49FB7D830}"/>
              </a:ext>
            </a:extLst>
          </p:cNvPr>
          <p:cNvSpPr txBox="1"/>
          <p:nvPr/>
        </p:nvSpPr>
        <p:spPr>
          <a:xfrm>
            <a:off x="8890000" y="4791161"/>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中国机械工程学会</a:t>
            </a:r>
          </a:p>
        </p:txBody>
      </p:sp>
      <p:cxnSp>
        <p:nvCxnSpPr>
          <p:cNvPr id="63" name="award-line-5">
            <a:extLst>
              <a:ext uri="{FF2B5EF4-FFF2-40B4-BE49-F238E27FC236}">
                <a16:creationId xmlns:a16="http://schemas.microsoft.com/office/drawing/2014/main" id="{0EB79F65-691B-E291-ACE5-7A8C2757FE58}"/>
              </a:ext>
            </a:extLst>
          </p:cNvPr>
          <p:cNvCxnSpPr/>
          <p:nvPr/>
        </p:nvCxnSpPr>
        <p:spPr>
          <a:xfrm>
            <a:off x="762000" y="5273761"/>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64" name="award-year-6">
            <a:extLst>
              <a:ext uri="{FF2B5EF4-FFF2-40B4-BE49-F238E27FC236}">
                <a16:creationId xmlns:a16="http://schemas.microsoft.com/office/drawing/2014/main" id="{2F8C3012-21EB-0F95-58B4-F3CD446771B1}"/>
              </a:ext>
            </a:extLst>
          </p:cNvPr>
          <p:cNvSpPr txBox="1"/>
          <p:nvPr/>
        </p:nvSpPr>
        <p:spPr>
          <a:xfrm>
            <a:off x="762000" y="5349961"/>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2024</a:t>
            </a:r>
            <a:endParaRPr lang="zh-CN" altLang="en-US" dirty="0">
              <a:solidFill>
                <a:srgbClr val="315995"/>
              </a:solidFill>
              <a:latin typeface="微软雅黑" panose="020B0503020204020204" pitchFamily="34" charset="-122"/>
            </a:endParaRPr>
          </a:p>
        </p:txBody>
      </p:sp>
      <p:sp>
        <p:nvSpPr>
          <p:cNvPr id="65" name="award-name-6">
            <a:extLst>
              <a:ext uri="{FF2B5EF4-FFF2-40B4-BE49-F238E27FC236}">
                <a16:creationId xmlns:a16="http://schemas.microsoft.com/office/drawing/2014/main" id="{7EE4F234-41ED-66C0-6FDC-80D5CACBEF2C}"/>
              </a:ext>
            </a:extLst>
          </p:cNvPr>
          <p:cNvSpPr txBox="1"/>
          <p:nvPr/>
        </p:nvSpPr>
        <p:spPr>
          <a:xfrm>
            <a:off x="1778000" y="5311861"/>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“云说新科技”科普大赛 全国一等奖</a:t>
            </a:r>
          </a:p>
        </p:txBody>
      </p:sp>
      <p:sp>
        <p:nvSpPr>
          <p:cNvPr id="66" name="award-org-6">
            <a:extLst>
              <a:ext uri="{FF2B5EF4-FFF2-40B4-BE49-F238E27FC236}">
                <a16:creationId xmlns:a16="http://schemas.microsoft.com/office/drawing/2014/main" id="{EE1C5359-786C-B43A-CB90-E8E3047F902B}"/>
              </a:ext>
            </a:extLst>
          </p:cNvPr>
          <p:cNvSpPr txBox="1"/>
          <p:nvPr/>
        </p:nvSpPr>
        <p:spPr>
          <a:xfrm>
            <a:off x="8890000" y="5349961"/>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中国机械工程学会</a:t>
            </a:r>
          </a:p>
        </p:txBody>
      </p:sp>
      <p:cxnSp>
        <p:nvCxnSpPr>
          <p:cNvPr id="67" name="award-line-6">
            <a:extLst>
              <a:ext uri="{FF2B5EF4-FFF2-40B4-BE49-F238E27FC236}">
                <a16:creationId xmlns:a16="http://schemas.microsoft.com/office/drawing/2014/main" id="{C02D5633-96DE-91E7-D314-1E728414ABF6}"/>
              </a:ext>
            </a:extLst>
          </p:cNvPr>
          <p:cNvCxnSpPr/>
          <p:nvPr/>
        </p:nvCxnSpPr>
        <p:spPr>
          <a:xfrm>
            <a:off x="762000" y="5832561"/>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
        <p:nvSpPr>
          <p:cNvPr id="68" name="award-year-7">
            <a:extLst>
              <a:ext uri="{FF2B5EF4-FFF2-40B4-BE49-F238E27FC236}">
                <a16:creationId xmlns:a16="http://schemas.microsoft.com/office/drawing/2014/main" id="{A5AC9D56-1B27-B719-8501-E417E67611B8}"/>
              </a:ext>
            </a:extLst>
          </p:cNvPr>
          <p:cNvSpPr txBox="1"/>
          <p:nvPr/>
        </p:nvSpPr>
        <p:spPr>
          <a:xfrm>
            <a:off x="762000" y="5908761"/>
            <a:ext cx="889000" cy="276999"/>
          </a:xfrm>
          <a:prstGeom prst="rect">
            <a:avLst/>
          </a:prstGeom>
          <a:noFill/>
        </p:spPr>
        <p:txBody>
          <a:bodyPr vert="horz" wrap="square" lIns="0" tIns="0" rIns="0" bIns="0" rtlCol="0">
            <a:noAutofit/>
          </a:bodyPr>
          <a:lstStyle/>
          <a:p>
            <a:r>
              <a:rPr lang="en-US" altLang="zh-CN" dirty="0">
                <a:solidFill>
                  <a:srgbClr val="315995"/>
                </a:solidFill>
                <a:latin typeface="微软雅黑" panose="020B0503020204020204" pitchFamily="34" charset="-122"/>
              </a:rPr>
              <a:t>2024</a:t>
            </a:r>
            <a:endParaRPr lang="zh-CN" altLang="en-US" dirty="0">
              <a:solidFill>
                <a:srgbClr val="315995"/>
              </a:solidFill>
              <a:latin typeface="微软雅黑" panose="020B0503020204020204" pitchFamily="34" charset="-122"/>
            </a:endParaRPr>
          </a:p>
        </p:txBody>
      </p:sp>
      <p:sp>
        <p:nvSpPr>
          <p:cNvPr id="69" name="award-name-7">
            <a:extLst>
              <a:ext uri="{FF2B5EF4-FFF2-40B4-BE49-F238E27FC236}">
                <a16:creationId xmlns:a16="http://schemas.microsoft.com/office/drawing/2014/main" id="{F76CA7CC-1369-BCC3-68B1-17989551934E}"/>
              </a:ext>
            </a:extLst>
          </p:cNvPr>
          <p:cNvSpPr txBox="1"/>
          <p:nvPr/>
        </p:nvSpPr>
        <p:spPr>
          <a:xfrm>
            <a:off x="1778000" y="5870661"/>
            <a:ext cx="6858000" cy="276999"/>
          </a:xfrm>
          <a:prstGeom prst="rect">
            <a:avLst/>
          </a:prstGeom>
          <a:noFill/>
        </p:spPr>
        <p:txBody>
          <a:bodyPr vert="horz" wrap="square" lIns="0" tIns="0" rIns="0" bIns="0" rtlCol="0">
            <a:noAutofit/>
          </a:bodyPr>
          <a:lstStyle/>
          <a:p>
            <a:r>
              <a:rPr lang="zh-CN" altLang="en-US" dirty="0">
                <a:solidFill>
                  <a:srgbClr val="466590"/>
                </a:solidFill>
                <a:latin typeface="微软雅黑" panose="020B0503020204020204" pitchFamily="34" charset="-122"/>
              </a:rPr>
              <a:t>年度宣传工作表彰</a:t>
            </a:r>
          </a:p>
        </p:txBody>
      </p:sp>
      <p:sp>
        <p:nvSpPr>
          <p:cNvPr id="70" name="award-org-7">
            <a:extLst>
              <a:ext uri="{FF2B5EF4-FFF2-40B4-BE49-F238E27FC236}">
                <a16:creationId xmlns:a16="http://schemas.microsoft.com/office/drawing/2014/main" id="{633E5BFE-1436-F6AC-D488-F94CC599068F}"/>
              </a:ext>
            </a:extLst>
          </p:cNvPr>
          <p:cNvSpPr txBox="1"/>
          <p:nvPr/>
        </p:nvSpPr>
        <p:spPr>
          <a:xfrm>
            <a:off x="8890000" y="5908761"/>
            <a:ext cx="2540000" cy="276999"/>
          </a:xfrm>
          <a:prstGeom prst="rect">
            <a:avLst/>
          </a:prstGeom>
          <a:noFill/>
        </p:spPr>
        <p:txBody>
          <a:bodyPr vert="horz" wrap="square" lIns="0" tIns="0" rIns="0" bIns="0" rtlCol="0">
            <a:noAutofit/>
          </a:bodyPr>
          <a:lstStyle/>
          <a:p>
            <a:pPr algn="r"/>
            <a:r>
              <a:rPr lang="zh-CN" altLang="en-US" sz="1200" dirty="0">
                <a:solidFill>
                  <a:srgbClr val="5B7290"/>
                </a:solidFill>
                <a:latin typeface="微软雅黑" panose="020B0503020204020204" pitchFamily="34" charset="-122"/>
              </a:rPr>
              <a:t>中国机械总院</a:t>
            </a:r>
          </a:p>
        </p:txBody>
      </p:sp>
      <p:cxnSp>
        <p:nvCxnSpPr>
          <p:cNvPr id="71" name="award-line-7">
            <a:extLst>
              <a:ext uri="{FF2B5EF4-FFF2-40B4-BE49-F238E27FC236}">
                <a16:creationId xmlns:a16="http://schemas.microsoft.com/office/drawing/2014/main" id="{944BC7B0-BDB1-B341-25BE-5E24F0913B9B}"/>
              </a:ext>
            </a:extLst>
          </p:cNvPr>
          <p:cNvCxnSpPr/>
          <p:nvPr/>
        </p:nvCxnSpPr>
        <p:spPr>
          <a:xfrm>
            <a:off x="762000" y="6273800"/>
            <a:ext cx="10668000" cy="0"/>
          </a:xfrm>
          <a:prstGeom prst="line">
            <a:avLst/>
          </a:prstGeom>
          <a:ln w="9525">
            <a:solidFill>
              <a:srgbClr val="E3EBF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397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447C7-2C61-1660-9526-BEAAE8E6F1D9}"/>
            </a:ext>
          </a:extLst>
        </p:cNvPr>
        <p:cNvGrpSpPr/>
        <p:nvPr/>
      </p:nvGrpSpPr>
      <p:grpSpPr>
        <a:xfrm>
          <a:off x="0" y="0"/>
          <a:ext cx="0" cy="0"/>
          <a:chOff x="0" y="0"/>
          <a:chExt cx="0" cy="0"/>
        </a:xfrm>
      </p:grpSpPr>
      <p:sp>
        <p:nvSpPr>
          <p:cNvPr id="63" name="矩形 62">
            <a:extLst>
              <a:ext uri="{FF2B5EF4-FFF2-40B4-BE49-F238E27FC236}">
                <a16:creationId xmlns:a16="http://schemas.microsoft.com/office/drawing/2014/main" id="{E7535778-7BC5-C537-427C-FEF98ED8696C}"/>
              </a:ext>
            </a:extLst>
          </p:cNvPr>
          <p:cNvSpPr/>
          <p:nvPr/>
        </p:nvSpPr>
        <p:spPr>
          <a:xfrm>
            <a:off x="0" y="1513114"/>
            <a:ext cx="12192000" cy="2376715"/>
          </a:xfrm>
          <a:prstGeom prst="rect">
            <a:avLst/>
          </a:prstGeom>
          <a:gradFill flip="none"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endParaRPr lang="zh-CN" altLang="en-US" kern="0">
              <a:solidFill>
                <a:srgbClr val="FFFFFF"/>
              </a:solidFill>
              <a:latin typeface="等线" panose="02010600030101010101" charset="-122"/>
            </a:endParaRPr>
          </a:p>
        </p:txBody>
      </p:sp>
      <p:cxnSp>
        <p:nvCxnSpPr>
          <p:cNvPr id="64" name="直接连接符 63">
            <a:extLst>
              <a:ext uri="{FF2B5EF4-FFF2-40B4-BE49-F238E27FC236}">
                <a16:creationId xmlns:a16="http://schemas.microsoft.com/office/drawing/2014/main" id="{0905E9A9-7843-EB06-D29E-36A07762C159}"/>
              </a:ext>
            </a:extLst>
          </p:cNvPr>
          <p:cNvCxnSpPr/>
          <p:nvPr/>
        </p:nvCxnSpPr>
        <p:spPr>
          <a:xfrm>
            <a:off x="0" y="4007608"/>
            <a:ext cx="12975771" cy="0"/>
          </a:xfrm>
          <a:prstGeom prst="line">
            <a:avLst/>
          </a:prstGeom>
          <a:noFill/>
          <a:ln w="25400">
            <a:gradFill flip="none"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2" name="标题 8">
            <a:extLst>
              <a:ext uri="{FF2B5EF4-FFF2-40B4-BE49-F238E27FC236}">
                <a16:creationId xmlns:a16="http://schemas.microsoft.com/office/drawing/2014/main" id="{DA4F7B36-DC52-716A-DEF7-753169A8105C}"/>
              </a:ext>
            </a:extLst>
          </p:cNvPr>
          <p:cNvSpPr txBox="1"/>
          <p:nvPr/>
        </p:nvSpPr>
        <p:spPr>
          <a:xfrm>
            <a:off x="161706" y="1887437"/>
            <a:ext cx="11932078" cy="1613551"/>
          </a:xfrm>
          <a:prstGeom prst="rect">
            <a:avLst/>
          </a:prstGeom>
        </p:spPr>
        <p:txBody>
          <a:bodyPr anchor="ctr">
            <a:noAutofit/>
          </a:bodyPr>
          <a:lstStyle>
            <a:lvl1pPr algn="ctr" defTabSz="914400" rtl="0" eaLnBrk="1" latinLnBrk="0" hangingPunct="1">
              <a:lnSpc>
                <a:spcPct val="90000"/>
              </a:lnSpc>
              <a:spcBef>
                <a:spcPct val="0"/>
              </a:spcBef>
              <a:buNone/>
              <a:defRPr sz="5400" b="1" kern="1200">
                <a:solidFill>
                  <a:schemeClr val="accent1"/>
                </a:solidFill>
                <a:latin typeface="+mj-lt"/>
                <a:ea typeface="+mj-ea"/>
                <a:cs typeface="+mj-cs"/>
              </a:defRPr>
            </a:lvl1pPr>
          </a:lstStyle>
          <a:p>
            <a:pPr lvl="0">
              <a:lnSpc>
                <a:spcPct val="125000"/>
              </a:lnSpc>
              <a:spcBef>
                <a:spcPts val="0"/>
              </a:spcBef>
            </a:pPr>
            <a:r>
              <a:rPr kumimoji="0" lang="zh-CN" altLang="en-US" sz="4800" i="0" u="none" strike="noStrike" kern="1200" cap="none" spc="0" normalizeH="0" baseline="0" noProof="0" dirty="0">
                <a:ln>
                  <a:noFill/>
                </a:ln>
                <a:solidFill>
                  <a:schemeClr val="bg1"/>
                </a:solidFill>
                <a:effectLst/>
                <a:uLnTx/>
                <a:uFillTx/>
                <a:latin typeface="汉仪文润宋韵 U" pitchFamily="2" charset="-122"/>
                <a:ea typeface="汉仪文润宋韵 U" pitchFamily="2" charset="-122"/>
              </a:rPr>
              <a:t>敬请专家批评指正</a:t>
            </a:r>
          </a:p>
        </p:txBody>
      </p:sp>
    </p:spTree>
    <p:extLst>
      <p:ext uri="{BB962C8B-B14F-4D97-AF65-F5344CB8AC3E}">
        <p14:creationId xmlns:p14="http://schemas.microsoft.com/office/powerpoint/2010/main" val="12029193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53052,50053017,50053044]}"/>
</p:tagLst>
</file>

<file path=ppt/tags/tag2.xml><?xml version="1.0" encoding="utf-8"?>
<p:tagLst xmlns:a="http://schemas.openxmlformats.org/drawingml/2006/main" xmlns:r="http://schemas.openxmlformats.org/officeDocument/2006/relationships" xmlns:p="http://schemas.openxmlformats.org/presentationml/2006/main">
  <p:tag name="TEXTSHADOWSIZE" val="100"/>
  <p:tag name="SHADOWSIZE" val="99"/>
</p:tagLst>
</file>

<file path=ppt/tags/tag3.xml><?xml version="1.0" encoding="utf-8"?>
<p:tagLst xmlns:a="http://schemas.openxmlformats.org/drawingml/2006/main" xmlns:r="http://schemas.openxmlformats.org/officeDocument/2006/relationships" xmlns:p="http://schemas.openxmlformats.org/presentationml/2006/main">
  <p:tag name="TEXTSHADOWSIZE" val="100"/>
  <p:tag name="SHADOWSIZE" val="108"/>
</p:tagLst>
</file>

<file path=ppt/tags/tag4.xml><?xml version="1.0" encoding="utf-8"?>
<p:tagLst xmlns:a="http://schemas.openxmlformats.org/drawingml/2006/main" xmlns:r="http://schemas.openxmlformats.org/officeDocument/2006/relationships" xmlns:p="http://schemas.openxmlformats.org/presentationml/2006/main">
  <p:tag name="TEXTSHADOWSIZE" val="100"/>
  <p:tag name="SHADOWSIZE" val="108"/>
</p:tagLst>
</file>

<file path=ppt/tags/tag5.xml><?xml version="1.0" encoding="utf-8"?>
<p:tagLst xmlns:a="http://schemas.openxmlformats.org/drawingml/2006/main" xmlns:r="http://schemas.openxmlformats.org/officeDocument/2006/relationships" xmlns:p="http://schemas.openxmlformats.org/presentationml/2006/main">
  <p:tag name="TEXTSHADOWSIZE" val="100"/>
</p:tagLst>
</file>

<file path=ppt/tags/tag6.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7.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8.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9.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11.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2.xml><?xml version="1.0" encoding="utf-8"?>
<p:tagLst xmlns:a="http://schemas.openxmlformats.org/drawingml/2006/main" xmlns:r="http://schemas.openxmlformats.org/officeDocument/2006/relationships" xmlns:p="http://schemas.openxmlformats.org/presentationml/2006/main">
  <p:tag name="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100"/>
</p:tagLst>
</file>

<file path=ppt/tags/tag15.xml><?xml version="1.0" encoding="utf-8"?>
<p:tagLst xmlns:a="http://schemas.openxmlformats.org/drawingml/2006/main" xmlns:r="http://schemas.openxmlformats.org/officeDocument/2006/relationships" xmlns:p="http://schemas.openxmlformats.org/presentationml/2006/main">
  <p:tag name="SHADOWSIZE" val="1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5914</TotalTime>
  <Words>9598</Words>
  <Application>Microsoft Office PowerPoint</Application>
  <PresentationFormat>宽屏</PresentationFormat>
  <Paragraphs>869</Paragraphs>
  <Slides>23</Slides>
  <Notes>23</Notes>
  <HiddenSlides>0</HiddenSlides>
  <MMClips>0</MMClips>
  <ScaleCrop>false</ScaleCrop>
  <HeadingPairs>
    <vt:vector size="6" baseType="variant">
      <vt:variant>
        <vt:lpstr>已用的字体</vt:lpstr>
      </vt:variant>
      <vt:variant>
        <vt:i4>25</vt:i4>
      </vt:variant>
      <vt:variant>
        <vt:lpstr>主题</vt:lpstr>
      </vt:variant>
      <vt:variant>
        <vt:i4>3</vt:i4>
      </vt:variant>
      <vt:variant>
        <vt:lpstr>幻灯片标题</vt:lpstr>
      </vt:variant>
      <vt:variant>
        <vt:i4>23</vt:i4>
      </vt:variant>
    </vt:vector>
  </HeadingPairs>
  <TitlesOfParts>
    <vt:vector size="51" baseType="lpstr">
      <vt:lpstr>-apple-system</vt:lpstr>
      <vt:lpstr>得意黑</vt:lpstr>
      <vt:lpstr>等线</vt:lpstr>
      <vt:lpstr>等线 Light</vt:lpstr>
      <vt:lpstr>方正宋刻本秀楷简体</vt:lpstr>
      <vt:lpstr>方正小标宋简体</vt:lpstr>
      <vt:lpstr>仿宋</vt:lpstr>
      <vt:lpstr>汉仪粗宋简</vt:lpstr>
      <vt:lpstr>汉仪文润宋韵 U</vt:lpstr>
      <vt:lpstr>华康标题宋W9(P)</vt:lpstr>
      <vt:lpstr>华文中宋</vt:lpstr>
      <vt:lpstr>姥姥说媒(清)存素堂刻本简体</vt:lpstr>
      <vt:lpstr>思源黑体 CN Bold</vt:lpstr>
      <vt:lpstr>思源黑体 CN Normal</vt:lpstr>
      <vt:lpstr>思源宋体 CN Heavy</vt:lpstr>
      <vt:lpstr>宋体</vt:lpstr>
      <vt:lpstr>微软雅黑</vt:lpstr>
      <vt:lpstr>Arial</vt:lpstr>
      <vt:lpstr>Calibri</vt:lpstr>
      <vt:lpstr>Calibri Light</vt:lpstr>
      <vt:lpstr>Perpetua</vt:lpstr>
      <vt:lpstr>Roboto</vt:lpstr>
      <vt:lpstr>Tahoma</vt:lpstr>
      <vt:lpstr>Times New Roman</vt:lpstr>
      <vt:lpstr>Wingdings</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鹏宇 魏</dc:creator>
  <cp:lastModifiedBy>鹏宇 魏</cp:lastModifiedBy>
  <cp:revision>177</cp:revision>
  <dcterms:created xsi:type="dcterms:W3CDTF">2025-08-10T17:45:00Z</dcterms:created>
  <dcterms:modified xsi:type="dcterms:W3CDTF">2026-09-14T05:55:07Z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794AFBF8A20D41E2A187DE410D21517D_12</vt:lpwstr>
  </property>
  <property fmtid="{D5CDD505-2E9C-101B-9397-08002B2CF9AE}" pid="3" name="KSOProductBuildVer">
    <vt:lpwstr>2052-12.1.0.23542</vt:lpwstr>
  </property>
</Properties>
</file>