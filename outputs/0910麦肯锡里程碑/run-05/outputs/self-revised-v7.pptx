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3fd15924bd4fa7" /><Relationship Type="http://schemas.openxmlformats.org/officeDocument/2006/relationships/extended-properties" Target="/docProps/app.xml" Id="R43f52d1bdd3044ac" /><Relationship Type="http://schemas.openxmlformats.org/officeDocument/2006/relationships/officeDocument" Target="/ppt/presentation.xml" Id="R29de3dc686374f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fa64bebef84894"/>
  </p:sldMasterIdLst>
  <p:notesMasterIdLst>
    <p:notesMasterId xmlns:r="http://schemas.openxmlformats.org/officeDocument/2006/relationships" r:id="R8a9be70e937241c1"/>
  </p:notesMasterIdLst>
  <p:sldIdLst>
    <p:sldId xmlns:r="http://schemas.openxmlformats.org/officeDocument/2006/relationships" id="256" r:id="Ra2c0a205369d4e22"/>
    <p:sldId xmlns:r="http://schemas.openxmlformats.org/officeDocument/2006/relationships" id="257" r:id="R19a79d5526f24a73"/>
    <p:sldId xmlns:r="http://schemas.openxmlformats.org/officeDocument/2006/relationships" id="258" r:id="R69fa1f406df94026"/>
    <p:sldId xmlns:r="http://schemas.openxmlformats.org/officeDocument/2006/relationships" id="259" r:id="Rdb5fb5dd721743c1"/>
    <p:sldId xmlns:r="http://schemas.openxmlformats.org/officeDocument/2006/relationships" id="260" r:id="Rb974a2a8cffa41d4"/>
    <p:sldId xmlns:r="http://schemas.openxmlformats.org/officeDocument/2006/relationships" id="261" r:id="R67a6048e27f24f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d9fc164ee944a9" /><Relationship Type="http://schemas.openxmlformats.org/officeDocument/2006/relationships/slideMaster" Target="/ppt/slideMasters/slideMaster1.xml" Id="R9efa64bebef84894" /><Relationship Type="http://schemas.openxmlformats.org/officeDocument/2006/relationships/notesMaster" Target="/ppt/notesMasters/notesMaster1.xml" Id="R8a9be70e937241c1" /><Relationship Type="http://schemas.openxmlformats.org/officeDocument/2006/relationships/presProps" Target="/ppt/presProps.xml" Id="R751d26fe114c4b09" /><Relationship Type="http://schemas.openxmlformats.org/officeDocument/2006/relationships/tableStyles" Target="/ppt/tableStyles.xml" Id="R62d09ce9427d4bbb" /><Relationship Type="http://schemas.openxmlformats.org/officeDocument/2006/relationships/slide" Target="/ppt/slides/slide1.xml" Id="Ra2c0a205369d4e22" /><Relationship Type="http://schemas.openxmlformats.org/officeDocument/2006/relationships/slide" Target="/ppt/slides/slide2.xml" Id="R19a79d5526f24a73" /><Relationship Type="http://schemas.openxmlformats.org/officeDocument/2006/relationships/slide" Target="/ppt/slides/slide3.xml" Id="R69fa1f406df94026" /><Relationship Type="http://schemas.openxmlformats.org/officeDocument/2006/relationships/slide" Target="/ppt/slides/slide4.xml" Id="Rdb5fb5dd721743c1" /><Relationship Type="http://schemas.openxmlformats.org/officeDocument/2006/relationships/slide" Target="/ppt/slides/slide5.xml" Id="Rb974a2a8cffa41d4" /><Relationship Type="http://schemas.openxmlformats.org/officeDocument/2006/relationships/slide" Target="/ppt/slides/slide6.xml" Id="R67a6048e27f24f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e6cbd3bbfd4c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1b59466c1a482e" /><Relationship Type="http://schemas.openxmlformats.org/officeDocument/2006/relationships/notesMaster" Target="/ppt/notesMasters/notesMaster1.xml" Id="R4a664be953d740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6e56b99fd9462c" /><Relationship Type="http://schemas.openxmlformats.org/officeDocument/2006/relationships/notesMaster" Target="/ppt/notesMasters/notesMaster1.xml" Id="R700847a5f42846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290042e08f44ba" /><Relationship Type="http://schemas.openxmlformats.org/officeDocument/2006/relationships/notesMaster" Target="/ppt/notesMasters/notesMaster1.xml" Id="Rd752a682ad604a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28c517f94a4159" /><Relationship Type="http://schemas.openxmlformats.org/officeDocument/2006/relationships/notesMaster" Target="/ppt/notesMasters/notesMaster1.xml" Id="R61a6407594c344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d8f316439042a2" /><Relationship Type="http://schemas.openxmlformats.org/officeDocument/2006/relationships/notesMaster" Target="/ppt/notesMasters/notesMaster1.xml" Id="Ra54ad6a64f644c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4523ae2ee84778" /><Relationship Type="http://schemas.openxmlformats.org/officeDocument/2006/relationships/notesMaster" Target="/ppt/notesMasters/notesMaster1.xml" Id="R12b0a254940340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来源：inputs/原稿.md。此页保留原稿正文，供后部初模逐页映射。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来源：inputs/原稿.md。此页保留原稿正文，供后部初模逐页映射。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来源：原稿第1-2段。此页把总体信号与“立即干预”和“长期增员仍未证实”的边界放在同一页。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来源：原稿第3段。表格与占比条均来自原稿的分类数量和中位数；不把汇总中位数误解成逐单分布。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来源：原稿第4-5段。流程框表示时间构成，不声称各段已被测得；缺口和补记项均来自原稿。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来源：原稿第2、4、5段。该页把“临时支持”“审批协作”“正式增员”的条件边界并列呈现，不把未知关系画成已验证因果。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b5b7321b9845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4024853fa34267" /><Relationship Type="http://schemas.openxmlformats.org/officeDocument/2006/relationships/slideLayout" Target="/ppt/slideLayouts/slideLayout1.xml" Id="R87615026691d4b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615026691d4b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d94f12c1246c2" /><Relationship Type="http://schemas.openxmlformats.org/officeDocument/2006/relationships/notesSlide" Target="/ppt/notesSlides/notesSlide1.xml" Id="Rf52b89cb1e5645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c81d87e7b4149" /><Relationship Type="http://schemas.openxmlformats.org/officeDocument/2006/relationships/notesSlide" Target="/ppt/notesSlides/notesSlide2.xml" Id="R4e8d1cc1a3954f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5a704ceb24937" /><Relationship Type="http://schemas.openxmlformats.org/officeDocument/2006/relationships/notesSlide" Target="/ppt/notesSlides/notesSlide3.xml" Id="R5379fcdb512f45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36812a1904018" /><Relationship Type="http://schemas.openxmlformats.org/officeDocument/2006/relationships/notesSlide" Target="/ppt/notesSlides/notesSlide4.xml" Id="Rb74e90d938ad4b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00c75408e4b1a" /><Relationship Type="http://schemas.openxmlformats.org/officeDocument/2006/relationships/notesSlide" Target="/ppt/notesSlides/notesSlide5.xml" Id="R3d23b7a8689c43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58974ba584c05" /><Relationship Type="http://schemas.openxmlformats.org/officeDocument/2006/relationships/notesSlide" Target="/ppt/notesSlides/notesSlide6.xml" Id="Rd16e4c7272944c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5341C-D9A4-4065-B96C-2FE7E16B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原稿全文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2E27E0-CF71-4015-95A2-10B7E66A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服务台响应观察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F8650F-B4CC-4FF3-A9A7-55FB7B33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原稿 1/2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1F70C-A740-49CC-ACF7-C3AD686E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B2F3A-412F-4643-A5CB-C9EAB35C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047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以下是模拟工作记录。负责人希望在下次例会上决定是否立即增加一名值班人员。最近两个月请求总量从200单变成300单，整体首次响应中位数从4小时变成7小时，有同事据此认为人员已经明显不足。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FF395-5C46-4CD7-AC37-96A39222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1047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下个月有集中入学办理，不能等两个月再收集数据。业务侧愿意先给高峰时段安排临时支持，但要求一周后复核。不能因为临时支持实施后整体中位数下降就认定长期增员有效，因为办理事项与排班都会同时变化。</a:t>
            </a:r>
          </a:p>
        </p:txBody>
      </p:sp>
    </p:spTree>
    <p:extLst>
      <p:ext uri="{BB962C8B-B14F-4D97-AF65-F5344CB8AC3E}">
        <p14:creationId xmlns:p14="http://schemas.microsoft.com/office/powerpoint/2010/main" val="8792835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04A51D-A744-4C44-95C4-40306B71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原稿全文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D9EC4-0F3F-4EAE-B13E-2750794E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服务台响应观察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0CB0D-71BB-44A8-91D2-678755B8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原稿 2/2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466CF-1A57-4EBC-A857-DCB5776C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7BDF95-2DE8-4514-9C0C-06E9A8F0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复核分类后发现，普通咨询从160单变成180单，复杂权限申请从40单变成120单。普通咨询首次响应中位数两个月都是2小时，复杂权限申请从12小时变成13小时。分类口径没有变化，但目前只有分类中位数，没有逐单时间分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84F8ED-56B8-4489-B4FC-2162ED5F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现有登记还缺少请求进入队列的时刻、等待外部审批的时长和实际处理工时。权限申请有些时间是在等待院系确认，有些时间是在等待值班人员接单，当前不能区分二者。有人提出给复杂申请加自动分流，也有人主张先补登记再决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4139E-9568-431E-9857-E7F843AC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959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临时支持不能获得权限审批权，仍由原审批人确认。建议立即补记队列等待、外部审批等待和处理工时，并把普通咨询与复杂申请分别统计。若复杂申请主要等待审批，应先改善审批协作；若值班队列持续积压且实际处理负荷饱和，再提出正式增员方案。无论是否安排临时支持，都保留原始记录和未解决申请，不通过关闭旧单改善指标。</a:t>
            </a:r>
          </a:p>
        </p:txBody>
      </p:sp>
    </p:spTree>
    <p:extLst>
      <p:ext uri="{BB962C8B-B14F-4D97-AF65-F5344CB8AC3E}">
        <p14:creationId xmlns:p14="http://schemas.microsoft.com/office/powerpoint/2010/main" val="17207634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3C00E5-3954-4B20-BD02-0B97AC25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初模 01｜整体信号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AA15CF-6132-4C95-88EE-8F5C5A56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总量与整体响应都变差，但证据尚不足以直接支持长期增员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E8963-6509-4F2B-A106-365784AA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61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6CD4B6-DB5C-4E4A-9EE1-0C4ACCF4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8DD0F-76C3-4022-855A-1C01FD4A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952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3D94F-D59B-4992-A45A-368D3C75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请求总量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832DBE-E5EC-45DB-A338-637C7971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200 单  →  300 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FFF4F8-5A61-4E48-9353-B99E3BF3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+50%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622DF6-CE5B-4AFE-8CA4-5602C0C4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最近两个月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BCF319-BD77-418F-8AE2-4E4EF6C4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600200"/>
            <a:ext cx="2952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0D6B26-3BD1-4BD4-BE8E-851E4841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7716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整体首次响应中位数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AF7C3E-83B1-40DA-AD5B-A99714F8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574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 小时  →  7 小时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AF749F-136D-473E-8E66-EB993E42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146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+3 小时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5B21B8-D155-4885-810E-0CAFA2B0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813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同一观察窗口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E5A17F-595E-4CCD-BF3E-22FE5D3B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00200"/>
            <a:ext cx="44577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F53696-CD73-414A-8540-7C243E9F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7907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当前可以确认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0AF2A9-1A13-4043-96FD-29224566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33600"/>
            <a:ext cx="390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服务台的整体响应表现恶化，且下个月有集中入学办理，现场需要先处理高峰风险。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A95024-461C-4744-B05A-02261EC4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B"/>
          </a:solidFill>
          <a:ln xmlns:a="http://schemas.openxmlformats.org/drawingml/2006/main" w="0">
            <a:solidFill>
              <a:srgbClr val="E6E8E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C16FCC-89C4-4C22-8B9F-5FA8693E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现场约束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F9ACAF-A8D9-4770-8810-1CD361B8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不能等两个月再收集数据。业务侧愿意先安排高峰临时支持，并要求一周后复核。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2B0801-7625-4772-8F4C-4186074C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判断边界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F30B12-ECAE-4282-946E-B92B5E01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19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临时支持实施后整体中位数下降，也不能单独证明长期增员有效，因为办理事项与排班会同时变化。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852048-2E7C-4CBC-A6CE-9F2518F8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E768F9-E82D-475A-A706-FFEB1F3C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本周动作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FBF5CC-4EDF-435A-87AA-0B2D6E51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19725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高峰时段先安排临时支持，约定一周后复核；同时把复核做成分类型、可追溯的记录。</a:t>
            </a:r>
          </a:p>
        </p:txBody>
      </p:sp>
    </p:spTree>
    <p:extLst>
      <p:ext uri="{BB962C8B-B14F-4D97-AF65-F5344CB8AC3E}">
        <p14:creationId xmlns:p14="http://schemas.microsoft.com/office/powerpoint/2010/main" val="9947591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E200F6-56BC-4685-8C9D-2B424946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初模 02｜分层证据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53AAE-7591-45DC-86E8-C9944F6F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请求结构发生变化，整体中位数仍需分解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5DD76-305C-4F1D-A5FE-61B800DA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61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14625-0F88-4788-BA73-ACF032D4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</a:ln>
        </p:spPr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0960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000125"/>
                <a:gridCol w="1000125"/>
                <a:gridCol w="1000125"/>
                <a:gridCol w="1000125"/>
              </a:tblGrid>
              <a:tr h="698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请求类型</a:t>
                      </a:r>
                    </a:p>
                  </a:txBody>
                  <a:tcPr marL="91440" marR="91440" marT="45720" marB="45720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前月数量</a:t>
                      </a:r>
                    </a:p>
                  </a:txBody>
                  <a:tcPr marL="91440" marR="91440" marT="45720" marB="45720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本月数量</a:t>
                      </a:r>
                    </a:p>
                  </a:txBody>
                  <a:tcPr marL="91440" marR="91440" marT="45720" marB="45720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前月中位数</a:t>
                      </a:r>
                    </a:p>
                  </a:txBody>
                  <a:tcPr marL="91440" marR="91440" marT="45720" marB="45720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本月中位数</a:t>
                      </a:r>
                    </a:p>
                  </a:txBody>
                  <a:tcPr marL="91440" marR="91440" marT="45720" marB="45720">
                    <a:solidFill>
                      <a:srgbClr val="1F2933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普通咨询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160 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180 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2 小时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2 小时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复杂权限申请</a:t>
                      </a:r>
                    </a:p>
                  </a:txBody>
                  <a:tcPr marL="91440" marR="91440" marT="45720" marB="45720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40 单</a:t>
                      </a:r>
                    </a:p>
                  </a:txBody>
                  <a:tcPr marL="91440" marR="91440" marT="45720" marB="45720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120 单</a:t>
                      </a:r>
                    </a:p>
                  </a:txBody>
                  <a:tcPr marL="91440" marR="91440" marT="45720" marB="45720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12 小时</a:t>
                      </a:r>
                    </a:p>
                  </a:txBody>
                  <a:tcPr marL="91440" marR="91440" marT="45720" marB="45720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13 小时</a:t>
                      </a:r>
                    </a:p>
                  </a:txBody>
                  <a:tcPr marL="91440" marR="91440" marT="45720" marB="45720">
                    <a:solidFill>
                      <a:srgbClr val="F4F5F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842DF1-A0A8-4C6D-8A4A-20B39745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请求量占比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97A4A-A2AE-41A1-9998-03A5C7DC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957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前月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57DD28-BB41-4DC4-8B50-A6672DF3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0957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本月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E74D61-9761-40B6-8D39-265AA726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76750"/>
            <a:ext cx="4000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6E8EB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6EA80-FFB4-439D-95C4-CE88131F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76750"/>
            <a:ext cx="8001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7323A"/>
          </a:solidFill>
          <a:ln xmlns:a="http://schemas.openxmlformats.org/drawingml/2006/main" w="9525">
            <a:solidFill>
              <a:srgbClr val="2732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90603-30AA-4033-8C38-060F5B31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57750"/>
            <a:ext cx="4000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6E8EB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266F22-A8D6-4B9E-9BF7-ED208639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57750"/>
            <a:ext cx="16002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7323A"/>
          </a:solidFill>
          <a:ln xmlns:a="http://schemas.openxmlformats.org/drawingml/2006/main" w="9525">
            <a:solidFill>
              <a:srgbClr val="2732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67C202-B97E-4745-B688-87F67B94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76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复杂申请 20%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12EEAE-9376-43E7-BE11-81A50127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57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复杂申请 40%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FA7C36-5A73-441D-A6DF-1C159BF2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19250"/>
            <a:ext cx="4381500" cy="346710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AFCAFF-58EB-4D4C-9206-F4FE3A5C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847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读图结论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051C0C-A171-4707-84AD-3B1F7B06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669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复杂权限申请数量从 40 单增至</a:t>
            </a:r>
          </a:p>
          <a:p xmlns:a="http://schemas.openxmlformats.org/drawingml/2006/main">
            <a:pPr algn="l">
              <a:defRPr sz="18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120 单，占比从 20% 增至 40%。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100A43-8EF7-4844-BE43-E26B2650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6230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两类中位数变化很小：</a:t>
            </a:r>
          </a:p>
          <a:p xmlns:a="http://schemas.openxmlformats.org/drawingml/2006/main">
            <a:pPr algn="l">
              <a:defRPr sz="1425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普通咨询仍为 2 小时。</a:t>
            </a:r>
          </a:p>
          <a:p xmlns:a="http://schemas.openxmlformats.org/drawingml/2006/main">
            <a:pPr algn="l">
              <a:defRPr sz="1425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复杂申请从 12 小时到 13 小时。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5CF42E-7859-4A21-A126-53A9E197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7670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整体 4→7 小时不能只读成“所有请求都变慢”。</a:t>
            </a:r>
          </a:p>
          <a:p xmlns:a="http://schemas.openxmlformats.org/drawingml/2006/main">
            <a:pPr algn="l">
              <a:defRPr sz="1500" b="1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还需逐单分布检验。</a:t>
            </a:r>
          </a:p>
        </p:txBody>
      </p:sp>
    </p:spTree>
    <p:extLst>
      <p:ext uri="{BB962C8B-B14F-4D97-AF65-F5344CB8AC3E}">
        <p14:creationId xmlns:p14="http://schemas.microsoft.com/office/powerpoint/2010/main" val="17777135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5EA616-865C-4427-98CA-F4890B12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初模 03｜测量缺口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C026A-386E-4DE8-AA58-9A1E4D67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当前登记无法区分“等审批”与“等值班人员接单”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6ABA5-E963-4909-975F-B8A2E2CA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61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E0FF9A-6A8E-4D20-BC6C-25D882E6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BDBD5E-9B73-456B-A8C3-CC11E5F3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一个复杂申请的首次响应时间可能包含三段等待，但现有登记缺少关键时刻。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56F001-6FBA-41FB-894E-7AC0D007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4C7E4-F21C-4A53-A328-CA5C61CB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进入队列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21B197-2A6F-41A8-B9D1-DDC4DD08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缺：进入队列时刻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A2B08F-4700-40E2-ABF9-C9DB9961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2885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C5B2B-0E70-4B05-90FE-7FBDE709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57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外部审批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853A0-C05D-435B-83C6-4B37DCDC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75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缺：院系确认等待时长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FBAE19-CEB3-4333-92F3-4DEFA2D6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2885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049364-BEB7-498C-8983-0C149B37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57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值班人员处理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6F0A9B-6C3D-414E-B466-ACCBA380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575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缺：实际处理工时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F898F5-C753-41C0-B356-86CA9FC4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717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63E819-98C6-4279-8322-678E61B3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717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05BEB7-FBD3-44FF-BA80-B4765530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B"/>
          </a:solidFill>
          <a:ln xmlns:a="http://schemas.openxmlformats.org/drawingml/2006/main" w="0">
            <a:solidFill>
              <a:srgbClr val="E6E8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116CF4-676B-4360-BDFA-68F83D98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9149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40F627-21A8-4AA3-8CC5-2AA9EF21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现有数据回答不了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60FC49-7319-4973-95A3-CC1168D5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复杂申请的 13 小时里，</a:t>
            </a:r>
          </a:p>
          <a:p xmlns:a="http://schemas.openxmlformats.org/drawingml/2006/main">
            <a:pPr algn="l"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等待院系确认与等待值班人员接单各占多少？</a:t>
            </a:r>
          </a:p>
          <a:p xmlns:a="http://schemas.openxmlformats.org/drawingml/2006/main">
            <a:pPr algn="l"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目前不能区分。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B50F78-CFE5-4705-8723-60C7FCB5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26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自动分流是否有效，也因此无法直接判断。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E39452-3FD5-45E6-B209-D4A67557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38600"/>
            <a:ext cx="55245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92E6A1-1E84-45B2-B98A-97CD95C3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672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立即补记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23DFB8-45C2-409D-A799-10BD5904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4820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01  队列进入时刻</a:t>
            </a:r>
          </a:p>
          <a:p xmlns:a="http://schemas.openxmlformats.org/drawingml/2006/main">
            <a:pPr algn="l">
              <a:defRPr sz="14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02  外部审批等待</a:t>
            </a:r>
          </a:p>
          <a:p xmlns:a="http://schemas.openxmlformats.org/drawingml/2006/main">
            <a:pPr algn="l">
              <a:defRPr sz="14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03  实际处理工时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75819C-FB1B-4A19-A79A-B9DBFB83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5245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两类请求分开统计；保留原始记录与未解决申请。</a:t>
            </a:r>
          </a:p>
        </p:txBody>
      </p:sp>
    </p:spTree>
    <p:extLst>
      <p:ext uri="{BB962C8B-B14F-4D97-AF65-F5344CB8AC3E}">
        <p14:creationId xmlns:p14="http://schemas.microsoft.com/office/powerpoint/2010/main" val="5373680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62A9D8-B171-4918-8CFA-3F52C11C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初模 04｜决策边界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0AB08B-655A-48A2-9683-66D4A9BF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先用一周复核补足归因，再决定是否正式增员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8DA2F-B557-42F6-906C-40C98324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61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DC65E-1FCD-4F3E-9DCA-E23EBEF7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2EA2E-8889-40B9-8443-87267290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390900" cy="36957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950154-0D31-42B0-B934-1381FAE4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现在就做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308EBB-EE91-40F0-9E04-F08B53F5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050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高峰时段安排临时支持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7C20B-786C-45BE-9BA9-09BBC8D1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276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一周后复核，并立即补记</a:t>
            </a:r>
          </a:p>
          <a:p xmlns:a="http://schemas.openxmlformats.org/drawingml/2006/main">
            <a:pPr algn="l">
              <a:defRPr sz="1500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队列、审批与处理时间。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67784D-FF94-44DA-8F77-CA34A3E5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B"/>
          </a:solidFill>
          <a:ln xmlns:a="http://schemas.openxmlformats.org/drawingml/2006/main" w="0">
            <a:solidFill>
              <a:srgbClr val="E6E8E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7FE54E-5AAF-4604-8E75-C69AC908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862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临时支持的边界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E63C22-43A5-4CAF-84B4-2C521A29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2910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临时支持不能获得权限审批权</a:t>
            </a:r>
          </a:p>
          <a:p xmlns:a="http://schemas.openxmlformats.org/drawingml/2006/main">
            <a:pPr algn="l"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审批仍由原审批人确认。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E50302-CAAA-4C4B-AB73-5E07C22E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57350"/>
            <a:ext cx="695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BEFFC4-0AB9-4DCB-81C0-B4D9AF45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8859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复核后先回答：复杂申请的主要等待发生在哪里？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5D68D9-6D46-4429-A3F7-07A6C22E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00300"/>
            <a:ext cx="25527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65F989-6427-4E7A-AA34-7DF1592C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717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主要等外部审批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CD8B64-3B91-4281-98DA-56B92242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336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E5139D-0823-4ECA-9754-A0077810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00300"/>
            <a:ext cx="29146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81D214-2ECB-45FB-8D6C-F2799E38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优先改善审批协作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673206-CEF8-4289-B37B-5099D6BA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62350"/>
            <a:ext cx="69532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62E919-20D0-44E8-AC2C-237A0EC4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90950"/>
            <a:ext cx="628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正式增员需要的联合证据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2A3BF7-EB12-46A9-9AFB-3DB58FA7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22910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值班队列持续积压  +  实际处理负荷饱和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815BE0-1818-4A07-9D85-01EE841A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705350"/>
            <a:ext cx="628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两项同时成立，再提出正式增员方案；否则先解决审批协作或继续补记。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1B782C-8A88-4B0E-8F85-33764306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261465-1C19-46E9-AB1A-95CF1EFD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36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指标纪律：不通过关闭旧单改善指标，保留原始记录与未解决申请。</a:t>
            </a:r>
          </a:p>
        </p:txBody>
      </p:sp>
    </p:spTree>
    <p:extLst>
      <p:ext uri="{BB962C8B-B14F-4D97-AF65-F5344CB8AC3E}">
        <p14:creationId xmlns:p14="http://schemas.microsoft.com/office/powerpoint/2010/main" val="5955450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2026-09-10T01:36:11.1120000Z</dcterms:created>
  <dcterms:modified xsi:type="dcterms:W3CDTF">2026-09-10T01:36:11.1120000Z</dcterms:modified>
</coreProperties>
</file>