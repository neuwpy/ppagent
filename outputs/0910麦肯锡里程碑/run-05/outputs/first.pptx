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fb0abd42384821" /><Relationship Type="http://schemas.openxmlformats.org/officeDocument/2006/relationships/extended-properties" Target="/docProps/app.xml" Id="Rfd06692078f54adb" /><Relationship Type="http://schemas.openxmlformats.org/officeDocument/2006/relationships/officeDocument" Target="/ppt/presentation.xml" Id="Rcb1af4a1eeee4a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f4b7a8f5384048"/>
  </p:sldMasterIdLst>
  <p:notesMasterIdLst>
    <p:notesMasterId xmlns:r="http://schemas.openxmlformats.org/officeDocument/2006/relationships" r:id="Re1c485c43efc4662"/>
  </p:notesMasterIdLst>
  <p:sldIdLst>
    <p:sldId xmlns:r="http://schemas.openxmlformats.org/officeDocument/2006/relationships" id="256" r:id="Rd53de7b473f54f46"/>
    <p:sldId xmlns:r="http://schemas.openxmlformats.org/officeDocument/2006/relationships" id="257" r:id="Re376c9e4869b42bb"/>
    <p:sldId xmlns:r="http://schemas.openxmlformats.org/officeDocument/2006/relationships" id="258" r:id="R3a2a0a3b4a2e44dc"/>
    <p:sldId xmlns:r="http://schemas.openxmlformats.org/officeDocument/2006/relationships" id="259" r:id="R237270b8352a4bc7"/>
    <p:sldId xmlns:r="http://schemas.openxmlformats.org/officeDocument/2006/relationships" id="260" r:id="Rf202885773f746c2"/>
    <p:sldId xmlns:r="http://schemas.openxmlformats.org/officeDocument/2006/relationships" id="261" r:id="R217ecea0a8da4b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0f7b9a147d40d4" /><Relationship Type="http://schemas.openxmlformats.org/officeDocument/2006/relationships/slideMaster" Target="/ppt/slideMasters/slideMaster1.xml" Id="Rf8f4b7a8f5384048" /><Relationship Type="http://schemas.openxmlformats.org/officeDocument/2006/relationships/notesMaster" Target="/ppt/notesMasters/notesMaster1.xml" Id="Re1c485c43efc4662" /><Relationship Type="http://schemas.openxmlformats.org/officeDocument/2006/relationships/presProps" Target="/ppt/presProps.xml" Id="Rc894d9123ff24a10" /><Relationship Type="http://schemas.openxmlformats.org/officeDocument/2006/relationships/tableStyles" Target="/ppt/tableStyles.xml" Id="R1e8819806b524ecb" /><Relationship Type="http://schemas.openxmlformats.org/officeDocument/2006/relationships/slide" Target="/ppt/slides/slide1.xml" Id="Rd53de7b473f54f46" /><Relationship Type="http://schemas.openxmlformats.org/officeDocument/2006/relationships/slide" Target="/ppt/slides/slide2.xml" Id="Re376c9e4869b42bb" /><Relationship Type="http://schemas.openxmlformats.org/officeDocument/2006/relationships/slide" Target="/ppt/slides/slide3.xml" Id="R3a2a0a3b4a2e44dc" /><Relationship Type="http://schemas.openxmlformats.org/officeDocument/2006/relationships/slide" Target="/ppt/slides/slide4.xml" Id="R237270b8352a4bc7" /><Relationship Type="http://schemas.openxmlformats.org/officeDocument/2006/relationships/slide" Target="/ppt/slides/slide5.xml" Id="Rf202885773f746c2" /><Relationship Type="http://schemas.openxmlformats.org/officeDocument/2006/relationships/slide" Target="/ppt/slides/slide6.xml" Id="R217ecea0a8da4b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12691cebde45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a3a4a8fcd14572" /><Relationship Type="http://schemas.openxmlformats.org/officeDocument/2006/relationships/notesMaster" Target="/ppt/notesMasters/notesMaster1.xml" Id="R6101ca76ce364f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65283011e0437f" /><Relationship Type="http://schemas.openxmlformats.org/officeDocument/2006/relationships/notesMaster" Target="/ppt/notesMasters/notesMaster1.xml" Id="Rf1f98fdb75af4a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ba536f63874603" /><Relationship Type="http://schemas.openxmlformats.org/officeDocument/2006/relationships/notesMaster" Target="/ppt/notesMasters/notesMaster1.xml" Id="R1471546c15e54f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177cf55e8c4222" /><Relationship Type="http://schemas.openxmlformats.org/officeDocument/2006/relationships/notesMaster" Target="/ppt/notesMasters/notesMaster1.xml" Id="R8421c7a5fa8b4b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124e9a34db4a52" /><Relationship Type="http://schemas.openxmlformats.org/officeDocument/2006/relationships/notesMaster" Target="/ppt/notesMasters/notesMaster1.xml" Id="R3073bb8f98844f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c73f8d3e1d45b9" /><Relationship Type="http://schemas.openxmlformats.org/officeDocument/2006/relationships/notesMaster" Target="/ppt/notesMasters/notesMaster1.xml" Id="R070f81e6a44340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来源：inputs/原稿.md。此页保留原稿正文，供后部初模逐页映射。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来源：inputs/原稿.md。此页保留原稿正文，供后部初模逐页映射。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来源：原稿第1-2段。此页把总体信号与“立即干预”和“长期增员仍未证实”的边界放在同一页。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来源：原稿第3段。表格与占比条均来自原稿的分类数量和中位数；不把汇总中位数误解成逐单分布。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来源：原稿第4-5段。流程框表示时间构成，不声称各段已被测得；缺口和补记项均来自原稿。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来源：原稿第2、4、5段。该页把“临时支持”“审批协作”“正式增员”的条件边界并列呈现，不把未知关系画成已验证因果。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777ed3b0648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f4c56802044bdf" /><Relationship Type="http://schemas.openxmlformats.org/officeDocument/2006/relationships/slideLayout" Target="/ppt/slideLayouts/slideLayout1.xml" Id="R1bb8f34b547c47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b8f34b547c47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c916d7afc4239" /><Relationship Type="http://schemas.openxmlformats.org/officeDocument/2006/relationships/notesSlide" Target="/ppt/notesSlides/notesSlide1.xml" Id="R7e8a1506c32146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6e7332c6146f7" /><Relationship Type="http://schemas.openxmlformats.org/officeDocument/2006/relationships/notesSlide" Target="/ppt/notesSlides/notesSlide2.xml" Id="Rf8c50572147647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9cf6c5a93406e" /><Relationship Type="http://schemas.openxmlformats.org/officeDocument/2006/relationships/notesSlide" Target="/ppt/notesSlides/notesSlide3.xml" Id="R7e649d1c380d4f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a82e87b694ae0" /><Relationship Type="http://schemas.openxmlformats.org/officeDocument/2006/relationships/notesSlide" Target="/ppt/notesSlides/notesSlide4.xml" Id="Rb80b5dd8089d44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76b456fba4e1e" /><Relationship Type="http://schemas.openxmlformats.org/officeDocument/2006/relationships/notesSlide" Target="/ppt/notesSlides/notesSlide5.xml" Id="Re8ccfa34f06d46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6dfe174a74f4d" /><Relationship Type="http://schemas.openxmlformats.org/officeDocument/2006/relationships/notesSlide" Target="/ppt/notesSlides/notesSlide6.xml" Id="Rc054f991fc7d46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98C55-9C3E-43BF-A7DE-D5D8422B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原稿全文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A64B3-CFBC-4935-9AB3-896D9D58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服务台响应观察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A353B-54B1-407F-9B35-B42F2A7B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原稿 1/2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6B66C-AB7E-4073-97E0-73FEF32E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3FF863-872A-4B9D-903A-DCDB4310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以下是模拟工作记录。负责人希望在下次例会上决定是否立即增加一名值班人员。最近两个月请求总量从200单变成300单，整体首次响应中位数从4小时变成7小时，有同事据此认为人员已经明显不足。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B1E11-B938-4A75-A695-87C9E4B8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下个月有集中入学办理，不能等两个月再收集数据。业务侧愿意先给高峰时段安排临时支持，但要求一周后复核。不能因为临时支持实施后整体中位数下降就认定长期增员有效，因为办理事项与排班都会同时变化。</a:t>
            </a:r>
          </a:p>
        </p:txBody>
      </p:sp>
    </p:spTree>
    <p:extLst>
      <p:ext uri="{BB962C8B-B14F-4D97-AF65-F5344CB8AC3E}">
        <p14:creationId xmlns:p14="http://schemas.microsoft.com/office/powerpoint/2010/main" val="10606545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9A3B9-2CF3-4723-B34A-CD977959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原稿全文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83901-2638-4B38-85BF-29969584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服务台响应观察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5CC2A-682E-4E05-9ECD-80084123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0050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原稿 2/2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17EDD-7373-4EB0-A47D-EE7324D3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51E36-E82F-49C0-8948-09B7EBDF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复核分类后发现，普通咨询从160单变成180单，复杂权限申请从40单变成120单。普通咨询首次响应中位数两个月都是2小时，复杂权限申请从12小时变成13小时。分类口径没有变化，但目前只有分类中位数，没有逐单时间分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CD977-4634-421A-B73A-6AC67C55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现有登记还缺少请求进入队列的时刻、等待外部审批的时长和实际处理工时。权限申请有些时间是在等待院系确认，有些时间是在等待值班人员接单，当前不能区分二者。有人提出给复杂申请加自动分流，也有人主张先补登记再决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2AAC8-87D1-4D9A-B7F8-DB288E26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临时支持不能获得权限审批权，仍由原审批人确认。建议立即补记队列等待、外部审批等待和处理工时，并把普通咨询与复杂申请分别统计。若复杂申请主要等待审批，应先改善审批协作；若值班队列持续积压且实际处理负荷饱和，再提出正式增员方案。无论是否安排临时支持，都保留原始记录和未解决申请，不通过关闭旧单改善指标。</a:t>
            </a:r>
          </a:p>
        </p:txBody>
      </p:sp>
    </p:spTree>
    <p:extLst>
      <p:ext uri="{BB962C8B-B14F-4D97-AF65-F5344CB8AC3E}">
        <p14:creationId xmlns:p14="http://schemas.microsoft.com/office/powerpoint/2010/main" val="715609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F6BE8A-5A6E-40A6-8438-FC746573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初模 01｜整体信号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4F6F9-C511-43E3-B3BF-D352EB4F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总量与整体响应都变差，但证据尚不足以直接支持长期增员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7CD59-4628-4AD4-86A0-DD541648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02767-548B-4C3C-9514-9DD311FC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8BE4B-887F-4521-B090-B1F8C611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952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A4433-0A09-4B8B-A8D3-8EA83BAD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请求总量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C0792-1380-4DC0-A0A5-3FCC5BB8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200 单  →  300 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01ABB-C9DC-4B58-90F4-95AACC66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146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+50%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543F5-B611-44EF-A579-264A1FCB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最近两个月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6F49B-158C-4CE5-B6A0-24FB5962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600200"/>
            <a:ext cx="2952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CD480-47EF-4B92-A5B1-BA50E024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771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整体首次响应中位数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1C171B-A316-454F-9B95-08FBE92E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574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 小时  →  7 小时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2B003-3B4A-4770-BF04-A99C7334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146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+3 小时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F1ACD-E79B-4B52-B1B7-E05F0EA0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813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同一观察窗口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E01D8-F02F-48FE-99A0-0188A996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00200"/>
            <a:ext cx="44577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DCA00-AC9E-4EA6-91AF-D1C760A5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7907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当前可以确认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FCB0FC-6CFB-48CF-9D07-C6C7ED68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33600"/>
            <a:ext cx="3905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服务台的整体响应表现恶化，且下个月有集中入学办理，现场需要先处理高峰风险。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B2DAEB-CD19-4BC5-B0A4-92006355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solidFill>
              <a:srgbClr val="E6E8E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FFBC65-C00B-4A91-BE52-E138517D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现场约束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C5172A-D33A-4CD5-89A7-001E066A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不能等两个月再收集数据。业务侧愿意先安排高峰临时支持，并要求一周后复核。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314AD-2DF5-4D4E-9AEE-8A9EE6C2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判断边界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013B22-C6B1-45A0-8933-035D11F2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临时支持实施后整体中位数下降，也不能单独证明长期增员有效，因为办理事项与排班会同时变化。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9D3474-D35A-494D-8B5E-7B1AD593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B1D1BC-F4D4-414E-A0C9-287230D8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本周动作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FF0990-03E3-4ED0-AD93-D643271A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19725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高峰时段先安排临时支持，约定一周后复核；同时把复核做成分类型、可追溯的记录。</a:t>
            </a:r>
          </a:p>
        </p:txBody>
      </p:sp>
    </p:spTree>
    <p:extLst>
      <p:ext uri="{BB962C8B-B14F-4D97-AF65-F5344CB8AC3E}">
        <p14:creationId xmlns:p14="http://schemas.microsoft.com/office/powerpoint/2010/main" val="812946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98B230-CBD4-432E-B57C-45922CD1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初模 02｜分层证据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33F54-C98D-419C-BC35-43A50807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请求结构变了，复杂申请把总体中位数推高的可能性更大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2F2B7-3D85-4E25-BD66-5F96955A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BE0BB-1A1D-48E1-8121-C15FD7AC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</a:ln>
        </p:spPr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7143750" cy="1847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190625"/>
                <a:gridCol w="1190625"/>
                <a:gridCol w="1190625"/>
                <a:gridCol w="1190625"/>
              </a:tblGrid>
              <a:tr h="6159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请求类型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前月数量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本月数量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前月中位数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本月中位数</a:t>
                      </a:r>
                    </a:p>
                  </a:txBody>
                  <a:tcPr marL="91440" marR="91440" marT="45720" marB="45720">
                    <a:solidFill>
                      <a:srgbClr val="1F2933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普通咨询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160 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180 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2 小时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2 小时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59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复杂权限申请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40 单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120 单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12 小时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13 小时</a:t>
                      </a:r>
                    </a:p>
                  </a:txBody>
                  <a:tcPr marL="91440" marR="91440" marT="45720" marB="45720">
                    <a:solidFill>
                      <a:srgbClr val="F4F5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6EEBF-A3F5-4C3B-9632-ACFF3687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请求量占比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8A8F1-6753-49C9-B3D8-59FFAF3C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95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前月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A1668-9016-4223-942E-F41E3549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95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本月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2CA7A-32CD-4528-9BEA-40D2A3C0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4000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8EB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6B664-814F-4B68-8079-41143762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8001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7323A"/>
          </a:solidFill>
          <a:ln xmlns:a="http://schemas.openxmlformats.org/drawingml/2006/main" w="9525">
            <a:solidFill>
              <a:srgbClr val="2732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2118A-283B-42B2-BA10-160A4865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4000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6E8EB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359BF-DA7C-4427-8842-7941757B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16002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7323A"/>
          </a:solidFill>
          <a:ln xmlns:a="http://schemas.openxmlformats.org/drawingml/2006/main" w="9525">
            <a:solidFill>
              <a:srgbClr val="2732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B09CB-6D3E-4B5B-9B9A-C9FCB8AC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76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复杂申请 20%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3B0F9A-B269-4AC3-8C03-6D2D03A3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57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复杂申请 40%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DCF95-CE04-4ADC-9CE5-9C228D9F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19250"/>
            <a:ext cx="438150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D11EA0-1197-4516-9399-89C3E62D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47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读图结论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7DFE8-01B7-4139-A42B-EB655B2D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复杂权限申请数量从 40 单增至 120 单，占比从 20% 增至 40%。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C51295-00BA-41CF-84A8-A894846B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623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两类中位数各自变化很小：普通咨询保持 2 小时，复杂申请从 12 小时到 13 小时。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B63BA-4864-435A-A842-6FB933FC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76700"/>
            <a:ext cx="371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因此，整体变化更像是请求结构与复杂程度变化的混合结果，需要进一步分解。</a:t>
            </a:r>
          </a:p>
        </p:txBody>
      </p:sp>
    </p:spTree>
    <p:extLst>
      <p:ext uri="{BB962C8B-B14F-4D97-AF65-F5344CB8AC3E}">
        <p14:creationId xmlns:p14="http://schemas.microsoft.com/office/powerpoint/2010/main" val="11472488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D6A2F9-99F5-4197-B131-B6C6B323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初模 03｜测量缺口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6D051-D689-4335-B06F-023D7F75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当前登记无法区分“等审批”与“等值班人员接单”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9A742-E55E-4C2E-8EC5-DF399B99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33D77-6DF7-42E2-9A0E-70B0C00E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32F75-CCAC-41B6-99A7-2FFE53FC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一个复杂申请的首次响应时间可能包含三段等待，但现有登记缺少关键时刻。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CCBB4-CAB3-422B-91BA-F63848F4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5CF5B-A199-4011-9E3D-DBD3CC3A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进入队列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70B5C-6D41-451D-8F0C-A65E26F7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缺：进入队列时刻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6564E-C984-4B06-AFC2-A8FCE7D7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288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1C897-68A3-4B1F-91DC-6E5D4B2A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57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外部审批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32F40-9888-4E4B-BA60-84E8D3A6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575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缺：院系确认等待时长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B2AC8-906B-4A44-8FF0-4664AD7E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288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059F1-B1A0-4884-884D-E636DFFE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值班人员处理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906C06-EB54-4F04-9C2B-4B11F55A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575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缺：实际处理工时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866452-6709-4064-9EDD-E0F43BFD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09850"/>
            <a:ext cx="704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81EFFE-F735-4173-A703-D23D7183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717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73D3C-6897-4416-982F-09416946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09850"/>
            <a:ext cx="7048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80C78-3881-4B09-A243-D221763B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704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8B103-3B3A-4A95-AEF1-E82CC3C8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solidFill>
              <a:srgbClr val="E6E8E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D960E-E183-4FB2-9EEA-4BE8D608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49149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575809-5061-429C-A120-6F7C5980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现有数据回答不了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56841C-EF0C-4D6F-ADB4-FD4C2933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复杂申请的 13 小时里，有多少是在等待院系确认？有多少是在等待值班人员接单？目前不能区分。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48DD2-9C80-42D6-B0C0-B48AD2B0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自动分流是否有效，也因此无法直接判断。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F3E3C0-1DE3-4195-B413-48EB207B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38600"/>
            <a:ext cx="55245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1B15DF-7A30-4A4C-A655-680672A7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672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立即补记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FEF87C-52CA-4141-B771-4F904CF5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05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01  队列进入时刻   02  外部审批等待   03  实际处理工时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4026C0-66FB-4ECF-9C73-051989B3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5780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普通咨询与复杂申请分别统计；无论是否临时支持，都保留原始记录和未解决申请。</a:t>
            </a:r>
          </a:p>
        </p:txBody>
      </p:sp>
    </p:spTree>
    <p:extLst>
      <p:ext uri="{BB962C8B-B14F-4D97-AF65-F5344CB8AC3E}">
        <p14:creationId xmlns:p14="http://schemas.microsoft.com/office/powerpoint/2010/main" val="1486301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E2A6E-7E20-4341-8074-B65462BB0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初模 04｜决策边界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E700E-009E-41EA-A079-7A098784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先用一周复核补足归因，再决定是否正式增员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71697-35B4-4994-967C-05F6D3FA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619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48558-17E9-4F9A-AF3B-DDE23EED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3"/>
          </a:solidFill>
          <a:ln xmlns:a="http://schemas.openxmlformats.org/drawingml/2006/main" w="0">
            <a:solidFill>
              <a:srgbClr val="1F293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831E3-EAED-4756-8DA1-8D77C6A8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390900" cy="36957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DE55C-273E-456E-8549-A09B30C4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现在就做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40FF5-07A9-4C30-8EFF-AC475B6C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高峰时段安排临时支持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20D85-FBA0-44F2-873D-4215BEA0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76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一周后复核，并立即补记三段等待与处理时间。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912CE-EFE0-4DCC-9A32-CDAA53BA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solidFill>
              <a:srgbClr val="E6E8E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C7DFEF-5948-491A-9DFB-39F8B2AD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临时支持的边界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E475B-41CE-44C3-9AE6-E2B3110A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29100"/>
            <a:ext cx="266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临时支持不能获得权限审批权，审批仍由原审批人确认。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FF0B9-4A53-4A4F-925D-85F3A90B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57350"/>
            <a:ext cx="695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87D48-4270-4D6F-B199-9E133892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885950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复核后先回答：复杂申请的主要等待发生在哪里？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C64B6-22A7-4658-83AE-1BA582D2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00300"/>
            <a:ext cx="2552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E6E8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7747E-D5B4-4EF1-BC74-9522B1AC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主要等外部审批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7EE0D-6768-4F7A-A886-86C326D9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3105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优先改善审批协作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FE240-6C92-4B26-8456-7C3199AA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62350"/>
            <a:ext cx="69532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40AA4D-064B-4D0E-8203-D8429C5A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90950"/>
            <a:ext cx="628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5B657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B6572"/>
                </a:solidFill>
                <a:latin typeface="Arial"/>
                <a:ea typeface="Arial"/>
                <a:cs typeface="Arial"/>
              </a:rPr>
              <a:t>正式增员需要的联合证据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5D3A32-E5AD-420D-868D-D14B91F9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2910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值班队列持续积压  +  实际处理负荷饱和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F79BE7-CBB1-4721-839C-DE4B2739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70535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F2933"/>
                </a:solidFill>
                <a:latin typeface="Arial"/>
                <a:ea typeface="Arial"/>
                <a:cs typeface="Arial"/>
              </a:rPr>
              <a:t>两项同时成立，再提出正式增员方案；否则先解决审批协作或继续补记。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649938-F121-4095-9126-979AD90D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22C7AB-2822-4F1C-B343-30899BA5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827"/>
                </a:solidFill>
                <a:latin typeface="Arial"/>
                <a:ea typeface="Arial"/>
                <a:cs typeface="Arial"/>
              </a:rPr>
              <a:t>指标纪律：不通过关闭旧单改善指标，保留原始记录与未解决申请。</a:t>
            </a:r>
          </a:p>
        </p:txBody>
      </p:sp>
    </p:spTree>
    <p:extLst>
      <p:ext uri="{BB962C8B-B14F-4D97-AF65-F5344CB8AC3E}">
        <p14:creationId xmlns:p14="http://schemas.microsoft.com/office/powerpoint/2010/main" val="1708577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2026-09-10T01:25:40.2010000Z</dcterms:created>
  <dcterms:modified xsi:type="dcterms:W3CDTF">2026-09-10T01:25:40.2020000Z</dcterms:modified>
</coreProperties>
</file>