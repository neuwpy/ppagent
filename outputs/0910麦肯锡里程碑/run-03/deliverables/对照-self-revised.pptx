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75e20ab086482d" /><Relationship Type="http://schemas.openxmlformats.org/officeDocument/2006/relationships/extended-properties" Target="/docProps/app.xml" Id="R70b5c1aef0104b87" /><Relationship Type="http://schemas.openxmlformats.org/officeDocument/2006/relationships/officeDocument" Target="/ppt/presentation.xml" Id="R4a5214d5234643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abcb1af36f443c"/>
  </p:sldMasterIdLst>
  <p:notesMasterIdLst>
    <p:notesMasterId xmlns:r="http://schemas.openxmlformats.org/officeDocument/2006/relationships" r:id="Raad940aaae964ec9"/>
  </p:notesMasterIdLst>
  <p:sldIdLst>
    <p:sldId xmlns:r="http://schemas.openxmlformats.org/officeDocument/2006/relationships" id="256" r:id="Rf98b659b03b147ea"/>
    <p:sldId xmlns:r="http://schemas.openxmlformats.org/officeDocument/2006/relationships" id="257" r:id="R9e3d782775bc4997"/>
    <p:sldId xmlns:r="http://schemas.openxmlformats.org/officeDocument/2006/relationships" id="258" r:id="R4c0b30ae3f8e4d22"/>
    <p:sldId xmlns:r="http://schemas.openxmlformats.org/officeDocument/2006/relationships" id="259" r:id="R8b15d88987b74a85"/>
    <p:sldId xmlns:r="http://schemas.openxmlformats.org/officeDocument/2006/relationships" id="260" r:id="R9475197517994fd6"/>
    <p:sldId xmlns:r="http://schemas.openxmlformats.org/officeDocument/2006/relationships" id="261" r:id="Rcb08ac73b71047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f7ff1d10404f76" /><Relationship Type="http://schemas.openxmlformats.org/officeDocument/2006/relationships/slideMaster" Target="/ppt/slideMasters/slideMaster1.xml" Id="Re5abcb1af36f443c" /><Relationship Type="http://schemas.openxmlformats.org/officeDocument/2006/relationships/notesMaster" Target="/ppt/notesMasters/notesMaster1.xml" Id="Raad940aaae964ec9" /><Relationship Type="http://schemas.openxmlformats.org/officeDocument/2006/relationships/presProps" Target="/ppt/presProps.xml" Id="R5fa6e2d3f3664091" /><Relationship Type="http://schemas.openxmlformats.org/officeDocument/2006/relationships/tableStyles" Target="/ppt/tableStyles.xml" Id="R7fe2c874e7854bb4" /><Relationship Type="http://schemas.openxmlformats.org/officeDocument/2006/relationships/slide" Target="/ppt/slides/slide1.xml" Id="Rf98b659b03b147ea" /><Relationship Type="http://schemas.openxmlformats.org/officeDocument/2006/relationships/slide" Target="/ppt/slides/slide2.xml" Id="R9e3d782775bc4997" /><Relationship Type="http://schemas.openxmlformats.org/officeDocument/2006/relationships/slide" Target="/ppt/slides/slide3.xml" Id="R4c0b30ae3f8e4d22" /><Relationship Type="http://schemas.openxmlformats.org/officeDocument/2006/relationships/slide" Target="/ppt/slides/slide4.xml" Id="R8b15d88987b74a85" /><Relationship Type="http://schemas.openxmlformats.org/officeDocument/2006/relationships/slide" Target="/ppt/slides/slide5.xml" Id="R9475197517994fd6" /><Relationship Type="http://schemas.openxmlformats.org/officeDocument/2006/relationships/slide" Target="/ppt/slides/slide6.xml" Id="Rcb08ac73b71047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808d59bf6345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f7cfada805456b" /><Relationship Type="http://schemas.openxmlformats.org/officeDocument/2006/relationships/notesMaster" Target="/ppt/notesMasters/notesMaster1.xml" Id="R879964039f594e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0258ba3ca94089" /><Relationship Type="http://schemas.openxmlformats.org/officeDocument/2006/relationships/notesMaster" Target="/ppt/notesMasters/notesMaster1.xml" Id="R1177318a585d4b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76b396fd7246cb" /><Relationship Type="http://schemas.openxmlformats.org/officeDocument/2006/relationships/notesMaster" Target="/ppt/notesMasters/notesMaster1.xml" Id="Rdc91dd37622b43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983ff85efb42e3" /><Relationship Type="http://schemas.openxmlformats.org/officeDocument/2006/relationships/notesMaster" Target="/ppt/notesMasters/notesMaster1.xml" Id="R80fefdde87eb44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1f812df64f45e4" /><Relationship Type="http://schemas.openxmlformats.org/officeDocument/2006/relationships/notesMaster" Target="/ppt/notesMasters/notesMaster1.xml" Id="Rcd48b263f0e04b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4ea91043934129" /><Relationship Type="http://schemas.openxmlformats.org/officeDocument/2006/relationships/notesMaster" Target="/ppt/notesMasters/notesMaster1.xml" Id="Rbd7f2311d97840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内容：C:/PPagenT/outputs/0910麦肯锡里程碑/run-03/inputs/01-响应变慢.md</a:t>
            </a:r>
          </a:p>
          <a:p xmlns:a="http://schemas.openxmlformats.org/drawingml/2006/main">
            <a:r>
              <a:t>- 用途：原稿与整理后内容对照</a:t>
            </a:r>
          </a:p>
          <a:p xmlns:a="http://schemas.openxmlformats.org/drawingml/2006/main">
            <a:r>
              <a:t>- 说明：原文按顺序保留，仅以手动换行保证可读性。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内容：C:/PPagenT/outputs/0910麦肯锡里程碑/run-03/inputs/01-响应变慢.md</a:t>
            </a:r>
          </a:p>
          <a:p xmlns:a="http://schemas.openxmlformats.org/drawingml/2006/main">
            <a:r>
              <a:t>- 用途：原稿与整理后内容对照</a:t>
            </a:r>
          </a:p>
          <a:p xmlns:a="http://schemas.openxmlformats.org/drawingml/2006/main">
            <a:r>
              <a:t>- 说明：原文按顺序保留，仅以手动换行保证可读性。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内容：C:/PPagenT/outputs/0910麦肯锡里程碑/run-03/inputs/01-响应变慢.md</a:t>
            </a:r>
          </a:p>
          <a:p xmlns:a="http://schemas.openxmlformats.org/drawingml/2006/main">
            <a:r>
              <a:t>- 用途：原稿与整理后内容对照</a:t>
            </a:r>
          </a:p>
          <a:p xmlns:a="http://schemas.openxmlformats.org/drawingml/2006/main">
            <a:r>
              <a:t>- 说明：整理后页面由原稿事实、条件和边界重新编排；未加入原稿之外的事实。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内容：C:/PPagenT/outputs/0910麦肯锡里程碑/run-03/inputs/01-响应变慢.md</a:t>
            </a:r>
          </a:p>
          <a:p xmlns:a="http://schemas.openxmlformats.org/drawingml/2006/main">
            <a:r>
              <a:t>- 用途：原稿与整理后内容对照</a:t>
            </a:r>
          </a:p>
          <a:p xmlns:a="http://schemas.openxmlformats.org/drawingml/2006/main">
            <a:r>
              <a:t>- 说明：整理后页面由原稿事实、条件和边界重新编排；未加入原稿之外的事实。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内容：C:/PPagenT/outputs/0910麦肯锡里程碑/run-03/inputs/01-响应变慢.md</a:t>
            </a:r>
          </a:p>
          <a:p xmlns:a="http://schemas.openxmlformats.org/drawingml/2006/main">
            <a:r>
              <a:t>- 用途：原稿与整理后内容对照</a:t>
            </a:r>
          </a:p>
          <a:p xmlns:a="http://schemas.openxmlformats.org/drawingml/2006/main">
            <a:r>
              <a:t>- 说明：整理后页面由原稿事实、条件和边界重新编排；未加入原稿之外的事实。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内容：C:/PPagenT/outputs/0910麦肯锡里程碑/run-03/inputs/01-响应变慢.md</a:t>
            </a:r>
          </a:p>
          <a:p xmlns:a="http://schemas.openxmlformats.org/drawingml/2006/main">
            <a:r>
              <a:t>- 用途：原稿与整理后内容对照</a:t>
            </a:r>
          </a:p>
          <a:p xmlns:a="http://schemas.openxmlformats.org/drawingml/2006/main">
            <a:r>
              <a:t>- 说明：整理后页面由原稿事实、条件和边界重新编排；未加入原稿之外的事实。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e44ea2e6544a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bc95e73fe94076" /><Relationship Type="http://schemas.openxmlformats.org/officeDocument/2006/relationships/slideLayout" Target="/ppt/slideLayouts/slideLayout1.xml" Id="R6d7e88c202a140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7e88c202a140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f2ba2149f4da6" /><Relationship Type="http://schemas.openxmlformats.org/officeDocument/2006/relationships/notesSlide" Target="/ppt/notesSlides/notesSlide1.xml" Id="Re68925ee1bcb4e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cb4aa0da24d61" /><Relationship Type="http://schemas.openxmlformats.org/officeDocument/2006/relationships/notesSlide" Target="/ppt/notesSlides/notesSlide2.xml" Id="R999943b7d82a4d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1276f5bd043a9" /><Relationship Type="http://schemas.openxmlformats.org/officeDocument/2006/relationships/notesSlide" Target="/ppt/notesSlides/notesSlide3.xml" Id="R28697c9b3f5b4a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ae3a21a2f74f4d" /><Relationship Type="http://schemas.openxmlformats.org/officeDocument/2006/relationships/notesSlide" Target="/ppt/notesSlides/notesSlide4.xml" Id="R94b94f7fe6a645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a83bc8e5b460c" /><Relationship Type="http://schemas.openxmlformats.org/officeDocument/2006/relationships/notesSlide" Target="/ppt/notesSlides/notesSlide5.xml" Id="Rf5ff6454ed6749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e1193b02240de" /><Relationship Type="http://schemas.openxmlformats.org/officeDocument/2006/relationships/notesSlide" Target="/ppt/notesSlides/notesSlide6.xml" Id="R20b93d6065f245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0F4D0-948C-4B78-9D12-1A05B3F4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原稿页 1/2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03E58-076E-4E03-B870-490F3CEE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服务台响应观察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D7504-9BD8-4A92-9E13-04149BBB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rPr>
              <a:t>以下是模拟工作记录。负责人希望在下次例会上决定是否立即增加一名值班人员。最近两个月请求总量从200单变成300单，整体首次响应中位数从4小时变成7小时，有同事据此认为人员已经明显不足。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rPr>
              <a:t>下个月有集中入学办理，不能等两个月再收集数据。业务侧愿意先给高峰时段安排临时支持，但要求一周后复核。不能因为临时支持实施后整体中位数下降就认定长期增员有效，因为办理事项与排班都会同时变化。</a:t>
            </a:r>
          </a:p>
        </p:txBody>
      </p:sp>
    </p:spTree>
    <p:extLst>
      <p:ext uri="{BB962C8B-B14F-4D97-AF65-F5344CB8AC3E}">
        <p14:creationId xmlns:p14="http://schemas.microsoft.com/office/powerpoint/2010/main" val="9542966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E7F3B-6CF2-49FE-942D-0AD4AAE6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原稿页 2/2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595B93-9945-4054-B655-4A487337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服务台响应观察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8EC870-D243-485B-8DD6-321D1624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rPr>
              <a:t>复核分类后发现，普通咨询从160单变成180单，复杂权限申请从40单变成120单。普通咨询首次响应中位数两个月都是2小时，复杂权限申请从12小时变成13小时。分类口径没有变化，但目前只有分类中位数，没有逐单时间分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rPr>
              <a:t>现有登记还缺少请求进入队列的时刻、等待外部审批的时长和实际处理工时。权限申请有些时间是在等待院系确认，有些时间是在等待值班人员接单，当前不能区分二者。有人提出给复杂申请加自动分流，也有人主张先补登记再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rPr>
              <a:t>临时支持不能获得权限审批权，仍由原审批人确认。建议立即补记队列等待、外部审批等待和处理工时，并把普通咨询与复杂申请分别统计。若复杂申请主要等待审批，应先改善审批协作；若值班队列持续积压且实际处理负荷饱和，再提出正式增员方案。无论是否安排临时支持，都保留原始记录和未解决申请，不通过关闭旧单改善指标。</a:t>
            </a:r>
          </a:p>
        </p:txBody>
      </p:sp>
    </p:spTree>
    <p:extLst>
      <p:ext uri="{BB962C8B-B14F-4D97-AF65-F5344CB8AC3E}">
        <p14:creationId xmlns:p14="http://schemas.microsoft.com/office/powerpoint/2010/main" val="8781509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1AA96-ABBB-4D59-96FB-58963D17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整理后页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13538-DF65-425D-B51E-D0EF86E9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先稳住高峰，增员决策要等到等待来源可分解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980D2-CEC3-4ECD-BF33-E6AF918B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当前证据支持高峰临时缓冲，不支持仅凭整体中位数立即长期增员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6F876-BEF9-4EED-AC34-0AB91B64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rPr>
              <a:t>总体变化</a:t>
            </a:r>
          </a:p>
          <a:p xmlns:a="http://schemas.openxmlformats.org/drawingml/2006/main">
            <a:pPr algn="l">
              <a:def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rPr>
              <a:t>请求总量：200单 → 300单</a:t>
            </a:r>
          </a:p>
          <a:p xmlns:a="http://schemas.openxmlformats.org/drawingml/2006/main">
            <a:pPr algn="l">
              <a:def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rPr>
              <a:t>整体首次响应中位数：4小时 → 7小时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rPr>
              <a:t>立即安排</a:t>
            </a:r>
          </a:p>
          <a:p xmlns:a="http://schemas.openxmlformats.org/drawingml/2006/main">
            <a:pPr algn="l">
              <a:def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rPr>
              <a:t>下个月集中入学办理期间，在高峰时段安排临时支持，并要求一周后复核。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rPr>
              <a:t>判断边界</a:t>
            </a:r>
          </a:p>
          <a:p xmlns:a="http://schemas.openxmlformats.org/drawingml/2006/main">
            <a:pPr algn="l">
              <a:def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rPr>
              <a:t>临时支持后整体中位数下降，不能单独证明长期增员有效，因为办理事项与排班会同时变化。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F2AE4-221E-45CD-AAF4-2F18426F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来源：原稿第1–2段。这里先把“现在要做什么”和“暂时不能推出什么”分开。</a:t>
            </a:r>
          </a:p>
        </p:txBody>
      </p:sp>
    </p:spTree>
    <p:extLst>
      <p:ext uri="{BB962C8B-B14F-4D97-AF65-F5344CB8AC3E}">
        <p14:creationId xmlns:p14="http://schemas.microsoft.com/office/powerpoint/2010/main" val="5013980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1F162-8256-4939-ABCE-4D257CE2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整理后页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80A2D7-B258-48EE-AA65-7CE6853F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复杂权限申请的增长占总量增幅的主要部分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4ABFAB-497D-4615-86FF-EA2B3685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总量增加并不等于所有请求都变慢，分类数据指向复杂申请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5E651-C711-4425-9863-6BE177E9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rPr>
              <a:t>请求类别        两个月前 → 最近两个月        首次响应中位数</a:t>
            </a:r>
          </a:p>
          <a:p xmlns:a="http://schemas.openxmlformats.org/drawingml/2006/main">
            <a:pPr algn="l">
              <a:def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rPr>
              <a:t>普通咨询        160单 → 180单                  2小时 → 2小时</a:t>
            </a:r>
          </a:p>
          <a:p xmlns:a="http://schemas.openxmlformats.org/drawingml/2006/main">
            <a:pPr algn="l">
              <a:def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rPr>
              <a:t>复杂权限申请    40单 → 120单                   12小时 → 13小时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rPr>
              <a:t>读法</a:t>
            </a:r>
          </a:p>
          <a:p xmlns:a="http://schemas.openxmlformats.org/drawingml/2006/main">
            <a:pPr algn="l">
              <a:def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rPr>
              <a:t>按请求量计算，复杂权限申请占总量约20%升至40%，增加80单，是总量增加100单的主要部分。复杂申请的中位数只增加1小时，因此不能仅凭这组分类中位数判断值班人员已经明显不足。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rPr>
              <a:t>现有限制</a:t>
            </a:r>
          </a:p>
          <a:p xmlns:a="http://schemas.openxmlformats.org/drawingml/2006/main">
            <a:pPr algn="l">
              <a:def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rPr>
              <a:t>目前只有分类中位数，没有逐单时间分布，不能判断尾部积压或个体差异。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4A70A-E7FF-481E-B87C-FDC124EF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来源：原稿第3段。占比按原稿请求量计算，未补充逐单分布。</a:t>
            </a:r>
          </a:p>
        </p:txBody>
      </p:sp>
    </p:spTree>
    <p:extLst>
      <p:ext uri="{BB962C8B-B14F-4D97-AF65-F5344CB8AC3E}">
        <p14:creationId xmlns:p14="http://schemas.microsoft.com/office/powerpoint/2010/main" val="16884939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B215A-EF08-42E7-B486-1342AE24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整理后页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BED9C-0C87-4B16-A714-31EDDD20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复核需要记录三类时长，不能把处理工时当作等待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5B08F-2A4C-44CD-B105-2AB4C55E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先补登记，再判断问题落在审批协作还是值班队列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BEFDC-C9F4-41E7-B348-C8B8761B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rPr>
              <a:t>01 队列等待</a:t>
            </a:r>
          </a:p>
          <a:p xmlns:a="http://schemas.openxmlformats.org/drawingml/2006/main">
            <a:pPr algn="l">
              <a:def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rPr>
              <a:t>    记录请求进入队列的时刻，看请求在接单前等待了多久。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rPr>
              <a:t>02 外部审批等待</a:t>
            </a:r>
          </a:p>
          <a:p xmlns:a="http://schemas.openxmlformats.org/drawingml/2006/main">
            <a:pPr algn="l">
              <a:def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rPr>
              <a:t>    记录等待院系确认的时长，不把它算成值班接单负荷。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rPr>
              <a:t>03 实际处理工时</a:t>
            </a:r>
          </a:p>
          <a:p xmlns:a="http://schemas.openxmlformats.org/drawingml/2006/main">
            <a:pPr algn="l">
              <a:def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rPr>
              <a:t>    记录处理投入，与排队和审批等待分开。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rPr>
              <a:t>统计方式</a:t>
            </a:r>
          </a:p>
          <a:p xmlns:a="http://schemas.openxmlformats.org/drawingml/2006/main">
            <a:pPr algn="l">
              <a:def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rPr>
              <a:t>普通咨询与复杂权限申请分别统计，并保留原始记录和未解决申请。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9D6518-F15A-4B1F-A935-8F97B093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来源：原稿第4–5段。三类时长是建议补记的字段，不是已经测得的结果。</a:t>
            </a:r>
          </a:p>
        </p:txBody>
      </p:sp>
    </p:spTree>
    <p:extLst>
      <p:ext uri="{BB962C8B-B14F-4D97-AF65-F5344CB8AC3E}">
        <p14:creationId xmlns:p14="http://schemas.microsoft.com/office/powerpoint/2010/main" val="18310241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76F191-5A82-461C-8191-F916C450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整理后页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866BA-2BEC-477F-9978-DA587020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正式增员需要队列积压与处理负荷同时成立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41D57-DA65-4933-9608-BE2D85BB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复核结果决定下一步：改善审批协作，或进入正式增员论证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5A8A2-0912-4EA4-9655-72D3A1EA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rPr>
              <a:t>如果复杂申请主要等待外部审批</a:t>
            </a:r>
          </a:p>
          <a:p xmlns:a="http://schemas.openxmlformats.org/drawingml/2006/main">
            <a:pPr algn="l">
              <a:def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rPr>
              <a:t>→ 先改善审批协作。临时支持不能获得权限审批权，仍由原审批人确认。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rPr>
              <a:t>如果值班队列持续积压，且实际处理负荷饱和</a:t>
            </a:r>
          </a:p>
          <a:p xmlns:a="http://schemas.openxmlformats.org/drawingml/2006/main">
            <a:pPr algn="l">
              <a:def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rPr>
              <a:t>→ 再提出正式增员方案。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rPr>
              <a:t>无论是否安排临时支持</a:t>
            </a:r>
          </a:p>
          <a:p xmlns:a="http://schemas.openxmlformats.org/drawingml/2006/main">
            <a:pPr algn="l">
              <a:def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54545"/>
                </a:solidFill>
                <a:latin typeface="Microsoft YaHei"/>
                <a:ea typeface="Microsoft YaHei"/>
                <a:cs typeface="Microsoft YaHei"/>
              </a:rPr>
              <a:t>→ 不通过关闭旧单改善指标。保留原始记录和未解决申请。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33FBD-FF10-46BC-963F-2C09B4FF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来源：原稿第4–5段。这里把必要条件写成门槛，没有把它改写成已验证结论。</a:t>
            </a:r>
          </a:p>
        </p:txBody>
      </p:sp>
    </p:spTree>
    <p:extLst>
      <p:ext uri="{BB962C8B-B14F-4D97-AF65-F5344CB8AC3E}">
        <p14:creationId xmlns:p14="http://schemas.microsoft.com/office/powerpoint/2010/main" val="11914064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2026-09-09T23:20:05.8860000Z</dcterms:created>
  <dcterms:modified xsi:type="dcterms:W3CDTF">2026-09-09T23:20:05.8870000Z</dcterms:modified>
</coreProperties>
</file>